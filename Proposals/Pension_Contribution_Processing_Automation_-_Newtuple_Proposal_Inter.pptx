
<file path=[Content_Types].xml><?xml version="1.0" encoding="utf-8"?>
<Types xmlns="http://schemas.openxmlformats.org/package/2006/content-types">
  <Default Extension="fntdata" ContentType="application/x-fontdata"/>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standalone="yes"?>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embedTrueTypeFonts="1" saveSubsetFonts="0"><p:sldMasterIdLst><p:sldMasterId id="2147483648" r:id="rId3"/></p:sldMasterIdLst><p:notesMasterIdLst><p:notesMasterId r:id="rId4"/></p:notesMasterIdLst><p:sldIdLst><p:sldId id="256" r:id="rId5"/><p:sldId id="257" r:id="rId6"/><p:sldId id="258" r:id="rId7"/><p:sldId id="259" r:id="rId8"/><p:sldId id="260" r:id="rId9"/><p:sldId id="261" r:id="rId10"/><p:sldId id="262" r:id="rId11"/><p:sldId id="263" r:id="rId12"/><p:sldId id="264" r:id="rId13"/><p:sldId id="265" r:id="rId14"/><p:sldId id="266" r:id="rId15"/><p:sldId id="267" r:id="rId16"/></p:sldIdLst><p:sldSz cy="10696575" cx="7562850"/><p:notesSz cx="10696575" cy="7562850"/><p:embeddedFontLst><p:embeddedFont><p:font typeface="Inter"/><p:regular r:id="rId18"/><p:bold r:id="rId19"/><p:italic r:id="rId20"/><p:boldItalic r:id="rId21"/></p:embeddedFont></p:embeddedFontLst><p:defaultTextStyle><a:defPPr lvl="0" marR="0" rtl="0" algn="l"><a:lnSpc><a:spcPct val="100000"/></a:lnSpc><a:spcBef><a:spcPts val="0"/></a:spcBef><a:spcAft><a:spcPts val="0"/></a:spcAft></a:defPPr><a:lvl1pPr lvl="0" marR="0" rtl="0" algn="l"><a:lnSpc><a:spcPct val="100000"/></a:lnSpc><a:spcBef><a:spcPts val="0"/></a:spcBef><a:spcAft><a:spcPts val="0"/></a:spcAft><a:buClr><a:srgbClr val="000000"/></a:buClr><a:buFont typeface="Inter"/><a:defRPr b="0" i="0" sz="1400" u="none" cap="none" strike="noStrike"><a:solidFill><a:srgbClr val="000000"/></a:solidFill><a:latin typeface="Inter"/><a:ea typeface="Inter"/><a:cs typeface="Inter"/><a:sym typeface="Inter"/></a:defRPr></a:lvl1pPr><a:lvl2pPr lvl="1" marR="0" rtl="0" algn="l"><a:lnSpc><a:spcPct val="100000"/></a:lnSpc><a:spcBef><a:spcPts val="0"/></a:spcBef><a:spcAft><a:spcPts val="0"/></a:spcAft><a:buClr><a:srgbClr val="000000"/></a:buClr><a:buFont typeface="Inter"/><a:defRPr b="0" i="0" sz="1400" u="none" cap="none" strike="noStrike"><a:solidFill><a:srgbClr val="000000"/></a:solidFill><a:latin typeface="Inter"/><a:ea typeface="Inter"/><a:cs typeface="Inter"/><a:sym typeface="Inter"/></a:defRPr></a:lvl2pPr><a:lvl3pPr lvl="2" marR="0" rtl="0" algn="l"><a:lnSpc><a:spcPct val="100000"/></a:lnSpc><a:spcBef><a:spcPts val="0"/></a:spcBef><a:spcAft><a:spcPts val="0"/></a:spcAft><a:buClr><a:srgbClr val="000000"/></a:buClr><a:buFont typeface="Inter"/><a:defRPr b="0" i="0" sz="1400" u="none" cap="none" strike="noStrike"><a:solidFill><a:srgbClr val="000000"/></a:solidFill><a:latin typeface="Inter"/><a:ea typeface="Inter"/><a:cs typeface="Inter"/><a:sym typeface="Inter"/></a:defRPr></a:lvl3pPr><a:lvl4pPr lvl="3" marR="0" rtl="0" algn="l"><a:lnSpc><a:spcPct val="100000"/></a:lnSpc><a:spcBef><a:spcPts val="0"/></a:spcBef><a:spcAft><a:spcPts val="0"/></a:spcAft><a:buClr><a:srgbClr val="000000"/></a:buClr><a:buFont typeface="Inter"/><a:defRPr b="0" i="0" sz="1400" u="none" cap="none" strike="noStrike"><a:solidFill><a:srgbClr val="000000"/></a:solidFill><a:latin typeface="Inter"/><a:ea typeface="Inter"/><a:cs typeface="Inter"/><a:sym typeface="Inter"/></a:defRPr></a:lvl4pPr><a:lvl5pPr lvl="4" marR="0" rtl="0" algn="l"><a:lnSpc><a:spcPct val="100000"/></a:lnSpc><a:spcBef><a:spcPts val="0"/></a:spcBef><a:spcAft><a:spcPts val="0"/></a:spcAft><a:buClr><a:srgbClr val="000000"/></a:buClr><a:buFont typeface="Inter"/><a:defRPr b="0" i="0" sz="1400" u="none" cap="none" strike="noStrike"><a:solidFill><a:srgbClr val="000000"/></a:solidFill><a:latin typeface="Inter"/><a:ea typeface="Inter"/><a:cs typeface="Inter"/><a:sym typeface="Inter"/></a:defRPr></a:lvl5pPr><a:lvl6pPr lvl="5" marR="0" rtl="0" algn="l"><a:lnSpc><a:spcPct val="100000"/></a:lnSpc><a:spcBef><a:spcPts val="0"/></a:spcBef><a:spcAft><a:spcPts val="0"/></a:spcAft><a:buClr><a:srgbClr val="000000"/></a:buClr><a:buFont typeface="Inter"/><a:defRPr b="0" i="0" sz="1400" u="none" cap="none" strike="noStrike"><a:solidFill><a:srgbClr val="000000"/></a:solidFill><a:latin typeface="Inter"/><a:ea typeface="Inter"/><a:cs typeface="Inter"/><a:sym typeface="Inter"/></a:defRPr></a:lvl6pPr><a:lvl7pPr lvl="6" marR="0" rtl="0" algn="l"><a:lnSpc><a:spcPct val="100000"/></a:lnSpc><a:spcBef><a:spcPts val="0"/></a:spcBef><a:spcAft><a:spcPts val="0"/></a:spcAft><a:buClr><a:srgbClr val="000000"/></a:buClr><a:buFont typeface="Inter"/><a:defRPr b="0" i="0" sz="1400" u="none" cap="none" strike="noStrike"><a:solidFill><a:srgbClr val="000000"/></a:solidFill><a:latin typeface="Inter"/><a:ea typeface="Inter"/><a:cs typeface="Inter"/><a:sym typeface="Inter"/></a:defRPr></a:lvl7pPr><a:lvl8pPr lvl="7" marR="0" rtl="0" algn="l"><a:lnSpc><a:spcPct val="100000"/></a:lnSpc><a:spcBef><a:spcPts val="0"/></a:spcBef><a:spcAft><a:spcPts val="0"/></a:spcAft><a:buClr><a:srgbClr val="000000"/></a:buClr><a:buFont typeface="Inter"/><a:defRPr b="0" i="0" sz="1400" u="none" cap="none" strike="noStrike"><a:solidFill><a:srgbClr val="000000"/></a:solidFill><a:latin typeface="Inter"/><a:ea typeface="Inter"/><a:cs typeface="Inter"/><a:sym typeface="Inter"/></a:defRPr></a:lvl8pPr><a:lvl9pPr lvl="8" marR="0" rtl="0" algn="l"><a:lnSpc><a:spcPct val="100000"/></a:lnSpc><a:spcBef><a:spcPts val="0"/></a:spcBef><a:spcAft><a:spcPts val="0"/></a:spcAft><a:buClr><a:srgbClr val="000000"/></a:buClr><a:buFont typeface="Inter"/><a:defRPr b="0" i="0" sz="1400" u="none" cap="none" strike="noStrike"><a:solidFill><a:srgbClr val="000000"/></a:solidFill><a:latin typeface="Inter"/><a:ea typeface="Inter"/><a:cs typeface="Inter"/><a:sym typeface="Inter"/></a:defRPr></a:lvl9pPr></p:defaultTextStyle><p:extLst><p:ext uri="GoogleSlidesCustomDataVersion2"><go:slidesCustomData xmlns:go="http://customooxmlschemas.google.com/" r:id="rId17" roundtripDataSignature="AMtx7mguIFRSjh5cjvzsXcBab7flf+TN/A=="/></p:ext></p:extLst></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customschemas.google.com/relationships/presentationmetadata" Target="metadata"/><Relationship Id="rId16" Type="http://schemas.openxmlformats.org/officeDocument/2006/relationships/slide" Target="slides/slide12.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8" Type="http://schemas.openxmlformats.org/officeDocument/2006/relationships/font" Target="fonts/font1.fntdata"/><Relationship Id="rId19" Type="http://schemas.openxmlformats.org/officeDocument/2006/relationships/font" Target="fonts/font2.fntdata"/><Relationship Id="rId20" Type="http://schemas.openxmlformats.org/officeDocument/2006/relationships/font" Target="fonts/font3.fntdata"/><Relationship Id="rId21"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1pPr>
            <a:lvl2pPr lvl="1" marR="0" rtl="0" algn="l">
              <a:spcBef>
                <a:spcPts val="0"/>
              </a:spcBef>
              <a:spcAft>
                <a:spcPts val="0"/>
              </a:spcAft>
              <a:buSzPts val="1400"/>
              <a:buNone/>
              <a:defRPr b="0" i="0" sz="1800" u="none" cap="none" strike="noStrike">
                <a:solidFill>
                  <a:schemeClr val="dk1"/>
                </a:solidFill>
                <a:latin typeface="Inter"/>
                <a:ea typeface="Inter"/>
                <a:cs typeface="Inter"/>
                <a:sym typeface="Inter"/>
              </a:defRPr>
            </a:lvl2pPr>
            <a:lvl3pPr lvl="2" marR="0" rtl="0" algn="l">
              <a:spcBef>
                <a:spcPts val="0"/>
              </a:spcBef>
              <a:spcAft>
                <a:spcPts val="0"/>
              </a:spcAft>
              <a:buSzPts val="1400"/>
              <a:buNone/>
              <a:defRPr b="0" i="0" sz="1800" u="none" cap="none" strike="noStrike">
                <a:solidFill>
                  <a:schemeClr val="dk1"/>
                </a:solidFill>
                <a:latin typeface="Inter"/>
                <a:ea typeface="Inter"/>
                <a:cs typeface="Inter"/>
                <a:sym typeface="Inter"/>
              </a:defRPr>
            </a:lvl3pPr>
            <a:lvl4pPr lvl="3" marR="0" rtl="0" algn="l">
              <a:spcBef>
                <a:spcPts val="0"/>
              </a:spcBef>
              <a:spcAft>
                <a:spcPts val="0"/>
              </a:spcAft>
              <a:buSzPts val="1400"/>
              <a:buNone/>
              <a:defRPr b="0" i="0" sz="1800" u="none" cap="none" strike="noStrike">
                <a:solidFill>
                  <a:schemeClr val="dk1"/>
                </a:solidFill>
                <a:latin typeface="Inter"/>
                <a:ea typeface="Inter"/>
                <a:cs typeface="Inter"/>
                <a:sym typeface="Inter"/>
              </a:defRPr>
            </a:lvl4pPr>
            <a:lvl5pPr lvl="4" marR="0" rtl="0" algn="l">
              <a:spcBef>
                <a:spcPts val="0"/>
              </a:spcBef>
              <a:spcAft>
                <a:spcPts val="0"/>
              </a:spcAft>
              <a:buSzPts val="1400"/>
              <a:buNone/>
              <a:defRPr b="0" i="0" sz="1800" u="none" cap="none" strike="noStrike">
                <a:solidFill>
                  <a:schemeClr val="dk1"/>
                </a:solidFill>
                <a:latin typeface="Inter"/>
                <a:ea typeface="Inter"/>
                <a:cs typeface="Inter"/>
                <a:sym typeface="Inter"/>
              </a:defRPr>
            </a:lvl5pPr>
            <a:lvl6pPr lvl="5" marR="0" rtl="0" algn="l">
              <a:spcBef>
                <a:spcPts val="0"/>
              </a:spcBef>
              <a:spcAft>
                <a:spcPts val="0"/>
              </a:spcAft>
              <a:buSzPts val="1400"/>
              <a:buNone/>
              <a:defRPr b="0" i="0" sz="1800" u="none" cap="none" strike="noStrike">
                <a:solidFill>
                  <a:schemeClr val="dk1"/>
                </a:solidFill>
                <a:latin typeface="Inter"/>
                <a:ea typeface="Inter"/>
                <a:cs typeface="Inter"/>
                <a:sym typeface="Inter"/>
              </a:defRPr>
            </a:lvl6pPr>
            <a:lvl7pPr lvl="6" marR="0" rtl="0" algn="l">
              <a:spcBef>
                <a:spcPts val="0"/>
              </a:spcBef>
              <a:spcAft>
                <a:spcPts val="0"/>
              </a:spcAft>
              <a:buSzPts val="1400"/>
              <a:buNone/>
              <a:defRPr b="0" i="0" sz="1800" u="none" cap="none" strike="noStrike">
                <a:solidFill>
                  <a:schemeClr val="dk1"/>
                </a:solidFill>
                <a:latin typeface="Inter"/>
                <a:ea typeface="Inter"/>
                <a:cs typeface="Inter"/>
                <a:sym typeface="Inter"/>
              </a:defRPr>
            </a:lvl7pPr>
            <a:lvl8pPr lvl="7" marR="0" rtl="0" algn="l">
              <a:spcBef>
                <a:spcPts val="0"/>
              </a:spcBef>
              <a:spcAft>
                <a:spcPts val="0"/>
              </a:spcAft>
              <a:buSzPts val="1400"/>
              <a:buNone/>
              <a:defRPr b="0" i="0" sz="1800" u="none" cap="none" strike="noStrike">
                <a:solidFill>
                  <a:schemeClr val="dk1"/>
                </a:solidFill>
                <a:latin typeface="Inter"/>
                <a:ea typeface="Inter"/>
                <a:cs typeface="Inter"/>
                <a:sym typeface="Inter"/>
              </a:defRPr>
            </a:lvl8pPr>
            <a:lvl9pPr lvl="8" marR="0" rtl="0" algn="l">
              <a:spcBef>
                <a:spcPts val="0"/>
              </a:spcBef>
              <a:spcAft>
                <a:spcPts val="0"/>
              </a:spcAft>
              <a:buSzPts val="1400"/>
              <a:buNone/>
              <a:defRPr b="0" i="0" sz="1800" u="none" cap="none" strike="noStrike">
                <a:solidFill>
                  <a:schemeClr val="dk1"/>
                </a:solidFill>
                <a:latin typeface="Inter"/>
                <a:ea typeface="Inter"/>
                <a:cs typeface="Inter"/>
                <a:sym typeface="Inter"/>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Inter"/>
                <a:ea typeface="Inter"/>
                <a:cs typeface="Inter"/>
                <a:sym typeface="Inter"/>
              </a:defRPr>
            </a:lvl1pPr>
            <a:lvl2pPr lvl="1" marR="0" rtl="0" algn="l">
              <a:spcBef>
                <a:spcPts val="0"/>
              </a:spcBef>
              <a:spcAft>
                <a:spcPts val="0"/>
              </a:spcAft>
              <a:buSzPts val="1400"/>
              <a:buNone/>
              <a:defRPr b="0" i="0" sz="1800" u="none" cap="none" strike="noStrike">
                <a:solidFill>
                  <a:schemeClr val="dk1"/>
                </a:solidFill>
                <a:latin typeface="Inter"/>
                <a:ea typeface="Inter"/>
                <a:cs typeface="Inter"/>
                <a:sym typeface="Inter"/>
              </a:defRPr>
            </a:lvl2pPr>
            <a:lvl3pPr lvl="2" marR="0" rtl="0" algn="l">
              <a:spcBef>
                <a:spcPts val="0"/>
              </a:spcBef>
              <a:spcAft>
                <a:spcPts val="0"/>
              </a:spcAft>
              <a:buSzPts val="1400"/>
              <a:buNone/>
              <a:defRPr b="0" i="0" sz="1800" u="none" cap="none" strike="noStrike">
                <a:solidFill>
                  <a:schemeClr val="dk1"/>
                </a:solidFill>
                <a:latin typeface="Inter"/>
                <a:ea typeface="Inter"/>
                <a:cs typeface="Inter"/>
                <a:sym typeface="Inter"/>
              </a:defRPr>
            </a:lvl3pPr>
            <a:lvl4pPr lvl="3" marR="0" rtl="0" algn="l">
              <a:spcBef>
                <a:spcPts val="0"/>
              </a:spcBef>
              <a:spcAft>
                <a:spcPts val="0"/>
              </a:spcAft>
              <a:buSzPts val="1400"/>
              <a:buNone/>
              <a:defRPr b="0" i="0" sz="1800" u="none" cap="none" strike="noStrike">
                <a:solidFill>
                  <a:schemeClr val="dk1"/>
                </a:solidFill>
                <a:latin typeface="Inter"/>
                <a:ea typeface="Inter"/>
                <a:cs typeface="Inter"/>
                <a:sym typeface="Inter"/>
              </a:defRPr>
            </a:lvl4pPr>
            <a:lvl5pPr lvl="4" marR="0" rtl="0" algn="l">
              <a:spcBef>
                <a:spcPts val="0"/>
              </a:spcBef>
              <a:spcAft>
                <a:spcPts val="0"/>
              </a:spcAft>
              <a:buSzPts val="1400"/>
              <a:buNone/>
              <a:defRPr b="0" i="0" sz="1800" u="none" cap="none" strike="noStrike">
                <a:solidFill>
                  <a:schemeClr val="dk1"/>
                </a:solidFill>
                <a:latin typeface="Inter"/>
                <a:ea typeface="Inter"/>
                <a:cs typeface="Inter"/>
                <a:sym typeface="Inter"/>
              </a:defRPr>
            </a:lvl5pPr>
            <a:lvl6pPr lvl="5" marR="0" rtl="0" algn="l">
              <a:spcBef>
                <a:spcPts val="0"/>
              </a:spcBef>
              <a:spcAft>
                <a:spcPts val="0"/>
              </a:spcAft>
              <a:buSzPts val="1400"/>
              <a:buNone/>
              <a:defRPr b="0" i="0" sz="1800" u="none" cap="none" strike="noStrike">
                <a:solidFill>
                  <a:schemeClr val="dk1"/>
                </a:solidFill>
                <a:latin typeface="Inter"/>
                <a:ea typeface="Inter"/>
                <a:cs typeface="Inter"/>
                <a:sym typeface="Inter"/>
              </a:defRPr>
            </a:lvl6pPr>
            <a:lvl7pPr lvl="6" marR="0" rtl="0" algn="l">
              <a:spcBef>
                <a:spcPts val="0"/>
              </a:spcBef>
              <a:spcAft>
                <a:spcPts val="0"/>
              </a:spcAft>
              <a:buSzPts val="1400"/>
              <a:buNone/>
              <a:defRPr b="0" i="0" sz="1800" u="none" cap="none" strike="noStrike">
                <a:solidFill>
                  <a:schemeClr val="dk1"/>
                </a:solidFill>
                <a:latin typeface="Inter"/>
                <a:ea typeface="Inter"/>
                <a:cs typeface="Inter"/>
                <a:sym typeface="Inter"/>
              </a:defRPr>
            </a:lvl7pPr>
            <a:lvl8pPr lvl="7" marR="0" rtl="0" algn="l">
              <a:spcBef>
                <a:spcPts val="0"/>
              </a:spcBef>
              <a:spcAft>
                <a:spcPts val="0"/>
              </a:spcAft>
              <a:buSzPts val="1400"/>
              <a:buNone/>
              <a:defRPr b="0" i="0" sz="1800" u="none" cap="none" strike="noStrike">
                <a:solidFill>
                  <a:schemeClr val="dk1"/>
                </a:solidFill>
                <a:latin typeface="Inter"/>
                <a:ea typeface="Inter"/>
                <a:cs typeface="Inter"/>
                <a:sym typeface="Inter"/>
              </a:defRPr>
            </a:lvl8pPr>
            <a:lvl9pPr lvl="8" marR="0" rtl="0" algn="l">
              <a:spcBef>
                <a:spcPts val="0"/>
              </a:spcBef>
              <a:spcAft>
                <a:spcPts val="0"/>
              </a:spcAft>
              <a:buSzPts val="1400"/>
              <a:buNone/>
              <a:defRPr b="0" i="0" sz="1800" u="none" cap="none" strike="noStrike">
                <a:solidFill>
                  <a:schemeClr val="dk1"/>
                </a:solidFill>
                <a:latin typeface="Inter"/>
                <a:ea typeface="Inter"/>
                <a:cs typeface="Inter"/>
                <a:sym typeface="Inter"/>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1pPr>
            <a:lvl2pPr indent="-228600" lvl="1" marL="91440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2pPr>
            <a:lvl3pPr indent="-228600" lvl="2" marL="137160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3pPr>
            <a:lvl4pPr indent="-228600" lvl="3" marL="182880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4pPr>
            <a:lvl5pPr indent="-228600" lvl="4" marL="228600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5pPr>
            <a:lvl6pPr indent="-228600" lvl="5" marL="274320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6pPr>
            <a:lvl7pPr indent="-228600" lvl="6" marL="320040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7pPr>
            <a:lvl8pPr indent="-228600" lvl="7" marL="365760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8pPr>
            <a:lvl9pPr indent="-228600" lvl="8" marL="411480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Inter"/>
                <a:ea typeface="Inter"/>
                <a:cs typeface="Inter"/>
                <a:sym typeface="Inter"/>
              </a:defRPr>
            </a:lvl1pPr>
            <a:lvl2pPr lvl="1" marR="0" rtl="0" algn="l">
              <a:spcBef>
                <a:spcPts val="0"/>
              </a:spcBef>
              <a:spcAft>
                <a:spcPts val="0"/>
              </a:spcAft>
              <a:buSzPts val="1400"/>
              <a:buNone/>
              <a:defRPr b="0" i="0" sz="1800" u="none" cap="none" strike="noStrike">
                <a:solidFill>
                  <a:schemeClr val="dk1"/>
                </a:solidFill>
                <a:latin typeface="Inter"/>
                <a:ea typeface="Inter"/>
                <a:cs typeface="Inter"/>
                <a:sym typeface="Inter"/>
              </a:defRPr>
            </a:lvl2pPr>
            <a:lvl3pPr lvl="2" marR="0" rtl="0" algn="l">
              <a:spcBef>
                <a:spcPts val="0"/>
              </a:spcBef>
              <a:spcAft>
                <a:spcPts val="0"/>
              </a:spcAft>
              <a:buSzPts val="1400"/>
              <a:buNone/>
              <a:defRPr b="0" i="0" sz="1800" u="none" cap="none" strike="noStrike">
                <a:solidFill>
                  <a:schemeClr val="dk1"/>
                </a:solidFill>
                <a:latin typeface="Inter"/>
                <a:ea typeface="Inter"/>
                <a:cs typeface="Inter"/>
                <a:sym typeface="Inter"/>
              </a:defRPr>
            </a:lvl3pPr>
            <a:lvl4pPr lvl="3" marR="0" rtl="0" algn="l">
              <a:spcBef>
                <a:spcPts val="0"/>
              </a:spcBef>
              <a:spcAft>
                <a:spcPts val="0"/>
              </a:spcAft>
              <a:buSzPts val="1400"/>
              <a:buNone/>
              <a:defRPr b="0" i="0" sz="1800" u="none" cap="none" strike="noStrike">
                <a:solidFill>
                  <a:schemeClr val="dk1"/>
                </a:solidFill>
                <a:latin typeface="Inter"/>
                <a:ea typeface="Inter"/>
                <a:cs typeface="Inter"/>
                <a:sym typeface="Inter"/>
              </a:defRPr>
            </a:lvl4pPr>
            <a:lvl5pPr lvl="4" marR="0" rtl="0" algn="l">
              <a:spcBef>
                <a:spcPts val="0"/>
              </a:spcBef>
              <a:spcAft>
                <a:spcPts val="0"/>
              </a:spcAft>
              <a:buSzPts val="1400"/>
              <a:buNone/>
              <a:defRPr b="0" i="0" sz="1800" u="none" cap="none" strike="noStrike">
                <a:solidFill>
                  <a:schemeClr val="dk1"/>
                </a:solidFill>
                <a:latin typeface="Inter"/>
                <a:ea typeface="Inter"/>
                <a:cs typeface="Inter"/>
                <a:sym typeface="Inter"/>
              </a:defRPr>
            </a:lvl5pPr>
            <a:lvl6pPr lvl="5" marR="0" rtl="0" algn="l">
              <a:spcBef>
                <a:spcPts val="0"/>
              </a:spcBef>
              <a:spcAft>
                <a:spcPts val="0"/>
              </a:spcAft>
              <a:buSzPts val="1400"/>
              <a:buNone/>
              <a:defRPr b="0" i="0" sz="1800" u="none" cap="none" strike="noStrike">
                <a:solidFill>
                  <a:schemeClr val="dk1"/>
                </a:solidFill>
                <a:latin typeface="Inter"/>
                <a:ea typeface="Inter"/>
                <a:cs typeface="Inter"/>
                <a:sym typeface="Inter"/>
              </a:defRPr>
            </a:lvl6pPr>
            <a:lvl7pPr lvl="6" marR="0" rtl="0" algn="l">
              <a:spcBef>
                <a:spcPts val="0"/>
              </a:spcBef>
              <a:spcAft>
                <a:spcPts val="0"/>
              </a:spcAft>
              <a:buSzPts val="1400"/>
              <a:buNone/>
              <a:defRPr b="0" i="0" sz="1800" u="none" cap="none" strike="noStrike">
                <a:solidFill>
                  <a:schemeClr val="dk1"/>
                </a:solidFill>
                <a:latin typeface="Inter"/>
                <a:ea typeface="Inter"/>
                <a:cs typeface="Inter"/>
                <a:sym typeface="Inter"/>
              </a:defRPr>
            </a:lvl7pPr>
            <a:lvl8pPr lvl="7" marR="0" rtl="0" algn="l">
              <a:spcBef>
                <a:spcPts val="0"/>
              </a:spcBef>
              <a:spcAft>
                <a:spcPts val="0"/>
              </a:spcAft>
              <a:buSzPts val="1400"/>
              <a:buNone/>
              <a:defRPr b="0" i="0" sz="1800" u="none" cap="none" strike="noStrike">
                <a:solidFill>
                  <a:schemeClr val="dk1"/>
                </a:solidFill>
                <a:latin typeface="Inter"/>
                <a:ea typeface="Inter"/>
                <a:cs typeface="Inter"/>
                <a:sym typeface="Inter"/>
              </a:defRPr>
            </a:lvl8pPr>
            <a:lvl9pPr lvl="8" marR="0" rtl="0" algn="l">
              <a:spcBef>
                <a:spcPts val="0"/>
              </a:spcBef>
              <a:spcAft>
                <a:spcPts val="0"/>
              </a:spcAft>
              <a:buSzPts val="1400"/>
              <a:buNone/>
              <a:defRPr b="0" i="0" sz="1800" u="none" cap="none" strike="noStrike">
                <a:solidFill>
                  <a:schemeClr val="dk1"/>
                </a:solidFill>
                <a:latin typeface="Inter"/>
                <a:ea typeface="Inter"/>
                <a:cs typeface="Inter"/>
                <a:sym typeface="Inter"/>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Inter"/>
                <a:ea typeface="Inter"/>
                <a:cs typeface="Inter"/>
                <a:sym typeface="Inter"/>
              </a:rPr>
              <a:t>‹#›</a:t>
            </a:fld>
            <a:endParaRPr b="0" i="0" sz="1200" u="none" cap="none" strike="noStrike">
              <a:solidFill>
                <a:schemeClr val="dk1"/>
              </a:solidFill>
              <a:latin typeface="Inter"/>
              <a:ea typeface="Inter"/>
              <a:cs typeface="Inter"/>
              <a:sym typeface="Inter"/>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Inter"/>
      <a:defRPr b="0" i="0" sz="1400" u="none" cap="none" strike="noStrike">
        <a:solidFill>
          <a:srgbClr val="000000"/>
        </a:solidFill>
        <a:latin typeface="Inter"/>
        <a:ea typeface="Inter"/>
        <a:cs typeface="Inter"/>
        <a:sym typeface="Inter"/>
      </a:defRPr>
    </a:lvl1pPr>
    <a:lvl2pPr lvl="1" marR="0" rtl="0" algn="l">
      <a:lnSpc>
        <a:spcPct val="100000"/>
      </a:lnSpc>
      <a:spcBef>
        <a:spcPts val="0"/>
      </a:spcBef>
      <a:spcAft>
        <a:spcPts val="0"/>
      </a:spcAft>
      <a:buClr>
        <a:srgbClr val="000000"/>
      </a:buClr>
      <a:buFont typeface="Inter"/>
      <a:defRPr b="0" i="0" sz="1400" u="none" cap="none" strike="noStrike">
        <a:solidFill>
          <a:srgbClr val="000000"/>
        </a:solidFill>
        <a:latin typeface="Inter"/>
        <a:ea typeface="Inter"/>
        <a:cs typeface="Inter"/>
        <a:sym typeface="Inter"/>
      </a:defRPr>
    </a:lvl2pPr>
    <a:lvl3pPr lvl="2" marR="0" rtl="0" algn="l">
      <a:lnSpc>
        <a:spcPct val="100000"/>
      </a:lnSpc>
      <a:spcBef>
        <a:spcPts val="0"/>
      </a:spcBef>
      <a:spcAft>
        <a:spcPts val="0"/>
      </a:spcAft>
      <a:buClr>
        <a:srgbClr val="000000"/>
      </a:buClr>
      <a:buFont typeface="Inter"/>
      <a:defRPr b="0" i="0" sz="1400" u="none" cap="none" strike="noStrike">
        <a:solidFill>
          <a:srgbClr val="000000"/>
        </a:solidFill>
        <a:latin typeface="Inter"/>
        <a:ea typeface="Inter"/>
        <a:cs typeface="Inter"/>
        <a:sym typeface="Inter"/>
      </a:defRPr>
    </a:lvl3pPr>
    <a:lvl4pPr lvl="3" marR="0" rtl="0" algn="l">
      <a:lnSpc>
        <a:spcPct val="100000"/>
      </a:lnSpc>
      <a:spcBef>
        <a:spcPts val="0"/>
      </a:spcBef>
      <a:spcAft>
        <a:spcPts val="0"/>
      </a:spcAft>
      <a:buClr>
        <a:srgbClr val="000000"/>
      </a:buClr>
      <a:buFont typeface="Inter"/>
      <a:defRPr b="0" i="0" sz="1400" u="none" cap="none" strike="noStrike">
        <a:solidFill>
          <a:srgbClr val="000000"/>
        </a:solidFill>
        <a:latin typeface="Inter"/>
        <a:ea typeface="Inter"/>
        <a:cs typeface="Inter"/>
        <a:sym typeface="Inter"/>
      </a:defRPr>
    </a:lvl4pPr>
    <a:lvl5pPr lvl="4" marR="0" rtl="0" algn="l">
      <a:lnSpc>
        <a:spcPct val="100000"/>
      </a:lnSpc>
      <a:spcBef>
        <a:spcPts val="0"/>
      </a:spcBef>
      <a:spcAft>
        <a:spcPts val="0"/>
      </a:spcAft>
      <a:buClr>
        <a:srgbClr val="000000"/>
      </a:buClr>
      <a:buFont typeface="Inter"/>
      <a:defRPr b="0" i="0" sz="1400" u="none" cap="none" strike="noStrike">
        <a:solidFill>
          <a:srgbClr val="000000"/>
        </a:solidFill>
        <a:latin typeface="Inter"/>
        <a:ea typeface="Inter"/>
        <a:cs typeface="Inter"/>
        <a:sym typeface="Inter"/>
      </a:defRPr>
    </a:lvl5pPr>
    <a:lvl6pPr lvl="5" marR="0" rtl="0" algn="l">
      <a:lnSpc>
        <a:spcPct val="100000"/>
      </a:lnSpc>
      <a:spcBef>
        <a:spcPts val="0"/>
      </a:spcBef>
      <a:spcAft>
        <a:spcPts val="0"/>
      </a:spcAft>
      <a:buClr>
        <a:srgbClr val="000000"/>
      </a:buClr>
      <a:buFont typeface="Inter"/>
      <a:defRPr b="0" i="0" sz="1400" u="none" cap="none" strike="noStrike">
        <a:solidFill>
          <a:srgbClr val="000000"/>
        </a:solidFill>
        <a:latin typeface="Inter"/>
        <a:ea typeface="Inter"/>
        <a:cs typeface="Inter"/>
        <a:sym typeface="Inter"/>
      </a:defRPr>
    </a:lvl6pPr>
    <a:lvl7pPr lvl="6" marR="0" rtl="0" algn="l">
      <a:lnSpc>
        <a:spcPct val="100000"/>
      </a:lnSpc>
      <a:spcBef>
        <a:spcPts val="0"/>
      </a:spcBef>
      <a:spcAft>
        <a:spcPts val="0"/>
      </a:spcAft>
      <a:buClr>
        <a:srgbClr val="000000"/>
      </a:buClr>
      <a:buFont typeface="Inter"/>
      <a:defRPr b="0" i="0" sz="1400" u="none" cap="none" strike="noStrike">
        <a:solidFill>
          <a:srgbClr val="000000"/>
        </a:solidFill>
        <a:latin typeface="Inter"/>
        <a:ea typeface="Inter"/>
        <a:cs typeface="Inter"/>
        <a:sym typeface="Inter"/>
      </a:defRPr>
    </a:lvl7pPr>
    <a:lvl8pPr lvl="7" marR="0" rtl="0" algn="l">
      <a:lnSpc>
        <a:spcPct val="100000"/>
      </a:lnSpc>
      <a:spcBef>
        <a:spcPts val="0"/>
      </a:spcBef>
      <a:spcAft>
        <a:spcPts val="0"/>
      </a:spcAft>
      <a:buClr>
        <a:srgbClr val="000000"/>
      </a:buClr>
      <a:buFont typeface="Inter"/>
      <a:defRPr b="0" i="0" sz="1400" u="none" cap="none" strike="noStrike">
        <a:solidFill>
          <a:srgbClr val="000000"/>
        </a:solidFill>
        <a:latin typeface="Inter"/>
        <a:ea typeface="Inter"/>
        <a:cs typeface="Inter"/>
        <a:sym typeface="Inter"/>
      </a:defRPr>
    </a:lvl8pPr>
    <a:lvl9pPr lvl="8" marR="0" rtl="0" algn="l">
      <a:lnSpc>
        <a:spcPct val="100000"/>
      </a:lnSpc>
      <a:spcBef>
        <a:spcPts val="0"/>
      </a:spcBef>
      <a:spcAft>
        <a:spcPts val="0"/>
      </a:spcAft>
      <a:buClr>
        <a:srgbClr val="000000"/>
      </a:buClr>
      <a:buFont typeface="Inter"/>
      <a:defRPr b="0" i="0" sz="1400" u="none" cap="none" strike="noStrike">
        <a:solidFill>
          <a:srgbClr val="000000"/>
        </a:solidFill>
        <a:latin typeface="Inter"/>
        <a:ea typeface="Inter"/>
        <a:cs typeface="Inter"/>
        <a:sym typeface="Inter"/>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 name="Shape 31"/>
        <p:cNvGrpSpPr/>
        <p:nvPr/>
      </p:nvGrpSpPr>
      <p:grpSpPr>
        <a:xfrm>
          <a:off x="0" y="0"/>
          <a:ext cx="0" cy="0"/>
          <a:chOff x="0" y="0"/>
          <a:chExt cx="0" cy="0"/>
        </a:xfrm>
      </p:grpSpPr>
      <p:sp>
        <p:nvSpPr>
          <p:cNvPr id="32" name="Google Shape;3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 name="Google Shape;3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 name="Google Shape;3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 name="Google Shape;9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 name="Google Shape;92;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 name="Google Shape;12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4" name="Google Shape;20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 name="Google Shape;20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e8a63689bf_0_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0" name="Google Shape;260;g3e8a63689bf_0_4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 name="Google Shape;261;g3e8a63689bf_0_4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5" name="Google Shape;29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6" name="Google Shape;296;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3" name="Google Shape;35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4" name="Google Shape;35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5" name="Google Shape;44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6" name="Google Shape;446;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0" name="Google Shape;500;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1" name="Google Shape;501;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3" name="Google Shape;543;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4" name="Google Shape;544;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8" name="Google Shape;608;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9" name="Google Shape;609;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Inter"/>
        <a:defRPr b="0" i="0" sz="1400" u="none" cap="none" strike="noStrike">
          <a:solidFill>
            <a:srgbClr val="000000"/>
          </a:solidFill>
          <a:latin typeface="Inter"/>
          <a:ea typeface="Inter"/>
          <a:cs typeface="Inter"/>
          <a:sym typeface="Inter"/>
        </a:defRPr>
      </a:lvl1pPr>
      <a:lvl2pPr lvl="1" marR="0" rtl="0" algn="l">
        <a:lnSpc>
          <a:spcPct val="100000"/>
        </a:lnSpc>
        <a:spcBef>
          <a:spcPts val="0"/>
        </a:spcBef>
        <a:spcAft>
          <a:spcPts val="0"/>
        </a:spcAft>
        <a:buClr>
          <a:srgbClr val="000000"/>
        </a:buClr>
        <a:buFont typeface="Inter"/>
        <a:defRPr b="0" i="0" sz="1400" u="none" cap="none" strike="noStrike">
          <a:solidFill>
            <a:srgbClr val="000000"/>
          </a:solidFill>
          <a:latin typeface="Inter"/>
          <a:ea typeface="Inter"/>
          <a:cs typeface="Inter"/>
          <a:sym typeface="Inter"/>
        </a:defRPr>
      </a:lvl2pPr>
      <a:lvl3pPr lvl="2" marR="0" rtl="0" algn="l">
        <a:lnSpc>
          <a:spcPct val="100000"/>
        </a:lnSpc>
        <a:spcBef>
          <a:spcPts val="0"/>
        </a:spcBef>
        <a:spcAft>
          <a:spcPts val="0"/>
        </a:spcAft>
        <a:buClr>
          <a:srgbClr val="000000"/>
        </a:buClr>
        <a:buFont typeface="Inter"/>
        <a:defRPr b="0" i="0" sz="1400" u="none" cap="none" strike="noStrike">
          <a:solidFill>
            <a:srgbClr val="000000"/>
          </a:solidFill>
          <a:latin typeface="Inter"/>
          <a:ea typeface="Inter"/>
          <a:cs typeface="Inter"/>
          <a:sym typeface="Inter"/>
        </a:defRPr>
      </a:lvl3pPr>
      <a:lvl4pPr lvl="3" marR="0" rtl="0" algn="l">
        <a:lnSpc>
          <a:spcPct val="100000"/>
        </a:lnSpc>
        <a:spcBef>
          <a:spcPts val="0"/>
        </a:spcBef>
        <a:spcAft>
          <a:spcPts val="0"/>
        </a:spcAft>
        <a:buClr>
          <a:srgbClr val="000000"/>
        </a:buClr>
        <a:buFont typeface="Inter"/>
        <a:defRPr b="0" i="0" sz="1400" u="none" cap="none" strike="noStrike">
          <a:solidFill>
            <a:srgbClr val="000000"/>
          </a:solidFill>
          <a:latin typeface="Inter"/>
          <a:ea typeface="Inter"/>
          <a:cs typeface="Inter"/>
          <a:sym typeface="Inter"/>
        </a:defRPr>
      </a:lvl4pPr>
      <a:lvl5pPr lvl="4" marR="0" rtl="0" algn="l">
        <a:lnSpc>
          <a:spcPct val="100000"/>
        </a:lnSpc>
        <a:spcBef>
          <a:spcPts val="0"/>
        </a:spcBef>
        <a:spcAft>
          <a:spcPts val="0"/>
        </a:spcAft>
        <a:buClr>
          <a:srgbClr val="000000"/>
        </a:buClr>
        <a:buFont typeface="Inter"/>
        <a:defRPr b="0" i="0" sz="1400" u="none" cap="none" strike="noStrike">
          <a:solidFill>
            <a:srgbClr val="000000"/>
          </a:solidFill>
          <a:latin typeface="Inter"/>
          <a:ea typeface="Inter"/>
          <a:cs typeface="Inter"/>
          <a:sym typeface="Inter"/>
        </a:defRPr>
      </a:lvl5pPr>
      <a:lvl6pPr lvl="5" marR="0" rtl="0" algn="l">
        <a:lnSpc>
          <a:spcPct val="100000"/>
        </a:lnSpc>
        <a:spcBef>
          <a:spcPts val="0"/>
        </a:spcBef>
        <a:spcAft>
          <a:spcPts val="0"/>
        </a:spcAft>
        <a:buClr>
          <a:srgbClr val="000000"/>
        </a:buClr>
        <a:buFont typeface="Inter"/>
        <a:defRPr b="0" i="0" sz="1400" u="none" cap="none" strike="noStrike">
          <a:solidFill>
            <a:srgbClr val="000000"/>
          </a:solidFill>
          <a:latin typeface="Inter"/>
          <a:ea typeface="Inter"/>
          <a:cs typeface="Inter"/>
          <a:sym typeface="Inter"/>
        </a:defRPr>
      </a:lvl6pPr>
      <a:lvl7pPr lvl="6" marR="0" rtl="0" algn="l">
        <a:lnSpc>
          <a:spcPct val="100000"/>
        </a:lnSpc>
        <a:spcBef>
          <a:spcPts val="0"/>
        </a:spcBef>
        <a:spcAft>
          <a:spcPts val="0"/>
        </a:spcAft>
        <a:buClr>
          <a:srgbClr val="000000"/>
        </a:buClr>
        <a:buFont typeface="Inter"/>
        <a:defRPr b="0" i="0" sz="1400" u="none" cap="none" strike="noStrike">
          <a:solidFill>
            <a:srgbClr val="000000"/>
          </a:solidFill>
          <a:latin typeface="Inter"/>
          <a:ea typeface="Inter"/>
          <a:cs typeface="Inter"/>
          <a:sym typeface="Inter"/>
        </a:defRPr>
      </a:lvl7pPr>
      <a:lvl8pPr lvl="7" marR="0" rtl="0" algn="l">
        <a:lnSpc>
          <a:spcPct val="100000"/>
        </a:lnSpc>
        <a:spcBef>
          <a:spcPts val="0"/>
        </a:spcBef>
        <a:spcAft>
          <a:spcPts val="0"/>
        </a:spcAft>
        <a:buClr>
          <a:srgbClr val="000000"/>
        </a:buClr>
        <a:buFont typeface="Inter"/>
        <a:defRPr b="0" i="0" sz="1400" u="none" cap="none" strike="noStrike">
          <a:solidFill>
            <a:srgbClr val="000000"/>
          </a:solidFill>
          <a:latin typeface="Inter"/>
          <a:ea typeface="Inter"/>
          <a:cs typeface="Inter"/>
          <a:sym typeface="Inter"/>
        </a:defRPr>
      </a:lvl8pPr>
      <a:lvl9pPr lvl="8" marR="0" rtl="0" algn="l">
        <a:lnSpc>
          <a:spcPct val="100000"/>
        </a:lnSpc>
        <a:spcBef>
          <a:spcPts val="0"/>
        </a:spcBef>
        <a:spcAft>
          <a:spcPts val="0"/>
        </a:spcAft>
        <a:buClr>
          <a:srgbClr val="000000"/>
        </a:buClr>
        <a:buFont typeface="Inter"/>
        <a:defRPr b="0" i="0" sz="1400" u="none" cap="none" strike="noStrike">
          <a:solidFill>
            <a:srgbClr val="000000"/>
          </a:solidFill>
          <a:latin typeface="Inter"/>
          <a:ea typeface="Inter"/>
          <a:cs typeface="Inter"/>
          <a:sym typeface="Inter"/>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Inter"/>
        <a:defRPr b="0" i="0" sz="1400" u="none" cap="none" strike="noStrike">
          <a:solidFill>
            <a:srgbClr val="000000"/>
          </a:solidFill>
          <a:latin typeface="Inter"/>
          <a:ea typeface="Inter"/>
          <a:cs typeface="Inter"/>
          <a:sym typeface="Inter"/>
        </a:defRPr>
      </a:lvl1pPr>
      <a:lvl2pPr lvl="1" marR="0" rtl="0" algn="l">
        <a:lnSpc>
          <a:spcPct val="100000"/>
        </a:lnSpc>
        <a:spcBef>
          <a:spcPts val="0"/>
        </a:spcBef>
        <a:spcAft>
          <a:spcPts val="0"/>
        </a:spcAft>
        <a:buClr>
          <a:srgbClr val="000000"/>
        </a:buClr>
        <a:buFont typeface="Inter"/>
        <a:defRPr b="0" i="0" sz="1400" u="none" cap="none" strike="noStrike">
          <a:solidFill>
            <a:srgbClr val="000000"/>
          </a:solidFill>
          <a:latin typeface="Inter"/>
          <a:ea typeface="Inter"/>
          <a:cs typeface="Inter"/>
          <a:sym typeface="Inter"/>
        </a:defRPr>
      </a:lvl2pPr>
      <a:lvl3pPr lvl="2" marR="0" rtl="0" algn="l">
        <a:lnSpc>
          <a:spcPct val="100000"/>
        </a:lnSpc>
        <a:spcBef>
          <a:spcPts val="0"/>
        </a:spcBef>
        <a:spcAft>
          <a:spcPts val="0"/>
        </a:spcAft>
        <a:buClr>
          <a:srgbClr val="000000"/>
        </a:buClr>
        <a:buFont typeface="Inter"/>
        <a:defRPr b="0" i="0" sz="1400" u="none" cap="none" strike="noStrike">
          <a:solidFill>
            <a:srgbClr val="000000"/>
          </a:solidFill>
          <a:latin typeface="Inter"/>
          <a:ea typeface="Inter"/>
          <a:cs typeface="Inter"/>
          <a:sym typeface="Inter"/>
        </a:defRPr>
      </a:lvl3pPr>
      <a:lvl4pPr lvl="3" marR="0" rtl="0" algn="l">
        <a:lnSpc>
          <a:spcPct val="100000"/>
        </a:lnSpc>
        <a:spcBef>
          <a:spcPts val="0"/>
        </a:spcBef>
        <a:spcAft>
          <a:spcPts val="0"/>
        </a:spcAft>
        <a:buClr>
          <a:srgbClr val="000000"/>
        </a:buClr>
        <a:buFont typeface="Inter"/>
        <a:defRPr b="0" i="0" sz="1400" u="none" cap="none" strike="noStrike">
          <a:solidFill>
            <a:srgbClr val="000000"/>
          </a:solidFill>
          <a:latin typeface="Inter"/>
          <a:ea typeface="Inter"/>
          <a:cs typeface="Inter"/>
          <a:sym typeface="Inter"/>
        </a:defRPr>
      </a:lvl4pPr>
      <a:lvl5pPr lvl="4" marR="0" rtl="0" algn="l">
        <a:lnSpc>
          <a:spcPct val="100000"/>
        </a:lnSpc>
        <a:spcBef>
          <a:spcPts val="0"/>
        </a:spcBef>
        <a:spcAft>
          <a:spcPts val="0"/>
        </a:spcAft>
        <a:buClr>
          <a:srgbClr val="000000"/>
        </a:buClr>
        <a:buFont typeface="Inter"/>
        <a:defRPr b="0" i="0" sz="1400" u="none" cap="none" strike="noStrike">
          <a:solidFill>
            <a:srgbClr val="000000"/>
          </a:solidFill>
          <a:latin typeface="Inter"/>
          <a:ea typeface="Inter"/>
          <a:cs typeface="Inter"/>
          <a:sym typeface="Inter"/>
        </a:defRPr>
      </a:lvl5pPr>
      <a:lvl6pPr lvl="5" marR="0" rtl="0" algn="l">
        <a:lnSpc>
          <a:spcPct val="100000"/>
        </a:lnSpc>
        <a:spcBef>
          <a:spcPts val="0"/>
        </a:spcBef>
        <a:spcAft>
          <a:spcPts val="0"/>
        </a:spcAft>
        <a:buClr>
          <a:srgbClr val="000000"/>
        </a:buClr>
        <a:buFont typeface="Inter"/>
        <a:defRPr b="0" i="0" sz="1400" u="none" cap="none" strike="noStrike">
          <a:solidFill>
            <a:srgbClr val="000000"/>
          </a:solidFill>
          <a:latin typeface="Inter"/>
          <a:ea typeface="Inter"/>
          <a:cs typeface="Inter"/>
          <a:sym typeface="Inter"/>
        </a:defRPr>
      </a:lvl6pPr>
      <a:lvl7pPr lvl="6" marR="0" rtl="0" algn="l">
        <a:lnSpc>
          <a:spcPct val="100000"/>
        </a:lnSpc>
        <a:spcBef>
          <a:spcPts val="0"/>
        </a:spcBef>
        <a:spcAft>
          <a:spcPts val="0"/>
        </a:spcAft>
        <a:buClr>
          <a:srgbClr val="000000"/>
        </a:buClr>
        <a:buFont typeface="Inter"/>
        <a:defRPr b="0" i="0" sz="1400" u="none" cap="none" strike="noStrike">
          <a:solidFill>
            <a:srgbClr val="000000"/>
          </a:solidFill>
          <a:latin typeface="Inter"/>
          <a:ea typeface="Inter"/>
          <a:cs typeface="Inter"/>
          <a:sym typeface="Inter"/>
        </a:defRPr>
      </a:lvl7pPr>
      <a:lvl8pPr lvl="7" marR="0" rtl="0" algn="l">
        <a:lnSpc>
          <a:spcPct val="100000"/>
        </a:lnSpc>
        <a:spcBef>
          <a:spcPts val="0"/>
        </a:spcBef>
        <a:spcAft>
          <a:spcPts val="0"/>
        </a:spcAft>
        <a:buClr>
          <a:srgbClr val="000000"/>
        </a:buClr>
        <a:buFont typeface="Inter"/>
        <a:defRPr b="0" i="0" sz="1400" u="none" cap="none" strike="noStrike">
          <a:solidFill>
            <a:srgbClr val="000000"/>
          </a:solidFill>
          <a:latin typeface="Inter"/>
          <a:ea typeface="Inter"/>
          <a:cs typeface="Inter"/>
          <a:sym typeface="Inter"/>
        </a:defRPr>
      </a:lvl8pPr>
      <a:lvl9pPr lvl="8" marR="0" rtl="0" algn="l">
        <a:lnSpc>
          <a:spcPct val="100000"/>
        </a:lnSpc>
        <a:spcBef>
          <a:spcPts val="0"/>
        </a:spcBef>
        <a:spcAft>
          <a:spcPts val="0"/>
        </a:spcAft>
        <a:buClr>
          <a:srgbClr val="000000"/>
        </a:buClr>
        <a:buFont typeface="Inter"/>
        <a:defRPr b="0" i="0" sz="1400" u="none" cap="none" strike="noStrike">
          <a:solidFill>
            <a:srgbClr val="000000"/>
          </a:solidFill>
          <a:latin typeface="Inter"/>
          <a:ea typeface="Inter"/>
          <a:cs typeface="Inter"/>
          <a:sym typeface="Inter"/>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Inter"/>
        <a:defRPr b="0" i="0" sz="1400" u="none" cap="none" strike="noStrike">
          <a:solidFill>
            <a:srgbClr val="000000"/>
          </a:solidFill>
          <a:latin typeface="Inter"/>
          <a:ea typeface="Inter"/>
          <a:cs typeface="Inter"/>
          <a:sym typeface="Inter"/>
        </a:defRPr>
      </a:lvl1pPr>
      <a:lvl2pPr lvl="1" marR="0" rtl="0" algn="l">
        <a:lnSpc>
          <a:spcPct val="100000"/>
        </a:lnSpc>
        <a:spcBef>
          <a:spcPts val="0"/>
        </a:spcBef>
        <a:spcAft>
          <a:spcPts val="0"/>
        </a:spcAft>
        <a:buClr>
          <a:srgbClr val="000000"/>
        </a:buClr>
        <a:buFont typeface="Inter"/>
        <a:defRPr b="0" i="0" sz="1400" u="none" cap="none" strike="noStrike">
          <a:solidFill>
            <a:srgbClr val="000000"/>
          </a:solidFill>
          <a:latin typeface="Inter"/>
          <a:ea typeface="Inter"/>
          <a:cs typeface="Inter"/>
          <a:sym typeface="Inter"/>
        </a:defRPr>
      </a:lvl2pPr>
      <a:lvl3pPr lvl="2" marR="0" rtl="0" algn="l">
        <a:lnSpc>
          <a:spcPct val="100000"/>
        </a:lnSpc>
        <a:spcBef>
          <a:spcPts val="0"/>
        </a:spcBef>
        <a:spcAft>
          <a:spcPts val="0"/>
        </a:spcAft>
        <a:buClr>
          <a:srgbClr val="000000"/>
        </a:buClr>
        <a:buFont typeface="Inter"/>
        <a:defRPr b="0" i="0" sz="1400" u="none" cap="none" strike="noStrike">
          <a:solidFill>
            <a:srgbClr val="000000"/>
          </a:solidFill>
          <a:latin typeface="Inter"/>
          <a:ea typeface="Inter"/>
          <a:cs typeface="Inter"/>
          <a:sym typeface="Inter"/>
        </a:defRPr>
      </a:lvl3pPr>
      <a:lvl4pPr lvl="3" marR="0" rtl="0" algn="l">
        <a:lnSpc>
          <a:spcPct val="100000"/>
        </a:lnSpc>
        <a:spcBef>
          <a:spcPts val="0"/>
        </a:spcBef>
        <a:spcAft>
          <a:spcPts val="0"/>
        </a:spcAft>
        <a:buClr>
          <a:srgbClr val="000000"/>
        </a:buClr>
        <a:buFont typeface="Inter"/>
        <a:defRPr b="0" i="0" sz="1400" u="none" cap="none" strike="noStrike">
          <a:solidFill>
            <a:srgbClr val="000000"/>
          </a:solidFill>
          <a:latin typeface="Inter"/>
          <a:ea typeface="Inter"/>
          <a:cs typeface="Inter"/>
          <a:sym typeface="Inter"/>
        </a:defRPr>
      </a:lvl4pPr>
      <a:lvl5pPr lvl="4" marR="0" rtl="0" algn="l">
        <a:lnSpc>
          <a:spcPct val="100000"/>
        </a:lnSpc>
        <a:spcBef>
          <a:spcPts val="0"/>
        </a:spcBef>
        <a:spcAft>
          <a:spcPts val="0"/>
        </a:spcAft>
        <a:buClr>
          <a:srgbClr val="000000"/>
        </a:buClr>
        <a:buFont typeface="Inter"/>
        <a:defRPr b="0" i="0" sz="1400" u="none" cap="none" strike="noStrike">
          <a:solidFill>
            <a:srgbClr val="000000"/>
          </a:solidFill>
          <a:latin typeface="Inter"/>
          <a:ea typeface="Inter"/>
          <a:cs typeface="Inter"/>
          <a:sym typeface="Inter"/>
        </a:defRPr>
      </a:lvl5pPr>
      <a:lvl6pPr lvl="5" marR="0" rtl="0" algn="l">
        <a:lnSpc>
          <a:spcPct val="100000"/>
        </a:lnSpc>
        <a:spcBef>
          <a:spcPts val="0"/>
        </a:spcBef>
        <a:spcAft>
          <a:spcPts val="0"/>
        </a:spcAft>
        <a:buClr>
          <a:srgbClr val="000000"/>
        </a:buClr>
        <a:buFont typeface="Inter"/>
        <a:defRPr b="0" i="0" sz="1400" u="none" cap="none" strike="noStrike">
          <a:solidFill>
            <a:srgbClr val="000000"/>
          </a:solidFill>
          <a:latin typeface="Inter"/>
          <a:ea typeface="Inter"/>
          <a:cs typeface="Inter"/>
          <a:sym typeface="Inter"/>
        </a:defRPr>
      </a:lvl6pPr>
      <a:lvl7pPr lvl="6" marR="0" rtl="0" algn="l">
        <a:lnSpc>
          <a:spcPct val="100000"/>
        </a:lnSpc>
        <a:spcBef>
          <a:spcPts val="0"/>
        </a:spcBef>
        <a:spcAft>
          <a:spcPts val="0"/>
        </a:spcAft>
        <a:buClr>
          <a:srgbClr val="000000"/>
        </a:buClr>
        <a:buFont typeface="Inter"/>
        <a:defRPr b="0" i="0" sz="1400" u="none" cap="none" strike="noStrike">
          <a:solidFill>
            <a:srgbClr val="000000"/>
          </a:solidFill>
          <a:latin typeface="Inter"/>
          <a:ea typeface="Inter"/>
          <a:cs typeface="Inter"/>
          <a:sym typeface="Inter"/>
        </a:defRPr>
      </a:lvl7pPr>
      <a:lvl8pPr lvl="7" marR="0" rtl="0" algn="l">
        <a:lnSpc>
          <a:spcPct val="100000"/>
        </a:lnSpc>
        <a:spcBef>
          <a:spcPts val="0"/>
        </a:spcBef>
        <a:spcAft>
          <a:spcPts val="0"/>
        </a:spcAft>
        <a:buClr>
          <a:srgbClr val="000000"/>
        </a:buClr>
        <a:buFont typeface="Inter"/>
        <a:defRPr b="0" i="0" sz="1400" u="none" cap="none" strike="noStrike">
          <a:solidFill>
            <a:srgbClr val="000000"/>
          </a:solidFill>
          <a:latin typeface="Inter"/>
          <a:ea typeface="Inter"/>
          <a:cs typeface="Inter"/>
          <a:sym typeface="Inter"/>
        </a:defRPr>
      </a:lvl8pPr>
      <a:lvl9pPr lvl="8" marR="0" rtl="0" algn="l">
        <a:lnSpc>
          <a:spcPct val="100000"/>
        </a:lnSpc>
        <a:spcBef>
          <a:spcPts val="0"/>
        </a:spcBef>
        <a:spcAft>
          <a:spcPts val="0"/>
        </a:spcAft>
        <a:buClr>
          <a:srgbClr val="000000"/>
        </a:buClr>
        <a:buFont typeface="Inter"/>
        <a:defRPr b="0" i="0" sz="1400" u="none" cap="none" strike="noStrike">
          <a:solidFill>
            <a:srgbClr val="000000"/>
          </a:solidFill>
          <a:latin typeface="Inter"/>
          <a:ea typeface="Inter"/>
          <a:cs typeface="Inter"/>
          <a:sym typeface="Inter"/>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9.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 name="Shape 15"/>
        <p:cNvGrpSpPr/>
        <p:nvPr/>
      </p:nvGrpSpPr>
      <p:grpSpPr>
        <a:xfrm>
          <a:off x="0" y="0"/>
          <a:ext cx="0" cy="0"/>
          <a:chOff x="0" y="0"/>
          <a:chExt cx="0" cy="0"/>
        </a:xfrm>
      </p:grpSpPr>
      <p:sp>
        <p:nvSpPr>
          <p:cNvPr id="16" name="Google Shape;16;p1"/>
          <p:cNvSpPr/>
          <p:nvPr/>
        </p:nvSpPr>
        <p:spPr>
          <a:xfrm>
            <a:off x="0" y="0"/>
            <a:ext cx="7562850" cy="10696575"/>
          </a:xfrm>
          <a:prstGeom prst="rect">
            <a:avLst/>
          </a:prstGeom>
          <a:noFill/>
          <a:ln>
            <a:noFill/>
          </a:ln>
          <a:effectLst>
            <a:outerShdw blurRad="381000" rotWithShape="0" algn="bl" dir="5400000" dist="133350">
              <a:srgbClr val="0E132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7502041" y="0"/>
            <a:ext cx="76200" cy="10696500"/>
          </a:xfrm>
          <a:prstGeom prst="rect">
            <a:avLst/>
          </a:prstGeom>
          <a:solidFill>
            <a:srgbClr val="004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
          <p:cNvSpPr/>
          <p:nvPr/>
        </p:nvSpPr>
        <p:spPr>
          <a:xfrm>
            <a:off x="6981825" y="533400"/>
            <a:ext cx="9600" cy="9667800"/>
          </a:xfrm>
          <a:prstGeom prst="rect">
            <a:avLst/>
          </a:prstGeom>
          <a:solidFill>
            <a:srgbClr val="EEF0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9" name="Google Shape;19;p1"/>
          <p:cNvPicPr preferRelativeResize="0"/>
          <p:nvPr/>
        </p:nvPicPr>
        <p:blipFill rotWithShape="1">
          <a:blip r:embed="rId3">
            <a:alphaModFix/>
          </a:blip>
          <a:srcRect b="0" l="0" r="0" t="0"/>
          <a:stretch/>
        </p:blipFill>
        <p:spPr>
          <a:xfrm>
            <a:off x="571500" y="985250"/>
            <a:ext cx="1856402" cy="346980"/>
          </a:xfrm>
          <a:prstGeom prst="rect">
            <a:avLst/>
          </a:prstGeom>
          <a:noFill/>
          <a:ln>
            <a:noFill/>
          </a:ln>
        </p:spPr>
      </p:pic>
      <p:sp>
        <p:nvSpPr>
          <p:cNvPr id="20" name="Google Shape;20;p1"/>
          <p:cNvSpPr/>
          <p:nvPr/>
        </p:nvSpPr>
        <p:spPr>
          <a:xfrm>
            <a:off x="571500" y="2838450"/>
            <a:ext cx="6612446" cy="1619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047AB"/>
              </a:buClr>
              <a:buSzPts val="825"/>
              <a:buFont typeface="Inter"/>
              <a:buNone/>
            </a:pPr>
            <a:r>
              <a:rPr b="1" i="0" lang="en-US" sz="825" u="none" cap="none" strike="noStrike">
                <a:solidFill>
                  <a:srgbClr val="0047AB"/>
                </a:solidFill>
                <a:latin typeface="Inter"/>
                <a:ea typeface="Inter"/>
                <a:cs typeface="Inter"/>
                <a:sym typeface="Inter"/>
              </a:rPr>
              <a:t>PROPOSAL</a:t>
            </a:r>
            <a:endParaRPr b="0" i="0" sz="825" u="none" cap="none" strike="noStrike">
              <a:solidFill>
                <a:schemeClr val="dk1"/>
              </a:solidFill>
              <a:latin typeface="Inter"/>
              <a:ea typeface="Inter"/>
              <a:cs typeface="Inter"/>
              <a:sym typeface="Inter"/>
            </a:endParaRPr>
          </a:p>
        </p:txBody>
      </p:sp>
      <p:sp>
        <p:nvSpPr>
          <p:cNvPr id="21" name="Google Shape;21;p1"/>
          <p:cNvSpPr/>
          <p:nvPr/>
        </p:nvSpPr>
        <p:spPr>
          <a:xfrm>
            <a:off x="571500" y="3128963"/>
            <a:ext cx="5254806" cy="1158180"/>
          </a:xfrm>
          <a:prstGeom prst="rect">
            <a:avLst/>
          </a:prstGeom>
          <a:noFill/>
          <a:ln>
            <a:noFill/>
          </a:ln>
        </p:spPr>
        <p:txBody>
          <a:bodyPr anchorCtr="0" anchor="t" bIns="0" lIns="0" spcFirstLastPara="1" rIns="0" wrap="square" tIns="0">
            <a:normAutofit/>
          </a:bodyPr>
          <a:lstStyle/>
          <a:p>
            <a:pPr indent="0" lvl="0" marL="0" marR="0" rtl="0" algn="l">
              <a:lnSpc>
                <a:spcPct val="105000"/>
              </a:lnSpc>
              <a:spcBef>
                <a:spcPts val="0"/>
              </a:spcBef>
              <a:spcAft>
                <a:spcPts val="0"/>
              </a:spcAft>
              <a:buClr>
                <a:srgbClr val="0047AB"/>
              </a:buClr>
              <a:buSzPts val="3900"/>
              <a:buFont typeface="Inter"/>
              <a:buNone/>
            </a:pPr>
            <a:r>
              <a:rPr b="0" i="0" lang="en-US" sz="3900" u="none" cap="none" strike="noStrike">
                <a:solidFill>
                  <a:srgbClr val="0047AB"/>
                </a:solidFill>
                <a:latin typeface="Inter"/>
                <a:ea typeface="Inter"/>
                <a:cs typeface="Inter"/>
                <a:sym typeface="Inter"/>
              </a:rPr>
              <a:t>Pension Contribution Processing Automation</a:t>
            </a:r>
            <a:endParaRPr b="0" i="0" sz="3900" u="none" cap="none" strike="noStrike">
              <a:solidFill>
                <a:schemeClr val="dk1"/>
              </a:solidFill>
              <a:latin typeface="Inter"/>
              <a:ea typeface="Inter"/>
              <a:cs typeface="Inter"/>
              <a:sym typeface="Inter"/>
            </a:endParaRPr>
          </a:p>
        </p:txBody>
      </p:sp>
      <p:sp>
        <p:nvSpPr>
          <p:cNvPr id="22" name="Google Shape;22;p1"/>
          <p:cNvSpPr/>
          <p:nvPr/>
        </p:nvSpPr>
        <p:spPr>
          <a:xfrm>
            <a:off x="571500" y="4567824"/>
            <a:ext cx="6082800" cy="758100"/>
          </a:xfrm>
          <a:prstGeom prst="rect">
            <a:avLst/>
          </a:prstGeom>
          <a:noFill/>
          <a:ln>
            <a:noFill/>
          </a:ln>
        </p:spPr>
        <p:txBody>
          <a:bodyPr anchorCtr="0" anchor="t" bIns="25400" lIns="25400" spcFirstLastPara="1" rIns="25400" wrap="square" tIns="25400">
            <a:normAutofit/>
          </a:bodyPr>
          <a:lstStyle/>
          <a:p>
            <a:pPr indent="0" lvl="0" marL="0" marR="0" rtl="0" algn="l">
              <a:lnSpc>
                <a:spcPct val="105000"/>
              </a:lnSpc>
              <a:spcBef>
                <a:spcPts val="0"/>
              </a:spcBef>
              <a:spcAft>
                <a:spcPts val="0"/>
              </a:spcAft>
              <a:buClr>
                <a:srgbClr val="6B7686"/>
              </a:buClr>
              <a:buSzPts val="2700"/>
              <a:buFont typeface="Inter"/>
              <a:buNone/>
            </a:pPr>
            <a:r>
              <a:rPr b="0" i="0" lang="en-US" sz="2700" u="none" cap="none" strike="noStrike">
                <a:solidFill>
                  <a:srgbClr val="6B7686"/>
                </a:solidFill>
                <a:latin typeface="Inter"/>
                <a:ea typeface="Inter"/>
                <a:cs typeface="Inter"/>
                <a:sym typeface="Inter"/>
              </a:rPr>
              <a:t>Microsoft Power Automate + AI Agent Validation Layer</a:t>
            </a:r>
            <a:endParaRPr b="0" i="0" sz="2700" u="none" cap="none" strike="noStrike">
              <a:solidFill>
                <a:schemeClr val="dk1"/>
              </a:solidFill>
              <a:latin typeface="Inter"/>
              <a:ea typeface="Inter"/>
              <a:cs typeface="Inter"/>
              <a:sym typeface="Inter"/>
            </a:endParaRPr>
          </a:p>
        </p:txBody>
      </p:sp>
      <p:sp>
        <p:nvSpPr>
          <p:cNvPr id="23" name="Google Shape;23;p1"/>
          <p:cNvSpPr/>
          <p:nvPr/>
        </p:nvSpPr>
        <p:spPr>
          <a:xfrm>
            <a:off x="571500" y="5606575"/>
            <a:ext cx="6178500" cy="502200"/>
          </a:xfrm>
          <a:prstGeom prst="rect">
            <a:avLst/>
          </a:prstGeom>
          <a:noFill/>
          <a:ln>
            <a:noFill/>
          </a:ln>
        </p:spPr>
        <p:txBody>
          <a:bodyPr anchorCtr="0" anchor="t" bIns="25400" lIns="25400" spcFirstLastPara="1" rIns="25400" wrap="square" tIns="25400">
            <a:normAutofit/>
          </a:bodyPr>
          <a:lstStyle/>
          <a:p>
            <a:pPr indent="0" lvl="0" marL="0" marR="0" rtl="0" algn="l">
              <a:lnSpc>
                <a:spcPct val="155000"/>
              </a:lnSpc>
              <a:spcBef>
                <a:spcPts val="0"/>
              </a:spcBef>
              <a:spcAft>
                <a:spcPts val="0"/>
              </a:spcAft>
              <a:buClr>
                <a:srgbClr val="374151"/>
              </a:buClr>
              <a:buSzPts val="1050"/>
              <a:buFont typeface="Inter"/>
              <a:buNone/>
            </a:pPr>
            <a:r>
              <a:rPr b="0" i="0" lang="en-US" sz="1050" u="none" cap="none" strike="noStrike">
                <a:solidFill>
                  <a:srgbClr val="374151"/>
                </a:solidFill>
                <a:latin typeface="Inter"/>
                <a:ea typeface="Inter"/>
                <a:cs typeface="Inter"/>
                <a:sym typeface="Inter"/>
              </a:rPr>
              <a:t>A practical automation layer that reduces manual load across employer file intake, validation, historical comparison, and pension administration system posting, without rebuilding the existing portal.</a:t>
            </a:r>
            <a:endParaRPr b="0" i="0" sz="1050" u="none" cap="none" strike="noStrike">
              <a:solidFill>
                <a:schemeClr val="dk1"/>
              </a:solidFill>
              <a:latin typeface="Inter"/>
              <a:ea typeface="Inter"/>
              <a:cs typeface="Inter"/>
              <a:sym typeface="Inter"/>
            </a:endParaRPr>
          </a:p>
        </p:txBody>
      </p:sp>
      <p:sp>
        <p:nvSpPr>
          <p:cNvPr id="24" name="Google Shape;24;p1"/>
          <p:cNvSpPr/>
          <p:nvPr/>
        </p:nvSpPr>
        <p:spPr>
          <a:xfrm>
            <a:off x="571500" y="9131275"/>
            <a:ext cx="64197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1"/>
          <p:cNvSpPr/>
          <p:nvPr/>
        </p:nvSpPr>
        <p:spPr>
          <a:xfrm>
            <a:off x="586891" y="9407500"/>
            <a:ext cx="1524000" cy="1476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047AB"/>
              </a:buClr>
              <a:buSzPts val="713"/>
              <a:buFont typeface="Inter"/>
              <a:buNone/>
            </a:pPr>
            <a:r>
              <a:rPr b="1" i="0" lang="en-US" sz="713" u="none" cap="none" strike="noStrike">
                <a:solidFill>
                  <a:srgbClr val="0047AB"/>
                </a:solidFill>
                <a:latin typeface="Inter"/>
                <a:ea typeface="Inter"/>
                <a:cs typeface="Inter"/>
                <a:sym typeface="Inter"/>
              </a:rPr>
              <a:t>PREPARED FOR</a:t>
            </a:r>
            <a:endParaRPr b="0" i="0" sz="713" u="none" cap="none" strike="noStrike">
              <a:solidFill>
                <a:schemeClr val="dk1"/>
              </a:solidFill>
              <a:latin typeface="Inter"/>
              <a:ea typeface="Inter"/>
              <a:cs typeface="Inter"/>
              <a:sym typeface="Inter"/>
            </a:endParaRPr>
          </a:p>
        </p:txBody>
      </p:sp>
      <p:sp>
        <p:nvSpPr>
          <p:cNvPr id="26" name="Google Shape;26;p1"/>
          <p:cNvSpPr/>
          <p:nvPr/>
        </p:nvSpPr>
        <p:spPr>
          <a:xfrm>
            <a:off x="586891" y="9574188"/>
            <a:ext cx="1524000" cy="369600"/>
          </a:xfrm>
          <a:prstGeom prst="rect">
            <a:avLst/>
          </a:prstGeom>
          <a:noFill/>
          <a:ln>
            <a:noFill/>
          </a:ln>
        </p:spPr>
        <p:txBody>
          <a:bodyPr anchorCtr="0" anchor="t" bIns="25400" lIns="25400" spcFirstLastPara="1" rIns="25400" wrap="square" tIns="25400">
            <a:normAutofit/>
          </a:bodyPr>
          <a:lstStyle/>
          <a:p>
            <a:pPr indent="0" lvl="0" marL="0" marR="0" rtl="0" algn="l">
              <a:lnSpc>
                <a:spcPct val="145000"/>
              </a:lnSpc>
              <a:spcBef>
                <a:spcPts val="0"/>
              </a:spcBef>
              <a:spcAft>
                <a:spcPts val="0"/>
              </a:spcAft>
              <a:buClr>
                <a:srgbClr val="0E1320"/>
              </a:buClr>
              <a:buSzPts val="900"/>
              <a:buFont typeface="Inter"/>
              <a:buNone/>
            </a:pPr>
            <a:r>
              <a:rPr lang="en-US" sz="900">
                <a:solidFill>
                  <a:srgbClr val="0E1320"/>
                </a:solidFill>
              </a:rPr>
              <a:t>Reflections Global</a:t>
            </a:r>
            <a:endParaRPr b="0" i="0" sz="900" u="none" cap="none" strike="noStrike">
              <a:solidFill>
                <a:schemeClr val="dk1"/>
              </a:solidFill>
              <a:latin typeface="Inter"/>
              <a:ea typeface="Inter"/>
              <a:cs typeface="Inter"/>
              <a:sym typeface="Inter"/>
            </a:endParaRPr>
          </a:p>
        </p:txBody>
      </p:sp>
      <p:sp>
        <p:nvSpPr>
          <p:cNvPr id="27" name="Google Shape;27;p1"/>
          <p:cNvSpPr/>
          <p:nvPr/>
        </p:nvSpPr>
        <p:spPr>
          <a:xfrm>
            <a:off x="2737890" y="9407500"/>
            <a:ext cx="1524000" cy="1476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047AB"/>
              </a:buClr>
              <a:buSzPts val="713"/>
              <a:buFont typeface="Inter"/>
              <a:buNone/>
            </a:pPr>
            <a:r>
              <a:rPr b="1" i="0" lang="en-US" sz="713" u="none" cap="none" strike="noStrike">
                <a:solidFill>
                  <a:srgbClr val="0047AB"/>
                </a:solidFill>
                <a:latin typeface="Inter"/>
                <a:ea typeface="Inter"/>
                <a:cs typeface="Inter"/>
                <a:sym typeface="Inter"/>
              </a:rPr>
              <a:t>PREPARED BY</a:t>
            </a:r>
            <a:endParaRPr b="0" i="0" sz="713" u="none" cap="none" strike="noStrike">
              <a:solidFill>
                <a:schemeClr val="dk1"/>
              </a:solidFill>
              <a:latin typeface="Inter"/>
              <a:ea typeface="Inter"/>
              <a:cs typeface="Inter"/>
              <a:sym typeface="Inter"/>
            </a:endParaRPr>
          </a:p>
        </p:txBody>
      </p:sp>
      <p:sp>
        <p:nvSpPr>
          <p:cNvPr id="28" name="Google Shape;28;p1"/>
          <p:cNvSpPr/>
          <p:nvPr/>
        </p:nvSpPr>
        <p:spPr>
          <a:xfrm>
            <a:off x="2768681" y="9583725"/>
            <a:ext cx="1856400" cy="209700"/>
          </a:xfrm>
          <a:prstGeom prst="rect">
            <a:avLst/>
          </a:prstGeom>
          <a:noFill/>
          <a:ln>
            <a:noFill/>
          </a:ln>
        </p:spPr>
        <p:txBody>
          <a:bodyPr anchorCtr="0" anchor="t" bIns="0" lIns="0" spcFirstLastPara="1" rIns="0" wrap="square" tIns="0">
            <a:normAutofit/>
          </a:bodyPr>
          <a:lstStyle/>
          <a:p>
            <a:pPr indent="0" lvl="0" marL="0" marR="0" rtl="0" algn="l">
              <a:lnSpc>
                <a:spcPct val="145000"/>
              </a:lnSpc>
              <a:spcBef>
                <a:spcPts val="0"/>
              </a:spcBef>
              <a:spcAft>
                <a:spcPts val="0"/>
              </a:spcAft>
              <a:buClr>
                <a:srgbClr val="0E1320"/>
              </a:buClr>
              <a:buSzPts val="900"/>
              <a:buFont typeface="Inter"/>
              <a:buNone/>
            </a:pPr>
            <a:r>
              <a:rPr lang="en-US" sz="900">
                <a:solidFill>
                  <a:srgbClr val="0E1320"/>
                </a:solidFill>
              </a:rPr>
              <a:t>Ratish Nair, CBO</a:t>
            </a:r>
            <a:endParaRPr b="0" i="0" sz="900" u="none" cap="none" strike="noStrike">
              <a:solidFill>
                <a:schemeClr val="dk1"/>
              </a:solidFill>
              <a:latin typeface="Inter"/>
              <a:ea typeface="Inter"/>
              <a:cs typeface="Inter"/>
              <a:sym typeface="Inter"/>
            </a:endParaRPr>
          </a:p>
        </p:txBody>
      </p:sp>
      <p:sp>
        <p:nvSpPr>
          <p:cNvPr id="29" name="Google Shape;29;p1"/>
          <p:cNvSpPr/>
          <p:nvPr/>
        </p:nvSpPr>
        <p:spPr>
          <a:xfrm>
            <a:off x="4963553" y="9407500"/>
            <a:ext cx="1524000" cy="1476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047AB"/>
              </a:buClr>
              <a:buSzPts val="713"/>
              <a:buFont typeface="Inter"/>
              <a:buNone/>
            </a:pPr>
            <a:r>
              <a:rPr b="1" i="0" lang="en-US" sz="713" u="none" cap="none" strike="noStrike">
                <a:solidFill>
                  <a:srgbClr val="0047AB"/>
                </a:solidFill>
                <a:latin typeface="Inter"/>
                <a:ea typeface="Inter"/>
                <a:cs typeface="Inter"/>
                <a:sym typeface="Inter"/>
              </a:rPr>
              <a:t>DATE</a:t>
            </a:r>
            <a:endParaRPr b="0" i="0" sz="713" u="none" cap="none" strike="noStrike">
              <a:solidFill>
                <a:schemeClr val="dk1"/>
              </a:solidFill>
              <a:latin typeface="Inter"/>
              <a:ea typeface="Inter"/>
              <a:cs typeface="Inter"/>
              <a:sym typeface="Inter"/>
            </a:endParaRPr>
          </a:p>
        </p:txBody>
      </p:sp>
      <p:sp>
        <p:nvSpPr>
          <p:cNvPr id="30" name="Google Shape;30;p1"/>
          <p:cNvSpPr/>
          <p:nvPr/>
        </p:nvSpPr>
        <p:spPr>
          <a:xfrm>
            <a:off x="4963553" y="9574188"/>
            <a:ext cx="1524000" cy="203700"/>
          </a:xfrm>
          <a:prstGeom prst="rect">
            <a:avLst/>
          </a:prstGeom>
          <a:noFill/>
          <a:ln>
            <a:noFill/>
          </a:ln>
        </p:spPr>
        <p:txBody>
          <a:bodyPr anchorCtr="0" anchor="t" bIns="25400" lIns="25400" spcFirstLastPara="1" rIns="25400" wrap="square" tIns="25400">
            <a:normAutofit/>
          </a:bodyPr>
          <a:lstStyle/>
          <a:p>
            <a:pPr indent="0" lvl="0" marL="0" marR="0" rtl="0" algn="l">
              <a:lnSpc>
                <a:spcPct val="145000"/>
              </a:lnSpc>
              <a:spcBef>
                <a:spcPts val="0"/>
              </a:spcBef>
              <a:spcAft>
                <a:spcPts val="0"/>
              </a:spcAft>
              <a:buClr>
                <a:srgbClr val="0E1320"/>
              </a:buClr>
              <a:buSzPts val="900"/>
              <a:buFont typeface="Inter"/>
              <a:buNone/>
            </a:pPr>
            <a:r>
              <a:rPr b="0" i="0" lang="en-US" sz="900" u="none" cap="none" strike="noStrike">
                <a:solidFill>
                  <a:srgbClr val="0E1320"/>
                </a:solidFill>
                <a:latin typeface="Inter"/>
                <a:ea typeface="Inter"/>
                <a:cs typeface="Inter"/>
                <a:sym typeface="Inter"/>
              </a:rPr>
              <a:t>05 June 2026</a:t>
            </a:r>
            <a:endParaRPr b="0" i="0" sz="900" u="none" cap="none" strike="noStrike">
              <a:solidFill>
                <a:schemeClr val="dk1"/>
              </a:solidFill>
              <a:latin typeface="Inter"/>
              <a:ea typeface="Inter"/>
              <a:cs typeface="Inter"/>
              <a:sym typeface="Inte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 name="Shape 35"/>
        <p:cNvGrpSpPr/>
        <p:nvPr/>
      </p:nvGrpSpPr>
      <p:grpSpPr>
        <a:xfrm>
          <a:off x="0" y="0"/>
          <a:ext cx="0" cy="0"/>
          <a:chOff x="0" y="0"/>
          <a:chExt cx="0" cy="0"/>
        </a:xfrm>
      </p:grpSpPr>
      <p:sp>
        <p:nvSpPr>
          <p:cNvPr id="36" name="Google Shape;36;p2"/>
          <p:cNvSpPr/>
          <p:nvPr/>
        </p:nvSpPr>
        <p:spPr>
          <a:xfrm>
            <a:off x="-15" y="0"/>
            <a:ext cx="7563000" cy="10696500"/>
          </a:xfrm>
          <a:prstGeom prst="rect">
            <a:avLst/>
          </a:prstGeom>
          <a:noFill/>
          <a:ln>
            <a:noFill/>
          </a:ln>
          <a:effectLst>
            <a:outerShdw blurRad="381000" rotWithShape="0" algn="bl" dir="5400000" dist="133350">
              <a:srgbClr val="0E132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7" name="Google Shape;37;p2"/>
          <p:cNvPicPr preferRelativeResize="0"/>
          <p:nvPr/>
        </p:nvPicPr>
        <p:blipFill rotWithShape="1">
          <a:blip r:embed="rId3">
            <a:alphaModFix/>
          </a:blip>
          <a:srcRect b="0" l="0" r="0" t="0"/>
          <a:stretch/>
        </p:blipFill>
        <p:spPr>
          <a:xfrm>
            <a:off x="571500" y="671273"/>
            <a:ext cx="815357" cy="152400"/>
          </a:xfrm>
          <a:prstGeom prst="rect">
            <a:avLst/>
          </a:prstGeom>
          <a:noFill/>
          <a:ln>
            <a:noFill/>
          </a:ln>
        </p:spPr>
      </p:pic>
      <p:sp>
        <p:nvSpPr>
          <p:cNvPr id="38" name="Google Shape;38;p2"/>
          <p:cNvSpPr/>
          <p:nvPr/>
        </p:nvSpPr>
        <p:spPr>
          <a:xfrm>
            <a:off x="3486522" y="690323"/>
            <a:ext cx="3609900" cy="152400"/>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6B7686"/>
              </a:buClr>
              <a:buSzPts val="750"/>
              <a:buFont typeface="Inter"/>
              <a:buNone/>
            </a:pPr>
            <a:r>
              <a:rPr b="1" i="0" lang="en-US" sz="750" u="none" cap="none" strike="noStrike">
                <a:solidFill>
                  <a:srgbClr val="6B7686"/>
                </a:solidFill>
                <a:latin typeface="Inter"/>
                <a:ea typeface="Inter"/>
                <a:cs typeface="Inter"/>
                <a:sym typeface="Inter"/>
              </a:rPr>
              <a:t>PENSION CONTRIBUTION PROCESSING AUTOMATION</a:t>
            </a:r>
            <a:endParaRPr b="0" i="0" sz="750" u="none" cap="none" strike="noStrike">
              <a:solidFill>
                <a:schemeClr val="dk1"/>
              </a:solidFill>
              <a:latin typeface="Inter"/>
              <a:ea typeface="Inter"/>
              <a:cs typeface="Inter"/>
              <a:sym typeface="Inter"/>
            </a:endParaRPr>
          </a:p>
        </p:txBody>
      </p:sp>
      <p:sp>
        <p:nvSpPr>
          <p:cNvPr id="39" name="Google Shape;39;p2"/>
          <p:cNvSpPr/>
          <p:nvPr/>
        </p:nvSpPr>
        <p:spPr>
          <a:xfrm>
            <a:off x="571500" y="1673448"/>
            <a:ext cx="6419700" cy="9600"/>
          </a:xfrm>
          <a:prstGeom prst="rect">
            <a:avLst/>
          </a:prstGeom>
          <a:solidFill>
            <a:srgbClr val="004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2"/>
          <p:cNvSpPr/>
          <p:nvPr/>
        </p:nvSpPr>
        <p:spPr>
          <a:xfrm>
            <a:off x="579899" y="1305843"/>
            <a:ext cx="1128300" cy="310500"/>
          </a:xfrm>
          <a:prstGeom prst="rect">
            <a:avLst/>
          </a:prstGeom>
          <a:noFill/>
          <a:ln>
            <a:noFill/>
          </a:ln>
        </p:spPr>
        <p:txBody>
          <a:bodyPr anchorCtr="0" anchor="t" bIns="25400" lIns="25400" spcFirstLastPara="1" rIns="25400" wrap="square" tIns="25400">
            <a:normAutofit/>
          </a:bodyPr>
          <a:lstStyle/>
          <a:p>
            <a:pPr indent="0" lvl="0" marL="0" marR="0" rtl="0" algn="l">
              <a:lnSpc>
                <a:spcPct val="110000"/>
              </a:lnSpc>
              <a:spcBef>
                <a:spcPts val="0"/>
              </a:spcBef>
              <a:spcAft>
                <a:spcPts val="0"/>
              </a:spcAft>
              <a:buClr>
                <a:srgbClr val="0E1320"/>
              </a:buClr>
              <a:buSzPts val="1950"/>
              <a:buFont typeface="Inter"/>
              <a:buNone/>
            </a:pPr>
            <a:r>
              <a:rPr b="0" i="0" lang="en-US" sz="1950" u="none" cap="none" strike="noStrike">
                <a:solidFill>
                  <a:srgbClr val="0E1320"/>
                </a:solidFill>
                <a:latin typeface="Inter"/>
                <a:ea typeface="Inter"/>
                <a:cs typeface="Inter"/>
                <a:sym typeface="Inter"/>
              </a:rPr>
              <a:t>Contents</a:t>
            </a:r>
            <a:endParaRPr b="0" i="0" sz="1950" u="none" cap="none" strike="noStrike">
              <a:solidFill>
                <a:schemeClr val="dk1"/>
              </a:solidFill>
              <a:latin typeface="Inter"/>
              <a:ea typeface="Inter"/>
              <a:cs typeface="Inter"/>
              <a:sym typeface="Inter"/>
            </a:endParaRPr>
          </a:p>
        </p:txBody>
      </p:sp>
      <p:sp>
        <p:nvSpPr>
          <p:cNvPr id="41" name="Google Shape;41;p2"/>
          <p:cNvSpPr/>
          <p:nvPr/>
        </p:nvSpPr>
        <p:spPr>
          <a:xfrm>
            <a:off x="5829002" y="1439193"/>
            <a:ext cx="1238400" cy="148200"/>
          </a:xfrm>
          <a:prstGeom prst="rect">
            <a:avLst/>
          </a:prstGeom>
          <a:noFill/>
          <a:ln>
            <a:noFill/>
          </a:ln>
        </p:spPr>
        <p:txBody>
          <a:bodyPr anchorCtr="0" anchor="t" bIns="25400" lIns="25400" spcFirstLastPara="1" rIns="25400" wrap="square" tIns="25400">
            <a:normAutofit/>
          </a:bodyPr>
          <a:lstStyle/>
          <a:p>
            <a:pPr indent="0" lvl="0" marL="0" marR="0" rtl="0" algn="l">
              <a:lnSpc>
                <a:spcPct val="110000"/>
              </a:lnSpc>
              <a:spcBef>
                <a:spcPts val="0"/>
              </a:spcBef>
              <a:spcAft>
                <a:spcPts val="0"/>
              </a:spcAft>
              <a:buClr>
                <a:srgbClr val="6B7686"/>
              </a:buClr>
              <a:buSzPts val="788"/>
              <a:buFont typeface="Inter"/>
              <a:buNone/>
            </a:pPr>
            <a:r>
              <a:t/>
            </a:r>
            <a:endParaRPr b="0" i="0" sz="788" u="none" cap="none" strike="noStrike">
              <a:solidFill>
                <a:schemeClr val="dk1"/>
              </a:solidFill>
              <a:latin typeface="Inter"/>
              <a:ea typeface="Inter"/>
              <a:cs typeface="Inter"/>
              <a:sym typeface="Inter"/>
            </a:endParaRPr>
          </a:p>
        </p:txBody>
      </p:sp>
      <p:sp>
        <p:nvSpPr>
          <p:cNvPr id="42" name="Google Shape;42;p2"/>
          <p:cNvSpPr/>
          <p:nvPr/>
        </p:nvSpPr>
        <p:spPr>
          <a:xfrm>
            <a:off x="571500" y="2530698"/>
            <a:ext cx="64197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a:off x="633936" y="2083023"/>
            <a:ext cx="847200" cy="2001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0E1320"/>
              </a:buClr>
              <a:buSzPts val="1050"/>
              <a:buFont typeface="Inter"/>
              <a:buNone/>
            </a:pPr>
            <a:r>
              <a:rPr b="0" i="0" lang="en-US" sz="1050" u="none" cap="none" strike="noStrike">
                <a:solidFill>
                  <a:srgbClr val="0E1320"/>
                </a:solidFill>
                <a:latin typeface="Inter"/>
                <a:ea typeface="Inter"/>
                <a:cs typeface="Inter"/>
                <a:sym typeface="Inter"/>
              </a:rPr>
              <a:t>Introduction</a:t>
            </a:r>
            <a:endParaRPr b="0" i="0" sz="1050" u="none" cap="none" strike="noStrike">
              <a:solidFill>
                <a:schemeClr val="dk1"/>
              </a:solidFill>
              <a:latin typeface="Inter"/>
              <a:ea typeface="Inter"/>
              <a:cs typeface="Inter"/>
              <a:sym typeface="Inter"/>
            </a:endParaRPr>
          </a:p>
        </p:txBody>
      </p:sp>
      <p:sp>
        <p:nvSpPr>
          <p:cNvPr id="44" name="Google Shape;44;p2"/>
          <p:cNvSpPr/>
          <p:nvPr/>
        </p:nvSpPr>
        <p:spPr>
          <a:xfrm>
            <a:off x="633936" y="2273523"/>
            <a:ext cx="5648700" cy="1620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686"/>
              </a:buClr>
              <a:buSzPts val="825"/>
              <a:buFont typeface="Inter"/>
              <a:buNone/>
            </a:pPr>
            <a:r>
              <a:rPr b="0" i="0" lang="en-US" sz="825" u="none" cap="none" strike="noStrike">
                <a:solidFill>
                  <a:srgbClr val="6B7686"/>
                </a:solidFill>
                <a:latin typeface="Inter"/>
                <a:ea typeface="Inter"/>
                <a:cs typeface="Inter"/>
                <a:sym typeface="Inter"/>
              </a:rPr>
              <a:t>Context, current state, and the shape of the proposed engagement</a:t>
            </a:r>
            <a:endParaRPr b="0" i="0" sz="825" u="none" cap="none" strike="noStrike">
              <a:solidFill>
                <a:schemeClr val="dk1"/>
              </a:solidFill>
              <a:latin typeface="Inter"/>
              <a:ea typeface="Inter"/>
              <a:cs typeface="Inter"/>
              <a:sym typeface="Inter"/>
            </a:endParaRPr>
          </a:p>
        </p:txBody>
      </p:sp>
      <p:sp>
        <p:nvSpPr>
          <p:cNvPr id="45" name="Google Shape;45;p2"/>
          <p:cNvSpPr/>
          <p:nvPr/>
        </p:nvSpPr>
        <p:spPr>
          <a:xfrm>
            <a:off x="6836643" y="2111598"/>
            <a:ext cx="231000" cy="1620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686"/>
              </a:buClr>
              <a:buSzPts val="825"/>
              <a:buFont typeface="Inter"/>
              <a:buNone/>
            </a:pPr>
            <a:r>
              <a:rPr b="1" i="0" lang="en-US" sz="825" u="none" cap="none" strike="noStrike">
                <a:solidFill>
                  <a:srgbClr val="6B7686"/>
                </a:solidFill>
                <a:latin typeface="Inter"/>
                <a:ea typeface="Inter"/>
                <a:cs typeface="Inter"/>
                <a:sym typeface="Inter"/>
              </a:rPr>
              <a:t>03</a:t>
            </a:r>
            <a:endParaRPr b="0" i="0" sz="825" u="none" cap="none" strike="noStrike">
              <a:solidFill>
                <a:schemeClr val="dk1"/>
              </a:solidFill>
              <a:latin typeface="Inter"/>
              <a:ea typeface="Inter"/>
              <a:cs typeface="Inter"/>
              <a:sym typeface="Inter"/>
            </a:endParaRPr>
          </a:p>
        </p:txBody>
      </p:sp>
      <p:sp>
        <p:nvSpPr>
          <p:cNvPr id="46" name="Google Shape;46;p2"/>
          <p:cNvSpPr/>
          <p:nvPr/>
        </p:nvSpPr>
        <p:spPr>
          <a:xfrm>
            <a:off x="571500" y="3121248"/>
            <a:ext cx="64197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
          <p:cNvSpPr/>
          <p:nvPr/>
        </p:nvSpPr>
        <p:spPr>
          <a:xfrm>
            <a:off x="633936" y="2673573"/>
            <a:ext cx="753000" cy="2001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0E1320"/>
              </a:buClr>
              <a:buSzPts val="1050"/>
              <a:buFont typeface="Inter"/>
              <a:buNone/>
            </a:pPr>
            <a:r>
              <a:rPr b="0" i="0" lang="en-US" sz="1050" u="none" cap="none" strike="noStrike">
                <a:solidFill>
                  <a:srgbClr val="0E1320"/>
                </a:solidFill>
                <a:latin typeface="Inter"/>
                <a:ea typeface="Inter"/>
                <a:cs typeface="Inter"/>
                <a:sym typeface="Inter"/>
              </a:rPr>
              <a:t>Objectives</a:t>
            </a:r>
            <a:endParaRPr b="0" i="0" sz="1050" u="none" cap="none" strike="noStrike">
              <a:solidFill>
                <a:schemeClr val="dk1"/>
              </a:solidFill>
              <a:latin typeface="Inter"/>
              <a:ea typeface="Inter"/>
              <a:cs typeface="Inter"/>
              <a:sym typeface="Inter"/>
            </a:endParaRPr>
          </a:p>
        </p:txBody>
      </p:sp>
      <p:sp>
        <p:nvSpPr>
          <p:cNvPr id="48" name="Google Shape;48;p2"/>
          <p:cNvSpPr/>
          <p:nvPr/>
        </p:nvSpPr>
        <p:spPr>
          <a:xfrm>
            <a:off x="633936" y="2864073"/>
            <a:ext cx="5648700" cy="1620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686"/>
              </a:buClr>
              <a:buSzPts val="825"/>
              <a:buFont typeface="Inter"/>
              <a:buNone/>
            </a:pPr>
            <a:r>
              <a:rPr b="0" i="0" lang="en-US" sz="825" u="none" cap="none" strike="noStrike">
                <a:solidFill>
                  <a:srgbClr val="6B7686"/>
                </a:solidFill>
                <a:latin typeface="Inter"/>
                <a:ea typeface="Inter"/>
                <a:cs typeface="Inter"/>
                <a:sym typeface="Inter"/>
              </a:rPr>
              <a:t>Outcomes the build will deliver across the 12-week MVP</a:t>
            </a:r>
            <a:endParaRPr b="0" i="0" sz="825" u="none" cap="none" strike="noStrike">
              <a:solidFill>
                <a:schemeClr val="dk1"/>
              </a:solidFill>
              <a:latin typeface="Inter"/>
              <a:ea typeface="Inter"/>
              <a:cs typeface="Inter"/>
              <a:sym typeface="Inter"/>
            </a:endParaRPr>
          </a:p>
        </p:txBody>
      </p:sp>
      <p:sp>
        <p:nvSpPr>
          <p:cNvPr id="49" name="Google Shape;49;p2"/>
          <p:cNvSpPr/>
          <p:nvPr/>
        </p:nvSpPr>
        <p:spPr>
          <a:xfrm>
            <a:off x="6836643" y="2702148"/>
            <a:ext cx="231000" cy="1620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686"/>
              </a:buClr>
              <a:buSzPts val="825"/>
              <a:buFont typeface="Inter"/>
              <a:buNone/>
            </a:pPr>
            <a:r>
              <a:rPr b="1" i="0" lang="en-US" sz="825" u="none" cap="none" strike="noStrike">
                <a:solidFill>
                  <a:srgbClr val="6B7686"/>
                </a:solidFill>
                <a:latin typeface="Inter"/>
                <a:ea typeface="Inter"/>
                <a:cs typeface="Inter"/>
                <a:sym typeface="Inter"/>
              </a:rPr>
              <a:t>03</a:t>
            </a:r>
            <a:endParaRPr b="0" i="0" sz="825" u="none" cap="none" strike="noStrike">
              <a:solidFill>
                <a:schemeClr val="dk1"/>
              </a:solidFill>
              <a:latin typeface="Inter"/>
              <a:ea typeface="Inter"/>
              <a:cs typeface="Inter"/>
              <a:sym typeface="Inter"/>
            </a:endParaRPr>
          </a:p>
        </p:txBody>
      </p:sp>
      <p:sp>
        <p:nvSpPr>
          <p:cNvPr id="50" name="Google Shape;50;p2"/>
          <p:cNvSpPr/>
          <p:nvPr/>
        </p:nvSpPr>
        <p:spPr>
          <a:xfrm>
            <a:off x="571500" y="3711798"/>
            <a:ext cx="64197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
          <p:cNvSpPr/>
          <p:nvPr/>
        </p:nvSpPr>
        <p:spPr>
          <a:xfrm>
            <a:off x="633936" y="3264123"/>
            <a:ext cx="1773900" cy="2001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0E1320"/>
              </a:buClr>
              <a:buSzPts val="1050"/>
              <a:buFont typeface="Inter"/>
              <a:buNone/>
            </a:pPr>
            <a:r>
              <a:rPr b="0" i="0" lang="en-US" sz="1050" u="none" cap="none" strike="noStrike">
                <a:solidFill>
                  <a:srgbClr val="0E1320"/>
                </a:solidFill>
                <a:latin typeface="Inter"/>
                <a:ea typeface="Inter"/>
                <a:cs typeface="Inter"/>
                <a:sym typeface="Inter"/>
              </a:rPr>
              <a:t>Proposed Solution &amp; Flows</a:t>
            </a:r>
            <a:endParaRPr b="0" i="0" sz="1050" u="none" cap="none" strike="noStrike">
              <a:solidFill>
                <a:schemeClr val="dk1"/>
              </a:solidFill>
              <a:latin typeface="Inter"/>
              <a:ea typeface="Inter"/>
              <a:cs typeface="Inter"/>
              <a:sym typeface="Inter"/>
            </a:endParaRPr>
          </a:p>
        </p:txBody>
      </p:sp>
      <p:sp>
        <p:nvSpPr>
          <p:cNvPr id="52" name="Google Shape;52;p2"/>
          <p:cNvSpPr/>
          <p:nvPr/>
        </p:nvSpPr>
        <p:spPr>
          <a:xfrm>
            <a:off x="633936" y="3454623"/>
            <a:ext cx="5648700" cy="1620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686"/>
              </a:buClr>
              <a:buSzPts val="825"/>
              <a:buFont typeface="Inter"/>
              <a:buNone/>
            </a:pPr>
            <a:r>
              <a:rPr b="0" i="0" lang="en-US" sz="825" u="none" cap="none" strike="noStrike">
                <a:solidFill>
                  <a:srgbClr val="6B7686"/>
                </a:solidFill>
                <a:latin typeface="Inter"/>
                <a:ea typeface="Inter"/>
                <a:cs typeface="Inter"/>
                <a:sym typeface="Inter"/>
              </a:rPr>
              <a:t>Two operating flows, mailbox-led and portal-led, sharing one validation layer</a:t>
            </a:r>
            <a:endParaRPr b="0" i="0" sz="825" u="none" cap="none" strike="noStrike">
              <a:solidFill>
                <a:schemeClr val="dk1"/>
              </a:solidFill>
              <a:latin typeface="Inter"/>
              <a:ea typeface="Inter"/>
              <a:cs typeface="Inter"/>
              <a:sym typeface="Inter"/>
            </a:endParaRPr>
          </a:p>
        </p:txBody>
      </p:sp>
      <p:sp>
        <p:nvSpPr>
          <p:cNvPr id="53" name="Google Shape;53;p2"/>
          <p:cNvSpPr/>
          <p:nvPr/>
        </p:nvSpPr>
        <p:spPr>
          <a:xfrm>
            <a:off x="6836643" y="3292698"/>
            <a:ext cx="231000" cy="1620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686"/>
              </a:buClr>
              <a:buSzPts val="825"/>
              <a:buFont typeface="Inter"/>
              <a:buNone/>
            </a:pPr>
            <a:r>
              <a:rPr b="1" i="0" lang="en-US" sz="825" u="none" cap="none" strike="noStrike">
                <a:solidFill>
                  <a:srgbClr val="6B7686"/>
                </a:solidFill>
                <a:latin typeface="Inter"/>
                <a:ea typeface="Inter"/>
                <a:cs typeface="Inter"/>
                <a:sym typeface="Inter"/>
              </a:rPr>
              <a:t>04</a:t>
            </a:r>
            <a:endParaRPr b="0" i="0" sz="825" u="none" cap="none" strike="noStrike">
              <a:solidFill>
                <a:schemeClr val="dk1"/>
              </a:solidFill>
              <a:latin typeface="Inter"/>
              <a:ea typeface="Inter"/>
              <a:cs typeface="Inter"/>
              <a:sym typeface="Inter"/>
            </a:endParaRPr>
          </a:p>
        </p:txBody>
      </p:sp>
      <p:sp>
        <p:nvSpPr>
          <p:cNvPr id="54" name="Google Shape;54;p2"/>
          <p:cNvSpPr/>
          <p:nvPr/>
        </p:nvSpPr>
        <p:spPr>
          <a:xfrm>
            <a:off x="571500" y="4302348"/>
            <a:ext cx="64197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2"/>
          <p:cNvSpPr/>
          <p:nvPr/>
        </p:nvSpPr>
        <p:spPr>
          <a:xfrm>
            <a:off x="633936" y="3854673"/>
            <a:ext cx="1857300" cy="2001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0E1320"/>
              </a:buClr>
              <a:buSzPts val="1050"/>
              <a:buFont typeface="Inter"/>
              <a:buNone/>
            </a:pPr>
            <a:r>
              <a:rPr b="0" i="0" lang="en-US" sz="1050" u="none" cap="none" strike="noStrike">
                <a:solidFill>
                  <a:srgbClr val="0E1320"/>
                </a:solidFill>
                <a:latin typeface="Inter"/>
                <a:ea typeface="Inter"/>
                <a:cs typeface="Inter"/>
                <a:sym typeface="Inter"/>
              </a:rPr>
              <a:t>Recommended Architecture</a:t>
            </a:r>
            <a:endParaRPr b="0" i="0" sz="1050" u="none" cap="none" strike="noStrike">
              <a:solidFill>
                <a:schemeClr val="dk1"/>
              </a:solidFill>
              <a:latin typeface="Inter"/>
              <a:ea typeface="Inter"/>
              <a:cs typeface="Inter"/>
              <a:sym typeface="Inter"/>
            </a:endParaRPr>
          </a:p>
        </p:txBody>
      </p:sp>
      <p:sp>
        <p:nvSpPr>
          <p:cNvPr id="56" name="Google Shape;56;p2"/>
          <p:cNvSpPr/>
          <p:nvPr/>
        </p:nvSpPr>
        <p:spPr>
          <a:xfrm>
            <a:off x="633936" y="4045173"/>
            <a:ext cx="5648700" cy="1620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686"/>
              </a:buClr>
              <a:buSzPts val="825"/>
              <a:buFont typeface="Inter"/>
              <a:buNone/>
            </a:pPr>
            <a:r>
              <a:rPr b="0" i="0" lang="en-US" sz="825" u="none" cap="none" strike="noStrike">
                <a:solidFill>
                  <a:srgbClr val="6B7686"/>
                </a:solidFill>
                <a:latin typeface="Inter"/>
                <a:ea typeface="Inter"/>
                <a:cs typeface="Inter"/>
                <a:sym typeface="Inter"/>
              </a:rPr>
              <a:t>Orchestration, agent/API layer, validation services, and audit</a:t>
            </a:r>
            <a:endParaRPr b="0" i="0" sz="825" u="none" cap="none" strike="noStrike">
              <a:solidFill>
                <a:schemeClr val="dk1"/>
              </a:solidFill>
              <a:latin typeface="Inter"/>
              <a:ea typeface="Inter"/>
              <a:cs typeface="Inter"/>
              <a:sym typeface="Inter"/>
            </a:endParaRPr>
          </a:p>
        </p:txBody>
      </p:sp>
      <p:sp>
        <p:nvSpPr>
          <p:cNvPr id="57" name="Google Shape;57;p2"/>
          <p:cNvSpPr/>
          <p:nvPr/>
        </p:nvSpPr>
        <p:spPr>
          <a:xfrm>
            <a:off x="6836643" y="3883248"/>
            <a:ext cx="231000" cy="1620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686"/>
              </a:buClr>
              <a:buSzPts val="825"/>
              <a:buFont typeface="Inter"/>
              <a:buNone/>
            </a:pPr>
            <a:r>
              <a:rPr b="1" i="0" lang="en-US" sz="825" u="none" cap="none" strike="noStrike">
                <a:solidFill>
                  <a:srgbClr val="6B7686"/>
                </a:solidFill>
                <a:latin typeface="Inter"/>
                <a:ea typeface="Inter"/>
                <a:cs typeface="Inter"/>
                <a:sym typeface="Inter"/>
              </a:rPr>
              <a:t>05</a:t>
            </a:r>
            <a:endParaRPr b="0" i="0" sz="825" u="none" cap="none" strike="noStrike">
              <a:solidFill>
                <a:schemeClr val="dk1"/>
              </a:solidFill>
              <a:latin typeface="Inter"/>
              <a:ea typeface="Inter"/>
              <a:cs typeface="Inter"/>
              <a:sym typeface="Inter"/>
            </a:endParaRPr>
          </a:p>
        </p:txBody>
      </p:sp>
      <p:sp>
        <p:nvSpPr>
          <p:cNvPr id="58" name="Google Shape;58;p2"/>
          <p:cNvSpPr/>
          <p:nvPr/>
        </p:nvSpPr>
        <p:spPr>
          <a:xfrm>
            <a:off x="571500" y="4892898"/>
            <a:ext cx="64197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2"/>
          <p:cNvSpPr/>
          <p:nvPr/>
        </p:nvSpPr>
        <p:spPr>
          <a:xfrm>
            <a:off x="633936" y="4445223"/>
            <a:ext cx="480600" cy="2001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0E1320"/>
              </a:buClr>
              <a:buSzPts val="1050"/>
              <a:buFont typeface="Inter"/>
              <a:buNone/>
            </a:pPr>
            <a:r>
              <a:rPr b="0" i="0" lang="en-US" sz="1050" u="none" cap="none" strike="noStrike">
                <a:solidFill>
                  <a:srgbClr val="0E1320"/>
                </a:solidFill>
                <a:latin typeface="Inter"/>
                <a:ea typeface="Inter"/>
                <a:cs typeface="Inter"/>
                <a:sym typeface="Inter"/>
              </a:rPr>
              <a:t>Scope</a:t>
            </a:r>
            <a:endParaRPr b="0" i="0" sz="1050" u="none" cap="none" strike="noStrike">
              <a:solidFill>
                <a:schemeClr val="dk1"/>
              </a:solidFill>
              <a:latin typeface="Inter"/>
              <a:ea typeface="Inter"/>
              <a:cs typeface="Inter"/>
              <a:sym typeface="Inter"/>
            </a:endParaRPr>
          </a:p>
        </p:txBody>
      </p:sp>
      <p:sp>
        <p:nvSpPr>
          <p:cNvPr id="60" name="Google Shape;60;p2"/>
          <p:cNvSpPr/>
          <p:nvPr/>
        </p:nvSpPr>
        <p:spPr>
          <a:xfrm>
            <a:off x="633936" y="4635723"/>
            <a:ext cx="5648700" cy="1620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686"/>
              </a:buClr>
              <a:buSzPts val="825"/>
              <a:buFont typeface="Inter"/>
              <a:buNone/>
            </a:pPr>
            <a:r>
              <a:rPr b="0" i="0" lang="en-US" sz="825" u="none" cap="none" strike="noStrike">
                <a:solidFill>
                  <a:srgbClr val="6B7686"/>
                </a:solidFill>
                <a:latin typeface="Inter"/>
                <a:ea typeface="Inter"/>
                <a:cs typeface="Inter"/>
                <a:sym typeface="Inter"/>
              </a:rPr>
              <a:t>What is included in the 12-week MVP and what sits outside it</a:t>
            </a:r>
            <a:endParaRPr b="0" i="0" sz="825" u="none" cap="none" strike="noStrike">
              <a:solidFill>
                <a:schemeClr val="dk1"/>
              </a:solidFill>
              <a:latin typeface="Inter"/>
              <a:ea typeface="Inter"/>
              <a:cs typeface="Inter"/>
              <a:sym typeface="Inter"/>
            </a:endParaRPr>
          </a:p>
        </p:txBody>
      </p:sp>
      <p:sp>
        <p:nvSpPr>
          <p:cNvPr id="61" name="Google Shape;61;p2"/>
          <p:cNvSpPr/>
          <p:nvPr/>
        </p:nvSpPr>
        <p:spPr>
          <a:xfrm>
            <a:off x="6836643" y="4473798"/>
            <a:ext cx="231000" cy="1620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686"/>
              </a:buClr>
              <a:buSzPts val="825"/>
              <a:buFont typeface="Inter"/>
              <a:buNone/>
            </a:pPr>
            <a:r>
              <a:rPr b="1" i="0" lang="en-US" sz="825" u="none" cap="none" strike="noStrike">
                <a:solidFill>
                  <a:srgbClr val="6B7686"/>
                </a:solidFill>
                <a:latin typeface="Inter"/>
                <a:ea typeface="Inter"/>
                <a:cs typeface="Inter"/>
                <a:sym typeface="Inter"/>
              </a:rPr>
              <a:t>06</a:t>
            </a:r>
            <a:endParaRPr b="0" i="0" sz="825" u="none" cap="none" strike="noStrike">
              <a:solidFill>
                <a:schemeClr val="dk1"/>
              </a:solidFill>
              <a:latin typeface="Inter"/>
              <a:ea typeface="Inter"/>
              <a:cs typeface="Inter"/>
              <a:sym typeface="Inter"/>
            </a:endParaRPr>
          </a:p>
        </p:txBody>
      </p:sp>
      <p:sp>
        <p:nvSpPr>
          <p:cNvPr id="62" name="Google Shape;62;p2"/>
          <p:cNvSpPr/>
          <p:nvPr/>
        </p:nvSpPr>
        <p:spPr>
          <a:xfrm>
            <a:off x="571500" y="5483448"/>
            <a:ext cx="64197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2"/>
          <p:cNvSpPr/>
          <p:nvPr/>
        </p:nvSpPr>
        <p:spPr>
          <a:xfrm>
            <a:off x="633936" y="5035773"/>
            <a:ext cx="911400" cy="2001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0E1320"/>
              </a:buClr>
              <a:buSzPts val="1050"/>
              <a:buFont typeface="Inter"/>
              <a:buNone/>
            </a:pPr>
            <a:r>
              <a:rPr b="0" i="0" lang="en-US" sz="1050" u="none" cap="none" strike="noStrike">
                <a:solidFill>
                  <a:srgbClr val="0E1320"/>
                </a:solidFill>
                <a:latin typeface="Inter"/>
                <a:ea typeface="Inter"/>
                <a:cs typeface="Inter"/>
                <a:sym typeface="Inter"/>
              </a:rPr>
              <a:t>Delivery Plan</a:t>
            </a:r>
            <a:endParaRPr b="0" i="0" sz="1050" u="none" cap="none" strike="noStrike">
              <a:solidFill>
                <a:schemeClr val="dk1"/>
              </a:solidFill>
              <a:latin typeface="Inter"/>
              <a:ea typeface="Inter"/>
              <a:cs typeface="Inter"/>
              <a:sym typeface="Inter"/>
            </a:endParaRPr>
          </a:p>
        </p:txBody>
      </p:sp>
      <p:sp>
        <p:nvSpPr>
          <p:cNvPr id="64" name="Google Shape;64;p2"/>
          <p:cNvSpPr/>
          <p:nvPr/>
        </p:nvSpPr>
        <p:spPr>
          <a:xfrm>
            <a:off x="633936" y="5226273"/>
            <a:ext cx="5648700" cy="1620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686"/>
              </a:buClr>
              <a:buSzPts val="825"/>
              <a:buFont typeface="Inter"/>
              <a:buNone/>
            </a:pPr>
            <a:r>
              <a:rPr b="0" i="0" lang="en-US" sz="825" u="none" cap="none" strike="noStrike">
                <a:solidFill>
                  <a:srgbClr val="6B7686"/>
                </a:solidFill>
                <a:latin typeface="Inter"/>
                <a:ea typeface="Inter"/>
                <a:cs typeface="Inter"/>
                <a:sym typeface="Inter"/>
              </a:rPr>
              <a:t>Indicative 12-week Gantt across discovery, build, UAT, and handover</a:t>
            </a:r>
            <a:endParaRPr b="0" i="0" sz="825" u="none" cap="none" strike="noStrike">
              <a:solidFill>
                <a:schemeClr val="dk1"/>
              </a:solidFill>
              <a:latin typeface="Inter"/>
              <a:ea typeface="Inter"/>
              <a:cs typeface="Inter"/>
              <a:sym typeface="Inter"/>
            </a:endParaRPr>
          </a:p>
        </p:txBody>
      </p:sp>
      <p:sp>
        <p:nvSpPr>
          <p:cNvPr id="65" name="Google Shape;65;p2"/>
          <p:cNvSpPr/>
          <p:nvPr/>
        </p:nvSpPr>
        <p:spPr>
          <a:xfrm>
            <a:off x="6836643" y="5064348"/>
            <a:ext cx="231000" cy="1620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686"/>
              </a:buClr>
              <a:buSzPts val="825"/>
              <a:buFont typeface="Inter"/>
              <a:buNone/>
            </a:pPr>
            <a:r>
              <a:rPr b="1" i="0" lang="en-US" sz="825" u="none" cap="none" strike="noStrike">
                <a:solidFill>
                  <a:srgbClr val="6B7686"/>
                </a:solidFill>
                <a:latin typeface="Inter"/>
                <a:ea typeface="Inter"/>
                <a:cs typeface="Inter"/>
                <a:sym typeface="Inter"/>
              </a:rPr>
              <a:t>07</a:t>
            </a:r>
            <a:endParaRPr b="0" i="0" sz="825" u="none" cap="none" strike="noStrike">
              <a:solidFill>
                <a:schemeClr val="dk1"/>
              </a:solidFill>
              <a:latin typeface="Inter"/>
              <a:ea typeface="Inter"/>
              <a:cs typeface="Inter"/>
              <a:sym typeface="Inter"/>
            </a:endParaRPr>
          </a:p>
        </p:txBody>
      </p:sp>
      <p:sp>
        <p:nvSpPr>
          <p:cNvPr id="66" name="Google Shape;66;p2"/>
          <p:cNvSpPr/>
          <p:nvPr/>
        </p:nvSpPr>
        <p:spPr>
          <a:xfrm>
            <a:off x="571500" y="6073998"/>
            <a:ext cx="64197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2"/>
          <p:cNvSpPr/>
          <p:nvPr/>
        </p:nvSpPr>
        <p:spPr>
          <a:xfrm>
            <a:off x="633936" y="5626323"/>
            <a:ext cx="987300" cy="2001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0E1320"/>
              </a:buClr>
              <a:buSzPts val="1050"/>
              <a:buFont typeface="Inter"/>
              <a:buNone/>
            </a:pPr>
            <a:r>
              <a:rPr b="0" i="0" lang="en-US" sz="1050" u="none" cap="none" strike="noStrike">
                <a:solidFill>
                  <a:srgbClr val="0E1320"/>
                </a:solidFill>
                <a:latin typeface="Inter"/>
                <a:ea typeface="Inter"/>
                <a:cs typeface="Inter"/>
                <a:sym typeface="Inter"/>
              </a:rPr>
              <a:t>UAT Summary</a:t>
            </a:r>
            <a:endParaRPr b="0" i="0" sz="1050" u="none" cap="none" strike="noStrike">
              <a:solidFill>
                <a:schemeClr val="dk1"/>
              </a:solidFill>
              <a:latin typeface="Inter"/>
              <a:ea typeface="Inter"/>
              <a:cs typeface="Inter"/>
              <a:sym typeface="Inter"/>
            </a:endParaRPr>
          </a:p>
        </p:txBody>
      </p:sp>
      <p:sp>
        <p:nvSpPr>
          <p:cNvPr id="68" name="Google Shape;68;p2"/>
          <p:cNvSpPr/>
          <p:nvPr/>
        </p:nvSpPr>
        <p:spPr>
          <a:xfrm>
            <a:off x="633936" y="5816823"/>
            <a:ext cx="5648700" cy="1620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686"/>
              </a:buClr>
              <a:buSzPts val="825"/>
              <a:buFont typeface="Inter"/>
              <a:buNone/>
            </a:pPr>
            <a:r>
              <a:rPr b="0" i="0" lang="en-US" sz="825" u="none" cap="none" strike="noStrike">
                <a:solidFill>
                  <a:srgbClr val="6B7686"/>
                </a:solidFill>
                <a:latin typeface="Inter"/>
                <a:ea typeface="Inter"/>
                <a:cs typeface="Inter"/>
                <a:sym typeface="Inter"/>
              </a:rPr>
              <a:t>Short, rolling validation cycles aligned to milestone outcomes</a:t>
            </a:r>
            <a:endParaRPr b="0" i="0" sz="825" u="none" cap="none" strike="noStrike">
              <a:solidFill>
                <a:schemeClr val="dk1"/>
              </a:solidFill>
              <a:latin typeface="Inter"/>
              <a:ea typeface="Inter"/>
              <a:cs typeface="Inter"/>
              <a:sym typeface="Inter"/>
            </a:endParaRPr>
          </a:p>
        </p:txBody>
      </p:sp>
      <p:sp>
        <p:nvSpPr>
          <p:cNvPr id="69" name="Google Shape;69;p2"/>
          <p:cNvSpPr/>
          <p:nvPr/>
        </p:nvSpPr>
        <p:spPr>
          <a:xfrm>
            <a:off x="6836643" y="5654898"/>
            <a:ext cx="231000" cy="1620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686"/>
              </a:buClr>
              <a:buSzPts val="825"/>
              <a:buFont typeface="Inter"/>
              <a:buNone/>
            </a:pPr>
            <a:r>
              <a:rPr b="1" i="0" lang="en-US" sz="825" u="none" cap="none" strike="noStrike">
                <a:solidFill>
                  <a:srgbClr val="6B7686"/>
                </a:solidFill>
                <a:latin typeface="Inter"/>
                <a:ea typeface="Inter"/>
                <a:cs typeface="Inter"/>
                <a:sym typeface="Inter"/>
              </a:rPr>
              <a:t>08</a:t>
            </a:r>
            <a:endParaRPr b="0" i="0" sz="825" u="none" cap="none" strike="noStrike">
              <a:solidFill>
                <a:schemeClr val="dk1"/>
              </a:solidFill>
              <a:latin typeface="Inter"/>
              <a:ea typeface="Inter"/>
              <a:cs typeface="Inter"/>
              <a:sym typeface="Inter"/>
            </a:endParaRPr>
          </a:p>
        </p:txBody>
      </p:sp>
      <p:sp>
        <p:nvSpPr>
          <p:cNvPr id="70" name="Google Shape;70;p2"/>
          <p:cNvSpPr/>
          <p:nvPr/>
        </p:nvSpPr>
        <p:spPr>
          <a:xfrm>
            <a:off x="571500" y="6664548"/>
            <a:ext cx="64197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2"/>
          <p:cNvSpPr/>
          <p:nvPr/>
        </p:nvSpPr>
        <p:spPr>
          <a:xfrm>
            <a:off x="633936" y="6216873"/>
            <a:ext cx="1596900" cy="2001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0E1320"/>
              </a:buClr>
              <a:buSzPts val="1050"/>
              <a:buFont typeface="Inter"/>
              <a:buNone/>
            </a:pPr>
            <a:r>
              <a:rPr b="0" i="0" lang="en-US" sz="1050" u="none" cap="none" strike="noStrike">
                <a:solidFill>
                  <a:srgbClr val="0E1320"/>
                </a:solidFill>
                <a:latin typeface="Inter"/>
                <a:ea typeface="Inter"/>
                <a:cs typeface="Inter"/>
                <a:sym typeface="Inter"/>
              </a:rPr>
              <a:t>Our Delivery Advantage</a:t>
            </a:r>
            <a:endParaRPr b="0" i="0" sz="1050" u="none" cap="none" strike="noStrike">
              <a:solidFill>
                <a:schemeClr val="dk1"/>
              </a:solidFill>
              <a:latin typeface="Inter"/>
              <a:ea typeface="Inter"/>
              <a:cs typeface="Inter"/>
              <a:sym typeface="Inter"/>
            </a:endParaRPr>
          </a:p>
        </p:txBody>
      </p:sp>
      <p:sp>
        <p:nvSpPr>
          <p:cNvPr id="72" name="Google Shape;72;p2"/>
          <p:cNvSpPr/>
          <p:nvPr/>
        </p:nvSpPr>
        <p:spPr>
          <a:xfrm>
            <a:off x="633936" y="6407373"/>
            <a:ext cx="5648700" cy="1620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686"/>
              </a:buClr>
              <a:buSzPts val="825"/>
              <a:buFont typeface="Inter"/>
              <a:buNone/>
            </a:pPr>
            <a:r>
              <a:rPr b="0" i="0" lang="en-US" sz="825" u="none" cap="none" strike="noStrike">
                <a:solidFill>
                  <a:srgbClr val="6B7686"/>
                </a:solidFill>
                <a:latin typeface="Inter"/>
                <a:ea typeface="Inter"/>
                <a:cs typeface="Inter"/>
                <a:sym typeface="Inter"/>
              </a:rPr>
              <a:t>Why this team, this design, and this delivery model</a:t>
            </a:r>
            <a:endParaRPr b="0" i="0" sz="825" u="none" cap="none" strike="noStrike">
              <a:solidFill>
                <a:schemeClr val="dk1"/>
              </a:solidFill>
              <a:latin typeface="Inter"/>
              <a:ea typeface="Inter"/>
              <a:cs typeface="Inter"/>
              <a:sym typeface="Inter"/>
            </a:endParaRPr>
          </a:p>
        </p:txBody>
      </p:sp>
      <p:sp>
        <p:nvSpPr>
          <p:cNvPr id="73" name="Google Shape;73;p2"/>
          <p:cNvSpPr/>
          <p:nvPr/>
        </p:nvSpPr>
        <p:spPr>
          <a:xfrm>
            <a:off x="6836643" y="6245448"/>
            <a:ext cx="231000" cy="1620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686"/>
              </a:buClr>
              <a:buSzPts val="825"/>
              <a:buFont typeface="Inter"/>
              <a:buNone/>
            </a:pPr>
            <a:r>
              <a:rPr b="1" i="0" lang="en-US" sz="825" u="none" cap="none" strike="noStrike">
                <a:solidFill>
                  <a:srgbClr val="6B7686"/>
                </a:solidFill>
                <a:latin typeface="Inter"/>
                <a:ea typeface="Inter"/>
                <a:cs typeface="Inter"/>
                <a:sym typeface="Inter"/>
              </a:rPr>
              <a:t>0</a:t>
            </a:r>
            <a:r>
              <a:rPr b="1" lang="en-US" sz="825">
                <a:solidFill>
                  <a:srgbClr val="6B7686"/>
                </a:solidFill>
              </a:rPr>
              <a:t>9</a:t>
            </a:r>
            <a:endParaRPr b="0" i="0" sz="825" u="none" cap="none" strike="noStrike">
              <a:solidFill>
                <a:schemeClr val="dk1"/>
              </a:solidFill>
              <a:latin typeface="Inter"/>
              <a:ea typeface="Inter"/>
              <a:cs typeface="Inter"/>
              <a:sym typeface="Inter"/>
            </a:endParaRPr>
          </a:p>
        </p:txBody>
      </p:sp>
      <p:sp>
        <p:nvSpPr>
          <p:cNvPr id="74" name="Google Shape;74;p2"/>
          <p:cNvSpPr/>
          <p:nvPr/>
        </p:nvSpPr>
        <p:spPr>
          <a:xfrm>
            <a:off x="571500" y="7255098"/>
            <a:ext cx="64197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2"/>
          <p:cNvSpPr/>
          <p:nvPr/>
        </p:nvSpPr>
        <p:spPr>
          <a:xfrm>
            <a:off x="633936" y="6807423"/>
            <a:ext cx="1270800" cy="2001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0E1320"/>
              </a:buClr>
              <a:buSzPts val="1050"/>
              <a:buFont typeface="Inter"/>
              <a:buNone/>
            </a:pPr>
            <a:r>
              <a:rPr b="0" i="0" lang="en-US" sz="1050" u="none" cap="none" strike="noStrike">
                <a:solidFill>
                  <a:srgbClr val="0E1320"/>
                </a:solidFill>
                <a:latin typeface="Inter"/>
                <a:ea typeface="Inter"/>
                <a:cs typeface="Inter"/>
                <a:sym typeface="Inter"/>
              </a:rPr>
              <a:t>Commercial Model</a:t>
            </a:r>
            <a:endParaRPr b="0" i="0" sz="1050" u="none" cap="none" strike="noStrike">
              <a:solidFill>
                <a:schemeClr val="dk1"/>
              </a:solidFill>
              <a:latin typeface="Inter"/>
              <a:ea typeface="Inter"/>
              <a:cs typeface="Inter"/>
              <a:sym typeface="Inter"/>
            </a:endParaRPr>
          </a:p>
        </p:txBody>
      </p:sp>
      <p:sp>
        <p:nvSpPr>
          <p:cNvPr id="76" name="Google Shape;76;p2"/>
          <p:cNvSpPr/>
          <p:nvPr/>
        </p:nvSpPr>
        <p:spPr>
          <a:xfrm>
            <a:off x="633936" y="6997923"/>
            <a:ext cx="5648700" cy="1620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686"/>
              </a:buClr>
              <a:buSzPts val="825"/>
              <a:buFont typeface="Inter"/>
              <a:buNone/>
            </a:pPr>
            <a:r>
              <a:rPr b="0" i="0" lang="en-US" sz="825" u="none" cap="none" strike="noStrike">
                <a:solidFill>
                  <a:srgbClr val="6B7686"/>
                </a:solidFill>
                <a:latin typeface="Inter"/>
                <a:ea typeface="Inter"/>
                <a:cs typeface="Inter"/>
                <a:sym typeface="Inter"/>
              </a:rPr>
              <a:t>Two budgetary options, focused build vs. build, manage &amp; operate</a:t>
            </a:r>
            <a:endParaRPr b="0" i="0" sz="825" u="none" cap="none" strike="noStrike">
              <a:solidFill>
                <a:schemeClr val="dk1"/>
              </a:solidFill>
              <a:latin typeface="Inter"/>
              <a:ea typeface="Inter"/>
              <a:cs typeface="Inter"/>
              <a:sym typeface="Inter"/>
            </a:endParaRPr>
          </a:p>
        </p:txBody>
      </p:sp>
      <p:sp>
        <p:nvSpPr>
          <p:cNvPr id="77" name="Google Shape;77;p2"/>
          <p:cNvSpPr/>
          <p:nvPr/>
        </p:nvSpPr>
        <p:spPr>
          <a:xfrm>
            <a:off x="6836643" y="6835998"/>
            <a:ext cx="231000" cy="1620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686"/>
              </a:buClr>
              <a:buSzPts val="825"/>
              <a:buFont typeface="Inter"/>
              <a:buNone/>
            </a:pPr>
            <a:r>
              <a:rPr b="1" lang="en-US" sz="825">
                <a:solidFill>
                  <a:srgbClr val="6B7686"/>
                </a:solidFill>
              </a:rPr>
              <a:t>10</a:t>
            </a:r>
            <a:endParaRPr b="0" i="0" sz="825" u="none" cap="none" strike="noStrike">
              <a:solidFill>
                <a:schemeClr val="dk1"/>
              </a:solidFill>
              <a:latin typeface="Inter"/>
              <a:ea typeface="Inter"/>
              <a:cs typeface="Inter"/>
              <a:sym typeface="Inter"/>
            </a:endParaRPr>
          </a:p>
        </p:txBody>
      </p:sp>
      <p:sp>
        <p:nvSpPr>
          <p:cNvPr id="78" name="Google Shape;78;p2"/>
          <p:cNvSpPr/>
          <p:nvPr/>
        </p:nvSpPr>
        <p:spPr>
          <a:xfrm>
            <a:off x="571500" y="7845648"/>
            <a:ext cx="64197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2"/>
          <p:cNvSpPr/>
          <p:nvPr/>
        </p:nvSpPr>
        <p:spPr>
          <a:xfrm>
            <a:off x="633936" y="7397973"/>
            <a:ext cx="2549700" cy="2001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0E1320"/>
              </a:buClr>
              <a:buSzPts val="1050"/>
              <a:buFont typeface="Inter"/>
              <a:buNone/>
            </a:pPr>
            <a:r>
              <a:rPr b="0" i="0" lang="en-US" sz="1050" u="none" cap="none" strike="noStrike">
                <a:solidFill>
                  <a:srgbClr val="0E1320"/>
                </a:solidFill>
                <a:latin typeface="Inter"/>
                <a:ea typeface="Inter"/>
                <a:cs typeface="Inter"/>
                <a:sym typeface="Inter"/>
              </a:rPr>
              <a:t>Assumptions, Exclusions &amp; Open Items</a:t>
            </a:r>
            <a:endParaRPr b="0" i="0" sz="1050" u="none" cap="none" strike="noStrike">
              <a:solidFill>
                <a:schemeClr val="dk1"/>
              </a:solidFill>
              <a:latin typeface="Inter"/>
              <a:ea typeface="Inter"/>
              <a:cs typeface="Inter"/>
              <a:sym typeface="Inter"/>
            </a:endParaRPr>
          </a:p>
        </p:txBody>
      </p:sp>
      <p:sp>
        <p:nvSpPr>
          <p:cNvPr id="80" name="Google Shape;80;p2"/>
          <p:cNvSpPr/>
          <p:nvPr/>
        </p:nvSpPr>
        <p:spPr>
          <a:xfrm>
            <a:off x="633936" y="7588473"/>
            <a:ext cx="5648700" cy="1620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686"/>
              </a:buClr>
              <a:buSzPts val="825"/>
              <a:buFont typeface="Inter"/>
              <a:buNone/>
            </a:pPr>
            <a:r>
              <a:rPr b="0" i="0" lang="en-US" sz="825" u="none" cap="none" strike="noStrike">
                <a:solidFill>
                  <a:srgbClr val="6B7686"/>
                </a:solidFill>
                <a:latin typeface="Inter"/>
                <a:ea typeface="Inter"/>
                <a:cs typeface="Inter"/>
                <a:sym typeface="Inter"/>
              </a:rPr>
              <a:t>Conditions the estimate is based on and items to close before signature</a:t>
            </a:r>
            <a:endParaRPr b="0" i="0" sz="825" u="none" cap="none" strike="noStrike">
              <a:solidFill>
                <a:schemeClr val="dk1"/>
              </a:solidFill>
              <a:latin typeface="Inter"/>
              <a:ea typeface="Inter"/>
              <a:cs typeface="Inter"/>
              <a:sym typeface="Inter"/>
            </a:endParaRPr>
          </a:p>
        </p:txBody>
      </p:sp>
      <p:sp>
        <p:nvSpPr>
          <p:cNvPr id="81" name="Google Shape;81;p2"/>
          <p:cNvSpPr/>
          <p:nvPr/>
        </p:nvSpPr>
        <p:spPr>
          <a:xfrm>
            <a:off x="6836643" y="7426548"/>
            <a:ext cx="231000" cy="1620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686"/>
              </a:buClr>
              <a:buSzPts val="825"/>
              <a:buFont typeface="Inter"/>
              <a:buNone/>
            </a:pPr>
            <a:r>
              <a:rPr b="1" lang="en-US" sz="825">
                <a:solidFill>
                  <a:srgbClr val="6B7686"/>
                </a:solidFill>
              </a:rPr>
              <a:t>11</a:t>
            </a:r>
            <a:endParaRPr b="0" i="0" sz="825" u="none" cap="none" strike="noStrike">
              <a:solidFill>
                <a:schemeClr val="dk1"/>
              </a:solidFill>
              <a:latin typeface="Inter"/>
              <a:ea typeface="Inter"/>
              <a:cs typeface="Inter"/>
              <a:sym typeface="Inter"/>
            </a:endParaRPr>
          </a:p>
        </p:txBody>
      </p:sp>
      <p:sp>
        <p:nvSpPr>
          <p:cNvPr id="82" name="Google Shape;82;p2"/>
          <p:cNvSpPr/>
          <p:nvPr/>
        </p:nvSpPr>
        <p:spPr>
          <a:xfrm>
            <a:off x="633936" y="7988523"/>
            <a:ext cx="1461000" cy="2001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0E1320"/>
              </a:buClr>
              <a:buSzPts val="1050"/>
              <a:buFont typeface="Inter"/>
              <a:buNone/>
            </a:pPr>
            <a:r>
              <a:rPr b="0" i="0" lang="en-US" sz="1050" u="none" cap="none" strike="noStrike">
                <a:solidFill>
                  <a:srgbClr val="0E1320"/>
                </a:solidFill>
                <a:latin typeface="Inter"/>
                <a:ea typeface="Inter"/>
                <a:cs typeface="Inter"/>
                <a:sym typeface="Inter"/>
              </a:rPr>
              <a:t>Signature of Approval</a:t>
            </a:r>
            <a:endParaRPr b="0" i="0" sz="1050" u="none" cap="none" strike="noStrike">
              <a:solidFill>
                <a:schemeClr val="dk1"/>
              </a:solidFill>
              <a:latin typeface="Inter"/>
              <a:ea typeface="Inter"/>
              <a:cs typeface="Inter"/>
              <a:sym typeface="Inter"/>
            </a:endParaRPr>
          </a:p>
        </p:txBody>
      </p:sp>
      <p:sp>
        <p:nvSpPr>
          <p:cNvPr id="83" name="Google Shape;83;p2"/>
          <p:cNvSpPr/>
          <p:nvPr/>
        </p:nvSpPr>
        <p:spPr>
          <a:xfrm>
            <a:off x="633936" y="8179023"/>
            <a:ext cx="5648700" cy="1620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686"/>
              </a:buClr>
              <a:buSzPts val="825"/>
              <a:buFont typeface="Inter"/>
              <a:buNone/>
            </a:pPr>
            <a:r>
              <a:rPr b="0" i="0" lang="en-US" sz="825" u="none" cap="none" strike="noStrike">
                <a:solidFill>
                  <a:srgbClr val="6B7686"/>
                </a:solidFill>
                <a:latin typeface="Inter"/>
                <a:ea typeface="Inter"/>
                <a:cs typeface="Inter"/>
                <a:sym typeface="Inter"/>
              </a:rPr>
              <a:t>Sign-off block for client and Newtuple</a:t>
            </a:r>
            <a:endParaRPr b="0" i="0" sz="825" u="none" cap="none" strike="noStrike">
              <a:solidFill>
                <a:schemeClr val="dk1"/>
              </a:solidFill>
              <a:latin typeface="Inter"/>
              <a:ea typeface="Inter"/>
              <a:cs typeface="Inter"/>
              <a:sym typeface="Inter"/>
            </a:endParaRPr>
          </a:p>
        </p:txBody>
      </p:sp>
      <p:sp>
        <p:nvSpPr>
          <p:cNvPr id="84" name="Google Shape;84;p2"/>
          <p:cNvSpPr/>
          <p:nvPr/>
        </p:nvSpPr>
        <p:spPr>
          <a:xfrm>
            <a:off x="6836643" y="8017098"/>
            <a:ext cx="231000" cy="1620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686"/>
              </a:buClr>
              <a:buSzPts val="825"/>
              <a:buFont typeface="Inter"/>
              <a:buNone/>
            </a:pPr>
            <a:r>
              <a:rPr b="1" lang="en-US" sz="825">
                <a:solidFill>
                  <a:srgbClr val="6B7686"/>
                </a:solidFill>
              </a:rPr>
              <a:t>12</a:t>
            </a:r>
            <a:endParaRPr b="0" i="0" sz="825" u="none" cap="none" strike="noStrike">
              <a:solidFill>
                <a:schemeClr val="dk1"/>
              </a:solidFill>
              <a:latin typeface="Inter"/>
              <a:ea typeface="Inter"/>
              <a:cs typeface="Inter"/>
              <a:sym typeface="Inter"/>
            </a:endParaRPr>
          </a:p>
        </p:txBody>
      </p:sp>
      <p:sp>
        <p:nvSpPr>
          <p:cNvPr id="85" name="Google Shape;85;p2"/>
          <p:cNvSpPr/>
          <p:nvPr/>
        </p:nvSpPr>
        <p:spPr>
          <a:xfrm>
            <a:off x="0" y="10234613"/>
            <a:ext cx="7562850" cy="461963"/>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2"/>
          <p:cNvSpPr/>
          <p:nvPr/>
        </p:nvSpPr>
        <p:spPr>
          <a:xfrm>
            <a:off x="0" y="10234613"/>
            <a:ext cx="7562850" cy="9525"/>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2"/>
          <p:cNvSpPr/>
          <p:nvPr/>
        </p:nvSpPr>
        <p:spPr>
          <a:xfrm>
            <a:off x="6540847" y="10377488"/>
            <a:ext cx="526703" cy="147638"/>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0047AB"/>
              </a:buClr>
              <a:buSzPts val="713"/>
              <a:buFont typeface="Inter"/>
              <a:buNone/>
            </a:pPr>
            <a:r>
              <a:rPr b="1" i="0" lang="en-US" sz="713" u="none" cap="none" strike="noStrike">
                <a:solidFill>
                  <a:srgbClr val="6B7686"/>
                </a:solidFill>
                <a:latin typeface="Inter"/>
                <a:ea typeface="Inter"/>
                <a:cs typeface="Inter"/>
                <a:sym typeface="Inter"/>
              </a:rPr>
              <a:t>02 / 1</a:t>
            </a:r>
            <a:r>
              <a:rPr b="1" lang="en-US" sz="713">
                <a:solidFill>
                  <a:srgbClr val="6B7686"/>
                </a:solidFill>
              </a:rPr>
              <a:t>2</a:t>
            </a:r>
            <a:endParaRPr b="0" i="0" sz="713" u="none" cap="none" strike="noStrike">
              <a:solidFill>
                <a:srgbClr val="6B7686"/>
              </a:solidFill>
              <a:latin typeface="Inter"/>
              <a:ea typeface="Inter"/>
              <a:cs typeface="Inter"/>
              <a:sym typeface="Inter"/>
            </a:endParaRPr>
          </a:p>
        </p:txBody>
      </p:sp>
      <p:sp>
        <p:nvSpPr>
          <p:cNvPr id="88" name="Google Shape;88;p2"/>
          <p:cNvSpPr/>
          <p:nvPr/>
        </p:nvSpPr>
        <p:spPr>
          <a:xfrm>
            <a:off x="571500" y="10377500"/>
            <a:ext cx="3966300" cy="138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7686"/>
              </a:buClr>
              <a:buSzPts val="713"/>
              <a:buFont typeface="Inter"/>
              <a:buNone/>
            </a:pPr>
            <a:r>
              <a:rPr b="0" i="0" lang="en-US" sz="713" u="none" cap="none" strike="noStrike">
                <a:solidFill>
                  <a:srgbClr val="6B7686"/>
                </a:solidFill>
                <a:latin typeface="Inter"/>
                <a:ea typeface="Inter"/>
                <a:cs typeface="Inter"/>
                <a:sym typeface="Inter"/>
              </a:rPr>
              <a:t>NEWTUPLE TECHNOLOGIES · 		  		     </a:t>
            </a:r>
            <a:r>
              <a:rPr lang="en-US" sz="713">
                <a:solidFill>
                  <a:srgbClr val="6B7686"/>
                </a:solidFill>
              </a:rPr>
              <a:t>    </a:t>
            </a:r>
            <a:r>
              <a:rPr b="0" i="0" lang="en-US" sz="713" u="none" cap="none" strike="noStrike">
                <a:solidFill>
                  <a:srgbClr val="6B7686"/>
                </a:solidFill>
                <a:latin typeface="Inter"/>
                <a:ea typeface="Inter"/>
                <a:cs typeface="Inter"/>
                <a:sym typeface="Inter"/>
              </a:rPr>
              <a:t>CONFIDENTIAL</a:t>
            </a:r>
            <a:endParaRPr b="0" i="0" sz="713" u="none" cap="none" strike="noStrike">
              <a:solidFill>
                <a:schemeClr val="dk1"/>
              </a:solidFill>
              <a:latin typeface="Inter"/>
              <a:ea typeface="Inter"/>
              <a:cs typeface="Inter"/>
              <a:sym typeface="Inte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3" name="Shape 93"/>
        <p:cNvGrpSpPr/>
        <p:nvPr/>
      </p:nvGrpSpPr>
      <p:grpSpPr>
        <a:xfrm>
          <a:off x="0" y="0"/>
          <a:ext cx="0" cy="0"/>
          <a:chOff x="0" y="0"/>
          <a:chExt cx="0" cy="0"/>
        </a:xfrm>
      </p:grpSpPr>
      <p:sp>
        <p:nvSpPr>
          <p:cNvPr id="94" name="Google Shape;94;p3"/>
          <p:cNvSpPr/>
          <p:nvPr/>
        </p:nvSpPr>
        <p:spPr>
          <a:xfrm>
            <a:off x="0" y="0"/>
            <a:ext cx="7562850" cy="10696575"/>
          </a:xfrm>
          <a:prstGeom prst="rect">
            <a:avLst/>
          </a:prstGeom>
          <a:noFill/>
          <a:ln>
            <a:noFill/>
          </a:ln>
          <a:effectLst>
            <a:outerShdw blurRad="381000" rotWithShape="0" algn="bl" dir="5400000" dist="133350">
              <a:srgbClr val="0E132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5" name="Google Shape;95;p3"/>
          <p:cNvPicPr preferRelativeResize="0"/>
          <p:nvPr/>
        </p:nvPicPr>
        <p:blipFill rotWithShape="1">
          <a:blip r:embed="rId3">
            <a:alphaModFix/>
          </a:blip>
          <a:srcRect b="0" l="0" r="0" t="0"/>
          <a:stretch/>
        </p:blipFill>
        <p:spPr>
          <a:xfrm>
            <a:off x="571500" y="532756"/>
            <a:ext cx="815357" cy="152400"/>
          </a:xfrm>
          <a:prstGeom prst="rect">
            <a:avLst/>
          </a:prstGeom>
          <a:noFill/>
          <a:ln>
            <a:noFill/>
          </a:ln>
        </p:spPr>
      </p:pic>
      <p:sp>
        <p:nvSpPr>
          <p:cNvPr id="96" name="Google Shape;96;p3"/>
          <p:cNvSpPr/>
          <p:nvPr/>
        </p:nvSpPr>
        <p:spPr>
          <a:xfrm>
            <a:off x="3486522" y="551806"/>
            <a:ext cx="3609900" cy="152400"/>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6B7686"/>
              </a:buClr>
              <a:buSzPts val="750"/>
              <a:buFont typeface="Inter"/>
              <a:buNone/>
            </a:pPr>
            <a:r>
              <a:rPr b="1" i="0" lang="en-US" sz="750" u="none" cap="none" strike="noStrike">
                <a:solidFill>
                  <a:srgbClr val="6B7686"/>
                </a:solidFill>
                <a:latin typeface="Inter"/>
                <a:ea typeface="Inter"/>
                <a:cs typeface="Inter"/>
                <a:sym typeface="Inter"/>
              </a:rPr>
              <a:t>PENSION CONTRIBUTION PROCESSING AUTOMATION</a:t>
            </a:r>
            <a:endParaRPr b="0" i="0" sz="750" u="none" cap="none" strike="noStrike">
              <a:solidFill>
                <a:schemeClr val="dk1"/>
              </a:solidFill>
              <a:latin typeface="Inter"/>
              <a:ea typeface="Inter"/>
              <a:cs typeface="Inter"/>
              <a:sym typeface="Inter"/>
            </a:endParaRPr>
          </a:p>
        </p:txBody>
      </p:sp>
      <p:sp>
        <p:nvSpPr>
          <p:cNvPr id="97" name="Google Shape;97;p3"/>
          <p:cNvSpPr/>
          <p:nvPr/>
        </p:nvSpPr>
        <p:spPr>
          <a:xfrm>
            <a:off x="571500" y="1550322"/>
            <a:ext cx="6419700" cy="9600"/>
          </a:xfrm>
          <a:prstGeom prst="rect">
            <a:avLst/>
          </a:prstGeom>
          <a:solidFill>
            <a:srgbClr val="004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3"/>
          <p:cNvSpPr/>
          <p:nvPr/>
        </p:nvSpPr>
        <p:spPr>
          <a:xfrm>
            <a:off x="571500" y="1311305"/>
            <a:ext cx="268800" cy="153300"/>
          </a:xfrm>
          <a:prstGeom prst="rect">
            <a:avLst/>
          </a:prstGeom>
          <a:noFill/>
          <a:ln>
            <a:noFill/>
          </a:ln>
        </p:spPr>
        <p:txBody>
          <a:bodyPr anchorCtr="0" anchor="t" bIns="25400" lIns="25400" spcFirstLastPara="1" rIns="25400" wrap="square" tIns="25400">
            <a:normAutofit/>
          </a:bodyPr>
          <a:lstStyle/>
          <a:p>
            <a:pPr indent="0" lvl="0" marL="0" marR="0" rtl="0" algn="l">
              <a:lnSpc>
                <a:spcPct val="110000"/>
              </a:lnSpc>
              <a:spcBef>
                <a:spcPts val="0"/>
              </a:spcBef>
              <a:spcAft>
                <a:spcPts val="0"/>
              </a:spcAft>
              <a:buClr>
                <a:srgbClr val="0047AB"/>
              </a:buClr>
              <a:buSzPts val="825"/>
              <a:buFont typeface="Inter"/>
              <a:buNone/>
            </a:pPr>
            <a:r>
              <a:rPr b="1" i="0" lang="en-US" sz="825" u="none" cap="none" strike="noStrike">
                <a:solidFill>
                  <a:srgbClr val="0047AB"/>
                </a:solidFill>
                <a:latin typeface="Inter"/>
                <a:ea typeface="Inter"/>
                <a:cs typeface="Inter"/>
                <a:sym typeface="Inter"/>
              </a:rPr>
              <a:t>01</a:t>
            </a:r>
            <a:endParaRPr b="0" i="0" sz="825" u="none" cap="none" strike="noStrike">
              <a:solidFill>
                <a:schemeClr val="dk1"/>
              </a:solidFill>
              <a:latin typeface="Inter"/>
              <a:ea typeface="Inter"/>
              <a:cs typeface="Inter"/>
              <a:sym typeface="Inter"/>
            </a:endParaRPr>
          </a:p>
        </p:txBody>
      </p:sp>
      <p:sp>
        <p:nvSpPr>
          <p:cNvPr id="99" name="Google Shape;99;p3"/>
          <p:cNvSpPr/>
          <p:nvPr/>
        </p:nvSpPr>
        <p:spPr>
          <a:xfrm>
            <a:off x="916558" y="1182717"/>
            <a:ext cx="1478100" cy="310500"/>
          </a:xfrm>
          <a:prstGeom prst="rect">
            <a:avLst/>
          </a:prstGeom>
          <a:noFill/>
          <a:ln>
            <a:noFill/>
          </a:ln>
        </p:spPr>
        <p:txBody>
          <a:bodyPr anchorCtr="0" anchor="t" bIns="25400" lIns="25400" spcFirstLastPara="1" rIns="25400" wrap="square" tIns="25400">
            <a:normAutofit/>
          </a:bodyPr>
          <a:lstStyle/>
          <a:p>
            <a:pPr indent="0" lvl="0" marL="0" marR="0" rtl="0" algn="l">
              <a:lnSpc>
                <a:spcPct val="110000"/>
              </a:lnSpc>
              <a:spcBef>
                <a:spcPts val="0"/>
              </a:spcBef>
              <a:spcAft>
                <a:spcPts val="0"/>
              </a:spcAft>
              <a:buClr>
                <a:srgbClr val="0E1320"/>
              </a:buClr>
              <a:buSzPts val="1950"/>
              <a:buFont typeface="Inter"/>
              <a:buNone/>
            </a:pPr>
            <a:r>
              <a:rPr b="0" i="0" lang="en-US" sz="1950" u="none" cap="none" strike="noStrike">
                <a:solidFill>
                  <a:srgbClr val="0E1320"/>
                </a:solidFill>
                <a:latin typeface="Inter"/>
                <a:ea typeface="Inter"/>
                <a:cs typeface="Inter"/>
                <a:sym typeface="Inter"/>
              </a:rPr>
              <a:t>Introduction</a:t>
            </a:r>
            <a:endParaRPr b="0" i="0" sz="1950" u="none" cap="none" strike="noStrike">
              <a:solidFill>
                <a:schemeClr val="dk1"/>
              </a:solidFill>
              <a:latin typeface="Inter"/>
              <a:ea typeface="Inter"/>
              <a:cs typeface="Inter"/>
              <a:sym typeface="Inter"/>
            </a:endParaRPr>
          </a:p>
        </p:txBody>
      </p:sp>
      <p:sp>
        <p:nvSpPr>
          <p:cNvPr id="100" name="Google Shape;100;p3"/>
          <p:cNvSpPr/>
          <p:nvPr/>
        </p:nvSpPr>
        <p:spPr>
          <a:xfrm>
            <a:off x="571500" y="1750350"/>
            <a:ext cx="6419700" cy="627600"/>
          </a:xfrm>
          <a:prstGeom prst="rect">
            <a:avLst/>
          </a:prstGeom>
          <a:noFill/>
          <a:ln>
            <a:noFill/>
          </a:ln>
        </p:spPr>
        <p:txBody>
          <a:bodyPr anchorCtr="0" anchor="t" bIns="25400" lIns="25400" spcFirstLastPara="1" rIns="25400" wrap="square" tIns="25400">
            <a:normAutofit/>
          </a:bodyPr>
          <a:lstStyle/>
          <a:p>
            <a:pPr indent="0" lvl="0" marL="0" marR="0" rtl="0" algn="just">
              <a:lnSpc>
                <a:spcPct val="165000"/>
              </a:lnSpc>
              <a:spcBef>
                <a:spcPts val="0"/>
              </a:spcBef>
              <a:spcAft>
                <a:spcPts val="0"/>
              </a:spcAft>
              <a:buClr>
                <a:srgbClr val="374151"/>
              </a:buClr>
              <a:buSzPts val="938"/>
              <a:buFont typeface="Inter"/>
              <a:buNone/>
            </a:pPr>
            <a:r>
              <a:rPr b="0" i="0" lang="en-US" sz="938" u="none" cap="none" strike="noStrike">
                <a:solidFill>
                  <a:srgbClr val="374151"/>
                </a:solidFill>
                <a:latin typeface="Inter"/>
                <a:ea typeface="Inter"/>
                <a:cs typeface="Inter"/>
                <a:sym typeface="Inter"/>
              </a:rPr>
              <a:t>Newtuple proposes a practical automation layer for pension contribution processing. The solution uses </a:t>
            </a:r>
            <a:r>
              <a:rPr b="1" i="0" lang="en-US" sz="938" u="none" cap="none" strike="noStrike">
                <a:solidFill>
                  <a:srgbClr val="0E1320"/>
                </a:solidFill>
                <a:latin typeface="Inter"/>
                <a:ea typeface="Inter"/>
                <a:cs typeface="Inter"/>
                <a:sym typeface="Inter"/>
              </a:rPr>
              <a:t>Microsoft Power Automate </a:t>
            </a:r>
            <a:r>
              <a:rPr b="0" i="0" lang="en-US" sz="938" u="none" cap="none" strike="noStrike">
                <a:solidFill>
                  <a:srgbClr val="374151"/>
                </a:solidFill>
                <a:latin typeface="Inter"/>
                <a:ea typeface="Inter"/>
                <a:cs typeface="Inter"/>
                <a:sym typeface="Inter"/>
              </a:rPr>
              <a:t>where it fits best, mailbox monitoring, attachment handling, notifications, and a controlled </a:t>
            </a:r>
            <a:r>
              <a:rPr b="1" i="0" lang="en-US" sz="938" u="none" cap="none" strike="noStrike">
                <a:solidFill>
                  <a:srgbClr val="0E1320"/>
                </a:solidFill>
                <a:latin typeface="Inter"/>
                <a:ea typeface="Inter"/>
                <a:cs typeface="Inter"/>
                <a:sym typeface="Inter"/>
              </a:rPr>
              <a:t>AI agent and validation API </a:t>
            </a:r>
            <a:r>
              <a:rPr b="0" i="0" lang="en-US" sz="938" u="none" cap="none" strike="noStrike">
                <a:solidFill>
                  <a:srgbClr val="374151"/>
                </a:solidFill>
                <a:latin typeface="Inter"/>
                <a:ea typeface="Inter"/>
                <a:cs typeface="Inter"/>
                <a:sym typeface="Inter"/>
              </a:rPr>
              <a:t>where interpretation, comparison, and auditability need stronger ownership.</a:t>
            </a:r>
            <a:endParaRPr b="0" i="0" sz="938" u="none" cap="none" strike="noStrike">
              <a:solidFill>
                <a:schemeClr val="dk1"/>
              </a:solidFill>
              <a:latin typeface="Inter"/>
              <a:ea typeface="Inter"/>
              <a:cs typeface="Inter"/>
              <a:sym typeface="Inter"/>
            </a:endParaRPr>
          </a:p>
        </p:txBody>
      </p:sp>
      <p:sp>
        <p:nvSpPr>
          <p:cNvPr id="101" name="Google Shape;101;p3"/>
          <p:cNvSpPr/>
          <p:nvPr/>
        </p:nvSpPr>
        <p:spPr>
          <a:xfrm>
            <a:off x="571500" y="2492112"/>
            <a:ext cx="6419700" cy="563700"/>
          </a:xfrm>
          <a:prstGeom prst="rect">
            <a:avLst/>
          </a:prstGeom>
          <a:noFill/>
          <a:ln>
            <a:noFill/>
          </a:ln>
        </p:spPr>
        <p:txBody>
          <a:bodyPr anchorCtr="0" anchor="t" bIns="25400" lIns="25400" spcFirstLastPara="1" rIns="25400" wrap="square" tIns="25400">
            <a:normAutofit/>
          </a:bodyPr>
          <a:lstStyle/>
          <a:p>
            <a:pPr indent="0" lvl="0" marL="0" marR="0" rtl="0" algn="just">
              <a:lnSpc>
                <a:spcPct val="160000"/>
              </a:lnSpc>
              <a:spcBef>
                <a:spcPts val="0"/>
              </a:spcBef>
              <a:spcAft>
                <a:spcPts val="0"/>
              </a:spcAft>
              <a:buClr>
                <a:srgbClr val="374151"/>
              </a:buClr>
              <a:buSzPts val="863"/>
              <a:buFont typeface="Inter"/>
              <a:buNone/>
            </a:pPr>
            <a:r>
              <a:rPr b="0" i="0" lang="en-US" sz="863" u="none" cap="none" strike="noStrike">
                <a:solidFill>
                  <a:srgbClr val="374151"/>
                </a:solidFill>
                <a:latin typeface="Inter"/>
                <a:ea typeface="Inter"/>
                <a:cs typeface="Inter"/>
                <a:sym typeface="Inter"/>
              </a:rPr>
              <a:t>The client receives monthly contribution files from multiple employers. These files contain employee contributions, new joiners, exits, retirements, and other membership changes. Today, the work depends on manual review of emails, attachments, prior submissions, validation rules, employer comments, and final upload into the pension administration system.</a:t>
            </a:r>
            <a:endParaRPr b="0" i="0" sz="863" u="none" cap="none" strike="noStrike">
              <a:solidFill>
                <a:schemeClr val="dk1"/>
              </a:solidFill>
              <a:latin typeface="Inter"/>
              <a:ea typeface="Inter"/>
              <a:cs typeface="Inter"/>
              <a:sym typeface="Inter"/>
            </a:endParaRPr>
          </a:p>
        </p:txBody>
      </p:sp>
      <p:sp>
        <p:nvSpPr>
          <p:cNvPr id="102" name="Google Shape;102;p3"/>
          <p:cNvSpPr/>
          <p:nvPr/>
        </p:nvSpPr>
        <p:spPr>
          <a:xfrm>
            <a:off x="571500" y="3170249"/>
            <a:ext cx="6419700" cy="563700"/>
          </a:xfrm>
          <a:prstGeom prst="rect">
            <a:avLst/>
          </a:prstGeom>
          <a:noFill/>
          <a:ln>
            <a:noFill/>
          </a:ln>
        </p:spPr>
        <p:txBody>
          <a:bodyPr anchorCtr="0" anchor="t" bIns="25400" lIns="25400" spcFirstLastPara="1" rIns="25400" wrap="square" tIns="25400">
            <a:normAutofit/>
          </a:bodyPr>
          <a:lstStyle/>
          <a:p>
            <a:pPr indent="0" lvl="0" marL="0" marR="0" rtl="0" algn="just">
              <a:lnSpc>
                <a:spcPct val="160000"/>
              </a:lnSpc>
              <a:spcBef>
                <a:spcPts val="0"/>
              </a:spcBef>
              <a:spcAft>
                <a:spcPts val="0"/>
              </a:spcAft>
              <a:buClr>
                <a:srgbClr val="374151"/>
              </a:buClr>
              <a:buSzPts val="863"/>
              <a:buFont typeface="Inter"/>
              <a:buNone/>
            </a:pPr>
            <a:r>
              <a:rPr b="0" i="0" lang="en-US" sz="863" u="none" cap="none" strike="noStrike">
                <a:solidFill>
                  <a:srgbClr val="374151"/>
                </a:solidFill>
                <a:latin typeface="Inter"/>
                <a:ea typeface="Inter"/>
                <a:cs typeface="Inter"/>
                <a:sym typeface="Inter"/>
              </a:rPr>
              <a:t>The proposed engagement focuses on removing this manual load without creating a large workflow platform. The design keeps the existing employer portal intact, introduces an API-accessible agent and validation service, and uses Power Automate for mailbox orchestration and process routing.</a:t>
            </a:r>
            <a:endParaRPr b="0" i="0" sz="863" u="none" cap="none" strike="noStrike">
              <a:solidFill>
                <a:schemeClr val="dk1"/>
              </a:solidFill>
              <a:latin typeface="Inter"/>
              <a:ea typeface="Inter"/>
              <a:cs typeface="Inter"/>
              <a:sym typeface="Inter"/>
            </a:endParaRPr>
          </a:p>
        </p:txBody>
      </p:sp>
      <p:sp>
        <p:nvSpPr>
          <p:cNvPr id="103" name="Google Shape;103;p3"/>
          <p:cNvSpPr/>
          <p:nvPr/>
        </p:nvSpPr>
        <p:spPr>
          <a:xfrm>
            <a:off x="571500" y="3848375"/>
            <a:ext cx="6496200" cy="601800"/>
          </a:xfrm>
          <a:prstGeom prst="rect">
            <a:avLst/>
          </a:prstGeom>
          <a:solidFill>
            <a:srgbClr val="F7F8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3"/>
          <p:cNvSpPr/>
          <p:nvPr/>
        </p:nvSpPr>
        <p:spPr>
          <a:xfrm>
            <a:off x="571500" y="3848378"/>
            <a:ext cx="28500" cy="601800"/>
          </a:xfrm>
          <a:prstGeom prst="rect">
            <a:avLst/>
          </a:prstGeom>
          <a:solidFill>
            <a:srgbClr val="004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3"/>
          <p:cNvSpPr/>
          <p:nvPr/>
        </p:nvSpPr>
        <p:spPr>
          <a:xfrm>
            <a:off x="771525" y="3981728"/>
            <a:ext cx="6229800" cy="373200"/>
          </a:xfrm>
          <a:prstGeom prst="rect">
            <a:avLst/>
          </a:prstGeom>
          <a:noFill/>
          <a:ln>
            <a:noFill/>
          </a:ln>
        </p:spPr>
        <p:txBody>
          <a:bodyPr anchorCtr="0" anchor="t" bIns="25400" lIns="25400" spcFirstLastPara="1" rIns="25400" wrap="square" tIns="25400">
            <a:normAutofit/>
          </a:bodyPr>
          <a:lstStyle/>
          <a:p>
            <a:pPr indent="0" lvl="0" marL="0" marR="0" rtl="0" algn="just">
              <a:lnSpc>
                <a:spcPct val="160000"/>
              </a:lnSpc>
              <a:spcBef>
                <a:spcPts val="0"/>
              </a:spcBef>
              <a:spcAft>
                <a:spcPts val="0"/>
              </a:spcAft>
              <a:buClr>
                <a:srgbClr val="374151"/>
              </a:buClr>
              <a:buSzPts val="825"/>
              <a:buFont typeface="Inter"/>
              <a:buNone/>
            </a:pPr>
            <a:r>
              <a:rPr b="0" i="0" lang="en-US" sz="825" u="none" cap="none" strike="noStrike">
                <a:solidFill>
                  <a:srgbClr val="374151"/>
                </a:solidFill>
                <a:latin typeface="Inter"/>
                <a:ea typeface="Inter"/>
                <a:cs typeface="Inter"/>
                <a:sym typeface="Inter"/>
              </a:rPr>
              <a:t>This proposal is prepared as a </a:t>
            </a:r>
            <a:r>
              <a:rPr b="1" i="0" lang="en-US" sz="825" u="none" cap="none" strike="noStrike">
                <a:solidFill>
                  <a:srgbClr val="0E1320"/>
                </a:solidFill>
                <a:latin typeface="Inter"/>
                <a:ea typeface="Inter"/>
                <a:cs typeface="Inter"/>
                <a:sym typeface="Inter"/>
              </a:rPr>
              <a:t>budgetary estimate </a:t>
            </a:r>
            <a:r>
              <a:rPr b="0" i="0" lang="en-US" sz="825" u="none" cap="none" strike="noStrike">
                <a:solidFill>
                  <a:srgbClr val="374151"/>
                </a:solidFill>
                <a:latin typeface="Inter"/>
                <a:ea typeface="Inter"/>
                <a:cs typeface="Inter"/>
                <a:sym typeface="Inter"/>
              </a:rPr>
              <a:t>. The final scope, licensing, API behaviour, rule library, and commercial terms should be confirmed during discovery. Estimates carry a ±30% variance until then.</a:t>
            </a:r>
            <a:endParaRPr b="0" i="0" sz="825" u="none" cap="none" strike="noStrike">
              <a:solidFill>
                <a:schemeClr val="dk1"/>
              </a:solidFill>
              <a:latin typeface="Inter"/>
              <a:ea typeface="Inter"/>
              <a:cs typeface="Inter"/>
              <a:sym typeface="Inter"/>
            </a:endParaRPr>
          </a:p>
        </p:txBody>
      </p:sp>
      <p:sp>
        <p:nvSpPr>
          <p:cNvPr id="106" name="Google Shape;106;p3"/>
          <p:cNvSpPr/>
          <p:nvPr/>
        </p:nvSpPr>
        <p:spPr>
          <a:xfrm>
            <a:off x="571500" y="5084544"/>
            <a:ext cx="6419700" cy="9600"/>
          </a:xfrm>
          <a:prstGeom prst="rect">
            <a:avLst/>
          </a:prstGeom>
          <a:solidFill>
            <a:srgbClr val="004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3"/>
          <p:cNvSpPr/>
          <p:nvPr/>
        </p:nvSpPr>
        <p:spPr>
          <a:xfrm>
            <a:off x="571500" y="4845526"/>
            <a:ext cx="268800" cy="153300"/>
          </a:xfrm>
          <a:prstGeom prst="rect">
            <a:avLst/>
          </a:prstGeom>
          <a:noFill/>
          <a:ln>
            <a:noFill/>
          </a:ln>
        </p:spPr>
        <p:txBody>
          <a:bodyPr anchorCtr="0" anchor="t" bIns="25400" lIns="25400" spcFirstLastPara="1" rIns="25400" wrap="square" tIns="25400">
            <a:normAutofit/>
          </a:bodyPr>
          <a:lstStyle/>
          <a:p>
            <a:pPr indent="0" lvl="0" marL="0" marR="0" rtl="0" algn="l">
              <a:lnSpc>
                <a:spcPct val="110000"/>
              </a:lnSpc>
              <a:spcBef>
                <a:spcPts val="0"/>
              </a:spcBef>
              <a:spcAft>
                <a:spcPts val="0"/>
              </a:spcAft>
              <a:buClr>
                <a:srgbClr val="0047AB"/>
              </a:buClr>
              <a:buSzPts val="825"/>
              <a:buFont typeface="Inter"/>
              <a:buNone/>
            </a:pPr>
            <a:r>
              <a:rPr b="1" i="0" lang="en-US" sz="825" u="none" cap="none" strike="noStrike">
                <a:solidFill>
                  <a:srgbClr val="0047AB"/>
                </a:solidFill>
                <a:latin typeface="Inter"/>
                <a:ea typeface="Inter"/>
                <a:cs typeface="Inter"/>
                <a:sym typeface="Inter"/>
              </a:rPr>
              <a:t>02</a:t>
            </a:r>
            <a:endParaRPr b="0" i="0" sz="825" u="none" cap="none" strike="noStrike">
              <a:solidFill>
                <a:schemeClr val="dk1"/>
              </a:solidFill>
              <a:latin typeface="Inter"/>
              <a:ea typeface="Inter"/>
              <a:cs typeface="Inter"/>
              <a:sym typeface="Inter"/>
            </a:endParaRPr>
          </a:p>
        </p:txBody>
      </p:sp>
      <p:sp>
        <p:nvSpPr>
          <p:cNvPr id="108" name="Google Shape;108;p3"/>
          <p:cNvSpPr/>
          <p:nvPr/>
        </p:nvSpPr>
        <p:spPr>
          <a:xfrm>
            <a:off x="916558" y="4716938"/>
            <a:ext cx="1308000" cy="310500"/>
          </a:xfrm>
          <a:prstGeom prst="rect">
            <a:avLst/>
          </a:prstGeom>
          <a:noFill/>
          <a:ln>
            <a:noFill/>
          </a:ln>
        </p:spPr>
        <p:txBody>
          <a:bodyPr anchorCtr="0" anchor="t" bIns="25400" lIns="25400" spcFirstLastPara="1" rIns="25400" wrap="square" tIns="25400">
            <a:normAutofit/>
          </a:bodyPr>
          <a:lstStyle/>
          <a:p>
            <a:pPr indent="0" lvl="0" marL="0" marR="0" rtl="0" algn="l">
              <a:lnSpc>
                <a:spcPct val="110000"/>
              </a:lnSpc>
              <a:spcBef>
                <a:spcPts val="0"/>
              </a:spcBef>
              <a:spcAft>
                <a:spcPts val="0"/>
              </a:spcAft>
              <a:buClr>
                <a:srgbClr val="0E1320"/>
              </a:buClr>
              <a:buSzPts val="1950"/>
              <a:buFont typeface="Inter"/>
              <a:buNone/>
            </a:pPr>
            <a:r>
              <a:rPr b="0" i="0" lang="en-US" sz="1950" u="none" cap="none" strike="noStrike">
                <a:solidFill>
                  <a:srgbClr val="0E1320"/>
                </a:solidFill>
                <a:latin typeface="Inter"/>
                <a:ea typeface="Inter"/>
                <a:cs typeface="Inter"/>
                <a:sym typeface="Inter"/>
              </a:rPr>
              <a:t>Objectives</a:t>
            </a:r>
            <a:endParaRPr b="0" i="0" sz="1950" u="none" cap="none" strike="noStrike">
              <a:solidFill>
                <a:schemeClr val="dk1"/>
              </a:solidFill>
              <a:latin typeface="Inter"/>
              <a:ea typeface="Inter"/>
              <a:cs typeface="Inter"/>
              <a:sym typeface="Inter"/>
            </a:endParaRPr>
          </a:p>
        </p:txBody>
      </p:sp>
      <p:sp>
        <p:nvSpPr>
          <p:cNvPr id="109" name="Google Shape;109;p3"/>
          <p:cNvSpPr/>
          <p:nvPr/>
        </p:nvSpPr>
        <p:spPr>
          <a:xfrm>
            <a:off x="5054947" y="4850288"/>
            <a:ext cx="2012700" cy="148200"/>
          </a:xfrm>
          <a:prstGeom prst="rect">
            <a:avLst/>
          </a:prstGeom>
          <a:noFill/>
          <a:ln>
            <a:noFill/>
          </a:ln>
        </p:spPr>
        <p:txBody>
          <a:bodyPr anchorCtr="0" anchor="t" bIns="25400" lIns="25400" spcFirstLastPara="1" rIns="25400" wrap="square" tIns="25400">
            <a:normAutofit/>
          </a:bodyPr>
          <a:lstStyle/>
          <a:p>
            <a:pPr indent="0" lvl="0" marL="0" marR="0" rtl="0" algn="r">
              <a:lnSpc>
                <a:spcPct val="110000"/>
              </a:lnSpc>
              <a:spcBef>
                <a:spcPts val="0"/>
              </a:spcBef>
              <a:spcAft>
                <a:spcPts val="0"/>
              </a:spcAft>
              <a:buClr>
                <a:srgbClr val="6B7686"/>
              </a:buClr>
              <a:buSzPts val="788"/>
              <a:buFont typeface="Inter"/>
              <a:buNone/>
            </a:pPr>
            <a:r>
              <a:rPr b="0" i="0" lang="en-US" sz="788" u="none" cap="none" strike="noStrike">
                <a:solidFill>
                  <a:srgbClr val="6B7686"/>
                </a:solidFill>
                <a:latin typeface="Inter"/>
                <a:ea typeface="Inter"/>
                <a:cs typeface="Inter"/>
                <a:sym typeface="Inter"/>
              </a:rPr>
              <a:t>Outcomes the 12-week MVP will deliver</a:t>
            </a:r>
            <a:endParaRPr b="0" i="0" sz="788" u="none" cap="none" strike="noStrike">
              <a:solidFill>
                <a:schemeClr val="dk1"/>
              </a:solidFill>
              <a:latin typeface="Inter"/>
              <a:ea typeface="Inter"/>
              <a:cs typeface="Inter"/>
              <a:sym typeface="Inter"/>
            </a:endParaRPr>
          </a:p>
        </p:txBody>
      </p:sp>
      <p:sp>
        <p:nvSpPr>
          <p:cNvPr id="110" name="Google Shape;110;p3"/>
          <p:cNvSpPr/>
          <p:nvPr/>
        </p:nvSpPr>
        <p:spPr>
          <a:xfrm>
            <a:off x="469900" y="5284569"/>
            <a:ext cx="3321000" cy="1964100"/>
          </a:xfrm>
          <a:prstGeom prst="rect">
            <a:avLst/>
          </a:prstGeom>
          <a:noFill/>
          <a:ln>
            <a:noFill/>
          </a:ln>
        </p:spPr>
        <p:txBody>
          <a:bodyPr anchorCtr="0" anchor="t" bIns="25400" lIns="25400" spcFirstLastPara="1" rIns="25400" wrap="square" tIns="25400">
            <a:normAutofit/>
          </a:bodyPr>
          <a:lstStyle/>
          <a:p>
            <a:pPr indent="-283401" lvl="0" marL="457200" marR="0" rtl="0" algn="l">
              <a:lnSpc>
                <a:spcPct val="155000"/>
              </a:lnSpc>
              <a:spcBef>
                <a:spcPts val="0"/>
              </a:spcBef>
              <a:spcAft>
                <a:spcPts val="0"/>
              </a:spcAft>
              <a:buClr>
                <a:srgbClr val="374151"/>
              </a:buClr>
              <a:buSzPts val="863"/>
              <a:buFont typeface="Inter"/>
              <a:buChar char="●"/>
            </a:pPr>
            <a:r>
              <a:rPr b="0" i="0" lang="en-US" sz="863" u="none" cap="none" strike="noStrike">
                <a:solidFill>
                  <a:srgbClr val="374151"/>
                </a:solidFill>
                <a:latin typeface="Inter"/>
                <a:ea typeface="Inter"/>
                <a:cs typeface="Inter"/>
                <a:sym typeface="Inter"/>
              </a:rPr>
              <a:t>Automate intake of employer contribution files from designated Microsoft 365 mailboxes.</a:t>
            </a:r>
            <a:endParaRPr b="0" i="0" sz="863" u="none" cap="none" strike="noStrike">
              <a:solidFill>
                <a:schemeClr val="dk1"/>
              </a:solidFill>
              <a:latin typeface="Inter"/>
              <a:ea typeface="Inter"/>
              <a:cs typeface="Inter"/>
              <a:sym typeface="Inter"/>
            </a:endParaRPr>
          </a:p>
          <a:p>
            <a:pPr indent="-283401" lvl="0" marL="457200" marR="0" rtl="0" algn="l">
              <a:lnSpc>
                <a:spcPct val="155000"/>
              </a:lnSpc>
              <a:spcBef>
                <a:spcPts val="0"/>
              </a:spcBef>
              <a:spcAft>
                <a:spcPts val="0"/>
              </a:spcAft>
              <a:buClr>
                <a:srgbClr val="374151"/>
              </a:buClr>
              <a:buSzPts val="863"/>
              <a:buFont typeface="Inter"/>
              <a:buChar char="●"/>
            </a:pPr>
            <a:r>
              <a:rPr b="0" i="0" lang="en-US" sz="863" u="none" cap="none" strike="noStrike">
                <a:solidFill>
                  <a:srgbClr val="374151"/>
                </a:solidFill>
                <a:latin typeface="Inter"/>
                <a:ea typeface="Inter"/>
                <a:cs typeface="Inter"/>
                <a:sym typeface="Inter"/>
              </a:rPr>
              <a:t>Capture attachments, email context, and employer instructions as part of the submission record.</a:t>
            </a:r>
            <a:endParaRPr b="0" i="0" sz="863" u="none" cap="none" strike="noStrike">
              <a:solidFill>
                <a:schemeClr val="dk1"/>
              </a:solidFill>
              <a:latin typeface="Inter"/>
              <a:ea typeface="Inter"/>
              <a:cs typeface="Inter"/>
              <a:sym typeface="Inter"/>
            </a:endParaRPr>
          </a:p>
          <a:p>
            <a:pPr indent="-283401" lvl="0" marL="457200" marR="0" rtl="0" algn="l">
              <a:lnSpc>
                <a:spcPct val="155000"/>
              </a:lnSpc>
              <a:spcBef>
                <a:spcPts val="0"/>
              </a:spcBef>
              <a:spcAft>
                <a:spcPts val="0"/>
              </a:spcAft>
              <a:buClr>
                <a:srgbClr val="374151"/>
              </a:buClr>
              <a:buSzPts val="863"/>
              <a:buFont typeface="Inter"/>
              <a:buChar char="●"/>
            </a:pPr>
            <a:r>
              <a:rPr b="0" i="0" lang="en-US" sz="863" u="none" cap="none" strike="noStrike">
                <a:solidFill>
                  <a:srgbClr val="374151"/>
                </a:solidFill>
                <a:latin typeface="Inter"/>
                <a:ea typeface="Inter"/>
                <a:cs typeface="Inter"/>
                <a:sym typeface="Inter"/>
              </a:rPr>
              <a:t>Use AI-powered interpretation of employer email commentary for Flow 1, as part of committed scope.</a:t>
            </a:r>
            <a:endParaRPr b="0" i="0" sz="863" u="none" cap="none" strike="noStrike">
              <a:solidFill>
                <a:schemeClr val="dk1"/>
              </a:solidFill>
              <a:latin typeface="Inter"/>
              <a:ea typeface="Inter"/>
              <a:cs typeface="Inter"/>
              <a:sym typeface="Inter"/>
            </a:endParaRPr>
          </a:p>
          <a:p>
            <a:pPr indent="-283401" lvl="0" marL="457200" marR="0" rtl="0" algn="l">
              <a:lnSpc>
                <a:spcPct val="155000"/>
              </a:lnSpc>
              <a:spcBef>
                <a:spcPts val="0"/>
              </a:spcBef>
              <a:spcAft>
                <a:spcPts val="0"/>
              </a:spcAft>
              <a:buClr>
                <a:srgbClr val="374151"/>
              </a:buClr>
              <a:buSzPts val="863"/>
              <a:buFont typeface="Inter"/>
              <a:buChar char="●"/>
            </a:pPr>
            <a:r>
              <a:rPr b="0" i="0" lang="en-US" sz="863" u="none" cap="none" strike="noStrike">
                <a:solidFill>
                  <a:srgbClr val="374151"/>
                </a:solidFill>
                <a:latin typeface="Inter"/>
                <a:ea typeface="Inter"/>
                <a:cs typeface="Inter"/>
                <a:sym typeface="Inter"/>
              </a:rPr>
              <a:t>Retrieve previous-month files from Azure or AWS storage as agreed during discovery.</a:t>
            </a:r>
            <a:endParaRPr b="0" i="0" sz="863" u="none" cap="none" strike="noStrike">
              <a:solidFill>
                <a:schemeClr val="dk1"/>
              </a:solidFill>
              <a:latin typeface="Inter"/>
              <a:ea typeface="Inter"/>
              <a:cs typeface="Inter"/>
              <a:sym typeface="Inter"/>
            </a:endParaRPr>
          </a:p>
          <a:p>
            <a:pPr indent="-283401" lvl="0" marL="457200" marR="0" rtl="0" algn="l">
              <a:lnSpc>
                <a:spcPct val="155000"/>
              </a:lnSpc>
              <a:spcBef>
                <a:spcPts val="0"/>
              </a:spcBef>
              <a:spcAft>
                <a:spcPts val="0"/>
              </a:spcAft>
              <a:buClr>
                <a:srgbClr val="374151"/>
              </a:buClr>
              <a:buSzPts val="863"/>
              <a:buFont typeface="Inter"/>
              <a:buChar char="●"/>
            </a:pPr>
            <a:r>
              <a:rPr b="0" i="0" lang="en-US" sz="863" u="none" cap="none" strike="noStrike">
                <a:solidFill>
                  <a:srgbClr val="374151"/>
                </a:solidFill>
                <a:latin typeface="Inter"/>
                <a:ea typeface="Inter"/>
                <a:cs typeface="Inter"/>
                <a:sym typeface="Inter"/>
              </a:rPr>
              <a:t>Validate files against configurable technical and business rules.</a:t>
            </a:r>
            <a:endParaRPr b="0" i="0" sz="863" u="none" cap="none" strike="noStrike">
              <a:solidFill>
                <a:schemeClr val="dk1"/>
              </a:solidFill>
              <a:latin typeface="Inter"/>
              <a:ea typeface="Inter"/>
              <a:cs typeface="Inter"/>
              <a:sym typeface="Inter"/>
            </a:endParaRPr>
          </a:p>
        </p:txBody>
      </p:sp>
      <p:sp>
        <p:nvSpPr>
          <p:cNvPr id="111" name="Google Shape;111;p3"/>
          <p:cNvSpPr/>
          <p:nvPr/>
        </p:nvSpPr>
        <p:spPr>
          <a:xfrm>
            <a:off x="3746500" y="5284569"/>
            <a:ext cx="3321000" cy="1794300"/>
          </a:xfrm>
          <a:prstGeom prst="rect">
            <a:avLst/>
          </a:prstGeom>
          <a:noFill/>
          <a:ln>
            <a:noFill/>
          </a:ln>
        </p:spPr>
        <p:txBody>
          <a:bodyPr anchorCtr="0" anchor="t" bIns="25400" lIns="25400" spcFirstLastPara="1" rIns="25400" wrap="square" tIns="25400">
            <a:normAutofit/>
          </a:bodyPr>
          <a:lstStyle/>
          <a:p>
            <a:pPr indent="-283401" lvl="0" marL="457200" marR="0" rtl="0" algn="l">
              <a:lnSpc>
                <a:spcPct val="155000"/>
              </a:lnSpc>
              <a:spcBef>
                <a:spcPts val="0"/>
              </a:spcBef>
              <a:spcAft>
                <a:spcPts val="0"/>
              </a:spcAft>
              <a:buClr>
                <a:srgbClr val="374151"/>
              </a:buClr>
              <a:buSzPts val="863"/>
              <a:buFont typeface="Inter"/>
              <a:buChar char="●"/>
            </a:pPr>
            <a:r>
              <a:rPr b="0" i="0" lang="en-US" sz="863" u="none" cap="none" strike="noStrike">
                <a:solidFill>
                  <a:srgbClr val="374151"/>
                </a:solidFill>
                <a:latin typeface="Inter"/>
                <a:ea typeface="Inter"/>
                <a:cs typeface="Inter"/>
                <a:sym typeface="Inter"/>
              </a:rPr>
              <a:t>Compare current submissions with historical files and identify variances.</a:t>
            </a:r>
            <a:endParaRPr b="0" i="0" sz="863" u="none" cap="none" strike="noStrike">
              <a:solidFill>
                <a:schemeClr val="dk1"/>
              </a:solidFill>
              <a:latin typeface="Inter"/>
              <a:ea typeface="Inter"/>
              <a:cs typeface="Inter"/>
              <a:sym typeface="Inter"/>
            </a:endParaRPr>
          </a:p>
          <a:p>
            <a:pPr indent="-283401" lvl="0" marL="457200" marR="0" rtl="0" algn="l">
              <a:lnSpc>
                <a:spcPct val="155000"/>
              </a:lnSpc>
              <a:spcBef>
                <a:spcPts val="0"/>
              </a:spcBef>
              <a:spcAft>
                <a:spcPts val="0"/>
              </a:spcAft>
              <a:buClr>
                <a:srgbClr val="374151"/>
              </a:buClr>
              <a:buSzPts val="863"/>
              <a:buFont typeface="Inter"/>
              <a:buChar char="●"/>
            </a:pPr>
            <a:r>
              <a:rPr b="0" i="0" lang="en-US" sz="863" u="none" cap="none" strike="noStrike">
                <a:solidFill>
                  <a:srgbClr val="374151"/>
                </a:solidFill>
                <a:latin typeface="Inter"/>
                <a:ea typeface="Inter"/>
                <a:cs typeface="Inter"/>
                <a:sym typeface="Inter"/>
              </a:rPr>
              <a:t>Return errors to employers by email for mailbox-led submissions.</a:t>
            </a:r>
            <a:endParaRPr b="0" i="0" sz="863" u="none" cap="none" strike="noStrike">
              <a:solidFill>
                <a:schemeClr val="dk1"/>
              </a:solidFill>
              <a:latin typeface="Inter"/>
              <a:ea typeface="Inter"/>
              <a:cs typeface="Inter"/>
              <a:sym typeface="Inter"/>
            </a:endParaRPr>
          </a:p>
          <a:p>
            <a:pPr indent="-283401" lvl="0" marL="457200" marR="0" rtl="0" algn="l">
              <a:lnSpc>
                <a:spcPct val="155000"/>
              </a:lnSpc>
              <a:spcBef>
                <a:spcPts val="0"/>
              </a:spcBef>
              <a:spcAft>
                <a:spcPts val="0"/>
              </a:spcAft>
              <a:buClr>
                <a:srgbClr val="374151"/>
              </a:buClr>
              <a:buSzPts val="863"/>
              <a:buFont typeface="Inter"/>
              <a:buChar char="●"/>
            </a:pPr>
            <a:r>
              <a:rPr b="0" i="0" lang="en-US" sz="863" u="none" cap="none" strike="noStrike">
                <a:solidFill>
                  <a:srgbClr val="374151"/>
                </a:solidFill>
                <a:latin typeface="Inter"/>
                <a:ea typeface="Inter"/>
                <a:cs typeface="Inter"/>
                <a:sym typeface="Inter"/>
              </a:rPr>
              <a:t>Return errors to the existing portal for portal-led submissions.</a:t>
            </a:r>
            <a:endParaRPr b="0" i="0" sz="863" u="none" cap="none" strike="noStrike">
              <a:solidFill>
                <a:schemeClr val="dk1"/>
              </a:solidFill>
              <a:latin typeface="Inter"/>
              <a:ea typeface="Inter"/>
              <a:cs typeface="Inter"/>
              <a:sym typeface="Inter"/>
            </a:endParaRPr>
          </a:p>
          <a:p>
            <a:pPr indent="-283401" lvl="0" marL="457200" marR="0" rtl="0" algn="l">
              <a:lnSpc>
                <a:spcPct val="155000"/>
              </a:lnSpc>
              <a:spcBef>
                <a:spcPts val="0"/>
              </a:spcBef>
              <a:spcAft>
                <a:spcPts val="0"/>
              </a:spcAft>
              <a:buClr>
                <a:srgbClr val="374151"/>
              </a:buClr>
              <a:buSzPts val="863"/>
              <a:buFont typeface="Inter"/>
              <a:buChar char="●"/>
            </a:pPr>
            <a:r>
              <a:rPr b="0" i="0" lang="en-US" sz="863" u="none" cap="none" strike="noStrike">
                <a:solidFill>
                  <a:srgbClr val="374151"/>
                </a:solidFill>
                <a:latin typeface="Inter"/>
                <a:ea typeface="Inter"/>
                <a:cs typeface="Inter"/>
                <a:sym typeface="Inter"/>
              </a:rPr>
              <a:t>Post validated records to the pension administration system API, where API access is available.</a:t>
            </a:r>
            <a:endParaRPr b="0" i="0" sz="863" u="none" cap="none" strike="noStrike">
              <a:solidFill>
                <a:schemeClr val="dk1"/>
              </a:solidFill>
              <a:latin typeface="Inter"/>
              <a:ea typeface="Inter"/>
              <a:cs typeface="Inter"/>
              <a:sym typeface="Inter"/>
            </a:endParaRPr>
          </a:p>
          <a:p>
            <a:pPr indent="-283401" lvl="0" marL="457200" marR="0" rtl="0" algn="l">
              <a:lnSpc>
                <a:spcPct val="155000"/>
              </a:lnSpc>
              <a:spcBef>
                <a:spcPts val="0"/>
              </a:spcBef>
              <a:spcAft>
                <a:spcPts val="0"/>
              </a:spcAft>
              <a:buClr>
                <a:srgbClr val="374151"/>
              </a:buClr>
              <a:buSzPts val="863"/>
              <a:buFont typeface="Inter"/>
              <a:buChar char="●"/>
            </a:pPr>
            <a:r>
              <a:rPr b="0" i="0" lang="en-US" sz="863" u="none" cap="none" strike="noStrike">
                <a:solidFill>
                  <a:srgbClr val="374151"/>
                </a:solidFill>
                <a:latin typeface="Inter"/>
                <a:ea typeface="Inter"/>
                <a:cs typeface="Inter"/>
                <a:sym typeface="Inter"/>
              </a:rPr>
              <a:t>Maintain a complete audit trail across receipt, validation, communication, resubmission, and upload.</a:t>
            </a:r>
            <a:endParaRPr b="0" i="0" sz="863" u="none" cap="none" strike="noStrike">
              <a:solidFill>
                <a:schemeClr val="dk1"/>
              </a:solidFill>
              <a:latin typeface="Inter"/>
              <a:ea typeface="Inter"/>
              <a:cs typeface="Inter"/>
              <a:sym typeface="Inter"/>
            </a:endParaRPr>
          </a:p>
        </p:txBody>
      </p:sp>
      <p:sp>
        <p:nvSpPr>
          <p:cNvPr id="112" name="Google Shape;112;p3"/>
          <p:cNvSpPr/>
          <p:nvPr/>
        </p:nvSpPr>
        <p:spPr>
          <a:xfrm>
            <a:off x="571500" y="7768313"/>
            <a:ext cx="6419700" cy="1398900"/>
          </a:xfrm>
          <a:prstGeom prst="roundRect">
            <a:avLst>
              <a:gd fmla="val 4085" name="adj"/>
            </a:avLst>
          </a:prstGeom>
          <a:noFill/>
          <a:ln cap="flat" cmpd="sng" w="9525">
            <a:solidFill>
              <a:srgbClr val="E2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3"/>
          <p:cNvSpPr/>
          <p:nvPr/>
        </p:nvSpPr>
        <p:spPr>
          <a:xfrm>
            <a:off x="581025" y="7747232"/>
            <a:ext cx="3200400" cy="1380000"/>
          </a:xfrm>
          <a:prstGeom prst="rect">
            <a:avLst/>
          </a:prstGeom>
          <a:solidFill>
            <a:srgbClr val="F7F8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3"/>
          <p:cNvSpPr/>
          <p:nvPr/>
        </p:nvSpPr>
        <p:spPr>
          <a:xfrm>
            <a:off x="3771900" y="7747232"/>
            <a:ext cx="9600" cy="13800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3"/>
          <p:cNvSpPr/>
          <p:nvPr/>
        </p:nvSpPr>
        <p:spPr>
          <a:xfrm>
            <a:off x="733425" y="7880582"/>
            <a:ext cx="2972700" cy="1857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686"/>
              </a:buClr>
              <a:buSzPts val="975"/>
              <a:buFont typeface="Inter"/>
              <a:buNone/>
            </a:pPr>
            <a:r>
              <a:rPr b="1" i="0" lang="en-US" sz="975" u="none" cap="none" strike="noStrike">
                <a:solidFill>
                  <a:srgbClr val="6B7686"/>
                </a:solidFill>
                <a:latin typeface="Inter"/>
                <a:ea typeface="Inter"/>
                <a:cs typeface="Inter"/>
                <a:sym typeface="Inter"/>
              </a:rPr>
              <a:t>TODAY</a:t>
            </a:r>
            <a:endParaRPr b="0" i="0" sz="975" u="none" cap="none" strike="noStrike">
              <a:solidFill>
                <a:schemeClr val="dk1"/>
              </a:solidFill>
              <a:latin typeface="Inter"/>
              <a:ea typeface="Inter"/>
              <a:cs typeface="Inter"/>
              <a:sym typeface="Inter"/>
            </a:endParaRPr>
          </a:p>
        </p:txBody>
      </p:sp>
      <p:sp>
        <p:nvSpPr>
          <p:cNvPr id="116" name="Google Shape;116;p3"/>
          <p:cNvSpPr/>
          <p:nvPr/>
        </p:nvSpPr>
        <p:spPr>
          <a:xfrm>
            <a:off x="631825" y="8104419"/>
            <a:ext cx="3063900" cy="927300"/>
          </a:xfrm>
          <a:prstGeom prst="rect">
            <a:avLst/>
          </a:prstGeom>
          <a:noFill/>
          <a:ln>
            <a:noFill/>
          </a:ln>
        </p:spPr>
        <p:txBody>
          <a:bodyPr anchorCtr="0" anchor="t" bIns="25400" lIns="25400" spcFirstLastPara="1" rIns="25400" wrap="square" tIns="25400">
            <a:normAutofit/>
          </a:bodyPr>
          <a:lstStyle/>
          <a:p>
            <a:pPr indent="-278638" lvl="0" marL="457200" marR="0" rtl="0" algn="l">
              <a:lnSpc>
                <a:spcPct val="155000"/>
              </a:lnSpc>
              <a:spcBef>
                <a:spcPts val="0"/>
              </a:spcBef>
              <a:spcAft>
                <a:spcPts val="0"/>
              </a:spcAft>
              <a:buClr>
                <a:srgbClr val="374151"/>
              </a:buClr>
              <a:buSzPts val="788"/>
              <a:buFont typeface="Inter"/>
              <a:buChar char="●"/>
            </a:pPr>
            <a:r>
              <a:rPr b="0" i="0" lang="en-US" sz="788" u="none" cap="none" strike="noStrike">
                <a:solidFill>
                  <a:srgbClr val="374151"/>
                </a:solidFill>
                <a:latin typeface="Inter"/>
                <a:ea typeface="Inter"/>
                <a:cs typeface="Inter"/>
                <a:sym typeface="Inter"/>
              </a:rPr>
              <a:t>Manual review of emails, attachments, and employer commentary</a:t>
            </a:r>
            <a:endParaRPr b="0" i="0" sz="788" u="none" cap="none" strike="noStrike">
              <a:solidFill>
                <a:schemeClr val="dk1"/>
              </a:solidFill>
              <a:latin typeface="Inter"/>
              <a:ea typeface="Inter"/>
              <a:cs typeface="Inter"/>
              <a:sym typeface="Inter"/>
            </a:endParaRPr>
          </a:p>
          <a:p>
            <a:pPr indent="-278638" lvl="0" marL="457200" marR="0" rtl="0" algn="l">
              <a:lnSpc>
                <a:spcPct val="155000"/>
              </a:lnSpc>
              <a:spcBef>
                <a:spcPts val="0"/>
              </a:spcBef>
              <a:spcAft>
                <a:spcPts val="0"/>
              </a:spcAft>
              <a:buClr>
                <a:srgbClr val="374151"/>
              </a:buClr>
              <a:buSzPts val="788"/>
              <a:buFont typeface="Inter"/>
              <a:buChar char="●"/>
            </a:pPr>
            <a:r>
              <a:rPr b="0" i="0" lang="en-US" sz="788" u="none" cap="none" strike="noStrike">
                <a:solidFill>
                  <a:srgbClr val="374151"/>
                </a:solidFill>
                <a:latin typeface="Inter"/>
                <a:ea typeface="Inter"/>
                <a:cs typeface="Inter"/>
                <a:sym typeface="Inter"/>
              </a:rPr>
              <a:t>Cross-checking with prior-month files by hand</a:t>
            </a:r>
            <a:endParaRPr b="0" i="0" sz="788" u="none" cap="none" strike="noStrike">
              <a:solidFill>
                <a:schemeClr val="dk1"/>
              </a:solidFill>
              <a:latin typeface="Inter"/>
              <a:ea typeface="Inter"/>
              <a:cs typeface="Inter"/>
              <a:sym typeface="Inter"/>
            </a:endParaRPr>
          </a:p>
          <a:p>
            <a:pPr indent="-278638" lvl="0" marL="457200" marR="0" rtl="0" algn="l">
              <a:lnSpc>
                <a:spcPct val="155000"/>
              </a:lnSpc>
              <a:spcBef>
                <a:spcPts val="0"/>
              </a:spcBef>
              <a:spcAft>
                <a:spcPts val="0"/>
              </a:spcAft>
              <a:buClr>
                <a:srgbClr val="374151"/>
              </a:buClr>
              <a:buSzPts val="788"/>
              <a:buFont typeface="Inter"/>
              <a:buChar char="●"/>
            </a:pPr>
            <a:r>
              <a:rPr b="0" i="0" lang="en-US" sz="788" u="none" cap="none" strike="noStrike">
                <a:solidFill>
                  <a:srgbClr val="374151"/>
                </a:solidFill>
                <a:latin typeface="Inter"/>
                <a:ea typeface="Inter"/>
                <a:cs typeface="Inter"/>
                <a:sym typeface="Inter"/>
              </a:rPr>
              <a:t>Errors caught late, sometimes after PAS upload</a:t>
            </a:r>
            <a:endParaRPr b="0" i="0" sz="788" u="none" cap="none" strike="noStrike">
              <a:solidFill>
                <a:schemeClr val="dk1"/>
              </a:solidFill>
              <a:latin typeface="Inter"/>
              <a:ea typeface="Inter"/>
              <a:cs typeface="Inter"/>
              <a:sym typeface="Inter"/>
            </a:endParaRPr>
          </a:p>
          <a:p>
            <a:pPr indent="-278638" lvl="0" marL="457200" marR="0" rtl="0" algn="l">
              <a:lnSpc>
                <a:spcPct val="155000"/>
              </a:lnSpc>
              <a:spcBef>
                <a:spcPts val="0"/>
              </a:spcBef>
              <a:spcAft>
                <a:spcPts val="0"/>
              </a:spcAft>
              <a:buClr>
                <a:srgbClr val="374151"/>
              </a:buClr>
              <a:buSzPts val="788"/>
              <a:buFont typeface="Inter"/>
              <a:buChar char="●"/>
            </a:pPr>
            <a:r>
              <a:rPr b="0" i="0" lang="en-US" sz="788" u="none" cap="none" strike="noStrike">
                <a:solidFill>
                  <a:srgbClr val="374151"/>
                </a:solidFill>
                <a:latin typeface="Inter"/>
                <a:ea typeface="Inter"/>
                <a:cs typeface="Inter"/>
                <a:sym typeface="Inter"/>
              </a:rPr>
              <a:t>No central audit trail across receipt to upload</a:t>
            </a:r>
            <a:endParaRPr b="0" i="0" sz="788" u="none" cap="none" strike="noStrike">
              <a:solidFill>
                <a:schemeClr val="dk1"/>
              </a:solidFill>
              <a:latin typeface="Inter"/>
              <a:ea typeface="Inter"/>
              <a:cs typeface="Inter"/>
              <a:sym typeface="Inter"/>
            </a:endParaRPr>
          </a:p>
        </p:txBody>
      </p:sp>
      <p:sp>
        <p:nvSpPr>
          <p:cNvPr id="117" name="Google Shape;117;p3"/>
          <p:cNvSpPr/>
          <p:nvPr/>
        </p:nvSpPr>
        <p:spPr>
          <a:xfrm>
            <a:off x="3781425" y="7747232"/>
            <a:ext cx="3200400" cy="1380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3"/>
          <p:cNvSpPr/>
          <p:nvPr/>
        </p:nvSpPr>
        <p:spPr>
          <a:xfrm>
            <a:off x="3933825" y="7880582"/>
            <a:ext cx="2982600" cy="1857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047AB"/>
              </a:buClr>
              <a:buSzPts val="975"/>
              <a:buFont typeface="Inter"/>
              <a:buNone/>
            </a:pPr>
            <a:r>
              <a:rPr b="1" i="0" lang="en-US" sz="975" u="none" cap="none" strike="noStrike">
                <a:solidFill>
                  <a:srgbClr val="0047AB"/>
                </a:solidFill>
                <a:latin typeface="Inter"/>
                <a:ea typeface="Inter"/>
                <a:cs typeface="Inter"/>
                <a:sym typeface="Inter"/>
              </a:rPr>
              <a:t>AFTER MVP</a:t>
            </a:r>
            <a:endParaRPr b="0" i="0" sz="975" u="none" cap="none" strike="noStrike">
              <a:solidFill>
                <a:schemeClr val="dk1"/>
              </a:solidFill>
              <a:latin typeface="Inter"/>
              <a:ea typeface="Inter"/>
              <a:cs typeface="Inter"/>
              <a:sym typeface="Inter"/>
            </a:endParaRPr>
          </a:p>
        </p:txBody>
      </p:sp>
      <p:sp>
        <p:nvSpPr>
          <p:cNvPr id="119" name="Google Shape;119;p3"/>
          <p:cNvSpPr/>
          <p:nvPr/>
        </p:nvSpPr>
        <p:spPr>
          <a:xfrm>
            <a:off x="3832225" y="8104419"/>
            <a:ext cx="3073500" cy="927300"/>
          </a:xfrm>
          <a:prstGeom prst="rect">
            <a:avLst/>
          </a:prstGeom>
          <a:noFill/>
          <a:ln>
            <a:noFill/>
          </a:ln>
        </p:spPr>
        <p:txBody>
          <a:bodyPr anchorCtr="0" anchor="t" bIns="25400" lIns="25400" spcFirstLastPara="1" rIns="25400" wrap="square" tIns="25400">
            <a:normAutofit/>
          </a:bodyPr>
          <a:lstStyle/>
          <a:p>
            <a:pPr indent="-278638" lvl="0" marL="457200" marR="0" rtl="0" algn="l">
              <a:lnSpc>
                <a:spcPct val="155000"/>
              </a:lnSpc>
              <a:spcBef>
                <a:spcPts val="0"/>
              </a:spcBef>
              <a:spcAft>
                <a:spcPts val="0"/>
              </a:spcAft>
              <a:buClr>
                <a:srgbClr val="374151"/>
              </a:buClr>
              <a:buSzPts val="788"/>
              <a:buFont typeface="Inter"/>
              <a:buChar char="●"/>
            </a:pPr>
            <a:r>
              <a:rPr b="0" i="0" lang="en-US" sz="788" u="none" cap="none" strike="noStrike">
                <a:solidFill>
                  <a:srgbClr val="374151"/>
                </a:solidFill>
                <a:latin typeface="Inter"/>
                <a:ea typeface="Inter"/>
                <a:cs typeface="Inter"/>
                <a:sym typeface="Inter"/>
              </a:rPr>
              <a:t>Mailbox + portal submissions handled through one validation layer</a:t>
            </a:r>
            <a:endParaRPr b="0" i="0" sz="788" u="none" cap="none" strike="noStrike">
              <a:solidFill>
                <a:schemeClr val="dk1"/>
              </a:solidFill>
              <a:latin typeface="Inter"/>
              <a:ea typeface="Inter"/>
              <a:cs typeface="Inter"/>
              <a:sym typeface="Inter"/>
            </a:endParaRPr>
          </a:p>
          <a:p>
            <a:pPr indent="-278638" lvl="0" marL="457200" marR="0" rtl="0" algn="l">
              <a:lnSpc>
                <a:spcPct val="155000"/>
              </a:lnSpc>
              <a:spcBef>
                <a:spcPts val="0"/>
              </a:spcBef>
              <a:spcAft>
                <a:spcPts val="0"/>
              </a:spcAft>
              <a:buClr>
                <a:srgbClr val="374151"/>
              </a:buClr>
              <a:buSzPts val="788"/>
              <a:buFont typeface="Inter"/>
              <a:buChar char="●"/>
            </a:pPr>
            <a:r>
              <a:rPr b="0" i="0" lang="en-US" sz="788" u="none" cap="none" strike="noStrike">
                <a:solidFill>
                  <a:srgbClr val="374151"/>
                </a:solidFill>
                <a:latin typeface="Inter"/>
                <a:ea typeface="Inter"/>
                <a:cs typeface="Inter"/>
                <a:sym typeface="Inter"/>
              </a:rPr>
              <a:t>Historical comparison and variance detection automated</a:t>
            </a:r>
            <a:endParaRPr b="0" i="0" sz="788" u="none" cap="none" strike="noStrike">
              <a:solidFill>
                <a:schemeClr val="dk1"/>
              </a:solidFill>
              <a:latin typeface="Inter"/>
              <a:ea typeface="Inter"/>
              <a:cs typeface="Inter"/>
              <a:sym typeface="Inter"/>
            </a:endParaRPr>
          </a:p>
          <a:p>
            <a:pPr indent="-278638" lvl="0" marL="457200" marR="0" rtl="0" algn="l">
              <a:lnSpc>
                <a:spcPct val="155000"/>
              </a:lnSpc>
              <a:spcBef>
                <a:spcPts val="0"/>
              </a:spcBef>
              <a:spcAft>
                <a:spcPts val="0"/>
              </a:spcAft>
              <a:buClr>
                <a:srgbClr val="374151"/>
              </a:buClr>
              <a:buSzPts val="788"/>
              <a:buFont typeface="Inter"/>
              <a:buChar char="●"/>
            </a:pPr>
            <a:r>
              <a:rPr b="0" i="0" lang="en-US" sz="788" u="none" cap="none" strike="noStrike">
                <a:solidFill>
                  <a:srgbClr val="374151"/>
                </a:solidFill>
                <a:latin typeface="Inter"/>
                <a:ea typeface="Inter"/>
                <a:cs typeface="Inter"/>
                <a:sym typeface="Inter"/>
              </a:rPr>
              <a:t>Errors returned to the right channel before PAS posting</a:t>
            </a:r>
            <a:endParaRPr b="0" i="0" sz="788" u="none" cap="none" strike="noStrike">
              <a:solidFill>
                <a:schemeClr val="dk1"/>
              </a:solidFill>
              <a:latin typeface="Inter"/>
              <a:ea typeface="Inter"/>
              <a:cs typeface="Inter"/>
              <a:sym typeface="Inter"/>
            </a:endParaRPr>
          </a:p>
          <a:p>
            <a:pPr indent="-278638" lvl="0" marL="457200" marR="0" rtl="0" algn="l">
              <a:lnSpc>
                <a:spcPct val="155000"/>
              </a:lnSpc>
              <a:spcBef>
                <a:spcPts val="0"/>
              </a:spcBef>
              <a:spcAft>
                <a:spcPts val="0"/>
              </a:spcAft>
              <a:buClr>
                <a:srgbClr val="374151"/>
              </a:buClr>
              <a:buSzPts val="788"/>
              <a:buFont typeface="Inter"/>
              <a:buChar char="●"/>
            </a:pPr>
            <a:r>
              <a:rPr b="0" i="0" lang="en-US" sz="788" u="none" cap="none" strike="noStrike">
                <a:solidFill>
                  <a:srgbClr val="374151"/>
                </a:solidFill>
                <a:latin typeface="Inter"/>
                <a:ea typeface="Inter"/>
                <a:cs typeface="Inter"/>
                <a:sym typeface="Inter"/>
              </a:rPr>
              <a:t>Full audit ledger across every submission and decision</a:t>
            </a:r>
            <a:endParaRPr b="0" i="0" sz="788" u="none" cap="none" strike="noStrike">
              <a:solidFill>
                <a:schemeClr val="dk1"/>
              </a:solidFill>
              <a:latin typeface="Inter"/>
              <a:ea typeface="Inter"/>
              <a:cs typeface="Inter"/>
              <a:sym typeface="Inter"/>
            </a:endParaRPr>
          </a:p>
        </p:txBody>
      </p:sp>
      <p:sp>
        <p:nvSpPr>
          <p:cNvPr id="120" name="Google Shape;120;p3"/>
          <p:cNvSpPr/>
          <p:nvPr/>
        </p:nvSpPr>
        <p:spPr>
          <a:xfrm>
            <a:off x="0" y="10234613"/>
            <a:ext cx="7562850" cy="461963"/>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3"/>
          <p:cNvSpPr/>
          <p:nvPr/>
        </p:nvSpPr>
        <p:spPr>
          <a:xfrm>
            <a:off x="0" y="10234613"/>
            <a:ext cx="7562850" cy="9525"/>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3"/>
          <p:cNvSpPr/>
          <p:nvPr/>
        </p:nvSpPr>
        <p:spPr>
          <a:xfrm>
            <a:off x="6540847" y="10377488"/>
            <a:ext cx="526703" cy="147638"/>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0047AB"/>
              </a:buClr>
              <a:buSzPts val="713"/>
              <a:buFont typeface="Inter"/>
              <a:buNone/>
            </a:pPr>
            <a:r>
              <a:rPr b="1" i="0" lang="en-US" sz="713" u="none" cap="none" strike="noStrike">
                <a:solidFill>
                  <a:srgbClr val="6B7686"/>
                </a:solidFill>
                <a:latin typeface="Inter"/>
                <a:ea typeface="Inter"/>
                <a:cs typeface="Inter"/>
                <a:sym typeface="Inter"/>
              </a:rPr>
              <a:t>03 / 1</a:t>
            </a:r>
            <a:r>
              <a:rPr b="1" lang="en-US" sz="713">
                <a:solidFill>
                  <a:srgbClr val="6B7686"/>
                </a:solidFill>
              </a:rPr>
              <a:t>2</a:t>
            </a:r>
            <a:endParaRPr b="0" i="0" sz="713" u="none" cap="none" strike="noStrike">
              <a:solidFill>
                <a:srgbClr val="6B7686"/>
              </a:solidFill>
              <a:latin typeface="Inter"/>
              <a:ea typeface="Inter"/>
              <a:cs typeface="Inter"/>
              <a:sym typeface="Inter"/>
            </a:endParaRPr>
          </a:p>
        </p:txBody>
      </p:sp>
      <p:sp>
        <p:nvSpPr>
          <p:cNvPr id="123" name="Google Shape;123;p3"/>
          <p:cNvSpPr/>
          <p:nvPr/>
        </p:nvSpPr>
        <p:spPr>
          <a:xfrm>
            <a:off x="571500" y="10377500"/>
            <a:ext cx="3966300" cy="138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7686"/>
              </a:buClr>
              <a:buSzPts val="713"/>
              <a:buFont typeface="Inter"/>
              <a:buNone/>
            </a:pPr>
            <a:r>
              <a:rPr b="0" i="0" lang="en-US" sz="713" u="none" cap="none" strike="noStrike">
                <a:solidFill>
                  <a:srgbClr val="6B7686"/>
                </a:solidFill>
                <a:latin typeface="Inter"/>
                <a:ea typeface="Inter"/>
                <a:cs typeface="Inter"/>
                <a:sym typeface="Inter"/>
              </a:rPr>
              <a:t>NEWTUPLE TECHNOLOGIES · 		  		     </a:t>
            </a:r>
            <a:r>
              <a:rPr lang="en-US" sz="713">
                <a:solidFill>
                  <a:srgbClr val="6B7686"/>
                </a:solidFill>
              </a:rPr>
              <a:t>    </a:t>
            </a:r>
            <a:r>
              <a:rPr b="0" i="0" lang="en-US" sz="713" u="none" cap="none" strike="noStrike">
                <a:solidFill>
                  <a:srgbClr val="6B7686"/>
                </a:solidFill>
                <a:latin typeface="Inter"/>
                <a:ea typeface="Inter"/>
                <a:cs typeface="Inter"/>
                <a:sym typeface="Inter"/>
              </a:rPr>
              <a:t>CONFIDENTIAL</a:t>
            </a:r>
            <a:endParaRPr b="0" i="0" sz="713" u="none" cap="none" strike="noStrike">
              <a:solidFill>
                <a:schemeClr val="dk1"/>
              </a:solidFill>
              <a:latin typeface="Inter"/>
              <a:ea typeface="Inter"/>
              <a:cs typeface="Inter"/>
              <a:sym typeface="Inte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8" name="Shape 128"/>
        <p:cNvGrpSpPr/>
        <p:nvPr/>
      </p:nvGrpSpPr>
      <p:grpSpPr>
        <a:xfrm>
          <a:off x="0" y="0"/>
          <a:ext cx="0" cy="0"/>
          <a:chOff x="0" y="0"/>
          <a:chExt cx="0" cy="0"/>
        </a:xfrm>
      </p:grpSpPr>
      <p:sp>
        <p:nvSpPr>
          <p:cNvPr id="129" name="Google Shape;129;p4"/>
          <p:cNvSpPr/>
          <p:nvPr/>
        </p:nvSpPr>
        <p:spPr>
          <a:xfrm>
            <a:off x="0" y="0"/>
            <a:ext cx="7562850" cy="10696575"/>
          </a:xfrm>
          <a:prstGeom prst="rect">
            <a:avLst/>
          </a:prstGeom>
          <a:noFill/>
          <a:ln>
            <a:noFill/>
          </a:ln>
          <a:effectLst>
            <a:outerShdw blurRad="381000" rotWithShape="0" algn="bl" dir="5400000" dist="133350">
              <a:srgbClr val="0E132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0" name="Google Shape;130;p4"/>
          <p:cNvPicPr preferRelativeResize="0"/>
          <p:nvPr/>
        </p:nvPicPr>
        <p:blipFill rotWithShape="1">
          <a:blip r:embed="rId3">
            <a:alphaModFix/>
          </a:blip>
          <a:srcRect b="0" l="0" r="0" t="0"/>
          <a:stretch/>
        </p:blipFill>
        <p:spPr>
          <a:xfrm>
            <a:off x="509937" y="640491"/>
            <a:ext cx="815357" cy="152400"/>
          </a:xfrm>
          <a:prstGeom prst="rect">
            <a:avLst/>
          </a:prstGeom>
          <a:noFill/>
          <a:ln>
            <a:noFill/>
          </a:ln>
        </p:spPr>
      </p:pic>
      <p:sp>
        <p:nvSpPr>
          <p:cNvPr id="131" name="Google Shape;131;p4"/>
          <p:cNvSpPr/>
          <p:nvPr/>
        </p:nvSpPr>
        <p:spPr>
          <a:xfrm>
            <a:off x="3424959" y="659541"/>
            <a:ext cx="3609900" cy="152400"/>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6B7686"/>
              </a:buClr>
              <a:buSzPts val="750"/>
              <a:buFont typeface="Inter"/>
              <a:buNone/>
            </a:pPr>
            <a:r>
              <a:rPr b="1" i="0" lang="en-US" sz="750" u="none" cap="none" strike="noStrike">
                <a:solidFill>
                  <a:srgbClr val="6B7686"/>
                </a:solidFill>
                <a:latin typeface="Inter"/>
                <a:ea typeface="Inter"/>
                <a:cs typeface="Inter"/>
                <a:sym typeface="Inter"/>
              </a:rPr>
              <a:t>PENSION CONTRIBUTION PROCESSING AUTOMATION</a:t>
            </a:r>
            <a:endParaRPr b="0" i="0" sz="750" u="none" cap="none" strike="noStrike">
              <a:solidFill>
                <a:schemeClr val="dk1"/>
              </a:solidFill>
              <a:latin typeface="Inter"/>
              <a:ea typeface="Inter"/>
              <a:cs typeface="Inter"/>
              <a:sym typeface="Inter"/>
            </a:endParaRPr>
          </a:p>
        </p:txBody>
      </p:sp>
      <p:sp>
        <p:nvSpPr>
          <p:cNvPr id="132" name="Google Shape;132;p4"/>
          <p:cNvSpPr/>
          <p:nvPr/>
        </p:nvSpPr>
        <p:spPr>
          <a:xfrm>
            <a:off x="509937" y="1704230"/>
            <a:ext cx="6419700" cy="9600"/>
          </a:xfrm>
          <a:prstGeom prst="rect">
            <a:avLst/>
          </a:prstGeom>
          <a:solidFill>
            <a:srgbClr val="004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4"/>
          <p:cNvSpPr/>
          <p:nvPr/>
        </p:nvSpPr>
        <p:spPr>
          <a:xfrm>
            <a:off x="509937" y="1465213"/>
            <a:ext cx="268800" cy="153300"/>
          </a:xfrm>
          <a:prstGeom prst="rect">
            <a:avLst/>
          </a:prstGeom>
          <a:noFill/>
          <a:ln>
            <a:noFill/>
          </a:ln>
        </p:spPr>
        <p:txBody>
          <a:bodyPr anchorCtr="0" anchor="t" bIns="25400" lIns="25400" spcFirstLastPara="1" rIns="25400" wrap="square" tIns="25400">
            <a:normAutofit/>
          </a:bodyPr>
          <a:lstStyle/>
          <a:p>
            <a:pPr indent="0" lvl="0" marL="0" marR="0" rtl="0" algn="l">
              <a:lnSpc>
                <a:spcPct val="110000"/>
              </a:lnSpc>
              <a:spcBef>
                <a:spcPts val="0"/>
              </a:spcBef>
              <a:spcAft>
                <a:spcPts val="0"/>
              </a:spcAft>
              <a:buClr>
                <a:srgbClr val="0047AB"/>
              </a:buClr>
              <a:buSzPts val="825"/>
              <a:buFont typeface="Inter"/>
              <a:buNone/>
            </a:pPr>
            <a:r>
              <a:rPr b="1" i="0" lang="en-US" sz="825" u="none" cap="none" strike="noStrike">
                <a:solidFill>
                  <a:srgbClr val="0047AB"/>
                </a:solidFill>
                <a:latin typeface="Inter"/>
                <a:ea typeface="Inter"/>
                <a:cs typeface="Inter"/>
                <a:sym typeface="Inter"/>
              </a:rPr>
              <a:t>0</a:t>
            </a:r>
            <a:r>
              <a:rPr b="1" lang="en-US" sz="825">
                <a:solidFill>
                  <a:srgbClr val="0047AB"/>
                </a:solidFill>
              </a:rPr>
              <a:t>2</a:t>
            </a:r>
            <a:endParaRPr b="0" i="0" sz="825" u="none" cap="none" strike="noStrike">
              <a:solidFill>
                <a:schemeClr val="dk1"/>
              </a:solidFill>
              <a:latin typeface="Inter"/>
              <a:ea typeface="Inter"/>
              <a:cs typeface="Inter"/>
              <a:sym typeface="Inter"/>
            </a:endParaRPr>
          </a:p>
        </p:txBody>
      </p:sp>
      <p:sp>
        <p:nvSpPr>
          <p:cNvPr id="134" name="Google Shape;134;p4"/>
          <p:cNvSpPr/>
          <p:nvPr/>
        </p:nvSpPr>
        <p:spPr>
          <a:xfrm>
            <a:off x="854995" y="1336625"/>
            <a:ext cx="3183600" cy="310500"/>
          </a:xfrm>
          <a:prstGeom prst="rect">
            <a:avLst/>
          </a:prstGeom>
          <a:noFill/>
          <a:ln>
            <a:noFill/>
          </a:ln>
        </p:spPr>
        <p:txBody>
          <a:bodyPr anchorCtr="0" anchor="t" bIns="25400" lIns="25400" spcFirstLastPara="1" rIns="25400" wrap="square" tIns="25400">
            <a:normAutofit/>
          </a:bodyPr>
          <a:lstStyle/>
          <a:p>
            <a:pPr indent="0" lvl="0" marL="0" marR="0" rtl="0" algn="l">
              <a:lnSpc>
                <a:spcPct val="110000"/>
              </a:lnSpc>
              <a:spcBef>
                <a:spcPts val="0"/>
              </a:spcBef>
              <a:spcAft>
                <a:spcPts val="0"/>
              </a:spcAft>
              <a:buClr>
                <a:srgbClr val="0E1320"/>
              </a:buClr>
              <a:buSzPts val="1950"/>
              <a:buFont typeface="Inter"/>
              <a:buNone/>
            </a:pPr>
            <a:r>
              <a:rPr b="0" i="0" lang="en-US" sz="1950" u="none" cap="none" strike="noStrike">
                <a:solidFill>
                  <a:srgbClr val="0E1320"/>
                </a:solidFill>
                <a:latin typeface="Inter"/>
                <a:ea typeface="Inter"/>
                <a:cs typeface="Inter"/>
                <a:sym typeface="Inter"/>
              </a:rPr>
              <a:t>Proposed Solution &amp; Flows</a:t>
            </a:r>
            <a:endParaRPr b="0" i="0" sz="1950" u="none" cap="none" strike="noStrike">
              <a:solidFill>
                <a:schemeClr val="dk1"/>
              </a:solidFill>
              <a:latin typeface="Inter"/>
              <a:ea typeface="Inter"/>
              <a:cs typeface="Inter"/>
              <a:sym typeface="Inter"/>
            </a:endParaRPr>
          </a:p>
        </p:txBody>
      </p:sp>
      <p:sp>
        <p:nvSpPr>
          <p:cNvPr id="135" name="Google Shape;135;p4"/>
          <p:cNvSpPr/>
          <p:nvPr/>
        </p:nvSpPr>
        <p:spPr>
          <a:xfrm>
            <a:off x="509937" y="1904255"/>
            <a:ext cx="6612300" cy="431100"/>
          </a:xfrm>
          <a:prstGeom prst="rect">
            <a:avLst/>
          </a:prstGeom>
          <a:noFill/>
          <a:ln>
            <a:noFill/>
          </a:ln>
        </p:spPr>
        <p:txBody>
          <a:bodyPr anchorCtr="0" anchor="t" bIns="25400" lIns="25400" spcFirstLastPara="1" rIns="25400" wrap="square" tIns="25400">
            <a:normAutofit/>
          </a:bodyPr>
          <a:lstStyle/>
          <a:p>
            <a:pPr indent="0" lvl="0" marL="0" marR="0" rtl="0" algn="l">
              <a:lnSpc>
                <a:spcPct val="165000"/>
              </a:lnSpc>
              <a:spcBef>
                <a:spcPts val="0"/>
              </a:spcBef>
              <a:spcAft>
                <a:spcPts val="0"/>
              </a:spcAft>
              <a:buClr>
                <a:srgbClr val="374151"/>
              </a:buClr>
              <a:buSzPts val="938"/>
              <a:buFont typeface="Inter"/>
              <a:buNone/>
            </a:pPr>
            <a:r>
              <a:rPr b="0" i="0" lang="en-US" sz="938" u="none" cap="none" strike="noStrike">
                <a:solidFill>
                  <a:srgbClr val="374151"/>
                </a:solidFill>
                <a:latin typeface="Inter"/>
                <a:ea typeface="Inter"/>
                <a:cs typeface="Inter"/>
                <a:sym typeface="Inter"/>
              </a:rPr>
              <a:t>The solution is organized around two operating flows. Both share the same validation and audit layer, but differ in how submissions arrive and how errors are returned to the employer.</a:t>
            </a:r>
            <a:endParaRPr b="0" i="0" sz="938" u="none" cap="none" strike="noStrike">
              <a:solidFill>
                <a:schemeClr val="dk1"/>
              </a:solidFill>
              <a:latin typeface="Inter"/>
              <a:ea typeface="Inter"/>
              <a:cs typeface="Inter"/>
              <a:sym typeface="Inter"/>
            </a:endParaRPr>
          </a:p>
        </p:txBody>
      </p:sp>
      <p:sp>
        <p:nvSpPr>
          <p:cNvPr id="136" name="Google Shape;136;p4"/>
          <p:cNvSpPr/>
          <p:nvPr/>
        </p:nvSpPr>
        <p:spPr>
          <a:xfrm>
            <a:off x="509937" y="2487662"/>
            <a:ext cx="6419700" cy="2867100"/>
          </a:xfrm>
          <a:prstGeom prst="roundRect">
            <a:avLst>
              <a:gd fmla="val 2658" name="adj"/>
            </a:avLst>
          </a:prstGeom>
          <a:solidFill>
            <a:srgbClr val="FFFFFF"/>
          </a:solidFill>
          <a:ln cap="flat" cmpd="sng" w="9525">
            <a:solidFill>
              <a:srgbClr val="E2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4"/>
          <p:cNvSpPr/>
          <p:nvPr/>
        </p:nvSpPr>
        <p:spPr>
          <a:xfrm>
            <a:off x="519462" y="2497187"/>
            <a:ext cx="6400800" cy="480900"/>
          </a:xfrm>
          <a:prstGeom prst="rect">
            <a:avLst/>
          </a:prstGeom>
          <a:solidFill>
            <a:srgbClr val="F7F8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4"/>
          <p:cNvSpPr/>
          <p:nvPr/>
        </p:nvSpPr>
        <p:spPr>
          <a:xfrm>
            <a:off x="519462" y="2968674"/>
            <a:ext cx="6400800" cy="9600"/>
          </a:xfrm>
          <a:prstGeom prst="rect">
            <a:avLst/>
          </a:prstGeom>
          <a:solidFill>
            <a:srgbClr val="004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4"/>
          <p:cNvSpPr/>
          <p:nvPr/>
        </p:nvSpPr>
        <p:spPr>
          <a:xfrm>
            <a:off x="690912" y="2630537"/>
            <a:ext cx="628500" cy="204900"/>
          </a:xfrm>
          <a:prstGeom prst="roundRect">
            <a:avLst>
              <a:gd fmla="val 13953" name="adj"/>
            </a:avLst>
          </a:prstGeom>
          <a:solidFill>
            <a:srgbClr val="004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4"/>
          <p:cNvSpPr/>
          <p:nvPr/>
        </p:nvSpPr>
        <p:spPr>
          <a:xfrm>
            <a:off x="786162" y="2667459"/>
            <a:ext cx="514200" cy="1476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713"/>
              <a:buFont typeface="Inter"/>
              <a:buNone/>
            </a:pPr>
            <a:r>
              <a:rPr b="1" i="0" lang="en-US" sz="713" u="none" cap="none" strike="noStrike">
                <a:solidFill>
                  <a:srgbClr val="FFFFFF"/>
                </a:solidFill>
                <a:latin typeface="Inter"/>
                <a:ea typeface="Inter"/>
                <a:cs typeface="Inter"/>
                <a:sym typeface="Inter"/>
              </a:rPr>
              <a:t>FLOW 1</a:t>
            </a:r>
            <a:endParaRPr b="0" i="0" sz="713" u="none" cap="none" strike="noStrike">
              <a:solidFill>
                <a:schemeClr val="dk1"/>
              </a:solidFill>
              <a:latin typeface="Inter"/>
              <a:ea typeface="Inter"/>
              <a:cs typeface="Inter"/>
              <a:sym typeface="Inter"/>
            </a:endParaRPr>
          </a:p>
        </p:txBody>
      </p:sp>
      <p:sp>
        <p:nvSpPr>
          <p:cNvPr id="141" name="Google Shape;141;p4"/>
          <p:cNvSpPr/>
          <p:nvPr/>
        </p:nvSpPr>
        <p:spPr>
          <a:xfrm>
            <a:off x="1433639" y="2640062"/>
            <a:ext cx="2103900" cy="2238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E1320"/>
              </a:buClr>
              <a:buSzPts val="1200"/>
              <a:buFont typeface="Inter"/>
              <a:buNone/>
            </a:pPr>
            <a:r>
              <a:rPr b="1" i="0" lang="en-US" sz="1200" u="none" cap="none" strike="noStrike">
                <a:solidFill>
                  <a:srgbClr val="0E1320"/>
                </a:solidFill>
                <a:latin typeface="Inter"/>
                <a:ea typeface="Inter"/>
                <a:cs typeface="Inter"/>
                <a:sym typeface="Inter"/>
              </a:rPr>
              <a:t>Mailbox, validation, PAS API</a:t>
            </a:r>
            <a:endParaRPr b="0" i="0" sz="1200" u="none" cap="none" strike="noStrike">
              <a:solidFill>
                <a:schemeClr val="dk1"/>
              </a:solidFill>
              <a:latin typeface="Inter"/>
              <a:ea typeface="Inter"/>
              <a:cs typeface="Inter"/>
              <a:sym typeface="Inter"/>
            </a:endParaRPr>
          </a:p>
        </p:txBody>
      </p:sp>
      <p:sp>
        <p:nvSpPr>
          <p:cNvPr id="142" name="Google Shape;142;p4"/>
          <p:cNvSpPr/>
          <p:nvPr/>
        </p:nvSpPr>
        <p:spPr>
          <a:xfrm>
            <a:off x="4365478" y="2678162"/>
            <a:ext cx="2459400" cy="147600"/>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6B7686"/>
              </a:buClr>
              <a:buSzPts val="750"/>
              <a:buFont typeface="Inter"/>
              <a:buNone/>
            </a:pPr>
            <a:r>
              <a:rPr b="0" i="0" lang="en-US" sz="750" u="none" cap="none" strike="noStrike">
                <a:solidFill>
                  <a:srgbClr val="6B7686"/>
                </a:solidFill>
                <a:latin typeface="Inter"/>
                <a:ea typeface="Inter"/>
                <a:cs typeface="Inter"/>
                <a:sym typeface="Inter"/>
              </a:rPr>
              <a:t>Designed for </a:t>
            </a:r>
            <a:r>
              <a:rPr b="0" i="0" lang="en-US" sz="750" u="none" cap="none" strike="noStrike">
                <a:solidFill>
                  <a:srgbClr val="6B7686"/>
                </a:solidFill>
                <a:latin typeface="Inter"/>
                <a:ea typeface="Inter"/>
                <a:cs typeface="Inter"/>
                <a:sym typeface="Inter"/>
              </a:rPr>
              <a:t>employers</a:t>
            </a:r>
            <a:r>
              <a:rPr b="0" i="0" lang="en-US" sz="750" u="none" cap="none" strike="noStrike">
                <a:solidFill>
                  <a:srgbClr val="6B7686"/>
                </a:solidFill>
                <a:latin typeface="Inter"/>
                <a:ea typeface="Inter"/>
                <a:cs typeface="Inter"/>
                <a:sym typeface="Inter"/>
              </a:rPr>
              <a:t> who submit by email today</a:t>
            </a:r>
            <a:endParaRPr b="0" i="0" sz="750" u="none" cap="none" strike="noStrike">
              <a:solidFill>
                <a:schemeClr val="dk1"/>
              </a:solidFill>
              <a:latin typeface="Inter"/>
              <a:ea typeface="Inter"/>
              <a:cs typeface="Inter"/>
              <a:sym typeface="Inter"/>
            </a:endParaRPr>
          </a:p>
        </p:txBody>
      </p:sp>
      <p:sp>
        <p:nvSpPr>
          <p:cNvPr id="143" name="Google Shape;143;p4"/>
          <p:cNvSpPr/>
          <p:nvPr/>
        </p:nvSpPr>
        <p:spPr>
          <a:xfrm>
            <a:off x="690912" y="3144887"/>
            <a:ext cx="1124100" cy="1476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047AB"/>
              </a:buClr>
              <a:buSzPts val="713"/>
              <a:buFont typeface="Inter"/>
              <a:buNone/>
            </a:pPr>
            <a:r>
              <a:rPr b="1" i="0" lang="en-US" sz="713" u="none" cap="none" strike="noStrike">
                <a:solidFill>
                  <a:srgbClr val="0047AB"/>
                </a:solidFill>
                <a:latin typeface="Inter"/>
                <a:ea typeface="Inter"/>
                <a:cs typeface="Inter"/>
                <a:sym typeface="Inter"/>
              </a:rPr>
              <a:t>ENTRY</a:t>
            </a:r>
            <a:endParaRPr b="0" i="0" sz="713" u="none" cap="none" strike="noStrike">
              <a:solidFill>
                <a:schemeClr val="dk1"/>
              </a:solidFill>
              <a:latin typeface="Inter"/>
              <a:ea typeface="Inter"/>
              <a:cs typeface="Inter"/>
              <a:sym typeface="Inter"/>
            </a:endParaRPr>
          </a:p>
        </p:txBody>
      </p:sp>
      <p:sp>
        <p:nvSpPr>
          <p:cNvPr id="144" name="Google Shape;144;p4"/>
          <p:cNvSpPr/>
          <p:nvPr/>
        </p:nvSpPr>
        <p:spPr>
          <a:xfrm>
            <a:off x="1872012" y="3111549"/>
            <a:ext cx="5023200" cy="2025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0E1320"/>
              </a:buClr>
              <a:buSzPts val="863"/>
              <a:buFont typeface="Inter"/>
              <a:buNone/>
            </a:pPr>
            <a:r>
              <a:rPr b="1" i="0" lang="en-US" sz="863" u="none" cap="none" strike="noStrike">
                <a:solidFill>
                  <a:srgbClr val="0E1320"/>
                </a:solidFill>
                <a:latin typeface="Inter"/>
                <a:ea typeface="Inter"/>
                <a:cs typeface="Inter"/>
                <a:sym typeface="Inter"/>
              </a:rPr>
              <a:t>Employer mailbox </a:t>
            </a:r>
            <a:r>
              <a:rPr b="0" i="0" lang="en-US" sz="863" u="none" cap="none" strike="noStrike">
                <a:solidFill>
                  <a:srgbClr val="374151"/>
                </a:solidFill>
                <a:latin typeface="Inter"/>
                <a:ea typeface="Inter"/>
                <a:cs typeface="Inter"/>
                <a:sym typeface="Inter"/>
              </a:rPr>
              <a:t>on Microsoft 365. Submissions arrive as email with attached contribution files.</a:t>
            </a:r>
            <a:endParaRPr b="0" i="0" sz="863" u="none" cap="none" strike="noStrike">
              <a:solidFill>
                <a:schemeClr val="dk1"/>
              </a:solidFill>
              <a:latin typeface="Inter"/>
              <a:ea typeface="Inter"/>
              <a:cs typeface="Inter"/>
              <a:sym typeface="Inter"/>
            </a:endParaRPr>
          </a:p>
        </p:txBody>
      </p:sp>
      <p:sp>
        <p:nvSpPr>
          <p:cNvPr id="145" name="Google Shape;145;p4"/>
          <p:cNvSpPr/>
          <p:nvPr/>
        </p:nvSpPr>
        <p:spPr>
          <a:xfrm>
            <a:off x="690912" y="3433018"/>
            <a:ext cx="1124100" cy="1476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047AB"/>
              </a:buClr>
              <a:buSzPts val="713"/>
              <a:buFont typeface="Inter"/>
              <a:buNone/>
            </a:pPr>
            <a:r>
              <a:rPr b="1" i="0" lang="en-US" sz="713" u="none" cap="none" strike="noStrike">
                <a:solidFill>
                  <a:srgbClr val="0047AB"/>
                </a:solidFill>
                <a:latin typeface="Inter"/>
                <a:ea typeface="Inter"/>
                <a:cs typeface="Inter"/>
                <a:sym typeface="Inter"/>
              </a:rPr>
              <a:t>PATH</a:t>
            </a:r>
            <a:endParaRPr b="0" i="0" sz="713" u="none" cap="none" strike="noStrike">
              <a:solidFill>
                <a:schemeClr val="dk1"/>
              </a:solidFill>
              <a:latin typeface="Inter"/>
              <a:ea typeface="Inter"/>
              <a:cs typeface="Inter"/>
              <a:sym typeface="Inter"/>
            </a:endParaRPr>
          </a:p>
        </p:txBody>
      </p:sp>
      <p:sp>
        <p:nvSpPr>
          <p:cNvPr id="146" name="Google Shape;146;p4"/>
          <p:cNvSpPr/>
          <p:nvPr/>
        </p:nvSpPr>
        <p:spPr>
          <a:xfrm>
            <a:off x="1872012" y="3371105"/>
            <a:ext cx="534600" cy="228600"/>
          </a:xfrm>
          <a:prstGeom prst="roundRect">
            <a:avLst>
              <a:gd fmla="val 12500" name="adj"/>
            </a:avLst>
          </a:prstGeom>
          <a:solidFill>
            <a:srgbClr val="F7F8FA"/>
          </a:solidFill>
          <a:ln cap="flat" cmpd="sng" w="9525">
            <a:solidFill>
              <a:srgbClr val="E2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4"/>
          <p:cNvSpPr/>
          <p:nvPr/>
        </p:nvSpPr>
        <p:spPr>
          <a:xfrm>
            <a:off x="1957737" y="3418730"/>
            <a:ext cx="439200" cy="171600"/>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374151"/>
              </a:buClr>
              <a:buSzPts val="750"/>
              <a:buFont typeface="Inter"/>
              <a:buNone/>
            </a:pPr>
            <a:r>
              <a:rPr b="0" i="0" lang="en-US" sz="750" u="none" cap="none" strike="noStrike">
                <a:solidFill>
                  <a:srgbClr val="374151"/>
                </a:solidFill>
                <a:latin typeface="Inter"/>
                <a:ea typeface="Inter"/>
                <a:cs typeface="Inter"/>
                <a:sym typeface="Inter"/>
              </a:rPr>
              <a:t>Mailbox</a:t>
            </a:r>
            <a:endParaRPr b="0" i="0" sz="750" u="none" cap="none" strike="noStrike">
              <a:solidFill>
                <a:schemeClr val="dk1"/>
              </a:solidFill>
              <a:latin typeface="Inter"/>
              <a:ea typeface="Inter"/>
              <a:cs typeface="Inter"/>
              <a:sym typeface="Inter"/>
            </a:endParaRPr>
          </a:p>
        </p:txBody>
      </p:sp>
      <p:sp>
        <p:nvSpPr>
          <p:cNvPr id="148" name="Google Shape;148;p4"/>
          <p:cNvSpPr/>
          <p:nvPr/>
        </p:nvSpPr>
        <p:spPr>
          <a:xfrm>
            <a:off x="2463753" y="3418730"/>
            <a:ext cx="120600" cy="1716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9AA4B2"/>
              </a:buClr>
              <a:buSzPts val="1050"/>
              <a:buFont typeface="Inter"/>
              <a:buNone/>
            </a:pPr>
            <a:r>
              <a:rPr b="0" i="0" lang="en-US" sz="1050" u="none" cap="none" strike="noStrike">
                <a:solidFill>
                  <a:srgbClr val="9AA4B2"/>
                </a:solidFill>
                <a:latin typeface="Inter"/>
                <a:ea typeface="Inter"/>
                <a:cs typeface="Inter"/>
                <a:sym typeface="Inter"/>
              </a:rPr>
              <a:t>›</a:t>
            </a:r>
            <a:endParaRPr b="0" i="0" sz="1050" u="none" cap="none" strike="noStrike">
              <a:solidFill>
                <a:schemeClr val="dk1"/>
              </a:solidFill>
              <a:latin typeface="Inter"/>
              <a:ea typeface="Inter"/>
              <a:cs typeface="Inter"/>
              <a:sym typeface="Inter"/>
            </a:endParaRPr>
          </a:p>
        </p:txBody>
      </p:sp>
      <p:sp>
        <p:nvSpPr>
          <p:cNvPr id="149" name="Google Shape;149;p4"/>
          <p:cNvSpPr/>
          <p:nvPr/>
        </p:nvSpPr>
        <p:spPr>
          <a:xfrm>
            <a:off x="2565328" y="3371105"/>
            <a:ext cx="936900" cy="228600"/>
          </a:xfrm>
          <a:prstGeom prst="roundRect">
            <a:avLst>
              <a:gd fmla="val 12500" name="adj"/>
            </a:avLst>
          </a:prstGeom>
          <a:solidFill>
            <a:srgbClr val="F7F8FA"/>
          </a:solidFill>
          <a:ln cap="flat" cmpd="sng" w="9525">
            <a:solidFill>
              <a:srgbClr val="E2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4"/>
          <p:cNvSpPr/>
          <p:nvPr/>
        </p:nvSpPr>
        <p:spPr>
          <a:xfrm>
            <a:off x="2651053" y="3418730"/>
            <a:ext cx="841500" cy="171600"/>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374151"/>
              </a:buClr>
              <a:buSzPts val="750"/>
              <a:buFont typeface="Inter"/>
              <a:buNone/>
            </a:pPr>
            <a:r>
              <a:rPr b="0" i="0" lang="en-US" sz="750" u="none" cap="none" strike="noStrike">
                <a:solidFill>
                  <a:srgbClr val="374151"/>
                </a:solidFill>
                <a:latin typeface="Inter"/>
                <a:ea typeface="Inter"/>
                <a:cs typeface="Inter"/>
                <a:sym typeface="Inter"/>
              </a:rPr>
              <a:t>Power Automate</a:t>
            </a:r>
            <a:endParaRPr b="0" i="0" sz="750" u="none" cap="none" strike="noStrike">
              <a:solidFill>
                <a:schemeClr val="dk1"/>
              </a:solidFill>
              <a:latin typeface="Inter"/>
              <a:ea typeface="Inter"/>
              <a:cs typeface="Inter"/>
              <a:sym typeface="Inter"/>
            </a:endParaRPr>
          </a:p>
        </p:txBody>
      </p:sp>
      <p:sp>
        <p:nvSpPr>
          <p:cNvPr id="151" name="Google Shape;151;p4"/>
          <p:cNvSpPr/>
          <p:nvPr/>
        </p:nvSpPr>
        <p:spPr>
          <a:xfrm>
            <a:off x="3559276" y="3418730"/>
            <a:ext cx="120600" cy="1716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9AA4B2"/>
              </a:buClr>
              <a:buSzPts val="1050"/>
              <a:buFont typeface="Inter"/>
              <a:buNone/>
            </a:pPr>
            <a:r>
              <a:rPr b="0" i="0" lang="en-US" sz="1050" u="none" cap="none" strike="noStrike">
                <a:solidFill>
                  <a:srgbClr val="9AA4B2"/>
                </a:solidFill>
                <a:latin typeface="Inter"/>
                <a:ea typeface="Inter"/>
                <a:cs typeface="Inter"/>
                <a:sym typeface="Inter"/>
              </a:rPr>
              <a:t>›</a:t>
            </a:r>
            <a:endParaRPr b="0" i="0" sz="1050" u="none" cap="none" strike="noStrike">
              <a:solidFill>
                <a:schemeClr val="dk1"/>
              </a:solidFill>
              <a:latin typeface="Inter"/>
              <a:ea typeface="Inter"/>
              <a:cs typeface="Inter"/>
              <a:sym typeface="Inter"/>
            </a:endParaRPr>
          </a:p>
        </p:txBody>
      </p:sp>
      <p:sp>
        <p:nvSpPr>
          <p:cNvPr id="152" name="Google Shape;152;p4"/>
          <p:cNvSpPr/>
          <p:nvPr/>
        </p:nvSpPr>
        <p:spPr>
          <a:xfrm>
            <a:off x="3660852" y="3371105"/>
            <a:ext cx="830400" cy="228600"/>
          </a:xfrm>
          <a:prstGeom prst="roundRect">
            <a:avLst>
              <a:gd fmla="val 12500" name="adj"/>
            </a:avLst>
          </a:prstGeom>
          <a:solidFill>
            <a:srgbClr val="F7F8FA"/>
          </a:solidFill>
          <a:ln cap="flat" cmpd="sng" w="9525">
            <a:solidFill>
              <a:srgbClr val="E2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4"/>
          <p:cNvSpPr/>
          <p:nvPr/>
        </p:nvSpPr>
        <p:spPr>
          <a:xfrm>
            <a:off x="3746577" y="3418730"/>
            <a:ext cx="735000" cy="171600"/>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374151"/>
              </a:buClr>
              <a:buSzPts val="750"/>
              <a:buFont typeface="Inter"/>
              <a:buNone/>
            </a:pPr>
            <a:r>
              <a:rPr b="0" i="0" lang="en-US" sz="750" u="none" cap="none" strike="noStrike">
                <a:solidFill>
                  <a:srgbClr val="374151"/>
                </a:solidFill>
                <a:latin typeface="Inter"/>
                <a:ea typeface="Inter"/>
                <a:cs typeface="Inter"/>
                <a:sym typeface="Inter"/>
              </a:rPr>
              <a:t>AI email agent</a:t>
            </a:r>
            <a:endParaRPr b="0" i="0" sz="750" u="none" cap="none" strike="noStrike">
              <a:solidFill>
                <a:schemeClr val="dk1"/>
              </a:solidFill>
              <a:latin typeface="Inter"/>
              <a:ea typeface="Inter"/>
              <a:cs typeface="Inter"/>
              <a:sym typeface="Inter"/>
            </a:endParaRPr>
          </a:p>
        </p:txBody>
      </p:sp>
      <p:sp>
        <p:nvSpPr>
          <p:cNvPr id="154" name="Google Shape;154;p4"/>
          <p:cNvSpPr/>
          <p:nvPr/>
        </p:nvSpPr>
        <p:spPr>
          <a:xfrm>
            <a:off x="4548388" y="3418730"/>
            <a:ext cx="120600" cy="1716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9AA4B2"/>
              </a:buClr>
              <a:buSzPts val="1050"/>
              <a:buFont typeface="Inter"/>
              <a:buNone/>
            </a:pPr>
            <a:r>
              <a:rPr b="0" i="0" lang="en-US" sz="1050" u="none" cap="none" strike="noStrike">
                <a:solidFill>
                  <a:srgbClr val="9AA4B2"/>
                </a:solidFill>
                <a:latin typeface="Inter"/>
                <a:ea typeface="Inter"/>
                <a:cs typeface="Inter"/>
                <a:sym typeface="Inter"/>
              </a:rPr>
              <a:t>›</a:t>
            </a:r>
            <a:endParaRPr b="0" i="0" sz="1050" u="none" cap="none" strike="noStrike">
              <a:solidFill>
                <a:schemeClr val="dk1"/>
              </a:solidFill>
              <a:latin typeface="Inter"/>
              <a:ea typeface="Inter"/>
              <a:cs typeface="Inter"/>
              <a:sym typeface="Inter"/>
            </a:endParaRPr>
          </a:p>
        </p:txBody>
      </p:sp>
      <p:sp>
        <p:nvSpPr>
          <p:cNvPr id="155" name="Google Shape;155;p4"/>
          <p:cNvSpPr/>
          <p:nvPr/>
        </p:nvSpPr>
        <p:spPr>
          <a:xfrm>
            <a:off x="4649963" y="3371105"/>
            <a:ext cx="872700" cy="228600"/>
          </a:xfrm>
          <a:prstGeom prst="roundRect">
            <a:avLst>
              <a:gd fmla="val 12500" name="adj"/>
            </a:avLst>
          </a:prstGeom>
          <a:solidFill>
            <a:srgbClr val="0047AB"/>
          </a:solidFill>
          <a:ln cap="flat" cmpd="sng" w="9525">
            <a:solidFill>
              <a:srgbClr val="0047A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4"/>
          <p:cNvSpPr/>
          <p:nvPr/>
        </p:nvSpPr>
        <p:spPr>
          <a:xfrm>
            <a:off x="4724986" y="3408027"/>
            <a:ext cx="777600" cy="171600"/>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FFFFFF"/>
              </a:buClr>
              <a:buSzPts val="750"/>
              <a:buFont typeface="Inter"/>
              <a:buNone/>
            </a:pPr>
            <a:r>
              <a:rPr b="1" i="0" lang="en-US" sz="750" u="none" cap="none" strike="noStrike">
                <a:solidFill>
                  <a:srgbClr val="FFFFFF"/>
                </a:solidFill>
                <a:latin typeface="Inter"/>
                <a:ea typeface="Inter"/>
                <a:cs typeface="Inter"/>
                <a:sym typeface="Inter"/>
              </a:rPr>
              <a:t>Validation core</a:t>
            </a:r>
            <a:endParaRPr b="0" i="0" sz="750" u="none" cap="none" strike="noStrike">
              <a:solidFill>
                <a:schemeClr val="dk1"/>
              </a:solidFill>
              <a:latin typeface="Inter"/>
              <a:ea typeface="Inter"/>
              <a:cs typeface="Inter"/>
              <a:sym typeface="Inter"/>
            </a:endParaRPr>
          </a:p>
        </p:txBody>
      </p:sp>
      <p:sp>
        <p:nvSpPr>
          <p:cNvPr id="157" name="Google Shape;157;p4"/>
          <p:cNvSpPr/>
          <p:nvPr/>
        </p:nvSpPr>
        <p:spPr>
          <a:xfrm>
            <a:off x="5579841" y="3418730"/>
            <a:ext cx="120600" cy="1716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9AA4B2"/>
              </a:buClr>
              <a:buSzPts val="1050"/>
              <a:buFont typeface="Inter"/>
              <a:buNone/>
            </a:pPr>
            <a:r>
              <a:rPr b="0" i="0" lang="en-US" sz="1050" u="none" cap="none" strike="noStrike">
                <a:solidFill>
                  <a:srgbClr val="9AA4B2"/>
                </a:solidFill>
                <a:latin typeface="Inter"/>
                <a:ea typeface="Inter"/>
                <a:cs typeface="Inter"/>
                <a:sym typeface="Inter"/>
              </a:rPr>
              <a:t>›</a:t>
            </a:r>
            <a:endParaRPr b="0" i="0" sz="1050" u="none" cap="none" strike="noStrike">
              <a:solidFill>
                <a:schemeClr val="dk1"/>
              </a:solidFill>
              <a:latin typeface="Inter"/>
              <a:ea typeface="Inter"/>
              <a:cs typeface="Inter"/>
              <a:sym typeface="Inter"/>
            </a:endParaRPr>
          </a:p>
        </p:txBody>
      </p:sp>
      <p:sp>
        <p:nvSpPr>
          <p:cNvPr id="158" name="Google Shape;158;p4"/>
          <p:cNvSpPr/>
          <p:nvPr/>
        </p:nvSpPr>
        <p:spPr>
          <a:xfrm>
            <a:off x="1872012" y="3637805"/>
            <a:ext cx="1186500" cy="228600"/>
          </a:xfrm>
          <a:prstGeom prst="roundRect">
            <a:avLst>
              <a:gd fmla="val 12500" name="adj"/>
            </a:avLst>
          </a:prstGeom>
          <a:solidFill>
            <a:srgbClr val="F7F8FA"/>
          </a:solidFill>
          <a:ln cap="flat" cmpd="sng" w="9525">
            <a:solidFill>
              <a:srgbClr val="E2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4"/>
          <p:cNvSpPr/>
          <p:nvPr/>
        </p:nvSpPr>
        <p:spPr>
          <a:xfrm>
            <a:off x="1957737" y="3685430"/>
            <a:ext cx="1091100" cy="171600"/>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374151"/>
              </a:buClr>
              <a:buSzPts val="750"/>
              <a:buFont typeface="Inter"/>
              <a:buNone/>
            </a:pPr>
            <a:r>
              <a:rPr b="0" i="0" lang="en-US" sz="750" u="none" cap="none" strike="noStrike">
                <a:solidFill>
                  <a:srgbClr val="374151"/>
                </a:solidFill>
                <a:latin typeface="Inter"/>
                <a:ea typeface="Inter"/>
                <a:cs typeface="Inter"/>
                <a:sym typeface="Inter"/>
              </a:rPr>
              <a:t>Historical comparison</a:t>
            </a:r>
            <a:endParaRPr b="0" i="0" sz="750" u="none" cap="none" strike="noStrike">
              <a:solidFill>
                <a:schemeClr val="dk1"/>
              </a:solidFill>
              <a:latin typeface="Inter"/>
              <a:ea typeface="Inter"/>
              <a:cs typeface="Inter"/>
              <a:sym typeface="Inter"/>
            </a:endParaRPr>
          </a:p>
        </p:txBody>
      </p:sp>
      <p:sp>
        <p:nvSpPr>
          <p:cNvPr id="160" name="Google Shape;160;p4"/>
          <p:cNvSpPr/>
          <p:nvPr/>
        </p:nvSpPr>
        <p:spPr>
          <a:xfrm>
            <a:off x="3115545" y="3685430"/>
            <a:ext cx="120600" cy="1716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9AA4B2"/>
              </a:buClr>
              <a:buSzPts val="1050"/>
              <a:buFont typeface="Inter"/>
              <a:buNone/>
            </a:pPr>
            <a:r>
              <a:rPr b="0" i="0" lang="en-US" sz="1050" u="none" cap="none" strike="noStrike">
                <a:solidFill>
                  <a:srgbClr val="9AA4B2"/>
                </a:solidFill>
                <a:latin typeface="Inter"/>
                <a:ea typeface="Inter"/>
                <a:cs typeface="Inter"/>
                <a:sym typeface="Inter"/>
              </a:rPr>
              <a:t>›</a:t>
            </a:r>
            <a:endParaRPr b="0" i="0" sz="1050" u="none" cap="none" strike="noStrike">
              <a:solidFill>
                <a:schemeClr val="dk1"/>
              </a:solidFill>
              <a:latin typeface="Inter"/>
              <a:ea typeface="Inter"/>
              <a:cs typeface="Inter"/>
              <a:sym typeface="Inter"/>
            </a:endParaRPr>
          </a:p>
        </p:txBody>
      </p:sp>
      <p:sp>
        <p:nvSpPr>
          <p:cNvPr id="161" name="Google Shape;161;p4"/>
          <p:cNvSpPr/>
          <p:nvPr/>
        </p:nvSpPr>
        <p:spPr>
          <a:xfrm>
            <a:off x="3217121" y="3637805"/>
            <a:ext cx="543300" cy="228600"/>
          </a:xfrm>
          <a:prstGeom prst="roundRect">
            <a:avLst>
              <a:gd fmla="val 12500" name="adj"/>
            </a:avLst>
          </a:prstGeom>
          <a:solidFill>
            <a:srgbClr val="0047AB"/>
          </a:solidFill>
          <a:ln cap="flat" cmpd="sng" w="9525">
            <a:solidFill>
              <a:srgbClr val="0047A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4"/>
          <p:cNvSpPr/>
          <p:nvPr/>
        </p:nvSpPr>
        <p:spPr>
          <a:xfrm>
            <a:off x="3281441" y="3674727"/>
            <a:ext cx="448200" cy="171600"/>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FFFFFF"/>
              </a:buClr>
              <a:buSzPts val="750"/>
              <a:buFont typeface="Inter"/>
              <a:buNone/>
            </a:pPr>
            <a:r>
              <a:rPr b="1" i="0" lang="en-US" sz="750" u="none" cap="none" strike="noStrike">
                <a:solidFill>
                  <a:srgbClr val="FFFFFF"/>
                </a:solidFill>
                <a:latin typeface="Inter"/>
                <a:ea typeface="Inter"/>
                <a:cs typeface="Inter"/>
                <a:sym typeface="Inter"/>
              </a:rPr>
              <a:t>PAS API</a:t>
            </a:r>
            <a:endParaRPr b="0" i="0" sz="750" u="none" cap="none" strike="noStrike">
              <a:solidFill>
                <a:schemeClr val="dk1"/>
              </a:solidFill>
              <a:latin typeface="Inter"/>
              <a:ea typeface="Inter"/>
              <a:cs typeface="Inter"/>
              <a:sym typeface="Inter"/>
            </a:endParaRPr>
          </a:p>
        </p:txBody>
      </p:sp>
      <p:sp>
        <p:nvSpPr>
          <p:cNvPr id="163" name="Google Shape;163;p4"/>
          <p:cNvSpPr/>
          <p:nvPr/>
        </p:nvSpPr>
        <p:spPr>
          <a:xfrm>
            <a:off x="690912" y="3994993"/>
            <a:ext cx="1124100" cy="1476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047AB"/>
              </a:buClr>
              <a:buSzPts val="713"/>
              <a:buFont typeface="Inter"/>
              <a:buNone/>
            </a:pPr>
            <a:r>
              <a:rPr b="1" i="0" lang="en-US" sz="713" u="none" cap="none" strike="noStrike">
                <a:solidFill>
                  <a:srgbClr val="0047AB"/>
                </a:solidFill>
                <a:latin typeface="Inter"/>
                <a:ea typeface="Inter"/>
                <a:cs typeface="Inter"/>
                <a:sym typeface="Inter"/>
              </a:rPr>
              <a:t>RESPONSE</a:t>
            </a:r>
            <a:endParaRPr b="0" i="0" sz="713" u="none" cap="none" strike="noStrike">
              <a:solidFill>
                <a:schemeClr val="dk1"/>
              </a:solidFill>
              <a:latin typeface="Inter"/>
              <a:ea typeface="Inter"/>
              <a:cs typeface="Inter"/>
              <a:sym typeface="Inter"/>
            </a:endParaRPr>
          </a:p>
        </p:txBody>
      </p:sp>
      <p:sp>
        <p:nvSpPr>
          <p:cNvPr id="164" name="Google Shape;164;p4"/>
          <p:cNvSpPr/>
          <p:nvPr/>
        </p:nvSpPr>
        <p:spPr>
          <a:xfrm>
            <a:off x="1872012" y="3961655"/>
            <a:ext cx="5023200" cy="2025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863"/>
              <a:buFont typeface="Inter"/>
              <a:buNone/>
            </a:pPr>
            <a:r>
              <a:rPr b="0" i="0" lang="en-US" sz="863" u="none" cap="none" strike="noStrike">
                <a:solidFill>
                  <a:srgbClr val="374151"/>
                </a:solidFill>
                <a:latin typeface="Inter"/>
                <a:ea typeface="Inter"/>
                <a:cs typeface="Inter"/>
                <a:sym typeface="Inter"/>
              </a:rPr>
              <a:t>Errors and status updates returned to employers by email.</a:t>
            </a:r>
            <a:endParaRPr b="0" i="0" sz="863" u="none" cap="none" strike="noStrike">
              <a:solidFill>
                <a:schemeClr val="dk1"/>
              </a:solidFill>
              <a:latin typeface="Inter"/>
              <a:ea typeface="Inter"/>
              <a:cs typeface="Inter"/>
              <a:sym typeface="Inter"/>
            </a:endParaRPr>
          </a:p>
        </p:txBody>
      </p:sp>
      <p:sp>
        <p:nvSpPr>
          <p:cNvPr id="165" name="Google Shape;165;p4"/>
          <p:cNvSpPr/>
          <p:nvPr/>
        </p:nvSpPr>
        <p:spPr>
          <a:xfrm>
            <a:off x="690912" y="4254549"/>
            <a:ext cx="1124100" cy="1476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047AB"/>
              </a:buClr>
              <a:buSzPts val="713"/>
              <a:buFont typeface="Inter"/>
              <a:buNone/>
            </a:pPr>
            <a:r>
              <a:rPr b="1" i="0" lang="en-US" sz="713" u="none" cap="none" strike="noStrike">
                <a:solidFill>
                  <a:srgbClr val="0047AB"/>
                </a:solidFill>
                <a:latin typeface="Inter"/>
                <a:ea typeface="Inter"/>
                <a:cs typeface="Inter"/>
                <a:sym typeface="Inter"/>
              </a:rPr>
              <a:t>FRS COVERED</a:t>
            </a:r>
            <a:endParaRPr b="0" i="0" sz="713" u="none" cap="none" strike="noStrike">
              <a:solidFill>
                <a:schemeClr val="dk1"/>
              </a:solidFill>
              <a:latin typeface="Inter"/>
              <a:ea typeface="Inter"/>
              <a:cs typeface="Inter"/>
              <a:sym typeface="Inter"/>
            </a:endParaRPr>
          </a:p>
        </p:txBody>
      </p:sp>
      <p:sp>
        <p:nvSpPr>
          <p:cNvPr id="166" name="Google Shape;166;p4"/>
          <p:cNvSpPr/>
          <p:nvPr/>
        </p:nvSpPr>
        <p:spPr>
          <a:xfrm>
            <a:off x="1872012" y="4221212"/>
            <a:ext cx="5023200" cy="3666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0E1320"/>
              </a:buClr>
              <a:buSzPts val="863"/>
              <a:buFont typeface="Inter"/>
              <a:buNone/>
            </a:pPr>
            <a:r>
              <a:rPr b="1" i="0" lang="en-US" sz="863" u="none" cap="none" strike="noStrike">
                <a:solidFill>
                  <a:srgbClr val="0E1320"/>
                </a:solidFill>
                <a:latin typeface="Inter"/>
                <a:ea typeface="Inter"/>
                <a:cs typeface="Inter"/>
                <a:sym typeface="Inter"/>
              </a:rPr>
              <a:t>FR-001 · FR-002 · FR-003 · FR-004 · FR-005 · FR-006 · FR-007 · FR-008 · FR-010 · FR-011</a:t>
            </a:r>
            <a:endParaRPr b="0" i="0" sz="863" u="none" cap="none" strike="noStrike">
              <a:solidFill>
                <a:schemeClr val="dk1"/>
              </a:solidFill>
              <a:latin typeface="Inter"/>
              <a:ea typeface="Inter"/>
              <a:cs typeface="Inter"/>
              <a:sym typeface="Inter"/>
            </a:endParaRPr>
          </a:p>
        </p:txBody>
      </p:sp>
      <p:sp>
        <p:nvSpPr>
          <p:cNvPr id="167" name="Google Shape;167;p4"/>
          <p:cNvSpPr/>
          <p:nvPr/>
        </p:nvSpPr>
        <p:spPr>
          <a:xfrm>
            <a:off x="690900" y="4702225"/>
            <a:ext cx="6134100" cy="480900"/>
          </a:xfrm>
          <a:prstGeom prst="rect">
            <a:avLst/>
          </a:prstGeom>
          <a:solidFill>
            <a:srgbClr val="F7F8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4"/>
          <p:cNvSpPr/>
          <p:nvPr/>
        </p:nvSpPr>
        <p:spPr>
          <a:xfrm>
            <a:off x="690912" y="4702224"/>
            <a:ext cx="19200" cy="490500"/>
          </a:xfrm>
          <a:prstGeom prst="rect">
            <a:avLst/>
          </a:prstGeom>
          <a:solidFill>
            <a:srgbClr val="004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4"/>
          <p:cNvSpPr/>
          <p:nvPr/>
        </p:nvSpPr>
        <p:spPr>
          <a:xfrm>
            <a:off x="824262" y="4797474"/>
            <a:ext cx="5991900" cy="3381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788"/>
              <a:buFont typeface="Inter"/>
              <a:buNone/>
            </a:pPr>
            <a:r>
              <a:rPr b="0" i="0" lang="en-US" sz="788" u="none" cap="none" strike="noStrike">
                <a:solidFill>
                  <a:srgbClr val="374151"/>
                </a:solidFill>
                <a:latin typeface="Inter"/>
                <a:ea typeface="Inter"/>
                <a:cs typeface="Inter"/>
                <a:sym typeface="Inter"/>
              </a:rPr>
              <a:t>FR-003 includes AI-powered interpretation of employer email commentary and natural-language instructions, in committed scope for Flow 1.</a:t>
            </a:r>
            <a:endParaRPr b="0" i="0" sz="788" u="none" cap="none" strike="noStrike">
              <a:solidFill>
                <a:schemeClr val="dk1"/>
              </a:solidFill>
              <a:latin typeface="Inter"/>
              <a:ea typeface="Inter"/>
              <a:cs typeface="Inter"/>
              <a:sym typeface="Inter"/>
            </a:endParaRPr>
          </a:p>
        </p:txBody>
      </p:sp>
      <p:sp>
        <p:nvSpPr>
          <p:cNvPr id="170" name="Google Shape;170;p4"/>
          <p:cNvSpPr/>
          <p:nvPr/>
        </p:nvSpPr>
        <p:spPr>
          <a:xfrm>
            <a:off x="509937" y="5526137"/>
            <a:ext cx="6419700" cy="2436000"/>
          </a:xfrm>
          <a:prstGeom prst="roundRect">
            <a:avLst>
              <a:gd fmla="val 3128" name="adj"/>
            </a:avLst>
          </a:prstGeom>
          <a:solidFill>
            <a:srgbClr val="FFFFFF"/>
          </a:solidFill>
          <a:ln cap="flat" cmpd="sng" w="9525">
            <a:solidFill>
              <a:srgbClr val="E2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4"/>
          <p:cNvSpPr/>
          <p:nvPr/>
        </p:nvSpPr>
        <p:spPr>
          <a:xfrm>
            <a:off x="519462" y="5535662"/>
            <a:ext cx="6400800" cy="480900"/>
          </a:xfrm>
          <a:prstGeom prst="rect">
            <a:avLst/>
          </a:prstGeom>
          <a:solidFill>
            <a:srgbClr val="F7F8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4"/>
          <p:cNvSpPr/>
          <p:nvPr/>
        </p:nvSpPr>
        <p:spPr>
          <a:xfrm>
            <a:off x="519462" y="6007149"/>
            <a:ext cx="6400800" cy="9600"/>
          </a:xfrm>
          <a:prstGeom prst="rect">
            <a:avLst/>
          </a:prstGeom>
          <a:solidFill>
            <a:srgbClr val="004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4"/>
          <p:cNvSpPr/>
          <p:nvPr/>
        </p:nvSpPr>
        <p:spPr>
          <a:xfrm>
            <a:off x="690912" y="5669012"/>
            <a:ext cx="646500" cy="204900"/>
          </a:xfrm>
          <a:prstGeom prst="roundRect">
            <a:avLst>
              <a:gd fmla="val 13953" name="adj"/>
            </a:avLst>
          </a:prstGeom>
          <a:solidFill>
            <a:srgbClr val="2E6F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4"/>
          <p:cNvSpPr/>
          <p:nvPr/>
        </p:nvSpPr>
        <p:spPr>
          <a:xfrm>
            <a:off x="796864" y="5695232"/>
            <a:ext cx="532200" cy="1476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713"/>
              <a:buFont typeface="Inter"/>
              <a:buNone/>
            </a:pPr>
            <a:r>
              <a:rPr b="1" i="0" lang="en-US" sz="713" u="none" cap="none" strike="noStrike">
                <a:solidFill>
                  <a:srgbClr val="FFFFFF"/>
                </a:solidFill>
                <a:latin typeface="Inter"/>
                <a:ea typeface="Inter"/>
                <a:cs typeface="Inter"/>
                <a:sym typeface="Inter"/>
              </a:rPr>
              <a:t>FLOW 2</a:t>
            </a:r>
            <a:endParaRPr b="0" i="0" sz="713" u="none" cap="none" strike="noStrike">
              <a:solidFill>
                <a:schemeClr val="dk1"/>
              </a:solidFill>
              <a:latin typeface="Inter"/>
              <a:ea typeface="Inter"/>
              <a:cs typeface="Inter"/>
              <a:sym typeface="Inter"/>
            </a:endParaRPr>
          </a:p>
        </p:txBody>
      </p:sp>
      <p:sp>
        <p:nvSpPr>
          <p:cNvPr id="175" name="Google Shape;175;p4"/>
          <p:cNvSpPr/>
          <p:nvPr/>
        </p:nvSpPr>
        <p:spPr>
          <a:xfrm>
            <a:off x="1451573" y="5678537"/>
            <a:ext cx="2424300" cy="2238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E1320"/>
              </a:buClr>
              <a:buSzPts val="1200"/>
              <a:buFont typeface="Inter"/>
              <a:buNone/>
            </a:pPr>
            <a:r>
              <a:rPr b="1" i="0" lang="en-US" sz="1200" u="none" cap="none" strike="noStrike">
                <a:solidFill>
                  <a:srgbClr val="0E1320"/>
                </a:solidFill>
                <a:latin typeface="Inter"/>
                <a:ea typeface="Inter"/>
                <a:cs typeface="Inter"/>
                <a:sym typeface="Inter"/>
              </a:rPr>
              <a:t>Existing portal, validation, portal</a:t>
            </a:r>
            <a:endParaRPr b="0" i="0" sz="1200" u="none" cap="none" strike="noStrike">
              <a:solidFill>
                <a:schemeClr val="dk1"/>
              </a:solidFill>
              <a:latin typeface="Inter"/>
              <a:ea typeface="Inter"/>
              <a:cs typeface="Inter"/>
              <a:sym typeface="Inter"/>
            </a:endParaRPr>
          </a:p>
        </p:txBody>
      </p:sp>
      <p:sp>
        <p:nvSpPr>
          <p:cNvPr id="176" name="Google Shape;176;p4"/>
          <p:cNvSpPr/>
          <p:nvPr/>
        </p:nvSpPr>
        <p:spPr>
          <a:xfrm>
            <a:off x="4487071" y="5716637"/>
            <a:ext cx="2337900" cy="147600"/>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6B7686"/>
              </a:buClr>
              <a:buSzPts val="750"/>
              <a:buFont typeface="Inter"/>
              <a:buNone/>
            </a:pPr>
            <a:r>
              <a:rPr b="0" i="0" lang="en-US" sz="750" u="none" cap="none" strike="noStrike">
                <a:solidFill>
                  <a:srgbClr val="6B7686"/>
                </a:solidFill>
                <a:latin typeface="Inter"/>
                <a:ea typeface="Inter"/>
                <a:cs typeface="Inter"/>
                <a:sym typeface="Inter"/>
              </a:rPr>
              <a:t>Designed for employers using the existing portal</a:t>
            </a:r>
            <a:endParaRPr b="0" i="0" sz="750" u="none" cap="none" strike="noStrike">
              <a:solidFill>
                <a:schemeClr val="dk1"/>
              </a:solidFill>
              <a:latin typeface="Inter"/>
              <a:ea typeface="Inter"/>
              <a:cs typeface="Inter"/>
              <a:sym typeface="Inter"/>
            </a:endParaRPr>
          </a:p>
        </p:txBody>
      </p:sp>
      <p:sp>
        <p:nvSpPr>
          <p:cNvPr id="177" name="Google Shape;177;p4"/>
          <p:cNvSpPr/>
          <p:nvPr/>
        </p:nvSpPr>
        <p:spPr>
          <a:xfrm>
            <a:off x="690912" y="6183362"/>
            <a:ext cx="1124100" cy="1476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047AB"/>
              </a:buClr>
              <a:buSzPts val="713"/>
              <a:buFont typeface="Inter"/>
              <a:buNone/>
            </a:pPr>
            <a:r>
              <a:rPr b="1" i="0" lang="en-US" sz="713" u="none" cap="none" strike="noStrike">
                <a:solidFill>
                  <a:srgbClr val="0047AB"/>
                </a:solidFill>
                <a:latin typeface="Inter"/>
                <a:ea typeface="Inter"/>
                <a:cs typeface="Inter"/>
                <a:sym typeface="Inter"/>
              </a:rPr>
              <a:t>ENTRY</a:t>
            </a:r>
            <a:endParaRPr b="0" i="0" sz="713" u="none" cap="none" strike="noStrike">
              <a:solidFill>
                <a:schemeClr val="dk1"/>
              </a:solidFill>
              <a:latin typeface="Inter"/>
              <a:ea typeface="Inter"/>
              <a:cs typeface="Inter"/>
              <a:sym typeface="Inter"/>
            </a:endParaRPr>
          </a:p>
        </p:txBody>
      </p:sp>
      <p:sp>
        <p:nvSpPr>
          <p:cNvPr id="178" name="Google Shape;178;p4"/>
          <p:cNvSpPr/>
          <p:nvPr/>
        </p:nvSpPr>
        <p:spPr>
          <a:xfrm>
            <a:off x="1872012" y="6150024"/>
            <a:ext cx="5023200" cy="2025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0E1320"/>
              </a:buClr>
              <a:buSzPts val="863"/>
              <a:buFont typeface="Inter"/>
              <a:buNone/>
            </a:pPr>
            <a:r>
              <a:rPr b="1" i="0" lang="en-US" sz="863" u="none" cap="none" strike="noStrike">
                <a:solidFill>
                  <a:srgbClr val="0E1320"/>
                </a:solidFill>
                <a:latin typeface="Inter"/>
                <a:ea typeface="Inter"/>
                <a:cs typeface="Inter"/>
                <a:sym typeface="Inter"/>
              </a:rPr>
              <a:t>Existing client portal</a:t>
            </a:r>
            <a:r>
              <a:rPr b="0" i="0" lang="en-US" sz="863" u="none" cap="none" strike="noStrike">
                <a:solidFill>
                  <a:srgbClr val="374151"/>
                </a:solidFill>
                <a:latin typeface="Inter"/>
                <a:ea typeface="Inter"/>
                <a:cs typeface="Inter"/>
                <a:sym typeface="Inter"/>
              </a:rPr>
              <a:t>, untouched. Newtuple exposes an API the portal can call for validation.</a:t>
            </a:r>
            <a:endParaRPr b="0" i="0" sz="863" u="none" cap="none" strike="noStrike">
              <a:solidFill>
                <a:schemeClr val="dk1"/>
              </a:solidFill>
              <a:latin typeface="Inter"/>
              <a:ea typeface="Inter"/>
              <a:cs typeface="Inter"/>
              <a:sym typeface="Inter"/>
            </a:endParaRPr>
          </a:p>
        </p:txBody>
      </p:sp>
      <p:sp>
        <p:nvSpPr>
          <p:cNvPr id="179" name="Google Shape;179;p4"/>
          <p:cNvSpPr/>
          <p:nvPr/>
        </p:nvSpPr>
        <p:spPr>
          <a:xfrm>
            <a:off x="690912" y="6471493"/>
            <a:ext cx="1124100" cy="1476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047AB"/>
              </a:buClr>
              <a:buSzPts val="713"/>
              <a:buFont typeface="Inter"/>
              <a:buNone/>
            </a:pPr>
            <a:r>
              <a:rPr b="1" i="0" lang="en-US" sz="713" u="none" cap="none" strike="noStrike">
                <a:solidFill>
                  <a:srgbClr val="0047AB"/>
                </a:solidFill>
                <a:latin typeface="Inter"/>
                <a:ea typeface="Inter"/>
                <a:cs typeface="Inter"/>
                <a:sym typeface="Inter"/>
              </a:rPr>
              <a:t>PATH</a:t>
            </a:r>
            <a:endParaRPr b="0" i="0" sz="713" u="none" cap="none" strike="noStrike">
              <a:solidFill>
                <a:schemeClr val="dk1"/>
              </a:solidFill>
              <a:latin typeface="Inter"/>
              <a:ea typeface="Inter"/>
              <a:cs typeface="Inter"/>
              <a:sym typeface="Inter"/>
            </a:endParaRPr>
          </a:p>
        </p:txBody>
      </p:sp>
      <p:sp>
        <p:nvSpPr>
          <p:cNvPr id="180" name="Google Shape;180;p4"/>
          <p:cNvSpPr/>
          <p:nvPr/>
        </p:nvSpPr>
        <p:spPr>
          <a:xfrm>
            <a:off x="1872012" y="6409580"/>
            <a:ext cx="835500" cy="228600"/>
          </a:xfrm>
          <a:prstGeom prst="roundRect">
            <a:avLst>
              <a:gd fmla="val 12500" name="adj"/>
            </a:avLst>
          </a:prstGeom>
          <a:solidFill>
            <a:srgbClr val="F7F8FA"/>
          </a:solidFill>
          <a:ln cap="flat" cmpd="sng" w="9525">
            <a:solidFill>
              <a:srgbClr val="E2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4"/>
          <p:cNvSpPr/>
          <p:nvPr/>
        </p:nvSpPr>
        <p:spPr>
          <a:xfrm>
            <a:off x="1957737" y="6457205"/>
            <a:ext cx="740400" cy="171600"/>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374151"/>
              </a:buClr>
              <a:buSzPts val="750"/>
              <a:buFont typeface="Inter"/>
              <a:buNone/>
            </a:pPr>
            <a:r>
              <a:rPr b="0" i="0" lang="en-US" sz="750" u="none" cap="none" strike="noStrike">
                <a:solidFill>
                  <a:srgbClr val="374151"/>
                </a:solidFill>
                <a:latin typeface="Inter"/>
                <a:ea typeface="Inter"/>
                <a:cs typeface="Inter"/>
                <a:sym typeface="Inter"/>
              </a:rPr>
              <a:t>Existing portal</a:t>
            </a:r>
            <a:endParaRPr b="0" i="0" sz="750" u="none" cap="none" strike="noStrike">
              <a:solidFill>
                <a:schemeClr val="dk1"/>
              </a:solidFill>
              <a:latin typeface="Inter"/>
              <a:ea typeface="Inter"/>
              <a:cs typeface="Inter"/>
              <a:sym typeface="Inter"/>
            </a:endParaRPr>
          </a:p>
        </p:txBody>
      </p:sp>
      <p:sp>
        <p:nvSpPr>
          <p:cNvPr id="182" name="Google Shape;182;p4"/>
          <p:cNvSpPr/>
          <p:nvPr/>
        </p:nvSpPr>
        <p:spPr>
          <a:xfrm>
            <a:off x="2764683" y="6457205"/>
            <a:ext cx="120600" cy="1716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9AA4B2"/>
              </a:buClr>
              <a:buSzPts val="1050"/>
              <a:buFont typeface="Inter"/>
              <a:buNone/>
            </a:pPr>
            <a:r>
              <a:rPr b="0" i="0" lang="en-US" sz="1050" u="none" cap="none" strike="noStrike">
                <a:solidFill>
                  <a:srgbClr val="9AA4B2"/>
                </a:solidFill>
                <a:latin typeface="Inter"/>
                <a:ea typeface="Inter"/>
                <a:cs typeface="Inter"/>
                <a:sym typeface="Inter"/>
              </a:rPr>
              <a:t>›</a:t>
            </a:r>
            <a:endParaRPr b="0" i="0" sz="1050" u="none" cap="none" strike="noStrike">
              <a:solidFill>
                <a:schemeClr val="dk1"/>
              </a:solidFill>
              <a:latin typeface="Inter"/>
              <a:ea typeface="Inter"/>
              <a:cs typeface="Inter"/>
              <a:sym typeface="Inter"/>
            </a:endParaRPr>
          </a:p>
        </p:txBody>
      </p:sp>
      <p:sp>
        <p:nvSpPr>
          <p:cNvPr id="183" name="Google Shape;183;p4"/>
          <p:cNvSpPr/>
          <p:nvPr/>
        </p:nvSpPr>
        <p:spPr>
          <a:xfrm>
            <a:off x="2866258" y="6409580"/>
            <a:ext cx="872700" cy="228600"/>
          </a:xfrm>
          <a:prstGeom prst="roundRect">
            <a:avLst>
              <a:gd fmla="val 12500" name="adj"/>
            </a:avLst>
          </a:prstGeom>
          <a:solidFill>
            <a:srgbClr val="0047AB"/>
          </a:solidFill>
          <a:ln cap="flat" cmpd="sng" w="9525">
            <a:solidFill>
              <a:srgbClr val="0047A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4"/>
          <p:cNvSpPr/>
          <p:nvPr/>
        </p:nvSpPr>
        <p:spPr>
          <a:xfrm>
            <a:off x="2951983" y="6457205"/>
            <a:ext cx="777600" cy="171600"/>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FFFFFF"/>
              </a:buClr>
              <a:buSzPts val="750"/>
              <a:buFont typeface="Inter"/>
              <a:buNone/>
            </a:pPr>
            <a:r>
              <a:rPr b="1" i="0" lang="en-US" sz="750" u="none" cap="none" strike="noStrike">
                <a:solidFill>
                  <a:srgbClr val="FFFFFF"/>
                </a:solidFill>
                <a:latin typeface="Inter"/>
                <a:ea typeface="Inter"/>
                <a:cs typeface="Inter"/>
                <a:sym typeface="Inter"/>
              </a:rPr>
              <a:t>Validation core</a:t>
            </a:r>
            <a:endParaRPr b="0" i="0" sz="750" u="none" cap="none" strike="noStrike">
              <a:solidFill>
                <a:schemeClr val="dk1"/>
              </a:solidFill>
              <a:latin typeface="Inter"/>
              <a:ea typeface="Inter"/>
              <a:cs typeface="Inter"/>
              <a:sym typeface="Inter"/>
            </a:endParaRPr>
          </a:p>
        </p:txBody>
      </p:sp>
      <p:sp>
        <p:nvSpPr>
          <p:cNvPr id="185" name="Google Shape;185;p4"/>
          <p:cNvSpPr/>
          <p:nvPr/>
        </p:nvSpPr>
        <p:spPr>
          <a:xfrm>
            <a:off x="3796136" y="6457205"/>
            <a:ext cx="120600" cy="1716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9AA4B2"/>
              </a:buClr>
              <a:buSzPts val="1050"/>
              <a:buFont typeface="Inter"/>
              <a:buNone/>
            </a:pPr>
            <a:r>
              <a:rPr b="0" i="0" lang="en-US" sz="1050" u="none" cap="none" strike="noStrike">
                <a:solidFill>
                  <a:srgbClr val="9AA4B2"/>
                </a:solidFill>
                <a:latin typeface="Inter"/>
                <a:ea typeface="Inter"/>
                <a:cs typeface="Inter"/>
                <a:sym typeface="Inter"/>
              </a:rPr>
              <a:t>›</a:t>
            </a:r>
            <a:endParaRPr b="0" i="0" sz="1050" u="none" cap="none" strike="noStrike">
              <a:solidFill>
                <a:schemeClr val="dk1"/>
              </a:solidFill>
              <a:latin typeface="Inter"/>
              <a:ea typeface="Inter"/>
              <a:cs typeface="Inter"/>
              <a:sym typeface="Inter"/>
            </a:endParaRPr>
          </a:p>
        </p:txBody>
      </p:sp>
      <p:sp>
        <p:nvSpPr>
          <p:cNvPr id="186" name="Google Shape;186;p4"/>
          <p:cNvSpPr/>
          <p:nvPr/>
        </p:nvSpPr>
        <p:spPr>
          <a:xfrm>
            <a:off x="3897712" y="6409580"/>
            <a:ext cx="1186500" cy="228600"/>
          </a:xfrm>
          <a:prstGeom prst="roundRect">
            <a:avLst>
              <a:gd fmla="val 12500" name="adj"/>
            </a:avLst>
          </a:prstGeom>
          <a:solidFill>
            <a:srgbClr val="F7F8FA"/>
          </a:solidFill>
          <a:ln cap="flat" cmpd="sng" w="9525">
            <a:solidFill>
              <a:srgbClr val="E2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4"/>
          <p:cNvSpPr/>
          <p:nvPr/>
        </p:nvSpPr>
        <p:spPr>
          <a:xfrm>
            <a:off x="3983437" y="6457205"/>
            <a:ext cx="1091100" cy="171600"/>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374151"/>
              </a:buClr>
              <a:buSzPts val="750"/>
              <a:buFont typeface="Inter"/>
              <a:buNone/>
            </a:pPr>
            <a:r>
              <a:rPr b="0" i="0" lang="en-US" sz="750" u="none" cap="none" strike="noStrike">
                <a:solidFill>
                  <a:srgbClr val="374151"/>
                </a:solidFill>
                <a:latin typeface="Inter"/>
                <a:ea typeface="Inter"/>
                <a:cs typeface="Inter"/>
                <a:sym typeface="Inter"/>
              </a:rPr>
              <a:t>Historical comparison</a:t>
            </a:r>
            <a:endParaRPr b="0" i="0" sz="750" u="none" cap="none" strike="noStrike">
              <a:solidFill>
                <a:schemeClr val="dk1"/>
              </a:solidFill>
              <a:latin typeface="Inter"/>
              <a:ea typeface="Inter"/>
              <a:cs typeface="Inter"/>
              <a:sym typeface="Inter"/>
            </a:endParaRPr>
          </a:p>
        </p:txBody>
      </p:sp>
      <p:sp>
        <p:nvSpPr>
          <p:cNvPr id="188" name="Google Shape;188;p4"/>
          <p:cNvSpPr/>
          <p:nvPr/>
        </p:nvSpPr>
        <p:spPr>
          <a:xfrm>
            <a:off x="5141245" y="6457205"/>
            <a:ext cx="120600" cy="1716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9AA4B2"/>
              </a:buClr>
              <a:buSzPts val="1050"/>
              <a:buFont typeface="Inter"/>
              <a:buNone/>
            </a:pPr>
            <a:r>
              <a:rPr b="0" i="0" lang="en-US" sz="1050" u="none" cap="none" strike="noStrike">
                <a:solidFill>
                  <a:srgbClr val="9AA4B2"/>
                </a:solidFill>
                <a:latin typeface="Inter"/>
                <a:ea typeface="Inter"/>
                <a:cs typeface="Inter"/>
                <a:sym typeface="Inter"/>
              </a:rPr>
              <a:t>›</a:t>
            </a:r>
            <a:endParaRPr b="0" i="0" sz="1050" u="none" cap="none" strike="noStrike">
              <a:solidFill>
                <a:schemeClr val="dk1"/>
              </a:solidFill>
              <a:latin typeface="Inter"/>
              <a:ea typeface="Inter"/>
              <a:cs typeface="Inter"/>
              <a:sym typeface="Inter"/>
            </a:endParaRPr>
          </a:p>
        </p:txBody>
      </p:sp>
      <p:sp>
        <p:nvSpPr>
          <p:cNvPr id="189" name="Google Shape;189;p4"/>
          <p:cNvSpPr/>
          <p:nvPr/>
        </p:nvSpPr>
        <p:spPr>
          <a:xfrm>
            <a:off x="5242820" y="6409580"/>
            <a:ext cx="901800" cy="228600"/>
          </a:xfrm>
          <a:prstGeom prst="roundRect">
            <a:avLst>
              <a:gd fmla="val 12500" name="adj"/>
            </a:avLst>
          </a:prstGeom>
          <a:solidFill>
            <a:srgbClr val="F7F8FA"/>
          </a:solidFill>
          <a:ln cap="flat" cmpd="sng" w="9525">
            <a:solidFill>
              <a:srgbClr val="E2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4"/>
          <p:cNvSpPr/>
          <p:nvPr/>
        </p:nvSpPr>
        <p:spPr>
          <a:xfrm>
            <a:off x="5328545" y="6457205"/>
            <a:ext cx="806700" cy="171600"/>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374151"/>
              </a:buClr>
              <a:buSzPts val="750"/>
              <a:buFont typeface="Inter"/>
              <a:buNone/>
            </a:pPr>
            <a:r>
              <a:rPr b="0" i="0" lang="en-US" sz="750" u="none" cap="none" strike="noStrike">
                <a:solidFill>
                  <a:srgbClr val="374151"/>
                </a:solidFill>
                <a:latin typeface="Inter"/>
                <a:ea typeface="Inter"/>
                <a:cs typeface="Inter"/>
                <a:sym typeface="Inter"/>
              </a:rPr>
              <a:t>Portal response</a:t>
            </a:r>
            <a:endParaRPr b="0" i="0" sz="750" u="none" cap="none" strike="noStrike">
              <a:solidFill>
                <a:schemeClr val="dk1"/>
              </a:solidFill>
              <a:latin typeface="Inter"/>
              <a:ea typeface="Inter"/>
              <a:cs typeface="Inter"/>
              <a:sym typeface="Inter"/>
            </a:endParaRPr>
          </a:p>
        </p:txBody>
      </p:sp>
      <p:sp>
        <p:nvSpPr>
          <p:cNvPr id="191" name="Google Shape;191;p4"/>
          <p:cNvSpPr/>
          <p:nvPr/>
        </p:nvSpPr>
        <p:spPr>
          <a:xfrm>
            <a:off x="690912" y="6766768"/>
            <a:ext cx="1124100" cy="1476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047AB"/>
              </a:buClr>
              <a:buSzPts val="713"/>
              <a:buFont typeface="Inter"/>
              <a:buNone/>
            </a:pPr>
            <a:r>
              <a:rPr b="1" i="0" lang="en-US" sz="713" u="none" cap="none" strike="noStrike">
                <a:solidFill>
                  <a:srgbClr val="0047AB"/>
                </a:solidFill>
                <a:latin typeface="Inter"/>
                <a:ea typeface="Inter"/>
                <a:cs typeface="Inter"/>
                <a:sym typeface="Inter"/>
              </a:rPr>
              <a:t>RESPONSE</a:t>
            </a:r>
            <a:endParaRPr b="0" i="0" sz="713" u="none" cap="none" strike="noStrike">
              <a:solidFill>
                <a:schemeClr val="dk1"/>
              </a:solidFill>
              <a:latin typeface="Inter"/>
              <a:ea typeface="Inter"/>
              <a:cs typeface="Inter"/>
              <a:sym typeface="Inter"/>
            </a:endParaRPr>
          </a:p>
        </p:txBody>
      </p:sp>
      <p:sp>
        <p:nvSpPr>
          <p:cNvPr id="192" name="Google Shape;192;p4"/>
          <p:cNvSpPr/>
          <p:nvPr/>
        </p:nvSpPr>
        <p:spPr>
          <a:xfrm>
            <a:off x="1872012" y="6733430"/>
            <a:ext cx="5023200" cy="2025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863"/>
              <a:buFont typeface="Inter"/>
              <a:buNone/>
            </a:pPr>
            <a:r>
              <a:rPr b="0" i="0" lang="en-US" sz="863" u="none" cap="none" strike="noStrike">
                <a:solidFill>
                  <a:srgbClr val="374151"/>
                </a:solidFill>
                <a:latin typeface="Inter"/>
                <a:ea typeface="Inter"/>
                <a:cs typeface="Inter"/>
                <a:sym typeface="Inter"/>
              </a:rPr>
              <a:t>Errors and validation results returned synchronously or asynchronously to the existing portal.</a:t>
            </a:r>
            <a:endParaRPr b="0" i="0" sz="863" u="none" cap="none" strike="noStrike">
              <a:solidFill>
                <a:schemeClr val="dk1"/>
              </a:solidFill>
              <a:latin typeface="Inter"/>
              <a:ea typeface="Inter"/>
              <a:cs typeface="Inter"/>
              <a:sym typeface="Inter"/>
            </a:endParaRPr>
          </a:p>
        </p:txBody>
      </p:sp>
      <p:sp>
        <p:nvSpPr>
          <p:cNvPr id="193" name="Google Shape;193;p4"/>
          <p:cNvSpPr/>
          <p:nvPr/>
        </p:nvSpPr>
        <p:spPr>
          <a:xfrm>
            <a:off x="690912" y="7026324"/>
            <a:ext cx="1124100" cy="1476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047AB"/>
              </a:buClr>
              <a:buSzPts val="713"/>
              <a:buFont typeface="Inter"/>
              <a:buNone/>
            </a:pPr>
            <a:r>
              <a:rPr b="1" i="0" lang="en-US" sz="713" u="none" cap="none" strike="noStrike">
                <a:solidFill>
                  <a:srgbClr val="0047AB"/>
                </a:solidFill>
                <a:latin typeface="Inter"/>
                <a:ea typeface="Inter"/>
                <a:cs typeface="Inter"/>
                <a:sym typeface="Inter"/>
              </a:rPr>
              <a:t>FRS COVERED</a:t>
            </a:r>
            <a:endParaRPr b="0" i="0" sz="713" u="none" cap="none" strike="noStrike">
              <a:solidFill>
                <a:schemeClr val="dk1"/>
              </a:solidFill>
              <a:latin typeface="Inter"/>
              <a:ea typeface="Inter"/>
              <a:cs typeface="Inter"/>
              <a:sym typeface="Inter"/>
            </a:endParaRPr>
          </a:p>
        </p:txBody>
      </p:sp>
      <p:sp>
        <p:nvSpPr>
          <p:cNvPr id="194" name="Google Shape;194;p4"/>
          <p:cNvSpPr/>
          <p:nvPr/>
        </p:nvSpPr>
        <p:spPr>
          <a:xfrm>
            <a:off x="1872012" y="6992987"/>
            <a:ext cx="5023200" cy="2025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0E1320"/>
              </a:buClr>
              <a:buSzPts val="863"/>
              <a:buFont typeface="Inter"/>
              <a:buNone/>
            </a:pPr>
            <a:r>
              <a:rPr b="1" i="0" lang="en-US" sz="863" u="none" cap="none" strike="noStrike">
                <a:solidFill>
                  <a:srgbClr val="0E1320"/>
                </a:solidFill>
                <a:latin typeface="Inter"/>
                <a:ea typeface="Inter"/>
                <a:cs typeface="Inter"/>
                <a:sym typeface="Inter"/>
              </a:rPr>
              <a:t>Existing portal · FR-004 · FR-005 · FR-006 · FR-007A · FR-011</a:t>
            </a:r>
            <a:endParaRPr b="0" i="0" sz="863" u="none" cap="none" strike="noStrike">
              <a:solidFill>
                <a:schemeClr val="dk1"/>
              </a:solidFill>
              <a:latin typeface="Inter"/>
              <a:ea typeface="Inter"/>
              <a:cs typeface="Inter"/>
              <a:sym typeface="Inter"/>
            </a:endParaRPr>
          </a:p>
        </p:txBody>
      </p:sp>
      <p:sp>
        <p:nvSpPr>
          <p:cNvPr id="195" name="Google Shape;195;p4"/>
          <p:cNvSpPr/>
          <p:nvPr/>
        </p:nvSpPr>
        <p:spPr>
          <a:xfrm>
            <a:off x="690900" y="7309699"/>
            <a:ext cx="6134100" cy="462000"/>
          </a:xfrm>
          <a:prstGeom prst="rect">
            <a:avLst/>
          </a:prstGeom>
          <a:solidFill>
            <a:srgbClr val="F7F8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4"/>
          <p:cNvSpPr/>
          <p:nvPr/>
        </p:nvSpPr>
        <p:spPr>
          <a:xfrm>
            <a:off x="690912" y="7309693"/>
            <a:ext cx="19200" cy="490500"/>
          </a:xfrm>
          <a:prstGeom prst="rect">
            <a:avLst/>
          </a:prstGeom>
          <a:solidFill>
            <a:srgbClr val="004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4"/>
          <p:cNvSpPr/>
          <p:nvPr/>
        </p:nvSpPr>
        <p:spPr>
          <a:xfrm>
            <a:off x="824262" y="7404943"/>
            <a:ext cx="5991900" cy="3381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788"/>
              <a:buFont typeface="Inter"/>
              <a:buNone/>
            </a:pPr>
            <a:r>
              <a:rPr b="0" i="0" lang="en-US" sz="788" u="none" cap="none" strike="noStrike">
                <a:solidFill>
                  <a:srgbClr val="374151"/>
                </a:solidFill>
                <a:latin typeface="Inter"/>
                <a:ea typeface="Inter"/>
                <a:cs typeface="Inter"/>
                <a:sym typeface="Inter"/>
              </a:rPr>
              <a:t>The portal remains outside Newtuple build scope. Newtuple provides an API for validation invocation and response handling, no portal rebuild, no UX disruption.</a:t>
            </a:r>
            <a:endParaRPr b="0" i="0" sz="788" u="none" cap="none" strike="noStrike">
              <a:solidFill>
                <a:schemeClr val="dk1"/>
              </a:solidFill>
              <a:latin typeface="Inter"/>
              <a:ea typeface="Inter"/>
              <a:cs typeface="Inter"/>
              <a:sym typeface="Inter"/>
            </a:endParaRPr>
          </a:p>
        </p:txBody>
      </p:sp>
      <p:sp>
        <p:nvSpPr>
          <p:cNvPr id="198" name="Google Shape;198;p4"/>
          <p:cNvSpPr/>
          <p:nvPr/>
        </p:nvSpPr>
        <p:spPr>
          <a:xfrm>
            <a:off x="0" y="10234613"/>
            <a:ext cx="7562850" cy="461963"/>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4"/>
          <p:cNvSpPr/>
          <p:nvPr/>
        </p:nvSpPr>
        <p:spPr>
          <a:xfrm>
            <a:off x="0" y="10234613"/>
            <a:ext cx="7562850" cy="9525"/>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4"/>
          <p:cNvSpPr/>
          <p:nvPr/>
        </p:nvSpPr>
        <p:spPr>
          <a:xfrm>
            <a:off x="6540847" y="10377488"/>
            <a:ext cx="526703" cy="147638"/>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0047AB"/>
              </a:buClr>
              <a:buSzPts val="713"/>
              <a:buFont typeface="Inter"/>
              <a:buNone/>
            </a:pPr>
            <a:r>
              <a:rPr b="1" i="0" lang="en-US" sz="713" u="none" cap="none" strike="noStrike">
                <a:solidFill>
                  <a:srgbClr val="6B7686"/>
                </a:solidFill>
                <a:latin typeface="Inter"/>
                <a:ea typeface="Inter"/>
                <a:cs typeface="Inter"/>
                <a:sym typeface="Inter"/>
              </a:rPr>
              <a:t>04 / 1</a:t>
            </a:r>
            <a:r>
              <a:rPr b="1" lang="en-US" sz="713">
                <a:solidFill>
                  <a:srgbClr val="6B7686"/>
                </a:solidFill>
              </a:rPr>
              <a:t>2</a:t>
            </a:r>
            <a:endParaRPr b="0" i="0" sz="713" u="none" cap="none" strike="noStrike">
              <a:solidFill>
                <a:srgbClr val="6B7686"/>
              </a:solidFill>
              <a:latin typeface="Inter"/>
              <a:ea typeface="Inter"/>
              <a:cs typeface="Inter"/>
              <a:sym typeface="Inter"/>
            </a:endParaRPr>
          </a:p>
        </p:txBody>
      </p:sp>
      <p:sp>
        <p:nvSpPr>
          <p:cNvPr id="201" name="Google Shape;201;p4"/>
          <p:cNvSpPr/>
          <p:nvPr/>
        </p:nvSpPr>
        <p:spPr>
          <a:xfrm>
            <a:off x="571500" y="10377500"/>
            <a:ext cx="3966300" cy="138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7686"/>
              </a:buClr>
              <a:buSzPts val="713"/>
              <a:buFont typeface="Inter"/>
              <a:buNone/>
            </a:pPr>
            <a:r>
              <a:rPr b="0" i="0" lang="en-US" sz="713" u="none" cap="none" strike="noStrike">
                <a:solidFill>
                  <a:srgbClr val="6B7686"/>
                </a:solidFill>
                <a:latin typeface="Inter"/>
                <a:ea typeface="Inter"/>
                <a:cs typeface="Inter"/>
                <a:sym typeface="Inter"/>
              </a:rPr>
              <a:t>NEWTUPLE TECHNOLOGIES · 		  		     </a:t>
            </a:r>
            <a:r>
              <a:rPr lang="en-US" sz="713">
                <a:solidFill>
                  <a:srgbClr val="6B7686"/>
                </a:solidFill>
              </a:rPr>
              <a:t>    </a:t>
            </a:r>
            <a:r>
              <a:rPr b="0" i="0" lang="en-US" sz="713" u="none" cap="none" strike="noStrike">
                <a:solidFill>
                  <a:srgbClr val="6B7686"/>
                </a:solidFill>
                <a:latin typeface="Inter"/>
                <a:ea typeface="Inter"/>
                <a:cs typeface="Inter"/>
                <a:sym typeface="Inter"/>
              </a:rPr>
              <a:t>CONFIDENTIAL</a:t>
            </a:r>
            <a:endParaRPr b="0" i="0" sz="713" u="none" cap="none" strike="noStrike">
              <a:solidFill>
                <a:schemeClr val="dk1"/>
              </a:solidFill>
              <a:latin typeface="Inter"/>
              <a:ea typeface="Inter"/>
              <a:cs typeface="Inter"/>
              <a:sym typeface="Inte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6" name="Shape 206"/>
        <p:cNvGrpSpPr/>
        <p:nvPr/>
      </p:nvGrpSpPr>
      <p:grpSpPr>
        <a:xfrm>
          <a:off x="0" y="0"/>
          <a:ext cx="0" cy="0"/>
          <a:chOff x="0" y="0"/>
          <a:chExt cx="0" cy="0"/>
        </a:xfrm>
      </p:grpSpPr>
      <p:sp>
        <p:nvSpPr>
          <p:cNvPr id="207" name="Google Shape;207;p5"/>
          <p:cNvSpPr/>
          <p:nvPr/>
        </p:nvSpPr>
        <p:spPr>
          <a:xfrm>
            <a:off x="0" y="0"/>
            <a:ext cx="7562850" cy="10696575"/>
          </a:xfrm>
          <a:prstGeom prst="rect">
            <a:avLst/>
          </a:prstGeom>
          <a:noFill/>
          <a:ln>
            <a:noFill/>
          </a:ln>
          <a:effectLst>
            <a:outerShdw blurRad="381000" rotWithShape="0" algn="bl" dir="5400000" dist="133350">
              <a:srgbClr val="0E132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8" name="Google Shape;208;p5"/>
          <p:cNvPicPr preferRelativeResize="0"/>
          <p:nvPr/>
        </p:nvPicPr>
        <p:blipFill rotWithShape="1">
          <a:blip r:embed="rId3">
            <a:alphaModFix/>
          </a:blip>
          <a:srcRect b="0" l="0" r="0" t="0"/>
          <a:stretch/>
        </p:blipFill>
        <p:spPr>
          <a:xfrm>
            <a:off x="479155" y="532756"/>
            <a:ext cx="815357" cy="152400"/>
          </a:xfrm>
          <a:prstGeom prst="rect">
            <a:avLst/>
          </a:prstGeom>
          <a:noFill/>
          <a:ln>
            <a:noFill/>
          </a:ln>
        </p:spPr>
      </p:pic>
      <p:sp>
        <p:nvSpPr>
          <p:cNvPr id="209" name="Google Shape;209;p5"/>
          <p:cNvSpPr/>
          <p:nvPr/>
        </p:nvSpPr>
        <p:spPr>
          <a:xfrm>
            <a:off x="3394177" y="551806"/>
            <a:ext cx="3609900" cy="152400"/>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6B7686"/>
              </a:buClr>
              <a:buSzPts val="750"/>
              <a:buFont typeface="Inter"/>
              <a:buNone/>
            </a:pPr>
            <a:r>
              <a:rPr b="1" i="0" lang="en-US" sz="750" u="none" cap="none" strike="noStrike">
                <a:solidFill>
                  <a:srgbClr val="6B7686"/>
                </a:solidFill>
                <a:latin typeface="Inter"/>
                <a:ea typeface="Inter"/>
                <a:cs typeface="Inter"/>
                <a:sym typeface="Inter"/>
              </a:rPr>
              <a:t>PENSION CONTRIBUTION PROCESSING AUTOMATION</a:t>
            </a:r>
            <a:endParaRPr b="0" i="0" sz="750" u="none" cap="none" strike="noStrike">
              <a:solidFill>
                <a:schemeClr val="dk1"/>
              </a:solidFill>
              <a:latin typeface="Inter"/>
              <a:ea typeface="Inter"/>
              <a:cs typeface="Inter"/>
              <a:sym typeface="Inter"/>
            </a:endParaRPr>
          </a:p>
        </p:txBody>
      </p:sp>
      <p:sp>
        <p:nvSpPr>
          <p:cNvPr id="210" name="Google Shape;210;p5"/>
          <p:cNvSpPr/>
          <p:nvPr/>
        </p:nvSpPr>
        <p:spPr>
          <a:xfrm>
            <a:off x="479155" y="1473368"/>
            <a:ext cx="6419700" cy="9600"/>
          </a:xfrm>
          <a:prstGeom prst="rect">
            <a:avLst/>
          </a:prstGeom>
          <a:solidFill>
            <a:srgbClr val="004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5"/>
          <p:cNvSpPr/>
          <p:nvPr/>
        </p:nvSpPr>
        <p:spPr>
          <a:xfrm>
            <a:off x="479155" y="1234351"/>
            <a:ext cx="268800" cy="153300"/>
          </a:xfrm>
          <a:prstGeom prst="rect">
            <a:avLst/>
          </a:prstGeom>
          <a:noFill/>
          <a:ln>
            <a:noFill/>
          </a:ln>
        </p:spPr>
        <p:txBody>
          <a:bodyPr anchorCtr="0" anchor="t" bIns="25400" lIns="25400" spcFirstLastPara="1" rIns="25400" wrap="square" tIns="25400">
            <a:normAutofit/>
          </a:bodyPr>
          <a:lstStyle/>
          <a:p>
            <a:pPr indent="0" lvl="0" marL="0" marR="0" rtl="0" algn="l">
              <a:lnSpc>
                <a:spcPct val="110000"/>
              </a:lnSpc>
              <a:spcBef>
                <a:spcPts val="0"/>
              </a:spcBef>
              <a:spcAft>
                <a:spcPts val="0"/>
              </a:spcAft>
              <a:buClr>
                <a:srgbClr val="0047AB"/>
              </a:buClr>
              <a:buSzPts val="825"/>
              <a:buFont typeface="Inter"/>
              <a:buNone/>
            </a:pPr>
            <a:r>
              <a:rPr b="1" i="0" lang="en-US" sz="825" u="none" cap="none" strike="noStrike">
                <a:solidFill>
                  <a:srgbClr val="0047AB"/>
                </a:solidFill>
                <a:latin typeface="Inter"/>
                <a:ea typeface="Inter"/>
                <a:cs typeface="Inter"/>
                <a:sym typeface="Inter"/>
              </a:rPr>
              <a:t>0</a:t>
            </a:r>
            <a:r>
              <a:rPr b="1" lang="en-US" sz="825">
                <a:solidFill>
                  <a:srgbClr val="0047AB"/>
                </a:solidFill>
              </a:rPr>
              <a:t>3</a:t>
            </a:r>
            <a:endParaRPr b="0" i="0" sz="825" u="none" cap="none" strike="noStrike">
              <a:solidFill>
                <a:schemeClr val="dk1"/>
              </a:solidFill>
              <a:latin typeface="Inter"/>
              <a:ea typeface="Inter"/>
              <a:cs typeface="Inter"/>
              <a:sym typeface="Inter"/>
            </a:endParaRPr>
          </a:p>
        </p:txBody>
      </p:sp>
      <p:sp>
        <p:nvSpPr>
          <p:cNvPr id="212" name="Google Shape;212;p5"/>
          <p:cNvSpPr/>
          <p:nvPr/>
        </p:nvSpPr>
        <p:spPr>
          <a:xfrm>
            <a:off x="824213" y="1105763"/>
            <a:ext cx="3345600" cy="310500"/>
          </a:xfrm>
          <a:prstGeom prst="rect">
            <a:avLst/>
          </a:prstGeom>
          <a:noFill/>
          <a:ln>
            <a:noFill/>
          </a:ln>
        </p:spPr>
        <p:txBody>
          <a:bodyPr anchorCtr="0" anchor="t" bIns="25400" lIns="25400" spcFirstLastPara="1" rIns="25400" wrap="square" tIns="25400">
            <a:normAutofit/>
          </a:bodyPr>
          <a:lstStyle/>
          <a:p>
            <a:pPr indent="0" lvl="0" marL="0" marR="0" rtl="0" algn="l">
              <a:lnSpc>
                <a:spcPct val="110000"/>
              </a:lnSpc>
              <a:spcBef>
                <a:spcPts val="0"/>
              </a:spcBef>
              <a:spcAft>
                <a:spcPts val="0"/>
              </a:spcAft>
              <a:buClr>
                <a:srgbClr val="0E1320"/>
              </a:buClr>
              <a:buSzPts val="1950"/>
              <a:buFont typeface="Inter"/>
              <a:buNone/>
            </a:pPr>
            <a:r>
              <a:rPr b="0" i="0" lang="en-US" sz="1950" u="none" cap="none" strike="noStrike">
                <a:solidFill>
                  <a:srgbClr val="0E1320"/>
                </a:solidFill>
                <a:latin typeface="Inter"/>
                <a:ea typeface="Inter"/>
                <a:cs typeface="Inter"/>
                <a:sym typeface="Inter"/>
              </a:rPr>
              <a:t>Recommended Architecture</a:t>
            </a:r>
            <a:endParaRPr b="0" i="0" sz="1950" u="none" cap="none" strike="noStrike">
              <a:solidFill>
                <a:schemeClr val="dk1"/>
              </a:solidFill>
              <a:latin typeface="Inter"/>
              <a:ea typeface="Inter"/>
              <a:cs typeface="Inter"/>
              <a:sym typeface="Inter"/>
            </a:endParaRPr>
          </a:p>
        </p:txBody>
      </p:sp>
      <p:sp>
        <p:nvSpPr>
          <p:cNvPr id="213" name="Google Shape;213;p5"/>
          <p:cNvSpPr/>
          <p:nvPr/>
        </p:nvSpPr>
        <p:spPr>
          <a:xfrm>
            <a:off x="5263979" y="1239113"/>
            <a:ext cx="1711200" cy="148200"/>
          </a:xfrm>
          <a:prstGeom prst="rect">
            <a:avLst/>
          </a:prstGeom>
          <a:noFill/>
          <a:ln>
            <a:noFill/>
          </a:ln>
        </p:spPr>
        <p:txBody>
          <a:bodyPr anchorCtr="0" anchor="t" bIns="25400" lIns="25400" spcFirstLastPara="1" rIns="25400" wrap="square" tIns="25400">
            <a:normAutofit/>
          </a:bodyPr>
          <a:lstStyle/>
          <a:p>
            <a:pPr indent="0" lvl="0" marL="0" marR="0" rtl="0" algn="r">
              <a:lnSpc>
                <a:spcPct val="110000"/>
              </a:lnSpc>
              <a:spcBef>
                <a:spcPts val="0"/>
              </a:spcBef>
              <a:spcAft>
                <a:spcPts val="0"/>
              </a:spcAft>
              <a:buClr>
                <a:srgbClr val="6B7686"/>
              </a:buClr>
              <a:buSzPts val="788"/>
              <a:buFont typeface="Inter"/>
              <a:buNone/>
            </a:pPr>
            <a:r>
              <a:rPr b="0" i="0" lang="en-US" sz="788" u="none" cap="none" strike="noStrike">
                <a:solidFill>
                  <a:srgbClr val="6B7686"/>
                </a:solidFill>
                <a:latin typeface="Inter"/>
                <a:ea typeface="Inter"/>
                <a:cs typeface="Inter"/>
                <a:sym typeface="Inter"/>
              </a:rPr>
              <a:t>Indicative, confirmed in discovery</a:t>
            </a:r>
            <a:endParaRPr b="0" i="0" sz="788" u="none" cap="none" strike="noStrike">
              <a:solidFill>
                <a:schemeClr val="dk1"/>
              </a:solidFill>
              <a:latin typeface="Inter"/>
              <a:ea typeface="Inter"/>
              <a:cs typeface="Inter"/>
              <a:sym typeface="Inter"/>
            </a:endParaRPr>
          </a:p>
        </p:txBody>
      </p:sp>
      <p:sp>
        <p:nvSpPr>
          <p:cNvPr id="214" name="Google Shape;214;p5"/>
          <p:cNvSpPr/>
          <p:nvPr/>
        </p:nvSpPr>
        <p:spPr>
          <a:xfrm>
            <a:off x="479155" y="1673393"/>
            <a:ext cx="6612300" cy="388500"/>
          </a:xfrm>
          <a:prstGeom prst="rect">
            <a:avLst/>
          </a:prstGeom>
          <a:noFill/>
          <a:ln>
            <a:noFill/>
          </a:ln>
        </p:spPr>
        <p:txBody>
          <a:bodyPr anchorCtr="0" anchor="t" bIns="25400" lIns="25400" spcFirstLastPara="1" rIns="25400" wrap="square" tIns="25400">
            <a:normAutofit/>
          </a:bodyPr>
          <a:lstStyle/>
          <a:p>
            <a:pPr indent="0" lvl="0" marL="0" marR="0" rtl="0" algn="l">
              <a:lnSpc>
                <a:spcPct val="160000"/>
              </a:lnSpc>
              <a:spcBef>
                <a:spcPts val="0"/>
              </a:spcBef>
              <a:spcAft>
                <a:spcPts val="0"/>
              </a:spcAft>
              <a:buClr>
                <a:srgbClr val="374151"/>
              </a:buClr>
              <a:buSzPts val="863"/>
              <a:buFont typeface="Inter"/>
              <a:buNone/>
            </a:pPr>
            <a:r>
              <a:rPr b="0" i="0" lang="en-US" sz="863" u="none" cap="none" strike="noStrike">
                <a:solidFill>
                  <a:srgbClr val="374151"/>
                </a:solidFill>
                <a:latin typeface="Inter"/>
                <a:ea typeface="Inter"/>
                <a:cs typeface="Inter"/>
                <a:sym typeface="Inter"/>
              </a:rPr>
              <a:t>The architecture separates orchestration, agent interpretation, validation logic, and audit tracking. This keeps Power Automate flows readable while placing business-critical logic in a controlled service layer.</a:t>
            </a:r>
            <a:endParaRPr b="0" i="0" sz="863" u="none" cap="none" strike="noStrike">
              <a:solidFill>
                <a:schemeClr val="dk1"/>
              </a:solidFill>
              <a:latin typeface="Inter"/>
              <a:ea typeface="Inter"/>
              <a:cs typeface="Inter"/>
              <a:sym typeface="Inter"/>
            </a:endParaRPr>
          </a:p>
        </p:txBody>
      </p:sp>
      <p:sp>
        <p:nvSpPr>
          <p:cNvPr id="215" name="Google Shape;215;p5"/>
          <p:cNvSpPr/>
          <p:nvPr/>
        </p:nvSpPr>
        <p:spPr>
          <a:xfrm>
            <a:off x="479155" y="2176284"/>
            <a:ext cx="6419700" cy="4470000"/>
          </a:xfrm>
          <a:prstGeom prst="roundRect">
            <a:avLst>
              <a:gd fmla="val 1279" name="adj"/>
            </a:avLst>
          </a:prstGeom>
          <a:solidFill>
            <a:srgbClr val="F7F8FA"/>
          </a:solidFill>
          <a:ln cap="flat" cmpd="sng" w="9525">
            <a:solidFill>
              <a:srgbClr val="E2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5"/>
          <p:cNvSpPr/>
          <p:nvPr/>
        </p:nvSpPr>
        <p:spPr>
          <a:xfrm>
            <a:off x="698230" y="2395359"/>
            <a:ext cx="1909500" cy="1857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047AB"/>
              </a:buClr>
              <a:buSzPts val="975"/>
              <a:buFont typeface="Inter"/>
              <a:buNone/>
            </a:pPr>
            <a:r>
              <a:rPr b="1" i="0" lang="en-US" sz="975" u="none" cap="none" strike="noStrike">
                <a:solidFill>
                  <a:srgbClr val="0047AB"/>
                </a:solidFill>
                <a:latin typeface="Inter"/>
                <a:ea typeface="Inter"/>
                <a:cs typeface="Inter"/>
                <a:sym typeface="Inter"/>
              </a:rPr>
              <a:t>MINIMAL ARCHITECTURE</a:t>
            </a:r>
            <a:endParaRPr b="0" i="0" sz="975" u="none" cap="none" strike="noStrike">
              <a:solidFill>
                <a:schemeClr val="dk1"/>
              </a:solidFill>
              <a:latin typeface="Inter"/>
              <a:ea typeface="Inter"/>
              <a:cs typeface="Inter"/>
              <a:sym typeface="Inter"/>
            </a:endParaRPr>
          </a:p>
        </p:txBody>
      </p:sp>
      <p:sp>
        <p:nvSpPr>
          <p:cNvPr id="217" name="Google Shape;217;p5"/>
          <p:cNvSpPr/>
          <p:nvPr/>
        </p:nvSpPr>
        <p:spPr>
          <a:xfrm>
            <a:off x="4246739" y="2428696"/>
            <a:ext cx="2509500" cy="1476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686"/>
              </a:buClr>
              <a:buSzPts val="750"/>
              <a:buFont typeface="Inter"/>
              <a:buNone/>
            </a:pPr>
            <a:r>
              <a:rPr b="0" i="0" lang="en-US" sz="750" u="none" cap="none" strike="noStrike">
                <a:solidFill>
                  <a:srgbClr val="6B7686"/>
                </a:solidFill>
                <a:latin typeface="Inter"/>
                <a:ea typeface="Inter"/>
                <a:cs typeface="Inter"/>
                <a:sym typeface="Inter"/>
              </a:rPr>
              <a:t>Two input channels · one validation core · audit-first</a:t>
            </a:r>
            <a:endParaRPr b="0" i="0" sz="750" u="none" cap="none" strike="noStrike">
              <a:solidFill>
                <a:schemeClr val="dk1"/>
              </a:solidFill>
              <a:latin typeface="Inter"/>
              <a:ea typeface="Inter"/>
              <a:cs typeface="Inter"/>
              <a:sym typeface="Inter"/>
            </a:endParaRPr>
          </a:p>
        </p:txBody>
      </p:sp>
      <p:pic>
        <p:nvPicPr>
          <p:cNvPr descr="preencoded.png" id="218" name="Google Shape;218;p5"/>
          <p:cNvPicPr preferRelativeResize="0"/>
          <p:nvPr/>
        </p:nvPicPr>
        <p:blipFill rotWithShape="1">
          <a:blip r:embed="rId4">
            <a:alphaModFix/>
          </a:blip>
          <a:srcRect b="0" l="0" r="0" t="0"/>
          <a:stretch/>
        </p:blipFill>
        <p:spPr>
          <a:xfrm>
            <a:off x="698230" y="2676346"/>
            <a:ext cx="5981700" cy="3226966"/>
          </a:xfrm>
          <a:prstGeom prst="rect">
            <a:avLst/>
          </a:prstGeom>
          <a:noFill/>
          <a:ln>
            <a:noFill/>
          </a:ln>
        </p:spPr>
      </p:pic>
      <p:sp>
        <p:nvSpPr>
          <p:cNvPr id="219" name="Google Shape;219;p5"/>
          <p:cNvSpPr/>
          <p:nvPr/>
        </p:nvSpPr>
        <p:spPr>
          <a:xfrm>
            <a:off x="698230" y="6081906"/>
            <a:ext cx="171600" cy="19200"/>
          </a:xfrm>
          <a:prstGeom prst="rect">
            <a:avLst/>
          </a:prstGeom>
          <a:solidFill>
            <a:srgbClr val="004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5"/>
          <p:cNvSpPr/>
          <p:nvPr/>
        </p:nvSpPr>
        <p:spPr>
          <a:xfrm>
            <a:off x="926830" y="6036662"/>
            <a:ext cx="1977000" cy="1428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4B5563"/>
              </a:buClr>
              <a:buSzPts val="750"/>
              <a:buFont typeface="Inter"/>
              <a:buNone/>
            </a:pPr>
            <a:r>
              <a:rPr b="0" i="0" lang="en-US" sz="750" u="none" cap="none" strike="noStrike">
                <a:solidFill>
                  <a:srgbClr val="4B5563"/>
                </a:solidFill>
                <a:latin typeface="Inter"/>
                <a:ea typeface="Inter"/>
                <a:cs typeface="Inter"/>
                <a:sym typeface="Inter"/>
              </a:rPr>
              <a:t>Cobalt, Newtuple-built service / decision path</a:t>
            </a:r>
            <a:endParaRPr b="0" i="0" sz="750" u="none" cap="none" strike="noStrike">
              <a:solidFill>
                <a:schemeClr val="dk1"/>
              </a:solidFill>
              <a:latin typeface="Inter"/>
              <a:ea typeface="Inter"/>
              <a:cs typeface="Inter"/>
              <a:sym typeface="Inter"/>
            </a:endParaRPr>
          </a:p>
        </p:txBody>
      </p:sp>
      <p:sp>
        <p:nvSpPr>
          <p:cNvPr id="221" name="Google Shape;221;p5"/>
          <p:cNvSpPr/>
          <p:nvPr/>
        </p:nvSpPr>
        <p:spPr>
          <a:xfrm>
            <a:off x="2998964" y="6081906"/>
            <a:ext cx="171600" cy="19200"/>
          </a:xfrm>
          <a:prstGeom prst="rect">
            <a:avLst/>
          </a:prstGeom>
          <a:solidFill>
            <a:srgbClr val="9AA4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5"/>
          <p:cNvSpPr/>
          <p:nvPr/>
        </p:nvSpPr>
        <p:spPr>
          <a:xfrm>
            <a:off x="3227564" y="6036662"/>
            <a:ext cx="1652100" cy="1428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4B5563"/>
              </a:buClr>
              <a:buSzPts val="750"/>
              <a:buFont typeface="Inter"/>
              <a:buNone/>
            </a:pPr>
            <a:r>
              <a:rPr b="0" i="0" lang="en-US" sz="750" u="none" cap="none" strike="noStrike">
                <a:solidFill>
                  <a:srgbClr val="4B5563"/>
                </a:solidFill>
                <a:latin typeface="Inter"/>
                <a:ea typeface="Inter"/>
                <a:cs typeface="Inter"/>
                <a:sym typeface="Inter"/>
              </a:rPr>
              <a:t>Gray, orchestration &amp; data movement</a:t>
            </a:r>
            <a:endParaRPr b="0" i="0" sz="750" u="none" cap="none" strike="noStrike">
              <a:solidFill>
                <a:schemeClr val="dk1"/>
              </a:solidFill>
              <a:latin typeface="Inter"/>
              <a:ea typeface="Inter"/>
              <a:cs typeface="Inter"/>
              <a:sym typeface="Inter"/>
            </a:endParaRPr>
          </a:p>
        </p:txBody>
      </p:sp>
      <p:sp>
        <p:nvSpPr>
          <p:cNvPr id="223" name="Google Shape;223;p5"/>
          <p:cNvSpPr/>
          <p:nvPr/>
        </p:nvSpPr>
        <p:spPr>
          <a:xfrm>
            <a:off x="698230" y="6362893"/>
            <a:ext cx="171600" cy="19200"/>
          </a:xfrm>
          <a:prstGeom prst="rect">
            <a:avLst/>
          </a:prstGeom>
          <a:solidFill>
            <a:srgbClr val="004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5"/>
          <p:cNvSpPr/>
          <p:nvPr/>
        </p:nvSpPr>
        <p:spPr>
          <a:xfrm>
            <a:off x="926830" y="6317650"/>
            <a:ext cx="1675500" cy="142800"/>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rgbClr val="4B5563"/>
              </a:buClr>
              <a:buSzPts val="750"/>
              <a:buFont typeface="Inter"/>
              <a:buNone/>
            </a:pPr>
            <a:r>
              <a:rPr b="0" i="0" lang="en-US" sz="750" u="none" cap="none" strike="noStrike">
                <a:solidFill>
                  <a:srgbClr val="4B5563"/>
                </a:solidFill>
                <a:latin typeface="Inter"/>
                <a:ea typeface="Inter"/>
                <a:cs typeface="Inter"/>
                <a:sym typeface="Inter"/>
              </a:rPr>
              <a:t>Dashed, response / feedback channel</a:t>
            </a:r>
            <a:endParaRPr b="0" i="0" sz="750" u="none" cap="none" strike="noStrike">
              <a:solidFill>
                <a:schemeClr val="dk1"/>
              </a:solidFill>
              <a:latin typeface="Inter"/>
              <a:ea typeface="Inter"/>
              <a:cs typeface="Inter"/>
              <a:sym typeface="Inter"/>
            </a:endParaRPr>
          </a:p>
        </p:txBody>
      </p:sp>
      <p:sp>
        <p:nvSpPr>
          <p:cNvPr id="225" name="Google Shape;225;p5"/>
          <p:cNvSpPr/>
          <p:nvPr/>
        </p:nvSpPr>
        <p:spPr>
          <a:xfrm>
            <a:off x="479155" y="6836762"/>
            <a:ext cx="6612300" cy="2334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E1320"/>
              </a:buClr>
              <a:buSzPts val="1275"/>
              <a:buFont typeface="Inter"/>
              <a:buNone/>
            </a:pPr>
            <a:r>
              <a:rPr b="1" i="0" lang="en-US" sz="1275" u="none" cap="none" strike="noStrike">
                <a:solidFill>
                  <a:srgbClr val="0E1320"/>
                </a:solidFill>
                <a:latin typeface="Inter"/>
                <a:ea typeface="Inter"/>
                <a:cs typeface="Inter"/>
                <a:sym typeface="Inter"/>
              </a:rPr>
              <a:t>Recommended components</a:t>
            </a:r>
            <a:endParaRPr b="0" i="0" sz="1275" u="none" cap="none" strike="noStrike">
              <a:solidFill>
                <a:schemeClr val="dk1"/>
              </a:solidFill>
              <a:latin typeface="Inter"/>
              <a:ea typeface="Inter"/>
              <a:cs typeface="Inter"/>
              <a:sym typeface="Inter"/>
            </a:endParaRPr>
          </a:p>
        </p:txBody>
      </p:sp>
      <p:sp>
        <p:nvSpPr>
          <p:cNvPr id="226" name="Google Shape;226;p5"/>
          <p:cNvSpPr/>
          <p:nvPr/>
        </p:nvSpPr>
        <p:spPr>
          <a:xfrm>
            <a:off x="479155" y="7184425"/>
            <a:ext cx="1714500" cy="288000"/>
          </a:xfrm>
          <a:prstGeom prst="rect">
            <a:avLst/>
          </a:prstGeom>
          <a:solidFill>
            <a:srgbClr val="F7F8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5"/>
          <p:cNvSpPr/>
          <p:nvPr/>
        </p:nvSpPr>
        <p:spPr>
          <a:xfrm>
            <a:off x="479155" y="7463031"/>
            <a:ext cx="1714500" cy="9600"/>
          </a:xfrm>
          <a:prstGeom prst="rect">
            <a:avLst/>
          </a:prstGeom>
          <a:solidFill>
            <a:srgbClr val="004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5"/>
          <p:cNvSpPr/>
          <p:nvPr/>
        </p:nvSpPr>
        <p:spPr>
          <a:xfrm>
            <a:off x="574405" y="7251100"/>
            <a:ext cx="1600200" cy="1833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788"/>
              <a:buFont typeface="Inter"/>
              <a:buNone/>
            </a:pPr>
            <a:r>
              <a:rPr b="1" i="0" lang="en-US" sz="788" u="none" cap="none" strike="noStrike">
                <a:solidFill>
                  <a:srgbClr val="374151"/>
                </a:solidFill>
                <a:latin typeface="Inter"/>
                <a:ea typeface="Inter"/>
                <a:cs typeface="Inter"/>
                <a:sym typeface="Inter"/>
              </a:rPr>
              <a:t>LAYER</a:t>
            </a:r>
            <a:endParaRPr b="0" i="0" sz="788" u="none" cap="none" strike="noStrike">
              <a:solidFill>
                <a:schemeClr val="dk1"/>
              </a:solidFill>
              <a:latin typeface="Inter"/>
              <a:ea typeface="Inter"/>
              <a:cs typeface="Inter"/>
              <a:sym typeface="Inter"/>
            </a:endParaRPr>
          </a:p>
        </p:txBody>
      </p:sp>
      <p:sp>
        <p:nvSpPr>
          <p:cNvPr id="229" name="Google Shape;229;p5"/>
          <p:cNvSpPr/>
          <p:nvPr/>
        </p:nvSpPr>
        <p:spPr>
          <a:xfrm>
            <a:off x="2193655" y="7184425"/>
            <a:ext cx="4705200" cy="288000"/>
          </a:xfrm>
          <a:prstGeom prst="rect">
            <a:avLst/>
          </a:prstGeom>
          <a:solidFill>
            <a:srgbClr val="F7F8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5"/>
          <p:cNvSpPr/>
          <p:nvPr/>
        </p:nvSpPr>
        <p:spPr>
          <a:xfrm>
            <a:off x="2193655" y="7463031"/>
            <a:ext cx="4705200" cy="9600"/>
          </a:xfrm>
          <a:prstGeom prst="rect">
            <a:avLst/>
          </a:prstGeom>
          <a:solidFill>
            <a:srgbClr val="004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5"/>
          <p:cNvSpPr/>
          <p:nvPr/>
        </p:nvSpPr>
        <p:spPr>
          <a:xfrm>
            <a:off x="2288905" y="7251100"/>
            <a:ext cx="4656000" cy="1833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788"/>
              <a:buFont typeface="Inter"/>
              <a:buNone/>
            </a:pPr>
            <a:r>
              <a:rPr b="1" i="0" lang="en-US" sz="788" u="none" cap="none" strike="noStrike">
                <a:solidFill>
                  <a:srgbClr val="374151"/>
                </a:solidFill>
                <a:latin typeface="Inter"/>
                <a:ea typeface="Inter"/>
                <a:cs typeface="Inter"/>
                <a:sym typeface="Inter"/>
              </a:rPr>
              <a:t>RECOMMENDATION</a:t>
            </a:r>
            <a:endParaRPr b="0" i="0" sz="788" u="none" cap="none" strike="noStrike">
              <a:solidFill>
                <a:schemeClr val="dk1"/>
              </a:solidFill>
              <a:latin typeface="Inter"/>
              <a:ea typeface="Inter"/>
              <a:cs typeface="Inter"/>
              <a:sym typeface="Inter"/>
            </a:endParaRPr>
          </a:p>
        </p:txBody>
      </p:sp>
      <p:sp>
        <p:nvSpPr>
          <p:cNvPr id="232" name="Google Shape;232;p5"/>
          <p:cNvSpPr/>
          <p:nvPr/>
        </p:nvSpPr>
        <p:spPr>
          <a:xfrm>
            <a:off x="479155" y="7920231"/>
            <a:ext cx="17145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5"/>
          <p:cNvSpPr/>
          <p:nvPr/>
        </p:nvSpPr>
        <p:spPr>
          <a:xfrm>
            <a:off x="574405" y="7539231"/>
            <a:ext cx="1600200" cy="3525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0E1320"/>
              </a:buClr>
              <a:buSzPts val="825"/>
              <a:buFont typeface="Inter"/>
              <a:buNone/>
            </a:pPr>
            <a:r>
              <a:rPr b="1" i="0" lang="en-US" sz="825" u="none" cap="none" strike="noStrike">
                <a:solidFill>
                  <a:srgbClr val="0E1320"/>
                </a:solidFill>
                <a:latin typeface="Inter"/>
                <a:ea typeface="Inter"/>
                <a:cs typeface="Inter"/>
                <a:sym typeface="Inter"/>
              </a:rPr>
              <a:t>Orchestration</a:t>
            </a:r>
            <a:endParaRPr b="0" i="0" sz="825" u="none" cap="none" strike="noStrike">
              <a:solidFill>
                <a:schemeClr val="dk1"/>
              </a:solidFill>
              <a:latin typeface="Inter"/>
              <a:ea typeface="Inter"/>
              <a:cs typeface="Inter"/>
              <a:sym typeface="Inter"/>
            </a:endParaRPr>
          </a:p>
        </p:txBody>
      </p:sp>
      <p:sp>
        <p:nvSpPr>
          <p:cNvPr id="234" name="Google Shape;234;p5"/>
          <p:cNvSpPr/>
          <p:nvPr/>
        </p:nvSpPr>
        <p:spPr>
          <a:xfrm>
            <a:off x="2193655" y="7920231"/>
            <a:ext cx="47052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5"/>
          <p:cNvSpPr/>
          <p:nvPr/>
        </p:nvSpPr>
        <p:spPr>
          <a:xfrm>
            <a:off x="2288905" y="7539231"/>
            <a:ext cx="4656000" cy="3525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825"/>
              <a:buFont typeface="Inter"/>
              <a:buNone/>
            </a:pPr>
            <a:r>
              <a:rPr b="0" i="0" lang="en-US" sz="825" u="none" cap="none" strike="noStrike">
                <a:solidFill>
                  <a:srgbClr val="374151"/>
                </a:solidFill>
                <a:latin typeface="Inter"/>
                <a:ea typeface="Inter"/>
                <a:cs typeface="Inter"/>
                <a:sym typeface="Inter"/>
              </a:rPr>
              <a:t>Microsoft Power Automate. Client E5 license is noted, but Premium or Process licensing may still be required for premium connectors.</a:t>
            </a:r>
            <a:endParaRPr b="0" i="0" sz="825" u="none" cap="none" strike="noStrike">
              <a:solidFill>
                <a:schemeClr val="dk1"/>
              </a:solidFill>
              <a:latin typeface="Inter"/>
              <a:ea typeface="Inter"/>
              <a:cs typeface="Inter"/>
              <a:sym typeface="Inter"/>
            </a:endParaRPr>
          </a:p>
        </p:txBody>
      </p:sp>
      <p:sp>
        <p:nvSpPr>
          <p:cNvPr id="236" name="Google Shape;236;p5"/>
          <p:cNvSpPr/>
          <p:nvPr/>
        </p:nvSpPr>
        <p:spPr>
          <a:xfrm>
            <a:off x="479155" y="8377431"/>
            <a:ext cx="17145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5"/>
          <p:cNvSpPr/>
          <p:nvPr/>
        </p:nvSpPr>
        <p:spPr>
          <a:xfrm>
            <a:off x="574405" y="7996431"/>
            <a:ext cx="1600200" cy="3525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0E1320"/>
              </a:buClr>
              <a:buSzPts val="825"/>
              <a:buFont typeface="Inter"/>
              <a:buNone/>
            </a:pPr>
            <a:r>
              <a:rPr b="1" i="0" lang="en-US" sz="825" u="none" cap="none" strike="noStrike">
                <a:solidFill>
                  <a:srgbClr val="0E1320"/>
                </a:solidFill>
                <a:latin typeface="Inter"/>
                <a:ea typeface="Inter"/>
                <a:cs typeface="Inter"/>
                <a:sym typeface="Inter"/>
              </a:rPr>
              <a:t>Agent &amp; API layer</a:t>
            </a:r>
            <a:endParaRPr b="0" i="0" sz="825" u="none" cap="none" strike="noStrike">
              <a:solidFill>
                <a:schemeClr val="dk1"/>
              </a:solidFill>
              <a:latin typeface="Inter"/>
              <a:ea typeface="Inter"/>
              <a:cs typeface="Inter"/>
              <a:sym typeface="Inter"/>
            </a:endParaRPr>
          </a:p>
        </p:txBody>
      </p:sp>
      <p:sp>
        <p:nvSpPr>
          <p:cNvPr id="238" name="Google Shape;238;p5"/>
          <p:cNvSpPr/>
          <p:nvPr/>
        </p:nvSpPr>
        <p:spPr>
          <a:xfrm>
            <a:off x="2193655" y="8377431"/>
            <a:ext cx="47052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5"/>
          <p:cNvSpPr/>
          <p:nvPr/>
        </p:nvSpPr>
        <p:spPr>
          <a:xfrm>
            <a:off x="2288905" y="7996431"/>
            <a:ext cx="4656000" cy="3525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825"/>
              <a:buFont typeface="Inter"/>
              <a:buNone/>
            </a:pPr>
            <a:r>
              <a:rPr lang="en-US" sz="825">
                <a:solidFill>
                  <a:srgbClr val="374151"/>
                </a:solidFill>
              </a:rPr>
              <a:t>RESTful web API </a:t>
            </a:r>
            <a:r>
              <a:rPr b="0" i="0" lang="en-US" sz="825" u="none" cap="none" strike="noStrike">
                <a:solidFill>
                  <a:srgbClr val="374151"/>
                </a:solidFill>
                <a:latin typeface="Inter"/>
                <a:ea typeface="Inter"/>
                <a:cs typeface="Inter"/>
                <a:sym typeface="Inter"/>
              </a:rPr>
              <a:t>to invoke the agent and validation process synchronously or asynchronously.</a:t>
            </a:r>
            <a:endParaRPr b="0" i="0" sz="825" u="none" cap="none" strike="noStrike">
              <a:solidFill>
                <a:schemeClr val="dk1"/>
              </a:solidFill>
              <a:latin typeface="Inter"/>
              <a:ea typeface="Inter"/>
              <a:cs typeface="Inter"/>
              <a:sym typeface="Inter"/>
            </a:endParaRPr>
          </a:p>
        </p:txBody>
      </p:sp>
      <p:sp>
        <p:nvSpPr>
          <p:cNvPr id="240" name="Google Shape;240;p5"/>
          <p:cNvSpPr/>
          <p:nvPr/>
        </p:nvSpPr>
        <p:spPr>
          <a:xfrm>
            <a:off x="479155" y="8834631"/>
            <a:ext cx="17145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5"/>
          <p:cNvSpPr/>
          <p:nvPr/>
        </p:nvSpPr>
        <p:spPr>
          <a:xfrm>
            <a:off x="574405" y="8453631"/>
            <a:ext cx="1600200" cy="3525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0E1320"/>
              </a:buClr>
              <a:buSzPts val="825"/>
              <a:buFont typeface="Inter"/>
              <a:buNone/>
            </a:pPr>
            <a:r>
              <a:rPr b="1" i="0" lang="en-US" sz="825" u="none" cap="none" strike="noStrike">
                <a:solidFill>
                  <a:srgbClr val="0E1320"/>
                </a:solidFill>
                <a:latin typeface="Inter"/>
                <a:ea typeface="Inter"/>
                <a:cs typeface="Inter"/>
                <a:sym typeface="Inter"/>
              </a:rPr>
              <a:t>AI interpretation</a:t>
            </a:r>
            <a:endParaRPr b="0" i="0" sz="825" u="none" cap="none" strike="noStrike">
              <a:solidFill>
                <a:schemeClr val="dk1"/>
              </a:solidFill>
              <a:latin typeface="Inter"/>
              <a:ea typeface="Inter"/>
              <a:cs typeface="Inter"/>
              <a:sym typeface="Inter"/>
            </a:endParaRPr>
          </a:p>
        </p:txBody>
      </p:sp>
      <p:sp>
        <p:nvSpPr>
          <p:cNvPr id="242" name="Google Shape;242;p5"/>
          <p:cNvSpPr/>
          <p:nvPr/>
        </p:nvSpPr>
        <p:spPr>
          <a:xfrm>
            <a:off x="2193655" y="8834631"/>
            <a:ext cx="47052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5"/>
          <p:cNvSpPr/>
          <p:nvPr/>
        </p:nvSpPr>
        <p:spPr>
          <a:xfrm>
            <a:off x="2288905" y="8453631"/>
            <a:ext cx="4656000" cy="3525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825"/>
              <a:buFont typeface="Inter"/>
              <a:buNone/>
            </a:pPr>
            <a:r>
              <a:rPr b="0" i="0" lang="en-US" sz="825" u="none" cap="none" strike="noStrike">
                <a:solidFill>
                  <a:srgbClr val="374151"/>
                </a:solidFill>
                <a:latin typeface="Inter"/>
                <a:ea typeface="Inter"/>
                <a:cs typeface="Inter"/>
                <a:sym typeface="Inter"/>
              </a:rPr>
              <a:t>Agent-based processing of employer email commentary and natural-language instructions (Flow 1 only).</a:t>
            </a:r>
            <a:endParaRPr b="0" i="0" sz="825" u="none" cap="none" strike="noStrike">
              <a:solidFill>
                <a:schemeClr val="dk1"/>
              </a:solidFill>
              <a:latin typeface="Inter"/>
              <a:ea typeface="Inter"/>
              <a:cs typeface="Inter"/>
              <a:sym typeface="Inter"/>
            </a:endParaRPr>
          </a:p>
        </p:txBody>
      </p:sp>
      <p:sp>
        <p:nvSpPr>
          <p:cNvPr id="244" name="Google Shape;244;p5"/>
          <p:cNvSpPr/>
          <p:nvPr/>
        </p:nvSpPr>
        <p:spPr>
          <a:xfrm>
            <a:off x="479155" y="9134668"/>
            <a:ext cx="17145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5"/>
          <p:cNvSpPr/>
          <p:nvPr/>
        </p:nvSpPr>
        <p:spPr>
          <a:xfrm>
            <a:off x="574405" y="8910831"/>
            <a:ext cx="1600200" cy="1953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0E1320"/>
              </a:buClr>
              <a:buSzPts val="825"/>
              <a:buFont typeface="Inter"/>
              <a:buNone/>
            </a:pPr>
            <a:r>
              <a:rPr b="1" i="0" lang="en-US" sz="825" u="none" cap="none" strike="noStrike">
                <a:solidFill>
                  <a:srgbClr val="0E1320"/>
                </a:solidFill>
                <a:latin typeface="Inter"/>
                <a:ea typeface="Inter"/>
                <a:cs typeface="Inter"/>
                <a:sym typeface="Inter"/>
              </a:rPr>
              <a:t>Validation engine</a:t>
            </a:r>
            <a:endParaRPr b="0" i="0" sz="825" u="none" cap="none" strike="noStrike">
              <a:solidFill>
                <a:schemeClr val="dk1"/>
              </a:solidFill>
              <a:latin typeface="Inter"/>
              <a:ea typeface="Inter"/>
              <a:cs typeface="Inter"/>
              <a:sym typeface="Inter"/>
            </a:endParaRPr>
          </a:p>
        </p:txBody>
      </p:sp>
      <p:sp>
        <p:nvSpPr>
          <p:cNvPr id="246" name="Google Shape;246;p5"/>
          <p:cNvSpPr/>
          <p:nvPr/>
        </p:nvSpPr>
        <p:spPr>
          <a:xfrm>
            <a:off x="2193655" y="9134668"/>
            <a:ext cx="47052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5"/>
          <p:cNvSpPr/>
          <p:nvPr/>
        </p:nvSpPr>
        <p:spPr>
          <a:xfrm>
            <a:off x="2288905" y="8910831"/>
            <a:ext cx="4656000" cy="1953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825"/>
              <a:buFont typeface="Inter"/>
              <a:buNone/>
            </a:pPr>
            <a:r>
              <a:rPr b="0" i="0" lang="en-US" sz="825" u="none" cap="none" strike="noStrike">
                <a:solidFill>
                  <a:srgbClr val="374151"/>
                </a:solidFill>
                <a:latin typeface="Inter"/>
                <a:ea typeface="Inter"/>
                <a:cs typeface="Inter"/>
                <a:sym typeface="Inter"/>
              </a:rPr>
              <a:t>Configurable technical and business rule execution with comparison to previous submissions.</a:t>
            </a:r>
            <a:endParaRPr b="0" i="0" sz="825" u="none" cap="none" strike="noStrike">
              <a:solidFill>
                <a:schemeClr val="dk1"/>
              </a:solidFill>
              <a:latin typeface="Inter"/>
              <a:ea typeface="Inter"/>
              <a:cs typeface="Inter"/>
              <a:sym typeface="Inter"/>
            </a:endParaRPr>
          </a:p>
        </p:txBody>
      </p:sp>
      <p:sp>
        <p:nvSpPr>
          <p:cNvPr id="248" name="Google Shape;248;p5"/>
          <p:cNvSpPr/>
          <p:nvPr/>
        </p:nvSpPr>
        <p:spPr>
          <a:xfrm>
            <a:off x="479155" y="9434706"/>
            <a:ext cx="17145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5"/>
          <p:cNvSpPr/>
          <p:nvPr/>
        </p:nvSpPr>
        <p:spPr>
          <a:xfrm>
            <a:off x="574405" y="9210868"/>
            <a:ext cx="1600200" cy="1953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0E1320"/>
              </a:buClr>
              <a:buSzPts val="825"/>
              <a:buFont typeface="Inter"/>
              <a:buNone/>
            </a:pPr>
            <a:r>
              <a:rPr b="1" i="0" lang="en-US" sz="825" u="none" cap="none" strike="noStrike">
                <a:solidFill>
                  <a:srgbClr val="0E1320"/>
                </a:solidFill>
                <a:latin typeface="Inter"/>
                <a:ea typeface="Inter"/>
                <a:cs typeface="Inter"/>
                <a:sym typeface="Inter"/>
              </a:rPr>
              <a:t>Storage &amp; history</a:t>
            </a:r>
            <a:endParaRPr b="0" i="0" sz="825" u="none" cap="none" strike="noStrike">
              <a:solidFill>
                <a:schemeClr val="dk1"/>
              </a:solidFill>
              <a:latin typeface="Inter"/>
              <a:ea typeface="Inter"/>
              <a:cs typeface="Inter"/>
              <a:sym typeface="Inter"/>
            </a:endParaRPr>
          </a:p>
        </p:txBody>
      </p:sp>
      <p:sp>
        <p:nvSpPr>
          <p:cNvPr id="250" name="Google Shape;250;p5"/>
          <p:cNvSpPr/>
          <p:nvPr/>
        </p:nvSpPr>
        <p:spPr>
          <a:xfrm>
            <a:off x="2193655" y="9434706"/>
            <a:ext cx="47052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5"/>
          <p:cNvSpPr/>
          <p:nvPr/>
        </p:nvSpPr>
        <p:spPr>
          <a:xfrm>
            <a:off x="2288905" y="9210868"/>
            <a:ext cx="4656000" cy="1953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825"/>
              <a:buFont typeface="Inter"/>
              <a:buNone/>
            </a:pPr>
            <a:r>
              <a:rPr b="0" i="0" lang="en-US" sz="825" u="none" cap="none" strike="noStrike">
                <a:solidFill>
                  <a:srgbClr val="374151"/>
                </a:solidFill>
                <a:latin typeface="Inter"/>
                <a:ea typeface="Inter"/>
                <a:cs typeface="Inter"/>
                <a:sym typeface="Inter"/>
              </a:rPr>
              <a:t>Historical files retrieved from the agreed cloud storage location during processing.</a:t>
            </a:r>
            <a:endParaRPr b="0" i="0" sz="825" u="none" cap="none" strike="noStrike">
              <a:solidFill>
                <a:schemeClr val="dk1"/>
              </a:solidFill>
              <a:latin typeface="Inter"/>
              <a:ea typeface="Inter"/>
              <a:cs typeface="Inter"/>
              <a:sym typeface="Inter"/>
            </a:endParaRPr>
          </a:p>
        </p:txBody>
      </p:sp>
      <p:sp>
        <p:nvSpPr>
          <p:cNvPr id="252" name="Google Shape;252;p5"/>
          <p:cNvSpPr/>
          <p:nvPr/>
        </p:nvSpPr>
        <p:spPr>
          <a:xfrm>
            <a:off x="574405" y="9510906"/>
            <a:ext cx="1600200" cy="3573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0E1320"/>
              </a:buClr>
              <a:buSzPts val="825"/>
              <a:buFont typeface="Inter"/>
              <a:buNone/>
            </a:pPr>
            <a:r>
              <a:rPr b="1" i="0" lang="en-US" sz="825" u="none" cap="none" strike="noStrike">
                <a:solidFill>
                  <a:srgbClr val="0E1320"/>
                </a:solidFill>
                <a:latin typeface="Inter"/>
                <a:ea typeface="Inter"/>
                <a:cs typeface="Inter"/>
                <a:sym typeface="Inter"/>
              </a:rPr>
              <a:t>PAS integration</a:t>
            </a:r>
            <a:endParaRPr b="0" i="0" sz="825" u="none" cap="none" strike="noStrike">
              <a:solidFill>
                <a:schemeClr val="dk1"/>
              </a:solidFill>
              <a:latin typeface="Inter"/>
              <a:ea typeface="Inter"/>
              <a:cs typeface="Inter"/>
              <a:sym typeface="Inter"/>
            </a:endParaRPr>
          </a:p>
        </p:txBody>
      </p:sp>
      <p:sp>
        <p:nvSpPr>
          <p:cNvPr id="253" name="Google Shape;253;p5"/>
          <p:cNvSpPr/>
          <p:nvPr/>
        </p:nvSpPr>
        <p:spPr>
          <a:xfrm>
            <a:off x="2288905" y="9510906"/>
            <a:ext cx="4656000" cy="3573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825"/>
              <a:buFont typeface="Inter"/>
              <a:buNone/>
            </a:pPr>
            <a:r>
              <a:rPr b="0" i="0" lang="en-US" sz="825" u="none" cap="none" strike="noStrike">
                <a:solidFill>
                  <a:srgbClr val="374151"/>
                </a:solidFill>
                <a:latin typeface="Inter"/>
                <a:ea typeface="Inter"/>
                <a:cs typeface="Inter"/>
                <a:sym typeface="Inter"/>
              </a:rPr>
              <a:t>Validated data posted to the PAS API, subject to API access, contract, and authentication confirmation.</a:t>
            </a:r>
            <a:endParaRPr b="0" i="0" sz="825" u="none" cap="none" strike="noStrike">
              <a:solidFill>
                <a:schemeClr val="dk1"/>
              </a:solidFill>
              <a:latin typeface="Inter"/>
              <a:ea typeface="Inter"/>
              <a:cs typeface="Inter"/>
              <a:sym typeface="Inter"/>
            </a:endParaRPr>
          </a:p>
        </p:txBody>
      </p:sp>
      <p:sp>
        <p:nvSpPr>
          <p:cNvPr id="254" name="Google Shape;254;p5"/>
          <p:cNvSpPr/>
          <p:nvPr/>
        </p:nvSpPr>
        <p:spPr>
          <a:xfrm>
            <a:off x="0" y="10234613"/>
            <a:ext cx="7562850" cy="461963"/>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5"/>
          <p:cNvSpPr/>
          <p:nvPr/>
        </p:nvSpPr>
        <p:spPr>
          <a:xfrm>
            <a:off x="0" y="10234613"/>
            <a:ext cx="7562850" cy="9525"/>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5"/>
          <p:cNvSpPr/>
          <p:nvPr/>
        </p:nvSpPr>
        <p:spPr>
          <a:xfrm>
            <a:off x="6540847" y="10377488"/>
            <a:ext cx="526703" cy="147638"/>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0047AB"/>
              </a:buClr>
              <a:buSzPts val="713"/>
              <a:buFont typeface="Inter"/>
              <a:buNone/>
            </a:pPr>
            <a:r>
              <a:rPr b="1" i="0" lang="en-US" sz="713" u="none" cap="none" strike="noStrike">
                <a:solidFill>
                  <a:srgbClr val="6B7686"/>
                </a:solidFill>
                <a:latin typeface="Inter"/>
                <a:ea typeface="Inter"/>
                <a:cs typeface="Inter"/>
                <a:sym typeface="Inter"/>
              </a:rPr>
              <a:t>05 / 1</a:t>
            </a:r>
            <a:r>
              <a:rPr b="1" lang="en-US" sz="713">
                <a:solidFill>
                  <a:srgbClr val="6B7686"/>
                </a:solidFill>
              </a:rPr>
              <a:t>2</a:t>
            </a:r>
            <a:endParaRPr b="0" i="0" sz="713" u="none" cap="none" strike="noStrike">
              <a:solidFill>
                <a:srgbClr val="6B7686"/>
              </a:solidFill>
              <a:latin typeface="Inter"/>
              <a:ea typeface="Inter"/>
              <a:cs typeface="Inter"/>
              <a:sym typeface="Inter"/>
            </a:endParaRPr>
          </a:p>
        </p:txBody>
      </p:sp>
      <p:sp>
        <p:nvSpPr>
          <p:cNvPr id="257" name="Google Shape;257;p5"/>
          <p:cNvSpPr/>
          <p:nvPr/>
        </p:nvSpPr>
        <p:spPr>
          <a:xfrm>
            <a:off x="571500" y="10377500"/>
            <a:ext cx="3966300" cy="138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7686"/>
              </a:buClr>
              <a:buSzPts val="713"/>
              <a:buFont typeface="Inter"/>
              <a:buNone/>
            </a:pPr>
            <a:r>
              <a:rPr b="0" i="0" lang="en-US" sz="713" u="none" cap="none" strike="noStrike">
                <a:solidFill>
                  <a:srgbClr val="6B7686"/>
                </a:solidFill>
                <a:latin typeface="Inter"/>
                <a:ea typeface="Inter"/>
                <a:cs typeface="Inter"/>
                <a:sym typeface="Inter"/>
              </a:rPr>
              <a:t>NEWTUPLE TECHNOLOGIES · 		  		     </a:t>
            </a:r>
            <a:r>
              <a:rPr lang="en-US" sz="713">
                <a:solidFill>
                  <a:srgbClr val="6B7686"/>
                </a:solidFill>
              </a:rPr>
              <a:t>    </a:t>
            </a:r>
            <a:r>
              <a:rPr b="0" i="0" lang="en-US" sz="713" u="none" cap="none" strike="noStrike">
                <a:solidFill>
                  <a:srgbClr val="6B7686"/>
                </a:solidFill>
                <a:latin typeface="Inter"/>
                <a:ea typeface="Inter"/>
                <a:cs typeface="Inter"/>
                <a:sym typeface="Inter"/>
              </a:rPr>
              <a:t>CONFIDENTIAL</a:t>
            </a:r>
            <a:endParaRPr b="0" i="0" sz="713" u="none" cap="none" strike="noStrike">
              <a:solidFill>
                <a:schemeClr val="dk1"/>
              </a:solidFill>
              <a:latin typeface="Inter"/>
              <a:ea typeface="Inter"/>
              <a:cs typeface="Inter"/>
              <a:sym typeface="Inte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2" name="Shape 262"/>
        <p:cNvGrpSpPr/>
        <p:nvPr/>
      </p:nvGrpSpPr>
      <p:grpSpPr>
        <a:xfrm>
          <a:off x="0" y="0"/>
          <a:ext cx="0" cy="0"/>
          <a:chOff x="0" y="0"/>
          <a:chExt cx="0" cy="0"/>
        </a:xfrm>
      </p:grpSpPr>
      <p:sp>
        <p:nvSpPr>
          <p:cNvPr id="263" name="Google Shape;263;g3e8a63689bf_0_40"/>
          <p:cNvSpPr/>
          <p:nvPr/>
        </p:nvSpPr>
        <p:spPr>
          <a:xfrm>
            <a:off x="0" y="0"/>
            <a:ext cx="7563000" cy="10696500"/>
          </a:xfrm>
          <a:prstGeom prst="rect">
            <a:avLst/>
          </a:prstGeom>
          <a:noFill/>
          <a:ln>
            <a:noFill/>
          </a:ln>
          <a:effectLst>
            <a:outerShdw blurRad="381000" rotWithShape="0" algn="bl" dir="5400000" dist="133350">
              <a:srgbClr val="0E1320">
                <a:alpha val="10196"/>
              </a:srgbClr>
            </a:outerShdw>
          </a:effectLst>
        </p:spPr>
        <p:txBody>
          <a:bodyPr anchorCtr="0" anchor="ctr" bIns="91425" lIns="91425" spcFirstLastPara="1" rIns="91425" wrap="square" tIns="91425">
            <a:noAutofit/>
          </a:bodyPr>
          <a:lstStyle/>
          <a:p>
            <a:pPr indent="0" lvl="0" marL="457200" rtl="0" algn="l">
              <a:spcBef>
                <a:spcPts val="0"/>
              </a:spcBef>
              <a:spcAft>
                <a:spcPts val="0"/>
              </a:spcAft>
              <a:buNone/>
            </a:pPr>
            <a:r>
              <a:t/>
            </a:r>
            <a:endParaRPr/>
          </a:p>
        </p:txBody>
      </p:sp>
      <p:pic>
        <p:nvPicPr>
          <p:cNvPr descr="preencoded.png" id="264" name="Google Shape;264;g3e8a63689bf_0_40"/>
          <p:cNvPicPr preferRelativeResize="0"/>
          <p:nvPr/>
        </p:nvPicPr>
        <p:blipFill rotWithShape="1">
          <a:blip r:embed="rId3">
            <a:alphaModFix/>
          </a:blip>
          <a:srcRect b="0" l="0" r="0" t="0"/>
          <a:stretch/>
        </p:blipFill>
        <p:spPr>
          <a:xfrm>
            <a:off x="510289" y="607420"/>
            <a:ext cx="815357" cy="152400"/>
          </a:xfrm>
          <a:prstGeom prst="rect">
            <a:avLst/>
          </a:prstGeom>
          <a:noFill/>
          <a:ln>
            <a:noFill/>
          </a:ln>
        </p:spPr>
      </p:pic>
      <p:sp>
        <p:nvSpPr>
          <p:cNvPr id="265" name="Google Shape;265;g3e8a63689bf_0_40"/>
          <p:cNvSpPr/>
          <p:nvPr/>
        </p:nvSpPr>
        <p:spPr>
          <a:xfrm>
            <a:off x="3425311" y="626470"/>
            <a:ext cx="3609900" cy="152400"/>
          </a:xfrm>
          <a:prstGeom prst="rect">
            <a:avLst/>
          </a:prstGeom>
          <a:noFill/>
          <a:ln>
            <a:noFill/>
          </a:ln>
        </p:spPr>
        <p:txBody>
          <a:bodyPr anchorCtr="0" anchor="t" bIns="25400" lIns="25400" spcFirstLastPara="1" rIns="25400" wrap="square" tIns="25400">
            <a:noAutofit/>
          </a:bodyPr>
          <a:lstStyle/>
          <a:p>
            <a:pPr indent="0" lvl="0" marL="0" marR="0" rtl="0" algn="r">
              <a:spcBef>
                <a:spcPts val="0"/>
              </a:spcBef>
              <a:spcAft>
                <a:spcPts val="0"/>
              </a:spcAft>
              <a:buClr>
                <a:srgbClr val="6B7686"/>
              </a:buClr>
              <a:buSzPts val="750"/>
              <a:buFont typeface="Inter"/>
              <a:buNone/>
            </a:pPr>
            <a:r>
              <a:rPr b="1" i="0" lang="en-US" sz="750" u="none" cap="none" strike="noStrike">
                <a:solidFill>
                  <a:srgbClr val="6B7686"/>
                </a:solidFill>
                <a:latin typeface="Inter"/>
                <a:ea typeface="Inter"/>
                <a:cs typeface="Inter"/>
                <a:sym typeface="Inter"/>
              </a:rPr>
              <a:t>PENSION CONTRIBUTION PROCESSING AUTOMATION</a:t>
            </a:r>
            <a:endParaRPr b="0" i="0" sz="750" u="none" cap="none" strike="noStrike">
              <a:solidFill>
                <a:schemeClr val="dk1"/>
              </a:solidFill>
              <a:latin typeface="Inter"/>
              <a:ea typeface="Inter"/>
              <a:cs typeface="Inter"/>
              <a:sym typeface="Inter"/>
            </a:endParaRPr>
          </a:p>
        </p:txBody>
      </p:sp>
      <p:sp>
        <p:nvSpPr>
          <p:cNvPr id="266" name="Google Shape;266;g3e8a63689bf_0_40"/>
          <p:cNvSpPr/>
          <p:nvPr/>
        </p:nvSpPr>
        <p:spPr>
          <a:xfrm>
            <a:off x="510289" y="1684876"/>
            <a:ext cx="6419700" cy="9600"/>
          </a:xfrm>
          <a:prstGeom prst="rect">
            <a:avLst/>
          </a:prstGeom>
          <a:solidFill>
            <a:srgbClr val="004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g3e8a63689bf_0_40"/>
          <p:cNvSpPr/>
          <p:nvPr/>
        </p:nvSpPr>
        <p:spPr>
          <a:xfrm>
            <a:off x="510289" y="1445859"/>
            <a:ext cx="268800" cy="153300"/>
          </a:xfrm>
          <a:prstGeom prst="rect">
            <a:avLst/>
          </a:prstGeom>
          <a:noFill/>
          <a:ln>
            <a:noFill/>
          </a:ln>
        </p:spPr>
        <p:txBody>
          <a:bodyPr anchorCtr="0" anchor="t" bIns="25400" lIns="25400" spcFirstLastPara="1" rIns="25400" wrap="square" tIns="25400">
            <a:noAutofit/>
          </a:bodyPr>
          <a:lstStyle/>
          <a:p>
            <a:pPr indent="0" lvl="0" marL="0" marR="0" rtl="0" algn="l">
              <a:lnSpc>
                <a:spcPct val="110000"/>
              </a:lnSpc>
              <a:spcBef>
                <a:spcPts val="0"/>
              </a:spcBef>
              <a:spcAft>
                <a:spcPts val="0"/>
              </a:spcAft>
              <a:buClr>
                <a:srgbClr val="0047AB"/>
              </a:buClr>
              <a:buSzPts val="825"/>
              <a:buFont typeface="Inter"/>
              <a:buNone/>
            </a:pPr>
            <a:r>
              <a:rPr b="1" i="0" lang="en-US" sz="825" u="none" cap="none" strike="noStrike">
                <a:solidFill>
                  <a:srgbClr val="0047AB"/>
                </a:solidFill>
                <a:latin typeface="Inter"/>
                <a:ea typeface="Inter"/>
                <a:cs typeface="Inter"/>
                <a:sym typeface="Inter"/>
              </a:rPr>
              <a:t>0</a:t>
            </a:r>
            <a:r>
              <a:rPr b="1" lang="en-US" sz="825">
                <a:solidFill>
                  <a:srgbClr val="0047AB"/>
                </a:solidFill>
              </a:rPr>
              <a:t>4</a:t>
            </a:r>
            <a:endParaRPr b="0" i="0" sz="825" u="none" cap="none" strike="noStrike">
              <a:solidFill>
                <a:schemeClr val="dk1"/>
              </a:solidFill>
              <a:latin typeface="Inter"/>
              <a:ea typeface="Inter"/>
              <a:cs typeface="Inter"/>
              <a:sym typeface="Inter"/>
            </a:endParaRPr>
          </a:p>
        </p:txBody>
      </p:sp>
      <p:sp>
        <p:nvSpPr>
          <p:cNvPr id="268" name="Google Shape;268;g3e8a63689bf_0_40"/>
          <p:cNvSpPr/>
          <p:nvPr/>
        </p:nvSpPr>
        <p:spPr>
          <a:xfrm>
            <a:off x="855347" y="1317271"/>
            <a:ext cx="2689800" cy="310500"/>
          </a:xfrm>
          <a:prstGeom prst="rect">
            <a:avLst/>
          </a:prstGeom>
          <a:noFill/>
          <a:ln>
            <a:noFill/>
          </a:ln>
        </p:spPr>
        <p:txBody>
          <a:bodyPr anchorCtr="0" anchor="t" bIns="25400" lIns="25400" spcFirstLastPara="1" rIns="25400" wrap="square" tIns="25400">
            <a:noAutofit/>
          </a:bodyPr>
          <a:lstStyle/>
          <a:p>
            <a:pPr indent="0" lvl="0" marL="0" marR="0" rtl="0" algn="l">
              <a:lnSpc>
                <a:spcPct val="110000"/>
              </a:lnSpc>
              <a:spcBef>
                <a:spcPts val="0"/>
              </a:spcBef>
              <a:spcAft>
                <a:spcPts val="0"/>
              </a:spcAft>
              <a:buClr>
                <a:srgbClr val="0E1320"/>
              </a:buClr>
              <a:buSzPts val="1950"/>
              <a:buFont typeface="Inter"/>
              <a:buNone/>
            </a:pPr>
            <a:r>
              <a:rPr b="0" i="0" lang="en-US" sz="1950" u="none" cap="none" strike="noStrike">
                <a:solidFill>
                  <a:srgbClr val="0E1320"/>
                </a:solidFill>
                <a:latin typeface="Inter"/>
                <a:ea typeface="Inter"/>
                <a:cs typeface="Inter"/>
                <a:sym typeface="Inter"/>
              </a:rPr>
              <a:t>Technical Architecture</a:t>
            </a:r>
            <a:endParaRPr b="0" i="0" sz="1950" u="none" cap="none" strike="noStrike">
              <a:solidFill>
                <a:schemeClr val="dk1"/>
              </a:solidFill>
              <a:latin typeface="Inter"/>
              <a:ea typeface="Inter"/>
              <a:cs typeface="Inter"/>
              <a:sym typeface="Inter"/>
            </a:endParaRPr>
          </a:p>
        </p:txBody>
      </p:sp>
      <p:sp>
        <p:nvSpPr>
          <p:cNvPr id="269" name="Google Shape;269;g3e8a63689bf_0_40"/>
          <p:cNvSpPr/>
          <p:nvPr/>
        </p:nvSpPr>
        <p:spPr>
          <a:xfrm>
            <a:off x="5792274" y="1450621"/>
            <a:ext cx="1214100" cy="148200"/>
          </a:xfrm>
          <a:prstGeom prst="rect">
            <a:avLst/>
          </a:prstGeom>
          <a:noFill/>
          <a:ln>
            <a:noFill/>
          </a:ln>
        </p:spPr>
        <p:txBody>
          <a:bodyPr anchorCtr="0" anchor="t" bIns="25400" lIns="25400" spcFirstLastPara="1" rIns="25400" wrap="square" tIns="25400">
            <a:noAutofit/>
          </a:bodyPr>
          <a:lstStyle/>
          <a:p>
            <a:pPr indent="0" lvl="0" marL="0" marR="0" rtl="0" algn="r">
              <a:lnSpc>
                <a:spcPct val="110000"/>
              </a:lnSpc>
              <a:spcBef>
                <a:spcPts val="0"/>
              </a:spcBef>
              <a:spcAft>
                <a:spcPts val="0"/>
              </a:spcAft>
              <a:buClr>
                <a:srgbClr val="6B7686"/>
              </a:buClr>
              <a:buSzPts val="788"/>
              <a:buFont typeface="Inter"/>
              <a:buNone/>
            </a:pPr>
            <a:r>
              <a:rPr b="0" i="0" lang="en-US" sz="788" u="none" cap="none" strike="noStrike">
                <a:solidFill>
                  <a:srgbClr val="6B7686"/>
                </a:solidFill>
                <a:latin typeface="Inter"/>
                <a:ea typeface="Inter"/>
                <a:cs typeface="Inter"/>
                <a:sym typeface="Inter"/>
              </a:rPr>
              <a:t>System view, indicative</a:t>
            </a:r>
            <a:endParaRPr b="0" i="0" sz="788" u="none" cap="none" strike="noStrike">
              <a:solidFill>
                <a:schemeClr val="dk1"/>
              </a:solidFill>
              <a:latin typeface="Inter"/>
              <a:ea typeface="Inter"/>
              <a:cs typeface="Inter"/>
              <a:sym typeface="Inter"/>
            </a:endParaRPr>
          </a:p>
        </p:txBody>
      </p:sp>
      <p:sp>
        <p:nvSpPr>
          <p:cNvPr id="270" name="Google Shape;270;g3e8a63689bf_0_40"/>
          <p:cNvSpPr/>
          <p:nvPr/>
        </p:nvSpPr>
        <p:spPr>
          <a:xfrm>
            <a:off x="510300" y="1808387"/>
            <a:ext cx="6525000" cy="534600"/>
          </a:xfrm>
          <a:prstGeom prst="rect">
            <a:avLst/>
          </a:prstGeom>
          <a:noFill/>
          <a:ln>
            <a:noFill/>
          </a:ln>
        </p:spPr>
        <p:txBody>
          <a:bodyPr anchorCtr="0" anchor="t" bIns="25400" lIns="25400" spcFirstLastPara="1" rIns="25400" wrap="square" tIns="25400">
            <a:noAutofit/>
          </a:bodyPr>
          <a:lstStyle/>
          <a:p>
            <a:pPr indent="0" lvl="0" marL="0" marR="0" rtl="0" algn="l">
              <a:lnSpc>
                <a:spcPct val="160000"/>
              </a:lnSpc>
              <a:spcBef>
                <a:spcPts val="0"/>
              </a:spcBef>
              <a:spcAft>
                <a:spcPts val="0"/>
              </a:spcAft>
              <a:buClr>
                <a:srgbClr val="374151"/>
              </a:buClr>
              <a:buSzPts val="863"/>
              <a:buFont typeface="Inter"/>
              <a:buNone/>
            </a:pPr>
            <a:r>
              <a:rPr b="0" i="0" lang="en-US" sz="863" u="none" cap="none" strike="noStrike">
                <a:solidFill>
                  <a:srgbClr val="374151"/>
                </a:solidFill>
                <a:latin typeface="Inter"/>
                <a:ea typeface="Inter"/>
                <a:cs typeface="Inter"/>
                <a:sym typeface="Inter"/>
              </a:rPr>
              <a:t>This view shows how the logical flow is realised across Microsoft 365, the Power Automate integration layer, the custom application on Azure, and the downstream pension administration platform. All cross-component access is over HTTPS, with audit logging at every hop.</a:t>
            </a:r>
            <a:endParaRPr b="0" i="0" sz="863" u="none" cap="none" strike="noStrike">
              <a:solidFill>
                <a:schemeClr val="dk1"/>
              </a:solidFill>
              <a:latin typeface="Inter"/>
              <a:ea typeface="Inter"/>
              <a:cs typeface="Inter"/>
              <a:sym typeface="Inter"/>
            </a:endParaRPr>
          </a:p>
        </p:txBody>
      </p:sp>
      <p:sp>
        <p:nvSpPr>
          <p:cNvPr id="271" name="Google Shape;271;g3e8a63689bf_0_40"/>
          <p:cNvSpPr/>
          <p:nvPr/>
        </p:nvSpPr>
        <p:spPr>
          <a:xfrm>
            <a:off x="510289" y="2563037"/>
            <a:ext cx="6419700" cy="3663000"/>
          </a:xfrm>
          <a:prstGeom prst="roundRect">
            <a:avLst>
              <a:gd fmla="val 1560" name="adj"/>
            </a:avLst>
          </a:prstGeom>
          <a:solidFill>
            <a:srgbClr val="F7F8FA"/>
          </a:solidFill>
          <a:ln cap="flat" cmpd="sng" w="9525">
            <a:solidFill>
              <a:srgbClr val="E2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72" name="Google Shape;272;g3e8a63689bf_0_40"/>
          <p:cNvPicPr preferRelativeResize="0"/>
          <p:nvPr/>
        </p:nvPicPr>
        <p:blipFill rotWithShape="1">
          <a:blip r:embed="rId4">
            <a:alphaModFix/>
          </a:blip>
          <a:srcRect b="0" l="0" r="0" t="0"/>
          <a:stretch/>
        </p:blipFill>
        <p:spPr>
          <a:xfrm>
            <a:off x="615075" y="2667800"/>
            <a:ext cx="6314976" cy="3453574"/>
          </a:xfrm>
          <a:prstGeom prst="rect">
            <a:avLst/>
          </a:prstGeom>
          <a:noFill/>
          <a:ln>
            <a:noFill/>
          </a:ln>
        </p:spPr>
      </p:pic>
      <p:sp>
        <p:nvSpPr>
          <p:cNvPr id="273" name="Google Shape;273;g3e8a63689bf_0_40"/>
          <p:cNvSpPr/>
          <p:nvPr/>
        </p:nvSpPr>
        <p:spPr>
          <a:xfrm>
            <a:off x="510300" y="6397601"/>
            <a:ext cx="2063700" cy="1111800"/>
          </a:xfrm>
          <a:prstGeom prst="roundRect">
            <a:avLst>
              <a:gd fmla="val 5854" name="adj"/>
            </a:avLst>
          </a:prstGeom>
          <a:solidFill>
            <a:srgbClr val="F7F8FA"/>
          </a:solidFill>
          <a:ln cap="flat" cmpd="sng" w="9525">
            <a:solidFill>
              <a:srgbClr val="E2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g3e8a63689bf_0_40"/>
          <p:cNvSpPr/>
          <p:nvPr/>
        </p:nvSpPr>
        <p:spPr>
          <a:xfrm>
            <a:off x="634114" y="6502368"/>
            <a:ext cx="1892400" cy="138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047AB"/>
              </a:buClr>
              <a:buSzPts val="675"/>
              <a:buFont typeface="Inter"/>
              <a:buNone/>
            </a:pPr>
            <a:r>
              <a:rPr b="1" i="0" lang="en-US" sz="675" u="none" cap="none" strike="noStrike">
                <a:solidFill>
                  <a:srgbClr val="0047AB"/>
                </a:solidFill>
                <a:latin typeface="Inter"/>
                <a:ea typeface="Inter"/>
                <a:cs typeface="Inter"/>
                <a:sym typeface="Inter"/>
              </a:rPr>
              <a:t>INTEGRATION LAYER</a:t>
            </a:r>
            <a:endParaRPr b="0" i="0" sz="675" u="none" cap="none" strike="noStrike">
              <a:solidFill>
                <a:schemeClr val="dk1"/>
              </a:solidFill>
              <a:latin typeface="Inter"/>
              <a:ea typeface="Inter"/>
              <a:cs typeface="Inter"/>
              <a:sym typeface="Inter"/>
            </a:endParaRPr>
          </a:p>
        </p:txBody>
      </p:sp>
      <p:sp>
        <p:nvSpPr>
          <p:cNvPr id="275" name="Google Shape;275;g3e8a63689bf_0_40"/>
          <p:cNvSpPr/>
          <p:nvPr/>
        </p:nvSpPr>
        <p:spPr>
          <a:xfrm>
            <a:off x="634114" y="6720741"/>
            <a:ext cx="1892400" cy="647700"/>
          </a:xfrm>
          <a:prstGeom prst="rect">
            <a:avLst/>
          </a:prstGeom>
          <a:noFill/>
          <a:ln>
            <a:noFill/>
          </a:ln>
        </p:spPr>
        <p:txBody>
          <a:bodyPr anchorCtr="0" anchor="t" bIns="25400" lIns="25400" spcFirstLastPara="1" rIns="25400" wrap="square" tIns="25400">
            <a:noAutofit/>
          </a:bodyPr>
          <a:lstStyle/>
          <a:p>
            <a:pPr indent="0" lvl="0" marL="0" marR="0" rtl="0" algn="l">
              <a:lnSpc>
                <a:spcPct val="160000"/>
              </a:lnSpc>
              <a:spcBef>
                <a:spcPts val="0"/>
              </a:spcBef>
              <a:spcAft>
                <a:spcPts val="0"/>
              </a:spcAft>
              <a:buClr>
                <a:srgbClr val="374151"/>
              </a:buClr>
              <a:buSzPts val="750"/>
              <a:buFont typeface="Inter"/>
              <a:buNone/>
            </a:pPr>
            <a:r>
              <a:rPr b="0" i="0" lang="en-US" sz="750" u="none" cap="none" strike="noStrike">
                <a:solidFill>
                  <a:srgbClr val="374151"/>
                </a:solidFill>
                <a:latin typeface="Inter"/>
                <a:ea typeface="Inter"/>
                <a:cs typeface="Inter"/>
                <a:sym typeface="Inter"/>
              </a:rPr>
              <a:t>Microsoft 365 mailbox monitored by Power Automate. Triggers orchestrate intake, call APIs, and emit status notifications back to employers.</a:t>
            </a:r>
            <a:endParaRPr b="0" i="0" sz="750" u="none" cap="none" strike="noStrike">
              <a:solidFill>
                <a:schemeClr val="dk1"/>
              </a:solidFill>
              <a:latin typeface="Inter"/>
              <a:ea typeface="Inter"/>
              <a:cs typeface="Inter"/>
              <a:sym typeface="Inter"/>
            </a:endParaRPr>
          </a:p>
        </p:txBody>
      </p:sp>
      <p:sp>
        <p:nvSpPr>
          <p:cNvPr id="276" name="Google Shape;276;g3e8a63689bf_0_40"/>
          <p:cNvSpPr/>
          <p:nvPr/>
        </p:nvSpPr>
        <p:spPr>
          <a:xfrm>
            <a:off x="2688325" y="6397601"/>
            <a:ext cx="2063700" cy="1111800"/>
          </a:xfrm>
          <a:prstGeom prst="roundRect">
            <a:avLst>
              <a:gd fmla="val 5854" name="adj"/>
            </a:avLst>
          </a:prstGeom>
          <a:solidFill>
            <a:srgbClr val="F7F8FA"/>
          </a:solidFill>
          <a:ln cap="flat" cmpd="sng" w="9525">
            <a:solidFill>
              <a:srgbClr val="E2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g3e8a63689bf_0_40"/>
          <p:cNvSpPr/>
          <p:nvPr/>
        </p:nvSpPr>
        <p:spPr>
          <a:xfrm>
            <a:off x="2812139" y="6502368"/>
            <a:ext cx="1892400" cy="138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047AB"/>
              </a:buClr>
              <a:buSzPts val="675"/>
              <a:buFont typeface="Inter"/>
              <a:buNone/>
            </a:pPr>
            <a:r>
              <a:rPr b="1" i="0" lang="en-US" sz="675" u="none" cap="none" strike="noStrike">
                <a:solidFill>
                  <a:srgbClr val="0047AB"/>
                </a:solidFill>
                <a:latin typeface="Inter"/>
                <a:ea typeface="Inter"/>
                <a:cs typeface="Inter"/>
                <a:sym typeface="Inter"/>
              </a:rPr>
              <a:t>SYSTEM OF RECORD</a:t>
            </a:r>
            <a:endParaRPr b="0" i="0" sz="675" u="none" cap="none" strike="noStrike">
              <a:solidFill>
                <a:schemeClr val="dk1"/>
              </a:solidFill>
              <a:latin typeface="Inter"/>
              <a:ea typeface="Inter"/>
              <a:cs typeface="Inter"/>
              <a:sym typeface="Inter"/>
            </a:endParaRPr>
          </a:p>
        </p:txBody>
      </p:sp>
      <p:sp>
        <p:nvSpPr>
          <p:cNvPr id="278" name="Google Shape;278;g3e8a63689bf_0_40"/>
          <p:cNvSpPr/>
          <p:nvPr/>
        </p:nvSpPr>
        <p:spPr>
          <a:xfrm>
            <a:off x="2812139" y="6690136"/>
            <a:ext cx="1892400" cy="647700"/>
          </a:xfrm>
          <a:prstGeom prst="rect">
            <a:avLst/>
          </a:prstGeom>
          <a:noFill/>
          <a:ln>
            <a:noFill/>
          </a:ln>
        </p:spPr>
        <p:txBody>
          <a:bodyPr anchorCtr="0" anchor="t" bIns="25400" lIns="25400" spcFirstLastPara="1" rIns="25400" wrap="square" tIns="25400">
            <a:noAutofit/>
          </a:bodyPr>
          <a:lstStyle/>
          <a:p>
            <a:pPr indent="0" lvl="0" marL="0" marR="0" rtl="0" algn="l">
              <a:lnSpc>
                <a:spcPct val="160000"/>
              </a:lnSpc>
              <a:spcBef>
                <a:spcPts val="0"/>
              </a:spcBef>
              <a:spcAft>
                <a:spcPts val="0"/>
              </a:spcAft>
              <a:buClr>
                <a:srgbClr val="374151"/>
              </a:buClr>
              <a:buSzPts val="750"/>
              <a:buFont typeface="Inter"/>
              <a:buNone/>
            </a:pPr>
            <a:r>
              <a:rPr b="0" i="0" lang="en-US" sz="750" u="none" cap="none" strike="noStrike">
                <a:solidFill>
                  <a:srgbClr val="374151"/>
                </a:solidFill>
                <a:latin typeface="Inter"/>
                <a:ea typeface="Inter"/>
                <a:cs typeface="Inter"/>
                <a:sym typeface="Inter"/>
              </a:rPr>
              <a:t>FastAPI backend with business logic and validation. PostgreSQL holds submissions, employers, audit trail, errors, and file versions. React dashboard for operations.</a:t>
            </a:r>
            <a:endParaRPr b="0" i="0" sz="750" u="none" cap="none" strike="noStrike">
              <a:solidFill>
                <a:schemeClr val="dk1"/>
              </a:solidFill>
              <a:latin typeface="Inter"/>
              <a:ea typeface="Inter"/>
              <a:cs typeface="Inter"/>
              <a:sym typeface="Inter"/>
            </a:endParaRPr>
          </a:p>
        </p:txBody>
      </p:sp>
      <p:sp>
        <p:nvSpPr>
          <p:cNvPr id="279" name="Google Shape;279;g3e8a63689bf_0_40"/>
          <p:cNvSpPr/>
          <p:nvPr/>
        </p:nvSpPr>
        <p:spPr>
          <a:xfrm>
            <a:off x="4866350" y="6397601"/>
            <a:ext cx="2063700" cy="1111800"/>
          </a:xfrm>
          <a:prstGeom prst="roundRect">
            <a:avLst>
              <a:gd fmla="val 5854" name="adj"/>
            </a:avLst>
          </a:prstGeom>
          <a:solidFill>
            <a:srgbClr val="F7F8FA"/>
          </a:solidFill>
          <a:ln cap="flat" cmpd="sng" w="9525">
            <a:solidFill>
              <a:srgbClr val="E2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g3e8a63689bf_0_40"/>
          <p:cNvSpPr/>
          <p:nvPr/>
        </p:nvSpPr>
        <p:spPr>
          <a:xfrm>
            <a:off x="4990164" y="6502368"/>
            <a:ext cx="1892400" cy="138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047AB"/>
              </a:buClr>
              <a:buSzPts val="675"/>
              <a:buFont typeface="Inter"/>
              <a:buNone/>
            </a:pPr>
            <a:r>
              <a:rPr b="1" i="0" lang="en-US" sz="675" u="none" cap="none" strike="noStrike">
                <a:solidFill>
                  <a:srgbClr val="0047AB"/>
                </a:solidFill>
                <a:latin typeface="Inter"/>
                <a:ea typeface="Inter"/>
                <a:cs typeface="Inter"/>
                <a:sym typeface="Inter"/>
              </a:rPr>
              <a:t>STORAGE &amp; DOWNSTREAM</a:t>
            </a:r>
            <a:endParaRPr b="0" i="0" sz="675" u="none" cap="none" strike="noStrike">
              <a:solidFill>
                <a:schemeClr val="dk1"/>
              </a:solidFill>
              <a:latin typeface="Inter"/>
              <a:ea typeface="Inter"/>
              <a:cs typeface="Inter"/>
              <a:sym typeface="Inter"/>
            </a:endParaRPr>
          </a:p>
        </p:txBody>
      </p:sp>
      <p:sp>
        <p:nvSpPr>
          <p:cNvPr id="281" name="Google Shape;281;g3e8a63689bf_0_40"/>
          <p:cNvSpPr/>
          <p:nvPr/>
        </p:nvSpPr>
        <p:spPr>
          <a:xfrm>
            <a:off x="4990164" y="6705439"/>
            <a:ext cx="1892400" cy="647700"/>
          </a:xfrm>
          <a:prstGeom prst="rect">
            <a:avLst/>
          </a:prstGeom>
          <a:noFill/>
          <a:ln>
            <a:noFill/>
          </a:ln>
        </p:spPr>
        <p:txBody>
          <a:bodyPr anchorCtr="0" anchor="t" bIns="25400" lIns="25400" spcFirstLastPara="1" rIns="25400" wrap="square" tIns="25400">
            <a:noAutofit/>
          </a:bodyPr>
          <a:lstStyle/>
          <a:p>
            <a:pPr indent="0" lvl="0" marL="0" marR="0" rtl="0" algn="l">
              <a:lnSpc>
                <a:spcPct val="160000"/>
              </a:lnSpc>
              <a:spcBef>
                <a:spcPts val="0"/>
              </a:spcBef>
              <a:spcAft>
                <a:spcPts val="0"/>
              </a:spcAft>
              <a:buClr>
                <a:srgbClr val="374151"/>
              </a:buClr>
              <a:buSzPts val="750"/>
              <a:buFont typeface="Inter"/>
              <a:buNone/>
            </a:pPr>
            <a:r>
              <a:rPr b="0" i="0" lang="en-US" sz="750" u="none" cap="none" strike="noStrike">
                <a:solidFill>
                  <a:srgbClr val="374151"/>
                </a:solidFill>
                <a:latin typeface="Inter"/>
                <a:ea typeface="Inter"/>
                <a:cs typeface="Inter"/>
                <a:sym typeface="Inter"/>
              </a:rPr>
              <a:t>Azure Blob or SharePoint as the contribution file repository. Upload to the pension administration platform via API or SFTP, subject to integration availability.</a:t>
            </a:r>
            <a:endParaRPr b="0" i="0" sz="750" u="none" cap="none" strike="noStrike">
              <a:solidFill>
                <a:schemeClr val="dk1"/>
              </a:solidFill>
              <a:latin typeface="Inter"/>
              <a:ea typeface="Inter"/>
              <a:cs typeface="Inter"/>
              <a:sym typeface="Inter"/>
            </a:endParaRPr>
          </a:p>
        </p:txBody>
      </p:sp>
      <p:sp>
        <p:nvSpPr>
          <p:cNvPr id="282" name="Google Shape;282;g3e8a63689bf_0_40"/>
          <p:cNvSpPr/>
          <p:nvPr/>
        </p:nvSpPr>
        <p:spPr>
          <a:xfrm>
            <a:off x="510289" y="7946659"/>
            <a:ext cx="6612300" cy="2334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0E1320"/>
              </a:buClr>
              <a:buSzPts val="1275"/>
              <a:buFont typeface="Inter"/>
              <a:buNone/>
            </a:pPr>
            <a:r>
              <a:rPr b="1" i="0" lang="en-US" sz="1275" u="none" cap="none" strike="noStrike">
                <a:solidFill>
                  <a:srgbClr val="0E1320"/>
                </a:solidFill>
                <a:latin typeface="Inter"/>
                <a:ea typeface="Inter"/>
                <a:cs typeface="Inter"/>
                <a:sym typeface="Inter"/>
              </a:rPr>
              <a:t>Security &amp; Operating Controls</a:t>
            </a:r>
            <a:endParaRPr b="0" i="0" sz="1275" u="none" cap="none" strike="noStrike">
              <a:solidFill>
                <a:schemeClr val="dk1"/>
              </a:solidFill>
              <a:latin typeface="Inter"/>
              <a:ea typeface="Inter"/>
              <a:cs typeface="Inter"/>
              <a:sym typeface="Inter"/>
            </a:endParaRPr>
          </a:p>
        </p:txBody>
      </p:sp>
      <p:sp>
        <p:nvSpPr>
          <p:cNvPr id="283" name="Google Shape;283;g3e8a63689bf_0_40"/>
          <p:cNvSpPr/>
          <p:nvPr/>
        </p:nvSpPr>
        <p:spPr>
          <a:xfrm>
            <a:off x="555570" y="8294321"/>
            <a:ext cx="3065400" cy="348000"/>
          </a:xfrm>
          <a:prstGeom prst="rect">
            <a:avLst/>
          </a:prstGeom>
          <a:noFill/>
          <a:ln>
            <a:noFill/>
          </a:ln>
        </p:spPr>
        <p:txBody>
          <a:bodyPr anchorCtr="0" anchor="t" bIns="25400" lIns="25400" spcFirstLastPara="1" rIns="25400" wrap="square" tIns="25400">
            <a:noAutofit/>
          </a:bodyPr>
          <a:lstStyle/>
          <a:p>
            <a:pPr indent="-278638" lvl="0" marL="457200" marR="0" rtl="0" algn="l">
              <a:lnSpc>
                <a:spcPct val="155000"/>
              </a:lnSpc>
              <a:spcBef>
                <a:spcPts val="0"/>
              </a:spcBef>
              <a:spcAft>
                <a:spcPts val="0"/>
              </a:spcAft>
              <a:buClr>
                <a:srgbClr val="374151"/>
              </a:buClr>
              <a:buSzPts val="788"/>
              <a:buFont typeface="Inter"/>
              <a:buChar char="●"/>
            </a:pPr>
            <a:r>
              <a:rPr b="1" i="0" lang="en-US" sz="788" u="none" cap="none" strike="noStrike">
                <a:solidFill>
                  <a:srgbClr val="374151"/>
                </a:solidFill>
                <a:latin typeface="Inter"/>
                <a:ea typeface="Inter"/>
                <a:cs typeface="Inter"/>
                <a:sym typeface="Inter"/>
              </a:rPr>
              <a:t>Authentication </a:t>
            </a:r>
            <a:r>
              <a:rPr b="0" i="0" lang="en-US" sz="788" u="none" cap="none" strike="noStrike">
                <a:solidFill>
                  <a:srgbClr val="374151"/>
                </a:solidFill>
                <a:latin typeface="Inter"/>
                <a:ea typeface="Inter"/>
                <a:cs typeface="Inter"/>
                <a:sym typeface="Inter"/>
              </a:rPr>
              <a:t>, role-based access across dashboard, validation API, and PAS endpoints.</a:t>
            </a:r>
            <a:endParaRPr b="0" i="0" sz="788" u="none" cap="none" strike="noStrike">
              <a:solidFill>
                <a:schemeClr val="dk1"/>
              </a:solidFill>
              <a:latin typeface="Inter"/>
              <a:ea typeface="Inter"/>
              <a:cs typeface="Inter"/>
              <a:sym typeface="Inter"/>
            </a:endParaRPr>
          </a:p>
        </p:txBody>
      </p:sp>
      <p:sp>
        <p:nvSpPr>
          <p:cNvPr id="284" name="Google Shape;284;g3e8a63689bf_0_40"/>
          <p:cNvSpPr/>
          <p:nvPr/>
        </p:nvSpPr>
        <p:spPr>
          <a:xfrm>
            <a:off x="555570" y="8642430"/>
            <a:ext cx="3065400" cy="348000"/>
          </a:xfrm>
          <a:prstGeom prst="rect">
            <a:avLst/>
          </a:prstGeom>
          <a:noFill/>
          <a:ln>
            <a:noFill/>
          </a:ln>
        </p:spPr>
        <p:txBody>
          <a:bodyPr anchorCtr="0" anchor="t" bIns="25400" lIns="25400" spcFirstLastPara="1" rIns="25400" wrap="square" tIns="25400">
            <a:noAutofit/>
          </a:bodyPr>
          <a:lstStyle/>
          <a:p>
            <a:pPr indent="-278638" lvl="0" marL="457200" marR="0" rtl="0" algn="l">
              <a:lnSpc>
                <a:spcPct val="155000"/>
              </a:lnSpc>
              <a:spcBef>
                <a:spcPts val="0"/>
              </a:spcBef>
              <a:spcAft>
                <a:spcPts val="0"/>
              </a:spcAft>
              <a:buClr>
                <a:srgbClr val="374151"/>
              </a:buClr>
              <a:buSzPts val="788"/>
              <a:buFont typeface="Inter"/>
              <a:buChar char="●"/>
            </a:pPr>
            <a:r>
              <a:rPr b="1" i="0" lang="en-US" sz="788" u="none" cap="none" strike="noStrike">
                <a:solidFill>
                  <a:srgbClr val="374151"/>
                </a:solidFill>
                <a:latin typeface="Inter"/>
                <a:ea typeface="Inter"/>
                <a:cs typeface="Inter"/>
                <a:sym typeface="Inter"/>
              </a:rPr>
              <a:t>Transport security </a:t>
            </a:r>
            <a:r>
              <a:rPr b="0" i="0" lang="en-US" sz="788" u="none" cap="none" strike="noStrike">
                <a:solidFill>
                  <a:srgbClr val="374151"/>
                </a:solidFill>
                <a:latin typeface="Inter"/>
                <a:ea typeface="Inter"/>
                <a:cs typeface="Inter"/>
                <a:sym typeface="Inter"/>
              </a:rPr>
              <a:t>, HTTPS everywhere including internal API calls.</a:t>
            </a:r>
            <a:endParaRPr b="0" i="0" sz="788" u="none" cap="none" strike="noStrike">
              <a:solidFill>
                <a:schemeClr val="dk1"/>
              </a:solidFill>
              <a:latin typeface="Inter"/>
              <a:ea typeface="Inter"/>
              <a:cs typeface="Inter"/>
              <a:sym typeface="Inter"/>
            </a:endParaRPr>
          </a:p>
        </p:txBody>
      </p:sp>
      <p:sp>
        <p:nvSpPr>
          <p:cNvPr id="285" name="Google Shape;285;g3e8a63689bf_0_40"/>
          <p:cNvSpPr/>
          <p:nvPr/>
        </p:nvSpPr>
        <p:spPr>
          <a:xfrm>
            <a:off x="555570" y="8990539"/>
            <a:ext cx="3065400" cy="348000"/>
          </a:xfrm>
          <a:prstGeom prst="rect">
            <a:avLst/>
          </a:prstGeom>
          <a:noFill/>
          <a:ln>
            <a:noFill/>
          </a:ln>
        </p:spPr>
        <p:txBody>
          <a:bodyPr anchorCtr="0" anchor="t" bIns="25400" lIns="25400" spcFirstLastPara="1" rIns="25400" wrap="square" tIns="25400">
            <a:noAutofit/>
          </a:bodyPr>
          <a:lstStyle/>
          <a:p>
            <a:pPr indent="-278638" lvl="0" marL="457200" marR="0" rtl="0" algn="l">
              <a:lnSpc>
                <a:spcPct val="155000"/>
              </a:lnSpc>
              <a:spcBef>
                <a:spcPts val="0"/>
              </a:spcBef>
              <a:spcAft>
                <a:spcPts val="0"/>
              </a:spcAft>
              <a:buClr>
                <a:srgbClr val="374151"/>
              </a:buClr>
              <a:buSzPts val="788"/>
              <a:buFont typeface="Inter"/>
              <a:buChar char="●"/>
            </a:pPr>
            <a:r>
              <a:rPr b="1" i="0" lang="en-US" sz="788" u="none" cap="none" strike="noStrike">
                <a:solidFill>
                  <a:srgbClr val="374151"/>
                </a:solidFill>
                <a:latin typeface="Inter"/>
                <a:ea typeface="Inter"/>
                <a:cs typeface="Inter"/>
                <a:sym typeface="Inter"/>
              </a:rPr>
              <a:t>Audit logging </a:t>
            </a:r>
            <a:r>
              <a:rPr b="0" i="0" lang="en-US" sz="788" u="none" cap="none" strike="noStrike">
                <a:solidFill>
                  <a:srgbClr val="374151"/>
                </a:solidFill>
                <a:latin typeface="Inter"/>
                <a:ea typeface="Inter"/>
                <a:cs typeface="Inter"/>
                <a:sym typeface="Inter"/>
              </a:rPr>
              <a:t>, every submission, decision, error, notification, and upload recorded with timestamp and actor.</a:t>
            </a:r>
            <a:endParaRPr b="0" i="0" sz="788" u="none" cap="none" strike="noStrike">
              <a:solidFill>
                <a:schemeClr val="dk1"/>
              </a:solidFill>
              <a:latin typeface="Inter"/>
              <a:ea typeface="Inter"/>
              <a:cs typeface="Inter"/>
              <a:sym typeface="Inter"/>
            </a:endParaRPr>
          </a:p>
        </p:txBody>
      </p:sp>
      <p:sp>
        <p:nvSpPr>
          <p:cNvPr id="286" name="Google Shape;286;g3e8a63689bf_0_40"/>
          <p:cNvSpPr/>
          <p:nvPr/>
        </p:nvSpPr>
        <p:spPr>
          <a:xfrm>
            <a:off x="3958339" y="8294321"/>
            <a:ext cx="3065400" cy="348000"/>
          </a:xfrm>
          <a:prstGeom prst="rect">
            <a:avLst/>
          </a:prstGeom>
          <a:noFill/>
          <a:ln>
            <a:noFill/>
          </a:ln>
        </p:spPr>
        <p:txBody>
          <a:bodyPr anchorCtr="0" anchor="t" bIns="25400" lIns="25400" spcFirstLastPara="1" rIns="25400" wrap="square" tIns="25400">
            <a:noAutofit/>
          </a:bodyPr>
          <a:lstStyle/>
          <a:p>
            <a:pPr indent="-278638" lvl="0" marL="457200" marR="0" rtl="0" algn="l">
              <a:lnSpc>
                <a:spcPct val="155000"/>
              </a:lnSpc>
              <a:spcBef>
                <a:spcPts val="0"/>
              </a:spcBef>
              <a:spcAft>
                <a:spcPts val="0"/>
              </a:spcAft>
              <a:buClr>
                <a:srgbClr val="374151"/>
              </a:buClr>
              <a:buSzPts val="788"/>
              <a:buFont typeface="Inter"/>
              <a:buChar char="●"/>
            </a:pPr>
            <a:r>
              <a:rPr b="1" i="0" lang="en-US" sz="788" u="none" cap="none" strike="noStrike">
                <a:solidFill>
                  <a:srgbClr val="374151"/>
                </a:solidFill>
                <a:latin typeface="Inter"/>
                <a:ea typeface="Inter"/>
                <a:cs typeface="Inter"/>
                <a:sym typeface="Inter"/>
              </a:rPr>
              <a:t>Secret management </a:t>
            </a:r>
            <a:r>
              <a:rPr b="0" i="0" lang="en-US" sz="788" u="none" cap="none" strike="noStrike">
                <a:solidFill>
                  <a:srgbClr val="374151"/>
                </a:solidFill>
                <a:latin typeface="Inter"/>
                <a:ea typeface="Inter"/>
                <a:cs typeface="Inter"/>
                <a:sym typeface="Inter"/>
              </a:rPr>
              <a:t>, credentials held in environment variables or a managed vault, never in source.</a:t>
            </a:r>
            <a:endParaRPr b="0" i="0" sz="788" u="none" cap="none" strike="noStrike">
              <a:solidFill>
                <a:schemeClr val="dk1"/>
              </a:solidFill>
              <a:latin typeface="Inter"/>
              <a:ea typeface="Inter"/>
              <a:cs typeface="Inter"/>
              <a:sym typeface="Inter"/>
            </a:endParaRPr>
          </a:p>
        </p:txBody>
      </p:sp>
      <p:sp>
        <p:nvSpPr>
          <p:cNvPr id="287" name="Google Shape;287;g3e8a63689bf_0_40"/>
          <p:cNvSpPr/>
          <p:nvPr/>
        </p:nvSpPr>
        <p:spPr>
          <a:xfrm>
            <a:off x="3958339" y="8642430"/>
            <a:ext cx="3065400" cy="348000"/>
          </a:xfrm>
          <a:prstGeom prst="rect">
            <a:avLst/>
          </a:prstGeom>
          <a:noFill/>
          <a:ln>
            <a:noFill/>
          </a:ln>
        </p:spPr>
        <p:txBody>
          <a:bodyPr anchorCtr="0" anchor="t" bIns="25400" lIns="25400" spcFirstLastPara="1" rIns="25400" wrap="square" tIns="25400">
            <a:noAutofit/>
          </a:bodyPr>
          <a:lstStyle/>
          <a:p>
            <a:pPr indent="-278638" lvl="0" marL="457200" marR="0" rtl="0" algn="l">
              <a:lnSpc>
                <a:spcPct val="155000"/>
              </a:lnSpc>
              <a:spcBef>
                <a:spcPts val="0"/>
              </a:spcBef>
              <a:spcAft>
                <a:spcPts val="0"/>
              </a:spcAft>
              <a:buClr>
                <a:srgbClr val="374151"/>
              </a:buClr>
              <a:buSzPts val="788"/>
              <a:buFont typeface="Inter"/>
              <a:buChar char="●"/>
            </a:pPr>
            <a:r>
              <a:rPr b="1" i="0" lang="en-US" sz="788" u="none" cap="none" strike="noStrike">
                <a:solidFill>
                  <a:srgbClr val="374151"/>
                </a:solidFill>
                <a:latin typeface="Inter"/>
                <a:ea typeface="Inter"/>
                <a:cs typeface="Inter"/>
                <a:sym typeface="Inter"/>
              </a:rPr>
              <a:t>Hosting </a:t>
            </a:r>
            <a:r>
              <a:rPr b="0" i="0" lang="en-US" sz="788" u="none" cap="none" strike="noStrike">
                <a:solidFill>
                  <a:srgbClr val="374151"/>
                </a:solidFill>
                <a:latin typeface="Inter"/>
                <a:ea typeface="Inter"/>
                <a:cs typeface="Inter"/>
                <a:sym typeface="Inter"/>
              </a:rPr>
              <a:t>, custom application runs on an Azure VM with Nginx fronting the dashboard and API endpoints.</a:t>
            </a:r>
            <a:endParaRPr b="0" i="0" sz="788" u="none" cap="none" strike="noStrike">
              <a:solidFill>
                <a:schemeClr val="dk1"/>
              </a:solidFill>
              <a:latin typeface="Inter"/>
              <a:ea typeface="Inter"/>
              <a:cs typeface="Inter"/>
              <a:sym typeface="Inter"/>
            </a:endParaRPr>
          </a:p>
        </p:txBody>
      </p:sp>
      <p:sp>
        <p:nvSpPr>
          <p:cNvPr id="288" name="Google Shape;288;g3e8a63689bf_0_40"/>
          <p:cNvSpPr/>
          <p:nvPr/>
        </p:nvSpPr>
        <p:spPr>
          <a:xfrm>
            <a:off x="3958339" y="8990539"/>
            <a:ext cx="3065400" cy="348000"/>
          </a:xfrm>
          <a:prstGeom prst="rect">
            <a:avLst/>
          </a:prstGeom>
          <a:noFill/>
          <a:ln>
            <a:noFill/>
          </a:ln>
        </p:spPr>
        <p:txBody>
          <a:bodyPr anchorCtr="0" anchor="t" bIns="25400" lIns="25400" spcFirstLastPara="1" rIns="25400" wrap="square" tIns="25400">
            <a:noAutofit/>
          </a:bodyPr>
          <a:lstStyle/>
          <a:p>
            <a:pPr indent="-278638" lvl="0" marL="457200" marR="0" rtl="0" algn="l">
              <a:lnSpc>
                <a:spcPct val="155000"/>
              </a:lnSpc>
              <a:spcBef>
                <a:spcPts val="0"/>
              </a:spcBef>
              <a:spcAft>
                <a:spcPts val="0"/>
              </a:spcAft>
              <a:buClr>
                <a:srgbClr val="374151"/>
              </a:buClr>
              <a:buSzPts val="788"/>
              <a:buFont typeface="Inter"/>
              <a:buChar char="●"/>
            </a:pPr>
            <a:r>
              <a:rPr b="1" i="0" lang="en-US" sz="788" u="none" cap="none" strike="noStrike">
                <a:solidFill>
                  <a:srgbClr val="374151"/>
                </a:solidFill>
                <a:latin typeface="Inter"/>
                <a:ea typeface="Inter"/>
                <a:cs typeface="Inter"/>
                <a:sym typeface="Inter"/>
              </a:rPr>
              <a:t>Conditional integration </a:t>
            </a:r>
            <a:r>
              <a:rPr b="0" i="0" lang="en-US" sz="788" u="none" cap="none" strike="noStrike">
                <a:solidFill>
                  <a:srgbClr val="374151"/>
                </a:solidFill>
                <a:latin typeface="Inter"/>
                <a:ea typeface="Inter"/>
                <a:cs typeface="Inter"/>
                <a:sym typeface="Inter"/>
              </a:rPr>
              <a:t>, PAS posting depends on confirmed API or SFTP availability during discovery.</a:t>
            </a:r>
            <a:endParaRPr b="0" i="0" sz="788" u="none" cap="none" strike="noStrike">
              <a:solidFill>
                <a:schemeClr val="dk1"/>
              </a:solidFill>
              <a:latin typeface="Inter"/>
              <a:ea typeface="Inter"/>
              <a:cs typeface="Inter"/>
              <a:sym typeface="Inter"/>
            </a:endParaRPr>
          </a:p>
        </p:txBody>
      </p:sp>
      <p:sp>
        <p:nvSpPr>
          <p:cNvPr id="289" name="Google Shape;289;g3e8a63689bf_0_40"/>
          <p:cNvSpPr/>
          <p:nvPr/>
        </p:nvSpPr>
        <p:spPr>
          <a:xfrm>
            <a:off x="0" y="10234613"/>
            <a:ext cx="7563000" cy="462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g3e8a63689bf_0_40"/>
          <p:cNvSpPr/>
          <p:nvPr/>
        </p:nvSpPr>
        <p:spPr>
          <a:xfrm>
            <a:off x="0" y="10234613"/>
            <a:ext cx="75630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g3e8a63689bf_0_40"/>
          <p:cNvSpPr/>
          <p:nvPr/>
        </p:nvSpPr>
        <p:spPr>
          <a:xfrm>
            <a:off x="571500" y="10377500"/>
            <a:ext cx="3966300" cy="138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7686"/>
              </a:buClr>
              <a:buSzPts val="713"/>
              <a:buFont typeface="Inter"/>
              <a:buNone/>
            </a:pPr>
            <a:r>
              <a:rPr b="0" i="0" lang="en-US" sz="713" u="none" cap="none" strike="noStrike">
                <a:solidFill>
                  <a:srgbClr val="6B7686"/>
                </a:solidFill>
                <a:latin typeface="Inter"/>
                <a:ea typeface="Inter"/>
                <a:cs typeface="Inter"/>
                <a:sym typeface="Inter"/>
              </a:rPr>
              <a:t>NEWTUPLE TECHNOLOGIES · 		  		     </a:t>
            </a:r>
            <a:r>
              <a:rPr lang="en-US" sz="713">
                <a:solidFill>
                  <a:srgbClr val="6B7686"/>
                </a:solidFill>
              </a:rPr>
              <a:t>    </a:t>
            </a:r>
            <a:r>
              <a:rPr b="0" i="0" lang="en-US" sz="713" u="none" cap="none" strike="noStrike">
                <a:solidFill>
                  <a:srgbClr val="6B7686"/>
                </a:solidFill>
                <a:latin typeface="Inter"/>
                <a:ea typeface="Inter"/>
                <a:cs typeface="Inter"/>
                <a:sym typeface="Inter"/>
              </a:rPr>
              <a:t>CONFIDENTIAL</a:t>
            </a:r>
            <a:endParaRPr b="0" i="0" sz="713" u="none" cap="none" strike="noStrike">
              <a:solidFill>
                <a:schemeClr val="dk1"/>
              </a:solidFill>
              <a:latin typeface="Inter"/>
              <a:ea typeface="Inter"/>
              <a:cs typeface="Inter"/>
              <a:sym typeface="Inter"/>
            </a:endParaRPr>
          </a:p>
        </p:txBody>
      </p:sp>
      <p:sp>
        <p:nvSpPr>
          <p:cNvPr id="292" name="Google Shape;292;g3e8a63689bf_0_40"/>
          <p:cNvSpPr/>
          <p:nvPr/>
        </p:nvSpPr>
        <p:spPr>
          <a:xfrm>
            <a:off x="6540847" y="10377488"/>
            <a:ext cx="526800" cy="147600"/>
          </a:xfrm>
          <a:prstGeom prst="rect">
            <a:avLst/>
          </a:prstGeom>
          <a:noFill/>
          <a:ln>
            <a:noFill/>
          </a:ln>
        </p:spPr>
        <p:txBody>
          <a:bodyPr anchorCtr="0" anchor="t" bIns="25400" lIns="25400" spcFirstLastPara="1" rIns="25400" wrap="square" tIns="25400">
            <a:noAutofit/>
          </a:bodyPr>
          <a:lstStyle/>
          <a:p>
            <a:pPr indent="0" lvl="0" marL="0" marR="0" rtl="0" algn="r">
              <a:spcBef>
                <a:spcPts val="0"/>
              </a:spcBef>
              <a:spcAft>
                <a:spcPts val="0"/>
              </a:spcAft>
              <a:buClr>
                <a:srgbClr val="0047AB"/>
              </a:buClr>
              <a:buSzPts val="713"/>
              <a:buFont typeface="Inter"/>
              <a:buNone/>
            </a:pPr>
            <a:r>
              <a:rPr b="1" i="0" lang="en-US" sz="713" u="none" cap="none" strike="noStrike">
                <a:solidFill>
                  <a:srgbClr val="6B7686"/>
                </a:solidFill>
                <a:latin typeface="Inter"/>
                <a:ea typeface="Inter"/>
                <a:cs typeface="Inter"/>
                <a:sym typeface="Inter"/>
              </a:rPr>
              <a:t>06 / 1</a:t>
            </a:r>
            <a:r>
              <a:rPr b="1" lang="en-US" sz="713">
                <a:solidFill>
                  <a:srgbClr val="6B7686"/>
                </a:solidFill>
              </a:rPr>
              <a:t>2</a:t>
            </a:r>
            <a:endParaRPr b="0" i="0" sz="713" u="none" cap="none" strike="noStrike">
              <a:solidFill>
                <a:srgbClr val="6B7686"/>
              </a:solidFill>
              <a:latin typeface="Inter"/>
              <a:ea typeface="Inter"/>
              <a:cs typeface="Inter"/>
              <a:sym typeface="Inte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7" name="Shape 297"/>
        <p:cNvGrpSpPr/>
        <p:nvPr/>
      </p:nvGrpSpPr>
      <p:grpSpPr>
        <a:xfrm>
          <a:off x="0" y="0"/>
          <a:ext cx="0" cy="0"/>
          <a:chOff x="0" y="0"/>
          <a:chExt cx="0" cy="0"/>
        </a:xfrm>
      </p:grpSpPr>
      <p:sp>
        <p:nvSpPr>
          <p:cNvPr id="298" name="Google Shape;298;p6"/>
          <p:cNvSpPr/>
          <p:nvPr/>
        </p:nvSpPr>
        <p:spPr>
          <a:xfrm>
            <a:off x="0" y="0"/>
            <a:ext cx="7562850" cy="10696575"/>
          </a:xfrm>
          <a:prstGeom prst="rect">
            <a:avLst/>
          </a:prstGeom>
          <a:noFill/>
          <a:ln>
            <a:noFill/>
          </a:ln>
          <a:effectLst>
            <a:outerShdw blurRad="381000" rotWithShape="0" algn="bl" dir="5400000" dist="133350">
              <a:srgbClr val="0E132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99" name="Google Shape;299;p6"/>
          <p:cNvPicPr preferRelativeResize="0"/>
          <p:nvPr/>
        </p:nvPicPr>
        <p:blipFill rotWithShape="1">
          <a:blip r:embed="rId3">
            <a:alphaModFix/>
          </a:blip>
          <a:srcRect b="0" l="0" r="0" t="0"/>
          <a:stretch/>
        </p:blipFill>
        <p:spPr>
          <a:xfrm>
            <a:off x="571500" y="653328"/>
            <a:ext cx="815357" cy="152400"/>
          </a:xfrm>
          <a:prstGeom prst="rect">
            <a:avLst/>
          </a:prstGeom>
          <a:noFill/>
          <a:ln>
            <a:noFill/>
          </a:ln>
        </p:spPr>
      </p:pic>
      <p:sp>
        <p:nvSpPr>
          <p:cNvPr id="300" name="Google Shape;300;p6"/>
          <p:cNvSpPr/>
          <p:nvPr/>
        </p:nvSpPr>
        <p:spPr>
          <a:xfrm>
            <a:off x="3486522" y="672378"/>
            <a:ext cx="3609900" cy="152400"/>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6B7686"/>
              </a:buClr>
              <a:buSzPts val="750"/>
              <a:buFont typeface="Inter"/>
              <a:buNone/>
            </a:pPr>
            <a:r>
              <a:rPr b="1" i="0" lang="en-US" sz="750" u="none" cap="none" strike="noStrike">
                <a:solidFill>
                  <a:srgbClr val="6B7686"/>
                </a:solidFill>
                <a:latin typeface="Inter"/>
                <a:ea typeface="Inter"/>
                <a:cs typeface="Inter"/>
                <a:sym typeface="Inter"/>
              </a:rPr>
              <a:t>PENSION CONTRIBUTION PROCESSING AUTOMATION</a:t>
            </a:r>
            <a:endParaRPr b="0" i="0" sz="750" u="none" cap="none" strike="noStrike">
              <a:solidFill>
                <a:schemeClr val="dk1"/>
              </a:solidFill>
              <a:latin typeface="Inter"/>
              <a:ea typeface="Inter"/>
              <a:cs typeface="Inter"/>
              <a:sym typeface="Inter"/>
            </a:endParaRPr>
          </a:p>
        </p:txBody>
      </p:sp>
      <p:sp>
        <p:nvSpPr>
          <p:cNvPr id="301" name="Google Shape;301;p6"/>
          <p:cNvSpPr/>
          <p:nvPr/>
        </p:nvSpPr>
        <p:spPr>
          <a:xfrm>
            <a:off x="571500" y="1746086"/>
            <a:ext cx="6419700" cy="9600"/>
          </a:xfrm>
          <a:prstGeom prst="rect">
            <a:avLst/>
          </a:prstGeom>
          <a:solidFill>
            <a:srgbClr val="004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6"/>
          <p:cNvSpPr/>
          <p:nvPr/>
        </p:nvSpPr>
        <p:spPr>
          <a:xfrm>
            <a:off x="571500" y="1507069"/>
            <a:ext cx="268800" cy="153300"/>
          </a:xfrm>
          <a:prstGeom prst="rect">
            <a:avLst/>
          </a:prstGeom>
          <a:noFill/>
          <a:ln>
            <a:noFill/>
          </a:ln>
        </p:spPr>
        <p:txBody>
          <a:bodyPr anchorCtr="0" anchor="t" bIns="25400" lIns="25400" spcFirstLastPara="1" rIns="25400" wrap="square" tIns="25400">
            <a:normAutofit/>
          </a:bodyPr>
          <a:lstStyle/>
          <a:p>
            <a:pPr indent="0" lvl="0" marL="0" marR="0" rtl="0" algn="l">
              <a:lnSpc>
                <a:spcPct val="110000"/>
              </a:lnSpc>
              <a:spcBef>
                <a:spcPts val="0"/>
              </a:spcBef>
              <a:spcAft>
                <a:spcPts val="0"/>
              </a:spcAft>
              <a:buClr>
                <a:srgbClr val="0047AB"/>
              </a:buClr>
              <a:buSzPts val="825"/>
              <a:buFont typeface="Inter"/>
              <a:buNone/>
            </a:pPr>
            <a:r>
              <a:rPr b="1" i="0" lang="en-US" sz="825" u="none" cap="none" strike="noStrike">
                <a:solidFill>
                  <a:srgbClr val="0047AB"/>
                </a:solidFill>
                <a:latin typeface="Inter"/>
                <a:ea typeface="Inter"/>
                <a:cs typeface="Inter"/>
                <a:sym typeface="Inter"/>
              </a:rPr>
              <a:t>05</a:t>
            </a:r>
            <a:endParaRPr b="0" i="0" sz="825" u="none" cap="none" strike="noStrike">
              <a:solidFill>
                <a:schemeClr val="dk1"/>
              </a:solidFill>
              <a:latin typeface="Inter"/>
              <a:ea typeface="Inter"/>
              <a:cs typeface="Inter"/>
              <a:sym typeface="Inter"/>
            </a:endParaRPr>
          </a:p>
        </p:txBody>
      </p:sp>
      <p:sp>
        <p:nvSpPr>
          <p:cNvPr id="303" name="Google Shape;303;p6"/>
          <p:cNvSpPr/>
          <p:nvPr/>
        </p:nvSpPr>
        <p:spPr>
          <a:xfrm>
            <a:off x="916558" y="1378481"/>
            <a:ext cx="814800" cy="310500"/>
          </a:xfrm>
          <a:prstGeom prst="rect">
            <a:avLst/>
          </a:prstGeom>
          <a:noFill/>
          <a:ln>
            <a:noFill/>
          </a:ln>
        </p:spPr>
        <p:txBody>
          <a:bodyPr anchorCtr="0" anchor="t" bIns="25400" lIns="25400" spcFirstLastPara="1" rIns="25400" wrap="square" tIns="25400">
            <a:normAutofit/>
          </a:bodyPr>
          <a:lstStyle/>
          <a:p>
            <a:pPr indent="0" lvl="0" marL="0" marR="0" rtl="0" algn="l">
              <a:lnSpc>
                <a:spcPct val="110000"/>
              </a:lnSpc>
              <a:spcBef>
                <a:spcPts val="0"/>
              </a:spcBef>
              <a:spcAft>
                <a:spcPts val="0"/>
              </a:spcAft>
              <a:buClr>
                <a:srgbClr val="0E1320"/>
              </a:buClr>
              <a:buSzPts val="1950"/>
              <a:buFont typeface="Inter"/>
              <a:buNone/>
            </a:pPr>
            <a:r>
              <a:rPr b="0" i="0" lang="en-US" sz="1950" u="none" cap="none" strike="noStrike">
                <a:solidFill>
                  <a:srgbClr val="0E1320"/>
                </a:solidFill>
                <a:latin typeface="Inter"/>
                <a:ea typeface="Inter"/>
                <a:cs typeface="Inter"/>
                <a:sym typeface="Inter"/>
              </a:rPr>
              <a:t>Scope</a:t>
            </a:r>
            <a:endParaRPr b="0" i="0" sz="1950" u="none" cap="none" strike="noStrike">
              <a:solidFill>
                <a:schemeClr val="dk1"/>
              </a:solidFill>
              <a:latin typeface="Inter"/>
              <a:ea typeface="Inter"/>
              <a:cs typeface="Inter"/>
              <a:sym typeface="Inter"/>
            </a:endParaRPr>
          </a:p>
        </p:txBody>
      </p:sp>
      <p:sp>
        <p:nvSpPr>
          <p:cNvPr id="304" name="Google Shape;304;p6"/>
          <p:cNvSpPr/>
          <p:nvPr/>
        </p:nvSpPr>
        <p:spPr>
          <a:xfrm>
            <a:off x="6316414" y="1511831"/>
            <a:ext cx="751200" cy="148200"/>
          </a:xfrm>
          <a:prstGeom prst="rect">
            <a:avLst/>
          </a:prstGeom>
          <a:noFill/>
          <a:ln>
            <a:noFill/>
          </a:ln>
        </p:spPr>
        <p:txBody>
          <a:bodyPr anchorCtr="0" anchor="t" bIns="25400" lIns="25400" spcFirstLastPara="1" rIns="25400" wrap="square" tIns="25400">
            <a:normAutofit/>
          </a:bodyPr>
          <a:lstStyle/>
          <a:p>
            <a:pPr indent="0" lvl="0" marL="0" marR="0" rtl="0" algn="r">
              <a:lnSpc>
                <a:spcPct val="110000"/>
              </a:lnSpc>
              <a:spcBef>
                <a:spcPts val="0"/>
              </a:spcBef>
              <a:spcAft>
                <a:spcPts val="0"/>
              </a:spcAft>
              <a:buClr>
                <a:srgbClr val="6B7686"/>
              </a:buClr>
              <a:buSzPts val="788"/>
              <a:buFont typeface="Inter"/>
              <a:buNone/>
            </a:pPr>
            <a:r>
              <a:rPr b="0" i="0" lang="en-US" sz="788" u="none" cap="none" strike="noStrike">
                <a:solidFill>
                  <a:srgbClr val="6B7686"/>
                </a:solidFill>
                <a:latin typeface="Inter"/>
                <a:ea typeface="Inter"/>
                <a:cs typeface="Inter"/>
                <a:sym typeface="Inter"/>
              </a:rPr>
              <a:t>12-week MVP</a:t>
            </a:r>
            <a:endParaRPr b="0" i="0" sz="788" u="none" cap="none" strike="noStrike">
              <a:solidFill>
                <a:schemeClr val="dk1"/>
              </a:solidFill>
              <a:latin typeface="Inter"/>
              <a:ea typeface="Inter"/>
              <a:cs typeface="Inter"/>
              <a:sym typeface="Inter"/>
            </a:endParaRPr>
          </a:p>
        </p:txBody>
      </p:sp>
      <p:sp>
        <p:nvSpPr>
          <p:cNvPr id="305" name="Google Shape;305;p6"/>
          <p:cNvSpPr/>
          <p:nvPr/>
        </p:nvSpPr>
        <p:spPr>
          <a:xfrm>
            <a:off x="571500" y="1946111"/>
            <a:ext cx="6419700" cy="3560100"/>
          </a:xfrm>
          <a:prstGeom prst="roundRect">
            <a:avLst>
              <a:gd fmla="val 1605" name="adj"/>
            </a:avLst>
          </a:prstGeom>
          <a:noFill/>
          <a:ln cap="flat" cmpd="sng" w="9525">
            <a:solidFill>
              <a:srgbClr val="E2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6"/>
          <p:cNvSpPr/>
          <p:nvPr/>
        </p:nvSpPr>
        <p:spPr>
          <a:xfrm>
            <a:off x="581025" y="1955636"/>
            <a:ext cx="6400800" cy="357300"/>
          </a:xfrm>
          <a:prstGeom prst="rect">
            <a:avLst/>
          </a:prstGeom>
          <a:solidFill>
            <a:srgbClr val="F7F8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6"/>
          <p:cNvSpPr/>
          <p:nvPr/>
        </p:nvSpPr>
        <p:spPr>
          <a:xfrm>
            <a:off x="581025" y="2303299"/>
            <a:ext cx="64008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6"/>
          <p:cNvSpPr/>
          <p:nvPr/>
        </p:nvSpPr>
        <p:spPr>
          <a:xfrm>
            <a:off x="714375" y="2050886"/>
            <a:ext cx="650700" cy="157200"/>
          </a:xfrm>
          <a:prstGeom prst="roundRect">
            <a:avLst>
              <a:gd fmla="val 18182" name="adj"/>
            </a:avLst>
          </a:prstGeom>
          <a:solidFill>
            <a:srgbClr val="E6F6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6"/>
          <p:cNvSpPr/>
          <p:nvPr/>
        </p:nvSpPr>
        <p:spPr>
          <a:xfrm>
            <a:off x="781050" y="2079461"/>
            <a:ext cx="593400" cy="1380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FA971"/>
              </a:buClr>
              <a:buSzPts val="675"/>
              <a:buFont typeface="Inter"/>
              <a:buNone/>
            </a:pPr>
            <a:r>
              <a:rPr b="1" i="0" lang="en-US" sz="675" u="none" cap="none" strike="noStrike">
                <a:solidFill>
                  <a:srgbClr val="1FA971"/>
                </a:solidFill>
                <a:latin typeface="Inter"/>
                <a:ea typeface="Inter"/>
                <a:cs typeface="Inter"/>
                <a:sym typeface="Inter"/>
              </a:rPr>
              <a:t>IN SCOPE</a:t>
            </a:r>
            <a:endParaRPr b="0" i="0" sz="675" u="none" cap="none" strike="noStrike">
              <a:solidFill>
                <a:schemeClr val="dk1"/>
              </a:solidFill>
              <a:latin typeface="Inter"/>
              <a:ea typeface="Inter"/>
              <a:cs typeface="Inter"/>
              <a:sym typeface="Inter"/>
            </a:endParaRPr>
          </a:p>
        </p:txBody>
      </p:sp>
      <p:sp>
        <p:nvSpPr>
          <p:cNvPr id="310" name="Google Shape;310;p6"/>
          <p:cNvSpPr/>
          <p:nvPr/>
        </p:nvSpPr>
        <p:spPr>
          <a:xfrm>
            <a:off x="1460227" y="2060411"/>
            <a:ext cx="2320500" cy="1761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E1320"/>
              </a:buClr>
              <a:buSzPts val="900"/>
              <a:buFont typeface="Inter"/>
              <a:buNone/>
            </a:pPr>
            <a:r>
              <a:rPr b="1" i="0" lang="en-US" sz="900" u="none" cap="none" strike="noStrike">
                <a:solidFill>
                  <a:srgbClr val="0E1320"/>
                </a:solidFill>
                <a:latin typeface="Inter"/>
                <a:ea typeface="Inter"/>
                <a:cs typeface="Inter"/>
                <a:sym typeface="Inter"/>
              </a:rPr>
              <a:t>Capabilities delivered as part of the MVP</a:t>
            </a:r>
            <a:endParaRPr b="0" i="0" sz="900" u="none" cap="none" strike="noStrike">
              <a:solidFill>
                <a:schemeClr val="dk1"/>
              </a:solidFill>
              <a:latin typeface="Inter"/>
              <a:ea typeface="Inter"/>
              <a:cs typeface="Inter"/>
              <a:sym typeface="Inter"/>
            </a:endParaRPr>
          </a:p>
        </p:txBody>
      </p:sp>
      <p:sp>
        <p:nvSpPr>
          <p:cNvPr id="311" name="Google Shape;311;p6"/>
          <p:cNvSpPr/>
          <p:nvPr/>
        </p:nvSpPr>
        <p:spPr>
          <a:xfrm>
            <a:off x="581025" y="2312824"/>
            <a:ext cx="2095500" cy="288000"/>
          </a:xfrm>
          <a:prstGeom prst="rect">
            <a:avLst/>
          </a:prstGeom>
          <a:solidFill>
            <a:srgbClr val="F7F8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6"/>
          <p:cNvSpPr/>
          <p:nvPr/>
        </p:nvSpPr>
        <p:spPr>
          <a:xfrm>
            <a:off x="581025" y="2591430"/>
            <a:ext cx="2095500" cy="9600"/>
          </a:xfrm>
          <a:prstGeom prst="rect">
            <a:avLst/>
          </a:prstGeom>
          <a:solidFill>
            <a:srgbClr val="004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6"/>
          <p:cNvSpPr/>
          <p:nvPr/>
        </p:nvSpPr>
        <p:spPr>
          <a:xfrm>
            <a:off x="676275" y="2379499"/>
            <a:ext cx="1981200" cy="1833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788"/>
              <a:buFont typeface="Inter"/>
              <a:buNone/>
            </a:pPr>
            <a:r>
              <a:rPr b="1" i="0" lang="en-US" sz="788" u="none" cap="none" strike="noStrike">
                <a:solidFill>
                  <a:srgbClr val="374151"/>
                </a:solidFill>
                <a:latin typeface="Inter"/>
                <a:ea typeface="Inter"/>
                <a:cs typeface="Inter"/>
                <a:sym typeface="Inter"/>
              </a:rPr>
              <a:t>SCOPE AREA</a:t>
            </a:r>
            <a:endParaRPr b="0" i="0" sz="788" u="none" cap="none" strike="noStrike">
              <a:solidFill>
                <a:schemeClr val="dk1"/>
              </a:solidFill>
              <a:latin typeface="Inter"/>
              <a:ea typeface="Inter"/>
              <a:cs typeface="Inter"/>
              <a:sym typeface="Inter"/>
            </a:endParaRPr>
          </a:p>
        </p:txBody>
      </p:sp>
      <p:sp>
        <p:nvSpPr>
          <p:cNvPr id="314" name="Google Shape;314;p6"/>
          <p:cNvSpPr/>
          <p:nvPr/>
        </p:nvSpPr>
        <p:spPr>
          <a:xfrm>
            <a:off x="2676525" y="2312824"/>
            <a:ext cx="4305300" cy="288000"/>
          </a:xfrm>
          <a:prstGeom prst="rect">
            <a:avLst/>
          </a:prstGeom>
          <a:solidFill>
            <a:srgbClr val="F7F8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6"/>
          <p:cNvSpPr/>
          <p:nvPr/>
        </p:nvSpPr>
        <p:spPr>
          <a:xfrm>
            <a:off x="2676525" y="2591430"/>
            <a:ext cx="4305300" cy="9600"/>
          </a:xfrm>
          <a:prstGeom prst="rect">
            <a:avLst/>
          </a:prstGeom>
          <a:solidFill>
            <a:srgbClr val="004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6"/>
          <p:cNvSpPr/>
          <p:nvPr/>
        </p:nvSpPr>
        <p:spPr>
          <a:xfrm>
            <a:off x="2771775" y="2379499"/>
            <a:ext cx="4244100" cy="1833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788"/>
              <a:buFont typeface="Inter"/>
              <a:buNone/>
            </a:pPr>
            <a:r>
              <a:rPr b="1" i="0" lang="en-US" sz="788" u="none" cap="none" strike="noStrike">
                <a:solidFill>
                  <a:srgbClr val="374151"/>
                </a:solidFill>
                <a:latin typeface="Inter"/>
                <a:ea typeface="Inter"/>
                <a:cs typeface="Inter"/>
                <a:sym typeface="Inter"/>
              </a:rPr>
              <a:t>INCLUDED CAPABILITIES</a:t>
            </a:r>
            <a:endParaRPr b="0" i="0" sz="788" u="none" cap="none" strike="noStrike">
              <a:solidFill>
                <a:schemeClr val="dk1"/>
              </a:solidFill>
              <a:latin typeface="Inter"/>
              <a:ea typeface="Inter"/>
              <a:cs typeface="Inter"/>
              <a:sym typeface="Inter"/>
            </a:endParaRPr>
          </a:p>
        </p:txBody>
      </p:sp>
      <p:sp>
        <p:nvSpPr>
          <p:cNvPr id="317" name="Google Shape;317;p6"/>
          <p:cNvSpPr/>
          <p:nvPr/>
        </p:nvSpPr>
        <p:spPr>
          <a:xfrm>
            <a:off x="581025" y="3048630"/>
            <a:ext cx="20955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6"/>
          <p:cNvSpPr/>
          <p:nvPr/>
        </p:nvSpPr>
        <p:spPr>
          <a:xfrm>
            <a:off x="676275" y="2667630"/>
            <a:ext cx="1981200" cy="3525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0E1320"/>
              </a:buClr>
              <a:buSzPts val="825"/>
              <a:buFont typeface="Inter"/>
              <a:buNone/>
            </a:pPr>
            <a:r>
              <a:rPr b="1" i="0" lang="en-US" sz="825" u="none" cap="none" strike="noStrike">
                <a:solidFill>
                  <a:srgbClr val="0E1320"/>
                </a:solidFill>
                <a:latin typeface="Inter"/>
                <a:ea typeface="Inter"/>
                <a:cs typeface="Inter"/>
                <a:sym typeface="Inter"/>
              </a:rPr>
              <a:t>Email processing</a:t>
            </a:r>
            <a:endParaRPr b="0" i="0" sz="825" u="none" cap="none" strike="noStrike">
              <a:solidFill>
                <a:schemeClr val="dk1"/>
              </a:solidFill>
              <a:latin typeface="Inter"/>
              <a:ea typeface="Inter"/>
              <a:cs typeface="Inter"/>
              <a:sym typeface="Inter"/>
            </a:endParaRPr>
          </a:p>
        </p:txBody>
      </p:sp>
      <p:sp>
        <p:nvSpPr>
          <p:cNvPr id="319" name="Google Shape;319;p6"/>
          <p:cNvSpPr/>
          <p:nvPr/>
        </p:nvSpPr>
        <p:spPr>
          <a:xfrm>
            <a:off x="2676525" y="3048630"/>
            <a:ext cx="43053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6"/>
          <p:cNvSpPr/>
          <p:nvPr/>
        </p:nvSpPr>
        <p:spPr>
          <a:xfrm>
            <a:off x="2771775" y="2667630"/>
            <a:ext cx="4244100" cy="3525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825"/>
              <a:buFont typeface="Inter"/>
              <a:buNone/>
            </a:pPr>
            <a:r>
              <a:rPr b="0" i="0" lang="en-US" sz="825" u="none" cap="none" strike="noStrike">
                <a:solidFill>
                  <a:srgbClr val="374151"/>
                </a:solidFill>
                <a:latin typeface="Inter"/>
                <a:ea typeface="Inter"/>
                <a:cs typeface="Inter"/>
                <a:sym typeface="Inter"/>
              </a:rPr>
              <a:t>Mailbox monitoring, submission detection, attachment extraction, email context capture, and AI interpretation of employer comments.</a:t>
            </a:r>
            <a:endParaRPr b="0" i="0" sz="825" u="none" cap="none" strike="noStrike">
              <a:solidFill>
                <a:schemeClr val="dk1"/>
              </a:solidFill>
              <a:latin typeface="Inter"/>
              <a:ea typeface="Inter"/>
              <a:cs typeface="Inter"/>
              <a:sym typeface="Inter"/>
            </a:endParaRPr>
          </a:p>
        </p:txBody>
      </p:sp>
      <p:sp>
        <p:nvSpPr>
          <p:cNvPr id="321" name="Google Shape;321;p6"/>
          <p:cNvSpPr/>
          <p:nvPr/>
        </p:nvSpPr>
        <p:spPr>
          <a:xfrm>
            <a:off x="581025" y="3505830"/>
            <a:ext cx="20955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6"/>
          <p:cNvSpPr/>
          <p:nvPr/>
        </p:nvSpPr>
        <p:spPr>
          <a:xfrm>
            <a:off x="676275" y="3124830"/>
            <a:ext cx="1981200" cy="3525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0E1320"/>
              </a:buClr>
              <a:buSzPts val="825"/>
              <a:buFont typeface="Inter"/>
              <a:buNone/>
            </a:pPr>
            <a:r>
              <a:rPr b="1" i="0" lang="en-US" sz="825" u="none" cap="none" strike="noStrike">
                <a:solidFill>
                  <a:srgbClr val="0E1320"/>
                </a:solidFill>
                <a:latin typeface="Inter"/>
                <a:ea typeface="Inter"/>
                <a:cs typeface="Inter"/>
                <a:sym typeface="Inter"/>
              </a:rPr>
              <a:t>File management</a:t>
            </a:r>
            <a:endParaRPr b="0" i="0" sz="825" u="none" cap="none" strike="noStrike">
              <a:solidFill>
                <a:schemeClr val="dk1"/>
              </a:solidFill>
              <a:latin typeface="Inter"/>
              <a:ea typeface="Inter"/>
              <a:cs typeface="Inter"/>
              <a:sym typeface="Inter"/>
            </a:endParaRPr>
          </a:p>
        </p:txBody>
      </p:sp>
      <p:sp>
        <p:nvSpPr>
          <p:cNvPr id="323" name="Google Shape;323;p6"/>
          <p:cNvSpPr/>
          <p:nvPr/>
        </p:nvSpPr>
        <p:spPr>
          <a:xfrm>
            <a:off x="2676525" y="3505830"/>
            <a:ext cx="43053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6"/>
          <p:cNvSpPr/>
          <p:nvPr/>
        </p:nvSpPr>
        <p:spPr>
          <a:xfrm>
            <a:off x="2771775" y="3124830"/>
            <a:ext cx="4244100" cy="3525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825"/>
              <a:buFont typeface="Inter"/>
              <a:buNone/>
            </a:pPr>
            <a:r>
              <a:rPr b="0" i="0" lang="en-US" sz="825" u="none" cap="none" strike="noStrike">
                <a:solidFill>
                  <a:srgbClr val="374151"/>
                </a:solidFill>
                <a:latin typeface="Inter"/>
                <a:ea typeface="Inter"/>
                <a:cs typeface="Inter"/>
                <a:sym typeface="Inter"/>
              </a:rPr>
              <a:t>Central file registration, historical file retrieval, current-to-prior association, version tracking, and resubmission handling.</a:t>
            </a:r>
            <a:endParaRPr b="0" i="0" sz="825" u="none" cap="none" strike="noStrike">
              <a:solidFill>
                <a:schemeClr val="dk1"/>
              </a:solidFill>
              <a:latin typeface="Inter"/>
              <a:ea typeface="Inter"/>
              <a:cs typeface="Inter"/>
              <a:sym typeface="Inter"/>
            </a:endParaRPr>
          </a:p>
        </p:txBody>
      </p:sp>
      <p:sp>
        <p:nvSpPr>
          <p:cNvPr id="325" name="Google Shape;325;p6"/>
          <p:cNvSpPr/>
          <p:nvPr/>
        </p:nvSpPr>
        <p:spPr>
          <a:xfrm>
            <a:off x="581025" y="4120193"/>
            <a:ext cx="20955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6"/>
          <p:cNvSpPr/>
          <p:nvPr/>
        </p:nvSpPr>
        <p:spPr>
          <a:xfrm>
            <a:off x="676275" y="3582030"/>
            <a:ext cx="1981200" cy="5097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0E1320"/>
              </a:buClr>
              <a:buSzPts val="825"/>
              <a:buFont typeface="Inter"/>
              <a:buNone/>
            </a:pPr>
            <a:r>
              <a:rPr b="1" i="0" lang="en-US" sz="825" u="none" cap="none" strike="noStrike">
                <a:solidFill>
                  <a:srgbClr val="0E1320"/>
                </a:solidFill>
                <a:latin typeface="Inter"/>
                <a:ea typeface="Inter"/>
                <a:cs typeface="Inter"/>
                <a:sym typeface="Inter"/>
              </a:rPr>
              <a:t>Validation engine</a:t>
            </a:r>
            <a:endParaRPr b="0" i="0" sz="825" u="none" cap="none" strike="noStrike">
              <a:solidFill>
                <a:schemeClr val="dk1"/>
              </a:solidFill>
              <a:latin typeface="Inter"/>
              <a:ea typeface="Inter"/>
              <a:cs typeface="Inter"/>
              <a:sym typeface="Inter"/>
            </a:endParaRPr>
          </a:p>
        </p:txBody>
      </p:sp>
      <p:sp>
        <p:nvSpPr>
          <p:cNvPr id="327" name="Google Shape;327;p6"/>
          <p:cNvSpPr/>
          <p:nvPr/>
        </p:nvSpPr>
        <p:spPr>
          <a:xfrm>
            <a:off x="2676525" y="4120193"/>
            <a:ext cx="43053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6"/>
          <p:cNvSpPr/>
          <p:nvPr/>
        </p:nvSpPr>
        <p:spPr>
          <a:xfrm>
            <a:off x="2771775" y="3582030"/>
            <a:ext cx="4244100" cy="5097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825"/>
              <a:buFont typeface="Inter"/>
              <a:buNone/>
            </a:pPr>
            <a:r>
              <a:rPr b="0" i="0" lang="en-US" sz="825" u="none" cap="none" strike="noStrike">
                <a:solidFill>
                  <a:srgbClr val="374151"/>
                </a:solidFill>
                <a:latin typeface="Inter"/>
                <a:ea typeface="Inter"/>
                <a:cs typeface="Inter"/>
                <a:sym typeface="Inter"/>
              </a:rPr>
              <a:t>Format checks, mandatory field checks, data type validation, duplicate detection, contribution amount checks, employee status checks, reconciliation, and configurable business rules.</a:t>
            </a:r>
            <a:endParaRPr b="0" i="0" sz="825" u="none" cap="none" strike="noStrike">
              <a:solidFill>
                <a:schemeClr val="dk1"/>
              </a:solidFill>
              <a:latin typeface="Inter"/>
              <a:ea typeface="Inter"/>
              <a:cs typeface="Inter"/>
              <a:sym typeface="Inter"/>
            </a:endParaRPr>
          </a:p>
        </p:txBody>
      </p:sp>
      <p:sp>
        <p:nvSpPr>
          <p:cNvPr id="329" name="Google Shape;329;p6"/>
          <p:cNvSpPr/>
          <p:nvPr/>
        </p:nvSpPr>
        <p:spPr>
          <a:xfrm>
            <a:off x="581025" y="4577393"/>
            <a:ext cx="20955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6"/>
          <p:cNvSpPr/>
          <p:nvPr/>
        </p:nvSpPr>
        <p:spPr>
          <a:xfrm>
            <a:off x="676275" y="4196393"/>
            <a:ext cx="1981200" cy="3525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0E1320"/>
              </a:buClr>
              <a:buSzPts val="825"/>
              <a:buFont typeface="Inter"/>
              <a:buNone/>
            </a:pPr>
            <a:r>
              <a:rPr b="1" i="0" lang="en-US" sz="825" u="none" cap="none" strike="noStrike">
                <a:solidFill>
                  <a:srgbClr val="0E1320"/>
                </a:solidFill>
                <a:latin typeface="Inter"/>
                <a:ea typeface="Inter"/>
                <a:cs typeface="Inter"/>
                <a:sym typeface="Inter"/>
              </a:rPr>
              <a:t>Error management</a:t>
            </a:r>
            <a:endParaRPr b="0" i="0" sz="825" u="none" cap="none" strike="noStrike">
              <a:solidFill>
                <a:schemeClr val="dk1"/>
              </a:solidFill>
              <a:latin typeface="Inter"/>
              <a:ea typeface="Inter"/>
              <a:cs typeface="Inter"/>
              <a:sym typeface="Inter"/>
            </a:endParaRPr>
          </a:p>
        </p:txBody>
      </p:sp>
      <p:sp>
        <p:nvSpPr>
          <p:cNvPr id="331" name="Google Shape;331;p6"/>
          <p:cNvSpPr/>
          <p:nvPr/>
        </p:nvSpPr>
        <p:spPr>
          <a:xfrm>
            <a:off x="2676525" y="4577393"/>
            <a:ext cx="43053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6"/>
          <p:cNvSpPr/>
          <p:nvPr/>
        </p:nvSpPr>
        <p:spPr>
          <a:xfrm>
            <a:off x="2771775" y="4196393"/>
            <a:ext cx="4244100" cy="3525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825"/>
              <a:buFont typeface="Inter"/>
              <a:buNone/>
            </a:pPr>
            <a:r>
              <a:rPr b="0" i="0" lang="en-US" sz="825" u="none" cap="none" strike="noStrike">
                <a:solidFill>
                  <a:srgbClr val="374151"/>
                </a:solidFill>
                <a:latin typeface="Inter"/>
                <a:ea typeface="Inter"/>
                <a:cs typeface="Inter"/>
                <a:sym typeface="Inter"/>
              </a:rPr>
              <a:t>Validation report generation, error and warning categorization, automated employer notification for Flow 1, portal-facing error response for Flow 2.</a:t>
            </a:r>
            <a:endParaRPr b="0" i="0" sz="825" u="none" cap="none" strike="noStrike">
              <a:solidFill>
                <a:schemeClr val="dk1"/>
              </a:solidFill>
              <a:latin typeface="Inter"/>
              <a:ea typeface="Inter"/>
              <a:cs typeface="Inter"/>
              <a:sym typeface="Inter"/>
            </a:endParaRPr>
          </a:p>
        </p:txBody>
      </p:sp>
      <p:sp>
        <p:nvSpPr>
          <p:cNvPr id="333" name="Google Shape;333;p6"/>
          <p:cNvSpPr/>
          <p:nvPr/>
        </p:nvSpPr>
        <p:spPr>
          <a:xfrm>
            <a:off x="581025" y="5034593"/>
            <a:ext cx="20955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6"/>
          <p:cNvSpPr/>
          <p:nvPr/>
        </p:nvSpPr>
        <p:spPr>
          <a:xfrm>
            <a:off x="676275" y="4653593"/>
            <a:ext cx="1981200" cy="3525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0E1320"/>
              </a:buClr>
              <a:buSzPts val="825"/>
              <a:buFont typeface="Inter"/>
              <a:buNone/>
            </a:pPr>
            <a:r>
              <a:rPr b="1" i="0" lang="en-US" sz="825" u="none" cap="none" strike="noStrike">
                <a:solidFill>
                  <a:srgbClr val="0E1320"/>
                </a:solidFill>
                <a:latin typeface="Inter"/>
                <a:ea typeface="Inter"/>
                <a:cs typeface="Inter"/>
                <a:sym typeface="Inter"/>
              </a:rPr>
              <a:t>Existing portal integration</a:t>
            </a:r>
            <a:endParaRPr b="0" i="0" sz="825" u="none" cap="none" strike="noStrike">
              <a:solidFill>
                <a:schemeClr val="dk1"/>
              </a:solidFill>
              <a:latin typeface="Inter"/>
              <a:ea typeface="Inter"/>
              <a:cs typeface="Inter"/>
              <a:sym typeface="Inter"/>
            </a:endParaRPr>
          </a:p>
        </p:txBody>
      </p:sp>
      <p:sp>
        <p:nvSpPr>
          <p:cNvPr id="335" name="Google Shape;335;p6"/>
          <p:cNvSpPr/>
          <p:nvPr/>
        </p:nvSpPr>
        <p:spPr>
          <a:xfrm>
            <a:off x="2676525" y="5034593"/>
            <a:ext cx="43053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6"/>
          <p:cNvSpPr/>
          <p:nvPr/>
        </p:nvSpPr>
        <p:spPr>
          <a:xfrm>
            <a:off x="2771775" y="4653593"/>
            <a:ext cx="4244100" cy="3525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825"/>
              <a:buFont typeface="Inter"/>
              <a:buNone/>
            </a:pPr>
            <a:r>
              <a:rPr b="0" i="0" lang="en-US" sz="825" u="none" cap="none" strike="noStrike">
                <a:solidFill>
                  <a:srgbClr val="374151"/>
                </a:solidFill>
                <a:latin typeface="Inter"/>
                <a:ea typeface="Inter"/>
                <a:cs typeface="Inter"/>
                <a:sym typeface="Inter"/>
              </a:rPr>
              <a:t>API support for the existing portal to call validation services and receive synchronous or asynchronous results.</a:t>
            </a:r>
            <a:endParaRPr b="0" i="0" sz="825" u="none" cap="none" strike="noStrike">
              <a:solidFill>
                <a:schemeClr val="dk1"/>
              </a:solidFill>
              <a:latin typeface="Inter"/>
              <a:ea typeface="Inter"/>
              <a:cs typeface="Inter"/>
              <a:sym typeface="Inter"/>
            </a:endParaRPr>
          </a:p>
        </p:txBody>
      </p:sp>
      <p:sp>
        <p:nvSpPr>
          <p:cNvPr id="337" name="Google Shape;337;p6"/>
          <p:cNvSpPr/>
          <p:nvPr/>
        </p:nvSpPr>
        <p:spPr>
          <a:xfrm>
            <a:off x="676275" y="5110793"/>
            <a:ext cx="1981200" cy="3573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0E1320"/>
              </a:buClr>
              <a:buSzPts val="825"/>
              <a:buFont typeface="Inter"/>
              <a:buNone/>
            </a:pPr>
            <a:r>
              <a:rPr b="1" i="0" lang="en-US" sz="825" u="none" cap="none" strike="noStrike">
                <a:solidFill>
                  <a:srgbClr val="0E1320"/>
                </a:solidFill>
                <a:latin typeface="Inter"/>
                <a:ea typeface="Inter"/>
                <a:cs typeface="Inter"/>
                <a:sym typeface="Inter"/>
              </a:rPr>
              <a:t>PAS integration</a:t>
            </a:r>
            <a:endParaRPr b="0" i="0" sz="825" u="none" cap="none" strike="noStrike">
              <a:solidFill>
                <a:schemeClr val="dk1"/>
              </a:solidFill>
              <a:latin typeface="Inter"/>
              <a:ea typeface="Inter"/>
              <a:cs typeface="Inter"/>
              <a:sym typeface="Inter"/>
            </a:endParaRPr>
          </a:p>
        </p:txBody>
      </p:sp>
      <p:sp>
        <p:nvSpPr>
          <p:cNvPr id="338" name="Google Shape;338;p6"/>
          <p:cNvSpPr/>
          <p:nvPr/>
        </p:nvSpPr>
        <p:spPr>
          <a:xfrm>
            <a:off x="2771775" y="5110793"/>
            <a:ext cx="4244100" cy="3573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825"/>
              <a:buFont typeface="Inter"/>
              <a:buNone/>
            </a:pPr>
            <a:r>
              <a:rPr b="0" i="0" lang="en-US" sz="825" u="none" cap="none" strike="noStrike">
                <a:solidFill>
                  <a:srgbClr val="374151"/>
                </a:solidFill>
                <a:latin typeface="Inter"/>
                <a:ea typeface="Inter"/>
                <a:cs typeface="Inter"/>
                <a:sym typeface="Inter"/>
              </a:rPr>
              <a:t>Validated record posting to the PAS API, upload status capture, and audit logging, subject to API readiness.</a:t>
            </a:r>
            <a:endParaRPr b="0" i="0" sz="825" u="none" cap="none" strike="noStrike">
              <a:solidFill>
                <a:schemeClr val="dk1"/>
              </a:solidFill>
              <a:latin typeface="Inter"/>
              <a:ea typeface="Inter"/>
              <a:cs typeface="Inter"/>
              <a:sym typeface="Inter"/>
            </a:endParaRPr>
          </a:p>
        </p:txBody>
      </p:sp>
      <p:sp>
        <p:nvSpPr>
          <p:cNvPr id="339" name="Google Shape;339;p6"/>
          <p:cNvSpPr/>
          <p:nvPr/>
        </p:nvSpPr>
        <p:spPr>
          <a:xfrm>
            <a:off x="571500" y="6041048"/>
            <a:ext cx="6419700" cy="2096100"/>
          </a:xfrm>
          <a:prstGeom prst="roundRect">
            <a:avLst>
              <a:gd fmla="val 2726" name="adj"/>
            </a:avLst>
          </a:prstGeom>
          <a:noFill/>
          <a:ln cap="flat" cmpd="sng" w="9525">
            <a:solidFill>
              <a:srgbClr val="E2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6"/>
          <p:cNvSpPr/>
          <p:nvPr/>
        </p:nvSpPr>
        <p:spPr>
          <a:xfrm>
            <a:off x="581025" y="6050573"/>
            <a:ext cx="6400800" cy="357300"/>
          </a:xfrm>
          <a:prstGeom prst="rect">
            <a:avLst/>
          </a:prstGeom>
          <a:solidFill>
            <a:srgbClr val="F7F8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6"/>
          <p:cNvSpPr/>
          <p:nvPr/>
        </p:nvSpPr>
        <p:spPr>
          <a:xfrm>
            <a:off x="581025" y="6398236"/>
            <a:ext cx="64008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6"/>
          <p:cNvSpPr/>
          <p:nvPr/>
        </p:nvSpPr>
        <p:spPr>
          <a:xfrm>
            <a:off x="714375" y="6145823"/>
            <a:ext cx="941100" cy="157200"/>
          </a:xfrm>
          <a:prstGeom prst="roundRect">
            <a:avLst>
              <a:gd fmla="val 18182" name="adj"/>
            </a:avLst>
          </a:prstGeom>
          <a:solidFill>
            <a:srgbClr val="EEF0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6"/>
          <p:cNvSpPr/>
          <p:nvPr/>
        </p:nvSpPr>
        <p:spPr>
          <a:xfrm>
            <a:off x="781050" y="6174398"/>
            <a:ext cx="883800" cy="1380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4B5563"/>
              </a:buClr>
              <a:buSzPts val="675"/>
              <a:buFont typeface="Inter"/>
              <a:buNone/>
            </a:pPr>
            <a:r>
              <a:rPr b="1" i="0" lang="en-US" sz="675" u="none" cap="none" strike="noStrike">
                <a:solidFill>
                  <a:srgbClr val="4B5563"/>
                </a:solidFill>
                <a:latin typeface="Inter"/>
                <a:ea typeface="Inter"/>
                <a:cs typeface="Inter"/>
                <a:sym typeface="Inter"/>
              </a:rPr>
              <a:t>OUT OF SCOPE</a:t>
            </a:r>
            <a:endParaRPr b="0" i="0" sz="675" u="none" cap="none" strike="noStrike">
              <a:solidFill>
                <a:schemeClr val="dk1"/>
              </a:solidFill>
              <a:latin typeface="Inter"/>
              <a:ea typeface="Inter"/>
              <a:cs typeface="Inter"/>
              <a:sym typeface="Inter"/>
            </a:endParaRPr>
          </a:p>
        </p:txBody>
      </p:sp>
      <p:sp>
        <p:nvSpPr>
          <p:cNvPr id="344" name="Google Shape;344;p6"/>
          <p:cNvSpPr/>
          <p:nvPr/>
        </p:nvSpPr>
        <p:spPr>
          <a:xfrm>
            <a:off x="1750665" y="6155348"/>
            <a:ext cx="1901100" cy="1761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E1320"/>
              </a:buClr>
              <a:buSzPts val="900"/>
              <a:buFont typeface="Inter"/>
              <a:buNone/>
            </a:pPr>
            <a:r>
              <a:rPr b="1" i="0" lang="en-US" sz="900" u="none" cap="none" strike="noStrike">
                <a:solidFill>
                  <a:srgbClr val="0E1320"/>
                </a:solidFill>
                <a:latin typeface="Inter"/>
                <a:ea typeface="Inter"/>
                <a:cs typeface="Inter"/>
                <a:sym typeface="Inter"/>
              </a:rPr>
              <a:t>Not included in the 12-week MVP</a:t>
            </a:r>
            <a:endParaRPr b="0" i="0" sz="900" u="none" cap="none" strike="noStrike">
              <a:solidFill>
                <a:schemeClr val="dk1"/>
              </a:solidFill>
              <a:latin typeface="Inter"/>
              <a:ea typeface="Inter"/>
              <a:cs typeface="Inter"/>
              <a:sym typeface="Inter"/>
            </a:endParaRPr>
          </a:p>
        </p:txBody>
      </p:sp>
      <p:sp>
        <p:nvSpPr>
          <p:cNvPr id="345" name="Google Shape;345;p6"/>
          <p:cNvSpPr/>
          <p:nvPr/>
        </p:nvSpPr>
        <p:spPr>
          <a:xfrm>
            <a:off x="612775" y="6522061"/>
            <a:ext cx="3178200" cy="831300"/>
          </a:xfrm>
          <a:prstGeom prst="rect">
            <a:avLst/>
          </a:prstGeom>
          <a:noFill/>
          <a:ln>
            <a:noFill/>
          </a:ln>
        </p:spPr>
        <p:txBody>
          <a:bodyPr anchorCtr="0" anchor="t" bIns="25400" lIns="25400" spcFirstLastPara="1" rIns="25400" wrap="square" tIns="25400">
            <a:normAutofit/>
          </a:bodyPr>
          <a:lstStyle/>
          <a:p>
            <a:pPr indent="-283401" lvl="0" marL="457200" marR="0" rtl="0" algn="l">
              <a:lnSpc>
                <a:spcPct val="155000"/>
              </a:lnSpc>
              <a:spcBef>
                <a:spcPts val="0"/>
              </a:spcBef>
              <a:spcAft>
                <a:spcPts val="0"/>
              </a:spcAft>
              <a:buClr>
                <a:srgbClr val="374151"/>
              </a:buClr>
              <a:buSzPts val="863"/>
              <a:buFont typeface="Inter"/>
              <a:buChar char="●"/>
            </a:pPr>
            <a:r>
              <a:rPr b="0" i="0" lang="en-US" sz="863" u="none" cap="none" strike="noStrike">
                <a:solidFill>
                  <a:srgbClr val="374151"/>
                </a:solidFill>
                <a:latin typeface="Inter"/>
                <a:ea typeface="Inter"/>
                <a:cs typeface="Inter"/>
                <a:sym typeface="Inter"/>
              </a:rPr>
              <a:t>Building or redesigning the existing employer portal.</a:t>
            </a:r>
            <a:endParaRPr b="0" i="0" sz="863" u="none" cap="none" strike="noStrike">
              <a:solidFill>
                <a:schemeClr val="dk1"/>
              </a:solidFill>
              <a:latin typeface="Inter"/>
              <a:ea typeface="Inter"/>
              <a:cs typeface="Inter"/>
              <a:sym typeface="Inter"/>
            </a:endParaRPr>
          </a:p>
          <a:p>
            <a:pPr indent="-283401" lvl="0" marL="457200" marR="0" rtl="0" algn="l">
              <a:lnSpc>
                <a:spcPct val="155000"/>
              </a:lnSpc>
              <a:spcBef>
                <a:spcPts val="0"/>
              </a:spcBef>
              <a:spcAft>
                <a:spcPts val="0"/>
              </a:spcAft>
              <a:buClr>
                <a:srgbClr val="374151"/>
              </a:buClr>
              <a:buSzPts val="863"/>
              <a:buFont typeface="Inter"/>
              <a:buChar char="●"/>
            </a:pPr>
            <a:r>
              <a:rPr b="0" i="0" lang="en-US" sz="863" u="none" cap="none" strike="noStrike">
                <a:solidFill>
                  <a:srgbClr val="374151"/>
                </a:solidFill>
                <a:latin typeface="Inter"/>
                <a:ea typeface="Inter"/>
                <a:cs typeface="Inter"/>
                <a:sym typeface="Inter"/>
              </a:rPr>
              <a:t>Replacing the core pension administration system.</a:t>
            </a:r>
            <a:endParaRPr b="0" i="0" sz="863" u="none" cap="none" strike="noStrike">
              <a:solidFill>
                <a:schemeClr val="dk1"/>
              </a:solidFill>
              <a:latin typeface="Inter"/>
              <a:ea typeface="Inter"/>
              <a:cs typeface="Inter"/>
              <a:sym typeface="Inter"/>
            </a:endParaRPr>
          </a:p>
          <a:p>
            <a:pPr indent="-283401" lvl="0" marL="457200" marR="0" rtl="0" algn="l">
              <a:lnSpc>
                <a:spcPct val="155000"/>
              </a:lnSpc>
              <a:spcBef>
                <a:spcPts val="0"/>
              </a:spcBef>
              <a:spcAft>
                <a:spcPts val="0"/>
              </a:spcAft>
              <a:buClr>
                <a:srgbClr val="374151"/>
              </a:buClr>
              <a:buSzPts val="863"/>
              <a:buFont typeface="Inter"/>
              <a:buChar char="●"/>
            </a:pPr>
            <a:r>
              <a:rPr b="0" i="0" lang="en-US" sz="863" u="none" cap="none" strike="noStrike">
                <a:solidFill>
                  <a:srgbClr val="374151"/>
                </a:solidFill>
                <a:latin typeface="Inter"/>
                <a:ea typeface="Inter"/>
                <a:cs typeface="Inter"/>
                <a:sym typeface="Inter"/>
              </a:rPr>
              <a:t>Third-party security audit, certification, or formal compliance attestation.</a:t>
            </a:r>
            <a:endParaRPr b="0" i="0" sz="863" u="none" cap="none" strike="noStrike">
              <a:solidFill>
                <a:schemeClr val="dk1"/>
              </a:solidFill>
              <a:latin typeface="Inter"/>
              <a:ea typeface="Inter"/>
              <a:cs typeface="Inter"/>
              <a:sym typeface="Inter"/>
            </a:endParaRPr>
          </a:p>
        </p:txBody>
      </p:sp>
      <p:sp>
        <p:nvSpPr>
          <p:cNvPr id="346" name="Google Shape;346;p6"/>
          <p:cNvSpPr/>
          <p:nvPr/>
        </p:nvSpPr>
        <p:spPr>
          <a:xfrm>
            <a:off x="3746500" y="6511358"/>
            <a:ext cx="3178200" cy="1510200"/>
          </a:xfrm>
          <a:prstGeom prst="rect">
            <a:avLst/>
          </a:prstGeom>
          <a:noFill/>
          <a:ln>
            <a:noFill/>
          </a:ln>
        </p:spPr>
        <p:txBody>
          <a:bodyPr anchorCtr="0" anchor="t" bIns="25400" lIns="25400" spcFirstLastPara="1" rIns="25400" wrap="square" tIns="25400">
            <a:normAutofit/>
          </a:bodyPr>
          <a:lstStyle/>
          <a:p>
            <a:pPr indent="-283401" lvl="0" marL="457200" marR="0" rtl="0" algn="l">
              <a:lnSpc>
                <a:spcPct val="155000"/>
              </a:lnSpc>
              <a:spcBef>
                <a:spcPts val="0"/>
              </a:spcBef>
              <a:spcAft>
                <a:spcPts val="0"/>
              </a:spcAft>
              <a:buClr>
                <a:srgbClr val="374151"/>
              </a:buClr>
              <a:buSzPts val="863"/>
              <a:buFont typeface="Inter"/>
              <a:buChar char="●"/>
            </a:pPr>
            <a:r>
              <a:rPr b="0" i="0" lang="en-US" sz="863" u="none" cap="none" strike="noStrike">
                <a:solidFill>
                  <a:srgbClr val="374151"/>
                </a:solidFill>
                <a:latin typeface="Inter"/>
                <a:ea typeface="Inter"/>
                <a:cs typeface="Inter"/>
                <a:sym typeface="Inter"/>
              </a:rPr>
              <a:t>Historical migration beyond data required for validation, testing, and comparison.</a:t>
            </a:r>
            <a:endParaRPr b="0" i="0" sz="863" u="none" cap="none" strike="noStrike">
              <a:solidFill>
                <a:schemeClr val="dk1"/>
              </a:solidFill>
              <a:latin typeface="Inter"/>
              <a:ea typeface="Inter"/>
              <a:cs typeface="Inter"/>
              <a:sym typeface="Inter"/>
            </a:endParaRPr>
          </a:p>
          <a:p>
            <a:pPr indent="-283401" lvl="0" marL="457200" marR="0" rtl="0" algn="l">
              <a:lnSpc>
                <a:spcPct val="155000"/>
              </a:lnSpc>
              <a:spcBef>
                <a:spcPts val="0"/>
              </a:spcBef>
              <a:spcAft>
                <a:spcPts val="0"/>
              </a:spcAft>
              <a:buClr>
                <a:srgbClr val="374151"/>
              </a:buClr>
              <a:buSzPts val="863"/>
              <a:buFont typeface="Inter"/>
              <a:buChar char="●"/>
            </a:pPr>
            <a:r>
              <a:rPr b="0" i="0" lang="en-US" sz="863" u="none" cap="none" strike="noStrike">
                <a:solidFill>
                  <a:srgbClr val="374151"/>
                </a:solidFill>
                <a:latin typeface="Inter"/>
                <a:ea typeface="Inter"/>
                <a:cs typeface="Inter"/>
                <a:sym typeface="Inter"/>
              </a:rPr>
              <a:t>Guaranteed PAS upload automation until PAS API contract, authentication, and payload requirements are confirmed.</a:t>
            </a:r>
            <a:endParaRPr b="0" i="0" sz="863" u="none" cap="none" strike="noStrike">
              <a:solidFill>
                <a:schemeClr val="dk1"/>
              </a:solidFill>
              <a:latin typeface="Inter"/>
              <a:ea typeface="Inter"/>
              <a:cs typeface="Inter"/>
              <a:sym typeface="Inter"/>
            </a:endParaRPr>
          </a:p>
          <a:p>
            <a:pPr indent="-283401" lvl="0" marL="457200" marR="0" rtl="0" algn="l">
              <a:lnSpc>
                <a:spcPct val="155000"/>
              </a:lnSpc>
              <a:spcBef>
                <a:spcPts val="0"/>
              </a:spcBef>
              <a:spcAft>
                <a:spcPts val="0"/>
              </a:spcAft>
              <a:buClr>
                <a:srgbClr val="374151"/>
              </a:buClr>
              <a:buSzPts val="863"/>
              <a:buFont typeface="Inter"/>
              <a:buChar char="●"/>
            </a:pPr>
            <a:r>
              <a:rPr b="0" i="0" lang="en-US" sz="863" u="none" cap="none" strike="noStrike">
                <a:solidFill>
                  <a:srgbClr val="374151"/>
                </a:solidFill>
                <a:latin typeface="Inter"/>
                <a:ea typeface="Inter"/>
                <a:cs typeface="Inter"/>
                <a:sym typeface="Inter"/>
              </a:rPr>
              <a:t>Advanced analytics, employer scorecards, and compliance dashboards unless added as a separate work package.</a:t>
            </a:r>
            <a:endParaRPr b="0" i="0" sz="863" u="none" cap="none" strike="noStrike">
              <a:solidFill>
                <a:schemeClr val="dk1"/>
              </a:solidFill>
              <a:latin typeface="Inter"/>
              <a:ea typeface="Inter"/>
              <a:cs typeface="Inter"/>
              <a:sym typeface="Inter"/>
            </a:endParaRPr>
          </a:p>
        </p:txBody>
      </p:sp>
      <p:sp>
        <p:nvSpPr>
          <p:cNvPr id="347" name="Google Shape;347;p6"/>
          <p:cNvSpPr/>
          <p:nvPr/>
        </p:nvSpPr>
        <p:spPr>
          <a:xfrm>
            <a:off x="0" y="10234613"/>
            <a:ext cx="7562850" cy="461963"/>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6"/>
          <p:cNvSpPr/>
          <p:nvPr/>
        </p:nvSpPr>
        <p:spPr>
          <a:xfrm>
            <a:off x="0" y="10234613"/>
            <a:ext cx="7562850" cy="9525"/>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6"/>
          <p:cNvSpPr/>
          <p:nvPr/>
        </p:nvSpPr>
        <p:spPr>
          <a:xfrm>
            <a:off x="6540847" y="10377488"/>
            <a:ext cx="526703" cy="147638"/>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0047AB"/>
              </a:buClr>
              <a:buSzPts val="713"/>
              <a:buFont typeface="Inter"/>
              <a:buNone/>
            </a:pPr>
            <a:r>
              <a:rPr b="1" i="0" lang="en-US" sz="713" u="none" cap="none" strike="noStrike">
                <a:solidFill>
                  <a:srgbClr val="6B7686"/>
                </a:solidFill>
                <a:latin typeface="Inter"/>
                <a:ea typeface="Inter"/>
                <a:cs typeface="Inter"/>
                <a:sym typeface="Inter"/>
              </a:rPr>
              <a:t>0</a:t>
            </a:r>
            <a:r>
              <a:rPr b="1" lang="en-US" sz="713">
                <a:solidFill>
                  <a:srgbClr val="6B7686"/>
                </a:solidFill>
              </a:rPr>
              <a:t>7</a:t>
            </a:r>
            <a:r>
              <a:rPr b="1" i="0" lang="en-US" sz="713" u="none" cap="none" strike="noStrike">
                <a:solidFill>
                  <a:srgbClr val="6B7686"/>
                </a:solidFill>
                <a:latin typeface="Inter"/>
                <a:ea typeface="Inter"/>
                <a:cs typeface="Inter"/>
                <a:sym typeface="Inter"/>
              </a:rPr>
              <a:t> / 1</a:t>
            </a:r>
            <a:r>
              <a:rPr b="1" lang="en-US" sz="713">
                <a:solidFill>
                  <a:srgbClr val="6B7686"/>
                </a:solidFill>
              </a:rPr>
              <a:t>2</a:t>
            </a:r>
            <a:endParaRPr b="0" i="0" sz="713" u="none" cap="none" strike="noStrike">
              <a:solidFill>
                <a:srgbClr val="6B7686"/>
              </a:solidFill>
              <a:latin typeface="Inter"/>
              <a:ea typeface="Inter"/>
              <a:cs typeface="Inter"/>
              <a:sym typeface="Inter"/>
            </a:endParaRPr>
          </a:p>
        </p:txBody>
      </p:sp>
      <p:sp>
        <p:nvSpPr>
          <p:cNvPr id="350" name="Google Shape;350;p6"/>
          <p:cNvSpPr/>
          <p:nvPr/>
        </p:nvSpPr>
        <p:spPr>
          <a:xfrm>
            <a:off x="571500" y="10377500"/>
            <a:ext cx="3966300" cy="138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7686"/>
              </a:buClr>
              <a:buSzPts val="713"/>
              <a:buFont typeface="Inter"/>
              <a:buNone/>
            </a:pPr>
            <a:r>
              <a:rPr b="0" i="0" lang="en-US" sz="713" u="none" cap="none" strike="noStrike">
                <a:solidFill>
                  <a:srgbClr val="6B7686"/>
                </a:solidFill>
                <a:latin typeface="Inter"/>
                <a:ea typeface="Inter"/>
                <a:cs typeface="Inter"/>
                <a:sym typeface="Inter"/>
              </a:rPr>
              <a:t>NEWTUPLE TECHNOLOGIES · 		  		     </a:t>
            </a:r>
            <a:r>
              <a:rPr lang="en-US" sz="713">
                <a:solidFill>
                  <a:srgbClr val="6B7686"/>
                </a:solidFill>
              </a:rPr>
              <a:t>    </a:t>
            </a:r>
            <a:r>
              <a:rPr b="0" i="0" lang="en-US" sz="713" u="none" cap="none" strike="noStrike">
                <a:solidFill>
                  <a:srgbClr val="6B7686"/>
                </a:solidFill>
                <a:latin typeface="Inter"/>
                <a:ea typeface="Inter"/>
                <a:cs typeface="Inter"/>
                <a:sym typeface="Inter"/>
              </a:rPr>
              <a:t>CONFIDENTIAL</a:t>
            </a:r>
            <a:endParaRPr b="0" i="0" sz="713" u="none" cap="none" strike="noStrike">
              <a:solidFill>
                <a:schemeClr val="dk1"/>
              </a:solidFill>
              <a:latin typeface="Inter"/>
              <a:ea typeface="Inter"/>
              <a:cs typeface="Inter"/>
              <a:sym typeface="Inte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5" name="Shape 355"/>
        <p:cNvGrpSpPr/>
        <p:nvPr/>
      </p:nvGrpSpPr>
      <p:grpSpPr>
        <a:xfrm>
          <a:off x="0" y="0"/>
          <a:ext cx="0" cy="0"/>
          <a:chOff x="0" y="0"/>
          <a:chExt cx="0" cy="0"/>
        </a:xfrm>
      </p:grpSpPr>
      <p:sp>
        <p:nvSpPr>
          <p:cNvPr id="356" name="Google Shape;356;p7"/>
          <p:cNvSpPr/>
          <p:nvPr/>
        </p:nvSpPr>
        <p:spPr>
          <a:xfrm>
            <a:off x="0" y="0"/>
            <a:ext cx="7562850" cy="10696575"/>
          </a:xfrm>
          <a:prstGeom prst="rect">
            <a:avLst/>
          </a:prstGeom>
          <a:noFill/>
          <a:ln>
            <a:noFill/>
          </a:ln>
          <a:effectLst>
            <a:outerShdw blurRad="381000" rotWithShape="0" algn="bl" dir="5400000" dist="133350">
              <a:srgbClr val="0E132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57" name="Google Shape;357;p7"/>
          <p:cNvPicPr preferRelativeResize="0"/>
          <p:nvPr/>
        </p:nvPicPr>
        <p:blipFill rotWithShape="1">
          <a:blip r:embed="rId3">
            <a:alphaModFix/>
          </a:blip>
          <a:srcRect b="0" l="0" r="0" t="0"/>
          <a:stretch/>
        </p:blipFill>
        <p:spPr>
          <a:xfrm>
            <a:off x="571500" y="717445"/>
            <a:ext cx="815357" cy="152400"/>
          </a:xfrm>
          <a:prstGeom prst="rect">
            <a:avLst/>
          </a:prstGeom>
          <a:noFill/>
          <a:ln>
            <a:noFill/>
          </a:ln>
        </p:spPr>
      </p:pic>
      <p:sp>
        <p:nvSpPr>
          <p:cNvPr id="358" name="Google Shape;358;p7"/>
          <p:cNvSpPr/>
          <p:nvPr/>
        </p:nvSpPr>
        <p:spPr>
          <a:xfrm>
            <a:off x="3486522" y="736495"/>
            <a:ext cx="3609900" cy="152400"/>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6B7686"/>
              </a:buClr>
              <a:buSzPts val="750"/>
              <a:buFont typeface="Inter"/>
              <a:buNone/>
            </a:pPr>
            <a:r>
              <a:rPr b="1" i="0" lang="en-US" sz="750" u="none" cap="none" strike="noStrike">
                <a:solidFill>
                  <a:srgbClr val="6B7686"/>
                </a:solidFill>
                <a:latin typeface="Inter"/>
                <a:ea typeface="Inter"/>
                <a:cs typeface="Inter"/>
                <a:sym typeface="Inter"/>
              </a:rPr>
              <a:t>PENSION CONTRIBUTION PROCESSING AUTOMATION</a:t>
            </a:r>
            <a:endParaRPr b="0" i="0" sz="750" u="none" cap="none" strike="noStrike">
              <a:solidFill>
                <a:schemeClr val="dk1"/>
              </a:solidFill>
              <a:latin typeface="Inter"/>
              <a:ea typeface="Inter"/>
              <a:cs typeface="Inter"/>
              <a:sym typeface="Inter"/>
            </a:endParaRPr>
          </a:p>
        </p:txBody>
      </p:sp>
      <p:sp>
        <p:nvSpPr>
          <p:cNvPr id="359" name="Google Shape;359;p7"/>
          <p:cNvSpPr/>
          <p:nvPr/>
        </p:nvSpPr>
        <p:spPr>
          <a:xfrm>
            <a:off x="494546" y="1842747"/>
            <a:ext cx="6419700" cy="9600"/>
          </a:xfrm>
          <a:prstGeom prst="rect">
            <a:avLst/>
          </a:prstGeom>
          <a:solidFill>
            <a:srgbClr val="004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7"/>
          <p:cNvSpPr/>
          <p:nvPr/>
        </p:nvSpPr>
        <p:spPr>
          <a:xfrm>
            <a:off x="494546" y="1603730"/>
            <a:ext cx="268800" cy="153300"/>
          </a:xfrm>
          <a:prstGeom prst="rect">
            <a:avLst/>
          </a:prstGeom>
          <a:noFill/>
          <a:ln>
            <a:noFill/>
          </a:ln>
        </p:spPr>
        <p:txBody>
          <a:bodyPr anchorCtr="0" anchor="t" bIns="25400" lIns="25400" spcFirstLastPara="1" rIns="25400" wrap="square" tIns="25400">
            <a:normAutofit/>
          </a:bodyPr>
          <a:lstStyle/>
          <a:p>
            <a:pPr indent="0" lvl="0" marL="0" marR="0" rtl="0" algn="l">
              <a:lnSpc>
                <a:spcPct val="110000"/>
              </a:lnSpc>
              <a:spcBef>
                <a:spcPts val="0"/>
              </a:spcBef>
              <a:spcAft>
                <a:spcPts val="0"/>
              </a:spcAft>
              <a:buClr>
                <a:srgbClr val="0047AB"/>
              </a:buClr>
              <a:buSzPts val="825"/>
              <a:buFont typeface="Inter"/>
              <a:buNone/>
            </a:pPr>
            <a:r>
              <a:rPr b="1" i="0" lang="en-US" sz="825" u="none" cap="none" strike="noStrike">
                <a:solidFill>
                  <a:srgbClr val="0047AB"/>
                </a:solidFill>
                <a:latin typeface="Inter"/>
                <a:ea typeface="Inter"/>
                <a:cs typeface="Inter"/>
                <a:sym typeface="Inter"/>
              </a:rPr>
              <a:t>06</a:t>
            </a:r>
            <a:endParaRPr b="0" i="0" sz="825" u="none" cap="none" strike="noStrike">
              <a:solidFill>
                <a:schemeClr val="dk1"/>
              </a:solidFill>
              <a:latin typeface="Inter"/>
              <a:ea typeface="Inter"/>
              <a:cs typeface="Inter"/>
              <a:sym typeface="Inter"/>
            </a:endParaRPr>
          </a:p>
        </p:txBody>
      </p:sp>
      <p:sp>
        <p:nvSpPr>
          <p:cNvPr id="361" name="Google Shape;361;p7"/>
          <p:cNvSpPr/>
          <p:nvPr/>
        </p:nvSpPr>
        <p:spPr>
          <a:xfrm>
            <a:off x="839604" y="1475142"/>
            <a:ext cx="1595100" cy="310500"/>
          </a:xfrm>
          <a:prstGeom prst="rect">
            <a:avLst/>
          </a:prstGeom>
          <a:noFill/>
          <a:ln>
            <a:noFill/>
          </a:ln>
        </p:spPr>
        <p:txBody>
          <a:bodyPr anchorCtr="0" anchor="t" bIns="25400" lIns="25400" spcFirstLastPara="1" rIns="25400" wrap="square" tIns="25400">
            <a:normAutofit/>
          </a:bodyPr>
          <a:lstStyle/>
          <a:p>
            <a:pPr indent="0" lvl="0" marL="0" marR="0" rtl="0" algn="l">
              <a:lnSpc>
                <a:spcPct val="110000"/>
              </a:lnSpc>
              <a:spcBef>
                <a:spcPts val="0"/>
              </a:spcBef>
              <a:spcAft>
                <a:spcPts val="0"/>
              </a:spcAft>
              <a:buClr>
                <a:srgbClr val="0E1320"/>
              </a:buClr>
              <a:buSzPts val="1950"/>
              <a:buFont typeface="Inter"/>
              <a:buNone/>
            </a:pPr>
            <a:r>
              <a:rPr b="0" i="0" lang="en-US" sz="1950" u="none" cap="none" strike="noStrike">
                <a:solidFill>
                  <a:srgbClr val="0E1320"/>
                </a:solidFill>
                <a:latin typeface="Inter"/>
                <a:ea typeface="Inter"/>
                <a:cs typeface="Inter"/>
                <a:sym typeface="Inter"/>
              </a:rPr>
              <a:t>Delivery Plan</a:t>
            </a:r>
            <a:endParaRPr b="0" i="0" sz="1950" u="none" cap="none" strike="noStrike">
              <a:solidFill>
                <a:schemeClr val="dk1"/>
              </a:solidFill>
              <a:latin typeface="Inter"/>
              <a:ea typeface="Inter"/>
              <a:cs typeface="Inter"/>
              <a:sym typeface="Inter"/>
            </a:endParaRPr>
          </a:p>
        </p:txBody>
      </p:sp>
      <p:sp>
        <p:nvSpPr>
          <p:cNvPr id="362" name="Google Shape;362;p7"/>
          <p:cNvSpPr/>
          <p:nvPr/>
        </p:nvSpPr>
        <p:spPr>
          <a:xfrm>
            <a:off x="5732626" y="1608492"/>
            <a:ext cx="1257900" cy="148200"/>
          </a:xfrm>
          <a:prstGeom prst="rect">
            <a:avLst/>
          </a:prstGeom>
          <a:noFill/>
          <a:ln>
            <a:noFill/>
          </a:ln>
        </p:spPr>
        <p:txBody>
          <a:bodyPr anchorCtr="0" anchor="t" bIns="25400" lIns="25400" spcFirstLastPara="1" rIns="25400" wrap="square" tIns="25400">
            <a:normAutofit/>
          </a:bodyPr>
          <a:lstStyle/>
          <a:p>
            <a:pPr indent="0" lvl="0" marL="0" marR="0" rtl="0" algn="r">
              <a:lnSpc>
                <a:spcPct val="110000"/>
              </a:lnSpc>
              <a:spcBef>
                <a:spcPts val="0"/>
              </a:spcBef>
              <a:spcAft>
                <a:spcPts val="0"/>
              </a:spcAft>
              <a:buClr>
                <a:srgbClr val="6B7686"/>
              </a:buClr>
              <a:buSzPts val="788"/>
              <a:buFont typeface="Inter"/>
              <a:buNone/>
            </a:pPr>
            <a:r>
              <a:rPr b="0" i="0" lang="en-US" sz="788" u="none" cap="none" strike="noStrike">
                <a:solidFill>
                  <a:srgbClr val="6B7686"/>
                </a:solidFill>
                <a:latin typeface="Inter"/>
                <a:ea typeface="Inter"/>
                <a:cs typeface="Inter"/>
                <a:sym typeface="Inter"/>
              </a:rPr>
              <a:t>Indicative 12-week build</a:t>
            </a:r>
            <a:endParaRPr b="0" i="0" sz="788" u="none" cap="none" strike="noStrike">
              <a:solidFill>
                <a:schemeClr val="dk1"/>
              </a:solidFill>
              <a:latin typeface="Inter"/>
              <a:ea typeface="Inter"/>
              <a:cs typeface="Inter"/>
              <a:sym typeface="Inter"/>
            </a:endParaRPr>
          </a:p>
        </p:txBody>
      </p:sp>
      <p:sp>
        <p:nvSpPr>
          <p:cNvPr id="363" name="Google Shape;363;p7"/>
          <p:cNvSpPr/>
          <p:nvPr/>
        </p:nvSpPr>
        <p:spPr>
          <a:xfrm>
            <a:off x="494546" y="2042772"/>
            <a:ext cx="6612300" cy="388500"/>
          </a:xfrm>
          <a:prstGeom prst="rect">
            <a:avLst/>
          </a:prstGeom>
          <a:noFill/>
          <a:ln>
            <a:noFill/>
          </a:ln>
        </p:spPr>
        <p:txBody>
          <a:bodyPr anchorCtr="0" anchor="t" bIns="25400" lIns="25400" spcFirstLastPara="1" rIns="25400" wrap="square" tIns="25400">
            <a:normAutofit/>
          </a:bodyPr>
          <a:lstStyle/>
          <a:p>
            <a:pPr indent="0" lvl="0" marL="0" marR="0" rtl="0" algn="l">
              <a:lnSpc>
                <a:spcPct val="160000"/>
              </a:lnSpc>
              <a:spcBef>
                <a:spcPts val="0"/>
              </a:spcBef>
              <a:spcAft>
                <a:spcPts val="0"/>
              </a:spcAft>
              <a:buClr>
                <a:srgbClr val="374151"/>
              </a:buClr>
              <a:buSzPts val="863"/>
              <a:buFont typeface="Inter"/>
              <a:buNone/>
            </a:pPr>
            <a:r>
              <a:rPr b="0" i="0" lang="en-US" sz="863" u="none" cap="none" strike="noStrike">
                <a:solidFill>
                  <a:srgbClr val="374151"/>
                </a:solidFill>
                <a:latin typeface="Inter"/>
                <a:ea typeface="Inter"/>
                <a:cs typeface="Inter"/>
                <a:sym typeface="Inter"/>
              </a:rPr>
              <a:t>The delivery plan is shown as an indicative 12-week build. The sequence may shift after discovery, particularly if licensing, PAS API access, historical storage access, or validation rule confirmation takes longer than expected.</a:t>
            </a:r>
            <a:endParaRPr b="0" i="0" sz="863" u="none" cap="none" strike="noStrike">
              <a:solidFill>
                <a:schemeClr val="dk1"/>
              </a:solidFill>
              <a:latin typeface="Inter"/>
              <a:ea typeface="Inter"/>
              <a:cs typeface="Inter"/>
              <a:sym typeface="Inter"/>
            </a:endParaRPr>
          </a:p>
        </p:txBody>
      </p:sp>
      <p:sp>
        <p:nvSpPr>
          <p:cNvPr id="364" name="Google Shape;364;p7"/>
          <p:cNvSpPr/>
          <p:nvPr/>
        </p:nvSpPr>
        <p:spPr>
          <a:xfrm>
            <a:off x="494546" y="2545663"/>
            <a:ext cx="6419700" cy="3890700"/>
          </a:xfrm>
          <a:prstGeom prst="roundRect">
            <a:avLst>
              <a:gd fmla="val 1469" name="adj"/>
            </a:avLst>
          </a:prstGeom>
          <a:solidFill>
            <a:srgbClr val="FFFFFF"/>
          </a:solidFill>
          <a:ln cap="flat" cmpd="sng" w="9525">
            <a:solidFill>
              <a:srgbClr val="E2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7"/>
          <p:cNvSpPr/>
          <p:nvPr/>
        </p:nvSpPr>
        <p:spPr>
          <a:xfrm>
            <a:off x="504071" y="2555188"/>
            <a:ext cx="6400800" cy="290400"/>
          </a:xfrm>
          <a:prstGeom prst="rect">
            <a:avLst/>
          </a:prstGeom>
          <a:solidFill>
            <a:srgbClr val="F7F8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7"/>
          <p:cNvSpPr/>
          <p:nvPr/>
        </p:nvSpPr>
        <p:spPr>
          <a:xfrm>
            <a:off x="504071" y="2836175"/>
            <a:ext cx="6400800" cy="9600"/>
          </a:xfrm>
          <a:prstGeom prst="rect">
            <a:avLst/>
          </a:prstGeom>
          <a:solidFill>
            <a:srgbClr val="004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7"/>
          <p:cNvSpPr/>
          <p:nvPr/>
        </p:nvSpPr>
        <p:spPr>
          <a:xfrm>
            <a:off x="580271" y="2640913"/>
            <a:ext cx="2019300" cy="1476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74151"/>
              </a:buClr>
              <a:buSzPts val="713"/>
              <a:buFont typeface="Inter"/>
              <a:buNone/>
            </a:pPr>
            <a:r>
              <a:rPr b="1" i="0" lang="en-US" sz="713" u="none" cap="none" strike="noStrike">
                <a:solidFill>
                  <a:srgbClr val="374151"/>
                </a:solidFill>
                <a:latin typeface="Inter"/>
                <a:ea typeface="Inter"/>
                <a:cs typeface="Inter"/>
                <a:sym typeface="Inter"/>
              </a:rPr>
              <a:t>WORKSTREAM</a:t>
            </a:r>
            <a:endParaRPr b="0" i="0" sz="713" u="none" cap="none" strike="noStrike">
              <a:solidFill>
                <a:schemeClr val="dk1"/>
              </a:solidFill>
              <a:latin typeface="Inter"/>
              <a:ea typeface="Inter"/>
              <a:cs typeface="Inter"/>
              <a:sym typeface="Inter"/>
            </a:endParaRPr>
          </a:p>
        </p:txBody>
      </p:sp>
      <p:sp>
        <p:nvSpPr>
          <p:cNvPr id="368" name="Google Shape;368;p7"/>
          <p:cNvSpPr/>
          <p:nvPr/>
        </p:nvSpPr>
        <p:spPr>
          <a:xfrm>
            <a:off x="2637671" y="2640913"/>
            <a:ext cx="275400" cy="14760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4B5563"/>
              </a:buClr>
              <a:buSzPts val="713"/>
              <a:buFont typeface="Inter"/>
              <a:buNone/>
            </a:pPr>
            <a:r>
              <a:rPr b="1" i="0" lang="en-US" sz="713" u="none" cap="none" strike="noStrike">
                <a:solidFill>
                  <a:srgbClr val="4B5563"/>
                </a:solidFill>
                <a:latin typeface="Inter"/>
                <a:ea typeface="Inter"/>
                <a:cs typeface="Inter"/>
                <a:sym typeface="Inter"/>
              </a:rPr>
              <a:t>W1</a:t>
            </a:r>
            <a:endParaRPr b="0" i="0" sz="713" u="none" cap="none" strike="noStrike">
              <a:solidFill>
                <a:schemeClr val="dk1"/>
              </a:solidFill>
              <a:latin typeface="Inter"/>
              <a:ea typeface="Inter"/>
              <a:cs typeface="Inter"/>
              <a:sym typeface="Inter"/>
            </a:endParaRPr>
          </a:p>
        </p:txBody>
      </p:sp>
      <p:sp>
        <p:nvSpPr>
          <p:cNvPr id="369" name="Google Shape;369;p7"/>
          <p:cNvSpPr/>
          <p:nvPr/>
        </p:nvSpPr>
        <p:spPr>
          <a:xfrm>
            <a:off x="2989129" y="2640913"/>
            <a:ext cx="275400" cy="14760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4B5563"/>
              </a:buClr>
              <a:buSzPts val="713"/>
              <a:buFont typeface="Inter"/>
              <a:buNone/>
            </a:pPr>
            <a:r>
              <a:rPr b="1" i="0" lang="en-US" sz="713" u="none" cap="none" strike="noStrike">
                <a:solidFill>
                  <a:srgbClr val="4B5563"/>
                </a:solidFill>
                <a:latin typeface="Inter"/>
                <a:ea typeface="Inter"/>
                <a:cs typeface="Inter"/>
                <a:sym typeface="Inter"/>
              </a:rPr>
              <a:t>W2</a:t>
            </a:r>
            <a:endParaRPr b="0" i="0" sz="713" u="none" cap="none" strike="noStrike">
              <a:solidFill>
                <a:schemeClr val="dk1"/>
              </a:solidFill>
              <a:latin typeface="Inter"/>
              <a:ea typeface="Inter"/>
              <a:cs typeface="Inter"/>
              <a:sym typeface="Inter"/>
            </a:endParaRPr>
          </a:p>
        </p:txBody>
      </p:sp>
      <p:sp>
        <p:nvSpPr>
          <p:cNvPr id="370" name="Google Shape;370;p7"/>
          <p:cNvSpPr/>
          <p:nvPr/>
        </p:nvSpPr>
        <p:spPr>
          <a:xfrm>
            <a:off x="3340661" y="2640913"/>
            <a:ext cx="275400" cy="14760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4B5563"/>
              </a:buClr>
              <a:buSzPts val="713"/>
              <a:buFont typeface="Inter"/>
              <a:buNone/>
            </a:pPr>
            <a:r>
              <a:rPr b="1" i="0" lang="en-US" sz="713" u="none" cap="none" strike="noStrike">
                <a:solidFill>
                  <a:srgbClr val="4B5563"/>
                </a:solidFill>
                <a:latin typeface="Inter"/>
                <a:ea typeface="Inter"/>
                <a:cs typeface="Inter"/>
                <a:sym typeface="Inter"/>
              </a:rPr>
              <a:t>W3</a:t>
            </a:r>
            <a:endParaRPr b="0" i="0" sz="713" u="none" cap="none" strike="noStrike">
              <a:solidFill>
                <a:schemeClr val="dk1"/>
              </a:solidFill>
              <a:latin typeface="Inter"/>
              <a:ea typeface="Inter"/>
              <a:cs typeface="Inter"/>
              <a:sym typeface="Inter"/>
            </a:endParaRPr>
          </a:p>
        </p:txBody>
      </p:sp>
      <p:sp>
        <p:nvSpPr>
          <p:cNvPr id="371" name="Google Shape;371;p7"/>
          <p:cNvSpPr/>
          <p:nvPr/>
        </p:nvSpPr>
        <p:spPr>
          <a:xfrm>
            <a:off x="3692193" y="2640913"/>
            <a:ext cx="275400" cy="14760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4B5563"/>
              </a:buClr>
              <a:buSzPts val="713"/>
              <a:buFont typeface="Inter"/>
              <a:buNone/>
            </a:pPr>
            <a:r>
              <a:rPr b="1" i="0" lang="en-US" sz="713" u="none" cap="none" strike="noStrike">
                <a:solidFill>
                  <a:srgbClr val="4B5563"/>
                </a:solidFill>
                <a:latin typeface="Inter"/>
                <a:ea typeface="Inter"/>
                <a:cs typeface="Inter"/>
                <a:sym typeface="Inter"/>
              </a:rPr>
              <a:t>W4</a:t>
            </a:r>
            <a:endParaRPr b="0" i="0" sz="713" u="none" cap="none" strike="noStrike">
              <a:solidFill>
                <a:schemeClr val="dk1"/>
              </a:solidFill>
              <a:latin typeface="Inter"/>
              <a:ea typeface="Inter"/>
              <a:cs typeface="Inter"/>
              <a:sym typeface="Inter"/>
            </a:endParaRPr>
          </a:p>
        </p:txBody>
      </p:sp>
      <p:sp>
        <p:nvSpPr>
          <p:cNvPr id="372" name="Google Shape;372;p7"/>
          <p:cNvSpPr/>
          <p:nvPr/>
        </p:nvSpPr>
        <p:spPr>
          <a:xfrm>
            <a:off x="4043725" y="2640913"/>
            <a:ext cx="275400" cy="14760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4B5563"/>
              </a:buClr>
              <a:buSzPts val="713"/>
              <a:buFont typeface="Inter"/>
              <a:buNone/>
            </a:pPr>
            <a:r>
              <a:rPr b="1" i="0" lang="en-US" sz="713" u="none" cap="none" strike="noStrike">
                <a:solidFill>
                  <a:srgbClr val="4B5563"/>
                </a:solidFill>
                <a:latin typeface="Inter"/>
                <a:ea typeface="Inter"/>
                <a:cs typeface="Inter"/>
                <a:sym typeface="Inter"/>
              </a:rPr>
              <a:t>W5</a:t>
            </a:r>
            <a:endParaRPr b="0" i="0" sz="713" u="none" cap="none" strike="noStrike">
              <a:solidFill>
                <a:schemeClr val="dk1"/>
              </a:solidFill>
              <a:latin typeface="Inter"/>
              <a:ea typeface="Inter"/>
              <a:cs typeface="Inter"/>
              <a:sym typeface="Inter"/>
            </a:endParaRPr>
          </a:p>
        </p:txBody>
      </p:sp>
      <p:sp>
        <p:nvSpPr>
          <p:cNvPr id="373" name="Google Shape;373;p7"/>
          <p:cNvSpPr/>
          <p:nvPr/>
        </p:nvSpPr>
        <p:spPr>
          <a:xfrm>
            <a:off x="4395257" y="2640913"/>
            <a:ext cx="275400" cy="14760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4B5563"/>
              </a:buClr>
              <a:buSzPts val="713"/>
              <a:buFont typeface="Inter"/>
              <a:buNone/>
            </a:pPr>
            <a:r>
              <a:rPr b="1" i="0" lang="en-US" sz="713" u="none" cap="none" strike="noStrike">
                <a:solidFill>
                  <a:srgbClr val="4B5563"/>
                </a:solidFill>
                <a:latin typeface="Inter"/>
                <a:ea typeface="Inter"/>
                <a:cs typeface="Inter"/>
                <a:sym typeface="Inter"/>
              </a:rPr>
              <a:t>W6</a:t>
            </a:r>
            <a:endParaRPr b="0" i="0" sz="713" u="none" cap="none" strike="noStrike">
              <a:solidFill>
                <a:schemeClr val="dk1"/>
              </a:solidFill>
              <a:latin typeface="Inter"/>
              <a:ea typeface="Inter"/>
              <a:cs typeface="Inter"/>
              <a:sym typeface="Inter"/>
            </a:endParaRPr>
          </a:p>
        </p:txBody>
      </p:sp>
      <p:sp>
        <p:nvSpPr>
          <p:cNvPr id="374" name="Google Shape;374;p7"/>
          <p:cNvSpPr/>
          <p:nvPr/>
        </p:nvSpPr>
        <p:spPr>
          <a:xfrm>
            <a:off x="4746789" y="2640913"/>
            <a:ext cx="275400" cy="14760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4B5563"/>
              </a:buClr>
              <a:buSzPts val="713"/>
              <a:buFont typeface="Inter"/>
              <a:buNone/>
            </a:pPr>
            <a:r>
              <a:rPr b="1" i="0" lang="en-US" sz="713" u="none" cap="none" strike="noStrike">
                <a:solidFill>
                  <a:srgbClr val="4B5563"/>
                </a:solidFill>
                <a:latin typeface="Inter"/>
                <a:ea typeface="Inter"/>
                <a:cs typeface="Inter"/>
                <a:sym typeface="Inter"/>
              </a:rPr>
              <a:t>W7</a:t>
            </a:r>
            <a:endParaRPr b="0" i="0" sz="713" u="none" cap="none" strike="noStrike">
              <a:solidFill>
                <a:schemeClr val="dk1"/>
              </a:solidFill>
              <a:latin typeface="Inter"/>
              <a:ea typeface="Inter"/>
              <a:cs typeface="Inter"/>
              <a:sym typeface="Inter"/>
            </a:endParaRPr>
          </a:p>
        </p:txBody>
      </p:sp>
      <p:sp>
        <p:nvSpPr>
          <p:cNvPr id="375" name="Google Shape;375;p7"/>
          <p:cNvSpPr/>
          <p:nvPr/>
        </p:nvSpPr>
        <p:spPr>
          <a:xfrm>
            <a:off x="5098321" y="2640913"/>
            <a:ext cx="275400" cy="14760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4B5563"/>
              </a:buClr>
              <a:buSzPts val="713"/>
              <a:buFont typeface="Inter"/>
              <a:buNone/>
            </a:pPr>
            <a:r>
              <a:rPr b="1" i="0" lang="en-US" sz="713" u="none" cap="none" strike="noStrike">
                <a:solidFill>
                  <a:srgbClr val="4B5563"/>
                </a:solidFill>
                <a:latin typeface="Inter"/>
                <a:ea typeface="Inter"/>
                <a:cs typeface="Inter"/>
                <a:sym typeface="Inter"/>
              </a:rPr>
              <a:t>W8</a:t>
            </a:r>
            <a:endParaRPr b="0" i="0" sz="713" u="none" cap="none" strike="noStrike">
              <a:solidFill>
                <a:schemeClr val="dk1"/>
              </a:solidFill>
              <a:latin typeface="Inter"/>
              <a:ea typeface="Inter"/>
              <a:cs typeface="Inter"/>
              <a:sym typeface="Inter"/>
            </a:endParaRPr>
          </a:p>
        </p:txBody>
      </p:sp>
      <p:sp>
        <p:nvSpPr>
          <p:cNvPr id="376" name="Google Shape;376;p7"/>
          <p:cNvSpPr/>
          <p:nvPr/>
        </p:nvSpPr>
        <p:spPr>
          <a:xfrm>
            <a:off x="5449853" y="2640913"/>
            <a:ext cx="275400" cy="14760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4B5563"/>
              </a:buClr>
              <a:buSzPts val="713"/>
              <a:buFont typeface="Inter"/>
              <a:buNone/>
            </a:pPr>
            <a:r>
              <a:rPr b="1" i="0" lang="en-US" sz="713" u="none" cap="none" strike="noStrike">
                <a:solidFill>
                  <a:srgbClr val="4B5563"/>
                </a:solidFill>
                <a:latin typeface="Inter"/>
                <a:ea typeface="Inter"/>
                <a:cs typeface="Inter"/>
                <a:sym typeface="Inter"/>
              </a:rPr>
              <a:t>W9</a:t>
            </a:r>
            <a:endParaRPr b="0" i="0" sz="713" u="none" cap="none" strike="noStrike">
              <a:solidFill>
                <a:schemeClr val="dk1"/>
              </a:solidFill>
              <a:latin typeface="Inter"/>
              <a:ea typeface="Inter"/>
              <a:cs typeface="Inter"/>
              <a:sym typeface="Inter"/>
            </a:endParaRPr>
          </a:p>
        </p:txBody>
      </p:sp>
      <p:sp>
        <p:nvSpPr>
          <p:cNvPr id="377" name="Google Shape;377;p7"/>
          <p:cNvSpPr/>
          <p:nvPr/>
        </p:nvSpPr>
        <p:spPr>
          <a:xfrm>
            <a:off x="5801310" y="2640913"/>
            <a:ext cx="312900" cy="14760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4B5563"/>
              </a:buClr>
              <a:buSzPts val="713"/>
              <a:buFont typeface="Inter"/>
              <a:buNone/>
            </a:pPr>
            <a:r>
              <a:rPr b="1" i="0" lang="en-US" sz="713" u="none" cap="none" strike="noStrike">
                <a:solidFill>
                  <a:srgbClr val="4B5563"/>
                </a:solidFill>
                <a:latin typeface="Inter"/>
                <a:ea typeface="Inter"/>
                <a:cs typeface="Inter"/>
                <a:sym typeface="Inter"/>
              </a:rPr>
              <a:t>W10</a:t>
            </a:r>
            <a:endParaRPr b="0" i="0" sz="713" u="none" cap="none" strike="noStrike">
              <a:solidFill>
                <a:schemeClr val="dk1"/>
              </a:solidFill>
              <a:latin typeface="Inter"/>
              <a:ea typeface="Inter"/>
              <a:cs typeface="Inter"/>
              <a:sym typeface="Inter"/>
            </a:endParaRPr>
          </a:p>
        </p:txBody>
      </p:sp>
      <p:sp>
        <p:nvSpPr>
          <p:cNvPr id="378" name="Google Shape;378;p7"/>
          <p:cNvSpPr/>
          <p:nvPr/>
        </p:nvSpPr>
        <p:spPr>
          <a:xfrm>
            <a:off x="6190496" y="2640913"/>
            <a:ext cx="291000" cy="14760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4B5563"/>
              </a:buClr>
              <a:buSzPts val="713"/>
              <a:buFont typeface="Inter"/>
              <a:buNone/>
            </a:pPr>
            <a:r>
              <a:rPr b="1" i="0" lang="en-US" sz="713" u="none" cap="none" strike="noStrike">
                <a:solidFill>
                  <a:srgbClr val="4B5563"/>
                </a:solidFill>
                <a:latin typeface="Inter"/>
                <a:ea typeface="Inter"/>
                <a:cs typeface="Inter"/>
                <a:sym typeface="Inter"/>
              </a:rPr>
              <a:t>W11</a:t>
            </a:r>
            <a:endParaRPr b="0" i="0" sz="713" u="none" cap="none" strike="noStrike">
              <a:solidFill>
                <a:schemeClr val="dk1"/>
              </a:solidFill>
              <a:latin typeface="Inter"/>
              <a:ea typeface="Inter"/>
              <a:cs typeface="Inter"/>
              <a:sym typeface="Inter"/>
            </a:endParaRPr>
          </a:p>
        </p:txBody>
      </p:sp>
      <p:sp>
        <p:nvSpPr>
          <p:cNvPr id="379" name="Google Shape;379;p7"/>
          <p:cNvSpPr/>
          <p:nvPr/>
        </p:nvSpPr>
        <p:spPr>
          <a:xfrm>
            <a:off x="6557729" y="2640913"/>
            <a:ext cx="309000" cy="14760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4B5563"/>
              </a:buClr>
              <a:buSzPts val="713"/>
              <a:buFont typeface="Inter"/>
              <a:buNone/>
            </a:pPr>
            <a:r>
              <a:rPr b="1" i="0" lang="en-US" sz="713" u="none" cap="none" strike="noStrike">
                <a:solidFill>
                  <a:srgbClr val="4B5563"/>
                </a:solidFill>
                <a:latin typeface="Inter"/>
                <a:ea typeface="Inter"/>
                <a:cs typeface="Inter"/>
                <a:sym typeface="Inter"/>
              </a:rPr>
              <a:t>W12</a:t>
            </a:r>
            <a:endParaRPr b="0" i="0" sz="713" u="none" cap="none" strike="noStrike">
              <a:solidFill>
                <a:schemeClr val="dk1"/>
              </a:solidFill>
              <a:latin typeface="Inter"/>
              <a:ea typeface="Inter"/>
              <a:cs typeface="Inter"/>
              <a:sym typeface="Inter"/>
            </a:endParaRPr>
          </a:p>
        </p:txBody>
      </p:sp>
      <p:sp>
        <p:nvSpPr>
          <p:cNvPr id="380" name="Google Shape;380;p7"/>
          <p:cNvSpPr/>
          <p:nvPr/>
        </p:nvSpPr>
        <p:spPr>
          <a:xfrm>
            <a:off x="504071" y="3480006"/>
            <a:ext cx="64008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7"/>
          <p:cNvSpPr/>
          <p:nvPr/>
        </p:nvSpPr>
        <p:spPr>
          <a:xfrm>
            <a:off x="504071" y="2845700"/>
            <a:ext cx="2095500" cy="634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7"/>
          <p:cNvSpPr/>
          <p:nvPr/>
        </p:nvSpPr>
        <p:spPr>
          <a:xfrm>
            <a:off x="2590046" y="2845700"/>
            <a:ext cx="9600" cy="6342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7"/>
          <p:cNvSpPr/>
          <p:nvPr/>
        </p:nvSpPr>
        <p:spPr>
          <a:xfrm>
            <a:off x="637421" y="2960000"/>
            <a:ext cx="1895400" cy="310500"/>
          </a:xfrm>
          <a:prstGeom prst="rect">
            <a:avLst/>
          </a:prstGeom>
          <a:noFill/>
          <a:ln>
            <a:noFill/>
          </a:ln>
        </p:spPr>
        <p:txBody>
          <a:bodyPr anchorCtr="0" anchor="t" bIns="25400" lIns="25400" spcFirstLastPara="1" rIns="25400" wrap="square" tIns="25400">
            <a:normAutofit/>
          </a:bodyPr>
          <a:lstStyle/>
          <a:p>
            <a:pPr indent="0" lvl="0" marL="0" marR="0" rtl="0" algn="l">
              <a:lnSpc>
                <a:spcPct val="130000"/>
              </a:lnSpc>
              <a:spcBef>
                <a:spcPts val="0"/>
              </a:spcBef>
              <a:spcAft>
                <a:spcPts val="0"/>
              </a:spcAft>
              <a:buClr>
                <a:srgbClr val="0E1320"/>
              </a:buClr>
              <a:buSzPts val="825"/>
              <a:buFont typeface="Inter"/>
              <a:buNone/>
            </a:pPr>
            <a:r>
              <a:rPr b="1" i="0" lang="en-US" sz="825" u="none" cap="none" strike="noStrike">
                <a:solidFill>
                  <a:srgbClr val="0E1320"/>
                </a:solidFill>
                <a:latin typeface="Inter"/>
                <a:ea typeface="Inter"/>
                <a:cs typeface="Inter"/>
                <a:sym typeface="Inter"/>
              </a:rPr>
              <a:t>Discovery, access &amp; rule confirmation</a:t>
            </a:r>
            <a:endParaRPr b="0" i="0" sz="825" u="none" cap="none" strike="noStrike">
              <a:solidFill>
                <a:schemeClr val="dk1"/>
              </a:solidFill>
              <a:latin typeface="Inter"/>
              <a:ea typeface="Inter"/>
              <a:cs typeface="Inter"/>
              <a:sym typeface="Inter"/>
            </a:endParaRPr>
          </a:p>
        </p:txBody>
      </p:sp>
      <p:sp>
        <p:nvSpPr>
          <p:cNvPr id="384" name="Google Shape;384;p7"/>
          <p:cNvSpPr/>
          <p:nvPr/>
        </p:nvSpPr>
        <p:spPr>
          <a:xfrm>
            <a:off x="637421" y="3260931"/>
            <a:ext cx="1895400" cy="1428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686"/>
              </a:buClr>
              <a:buSzPts val="713"/>
              <a:buFont typeface="Inter"/>
              <a:buNone/>
            </a:pPr>
            <a:r>
              <a:rPr b="0" i="0" lang="en-US" sz="713" u="none" cap="none" strike="noStrike">
                <a:solidFill>
                  <a:srgbClr val="6B7686"/>
                </a:solidFill>
                <a:latin typeface="Inter"/>
                <a:ea typeface="Inter"/>
                <a:cs typeface="Inter"/>
                <a:sym typeface="Inter"/>
              </a:rPr>
              <a:t>W1 → W2</a:t>
            </a:r>
            <a:endParaRPr b="0" i="0" sz="713" u="none" cap="none" strike="noStrike">
              <a:solidFill>
                <a:schemeClr val="dk1"/>
              </a:solidFill>
              <a:latin typeface="Inter"/>
              <a:ea typeface="Inter"/>
              <a:cs typeface="Inter"/>
              <a:sym typeface="Inter"/>
            </a:endParaRPr>
          </a:p>
        </p:txBody>
      </p:sp>
      <p:sp>
        <p:nvSpPr>
          <p:cNvPr id="385" name="Google Shape;385;p7"/>
          <p:cNvSpPr/>
          <p:nvPr/>
        </p:nvSpPr>
        <p:spPr>
          <a:xfrm>
            <a:off x="2599571" y="2845700"/>
            <a:ext cx="4305300" cy="4383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7"/>
          <p:cNvSpPr/>
          <p:nvPr/>
        </p:nvSpPr>
        <p:spPr>
          <a:xfrm>
            <a:off x="2599571" y="2969525"/>
            <a:ext cx="717300" cy="190500"/>
          </a:xfrm>
          <a:prstGeom prst="roundRect">
            <a:avLst>
              <a:gd fmla="val 15000" name="adj"/>
            </a:avLst>
          </a:prstGeom>
          <a:solidFill>
            <a:srgbClr val="004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7"/>
          <p:cNvSpPr/>
          <p:nvPr/>
        </p:nvSpPr>
        <p:spPr>
          <a:xfrm>
            <a:off x="2675771" y="2969525"/>
            <a:ext cx="641100" cy="22860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FFFFFF"/>
              </a:buClr>
              <a:buSzPts val="675"/>
              <a:buFont typeface="Inter"/>
              <a:buNone/>
            </a:pPr>
            <a:r>
              <a:rPr b="1" i="0" lang="en-US" sz="675" u="none" cap="none" strike="noStrike">
                <a:solidFill>
                  <a:srgbClr val="FFFFFF"/>
                </a:solidFill>
                <a:latin typeface="Inter"/>
                <a:ea typeface="Inter"/>
                <a:cs typeface="Inter"/>
                <a:sym typeface="Inter"/>
              </a:rPr>
              <a:t>Discovery</a:t>
            </a:r>
            <a:endParaRPr b="0" i="0" sz="675" u="none" cap="none" strike="noStrike">
              <a:solidFill>
                <a:schemeClr val="dk1"/>
              </a:solidFill>
              <a:latin typeface="Inter"/>
              <a:ea typeface="Inter"/>
              <a:cs typeface="Inter"/>
              <a:sym typeface="Inter"/>
            </a:endParaRPr>
          </a:p>
        </p:txBody>
      </p:sp>
      <p:sp>
        <p:nvSpPr>
          <p:cNvPr id="388" name="Google Shape;388;p7"/>
          <p:cNvSpPr/>
          <p:nvPr/>
        </p:nvSpPr>
        <p:spPr>
          <a:xfrm rot="2700000">
            <a:off x="3254831" y="3017162"/>
            <a:ext cx="123885" cy="123885"/>
          </a:xfrm>
          <a:prstGeom prst="rect">
            <a:avLst/>
          </a:prstGeom>
          <a:solidFill>
            <a:srgbClr val="F2B705"/>
          </a:solidFill>
          <a:ln cap="flat" cmpd="sng" w="14275">
            <a:solidFill>
              <a:srgbClr val="FFFFFF"/>
            </a:solidFill>
            <a:prstDash val="solid"/>
            <a:round/>
            <a:headEnd len="sm" w="sm" type="none"/>
            <a:tailEnd len="sm" w="sm" type="none"/>
          </a:ln>
          <a:effectLst>
            <a:outerShdw blurRad="101600" rotWithShape="0" algn="bl" dir="16200000" dist="50800">
              <a:srgbClr val="F2B705"/>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7"/>
          <p:cNvSpPr/>
          <p:nvPr/>
        </p:nvSpPr>
        <p:spPr>
          <a:xfrm>
            <a:off x="504071" y="4123836"/>
            <a:ext cx="64008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7"/>
          <p:cNvSpPr/>
          <p:nvPr/>
        </p:nvSpPr>
        <p:spPr>
          <a:xfrm>
            <a:off x="504071" y="3489531"/>
            <a:ext cx="2095500" cy="634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7"/>
          <p:cNvSpPr/>
          <p:nvPr/>
        </p:nvSpPr>
        <p:spPr>
          <a:xfrm>
            <a:off x="2590046" y="3489531"/>
            <a:ext cx="9600" cy="6342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7"/>
          <p:cNvSpPr/>
          <p:nvPr/>
        </p:nvSpPr>
        <p:spPr>
          <a:xfrm>
            <a:off x="637421" y="3603831"/>
            <a:ext cx="1895400" cy="310500"/>
          </a:xfrm>
          <a:prstGeom prst="rect">
            <a:avLst/>
          </a:prstGeom>
          <a:noFill/>
          <a:ln>
            <a:noFill/>
          </a:ln>
        </p:spPr>
        <p:txBody>
          <a:bodyPr anchorCtr="0" anchor="t" bIns="25400" lIns="25400" spcFirstLastPara="1" rIns="25400" wrap="square" tIns="25400">
            <a:normAutofit/>
          </a:bodyPr>
          <a:lstStyle/>
          <a:p>
            <a:pPr indent="0" lvl="0" marL="0" marR="0" rtl="0" algn="l">
              <a:lnSpc>
                <a:spcPct val="130000"/>
              </a:lnSpc>
              <a:spcBef>
                <a:spcPts val="0"/>
              </a:spcBef>
              <a:spcAft>
                <a:spcPts val="0"/>
              </a:spcAft>
              <a:buClr>
                <a:srgbClr val="0E1320"/>
              </a:buClr>
              <a:buSzPts val="825"/>
              <a:buFont typeface="Inter"/>
              <a:buNone/>
            </a:pPr>
            <a:r>
              <a:rPr b="1" i="0" lang="en-US" sz="825" u="none" cap="none" strike="noStrike">
                <a:solidFill>
                  <a:srgbClr val="0E1320"/>
                </a:solidFill>
                <a:latin typeface="Inter"/>
                <a:ea typeface="Inter"/>
                <a:cs typeface="Inter"/>
                <a:sym typeface="Inter"/>
              </a:rPr>
              <a:t>Flow 1, Mailbox intake &amp; AI interpretation</a:t>
            </a:r>
            <a:endParaRPr b="0" i="0" sz="825" u="none" cap="none" strike="noStrike">
              <a:solidFill>
                <a:schemeClr val="dk1"/>
              </a:solidFill>
              <a:latin typeface="Inter"/>
              <a:ea typeface="Inter"/>
              <a:cs typeface="Inter"/>
              <a:sym typeface="Inter"/>
            </a:endParaRPr>
          </a:p>
        </p:txBody>
      </p:sp>
      <p:sp>
        <p:nvSpPr>
          <p:cNvPr id="393" name="Google Shape;393;p7"/>
          <p:cNvSpPr/>
          <p:nvPr/>
        </p:nvSpPr>
        <p:spPr>
          <a:xfrm>
            <a:off x="637421" y="3904761"/>
            <a:ext cx="1895400" cy="1428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686"/>
              </a:buClr>
              <a:buSzPts val="713"/>
              <a:buFont typeface="Inter"/>
              <a:buNone/>
            </a:pPr>
            <a:r>
              <a:rPr b="0" i="0" lang="en-US" sz="713" u="none" cap="none" strike="noStrike">
                <a:solidFill>
                  <a:srgbClr val="6B7686"/>
                </a:solidFill>
                <a:latin typeface="Inter"/>
                <a:ea typeface="Inter"/>
                <a:cs typeface="Inter"/>
                <a:sym typeface="Inter"/>
              </a:rPr>
              <a:t>W2 → W6</a:t>
            </a:r>
            <a:endParaRPr b="0" i="0" sz="713" u="none" cap="none" strike="noStrike">
              <a:solidFill>
                <a:schemeClr val="dk1"/>
              </a:solidFill>
              <a:latin typeface="Inter"/>
              <a:ea typeface="Inter"/>
              <a:cs typeface="Inter"/>
              <a:sym typeface="Inter"/>
            </a:endParaRPr>
          </a:p>
        </p:txBody>
      </p:sp>
      <p:sp>
        <p:nvSpPr>
          <p:cNvPr id="394" name="Google Shape;394;p7"/>
          <p:cNvSpPr/>
          <p:nvPr/>
        </p:nvSpPr>
        <p:spPr>
          <a:xfrm>
            <a:off x="2599571" y="3489531"/>
            <a:ext cx="4305300" cy="4383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7"/>
          <p:cNvSpPr/>
          <p:nvPr/>
        </p:nvSpPr>
        <p:spPr>
          <a:xfrm>
            <a:off x="2958172" y="3613356"/>
            <a:ext cx="1793400" cy="190500"/>
          </a:xfrm>
          <a:prstGeom prst="roundRect">
            <a:avLst>
              <a:gd fmla="val 15000" name="adj"/>
            </a:avLst>
          </a:prstGeom>
          <a:solidFill>
            <a:srgbClr val="004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7"/>
          <p:cNvSpPr/>
          <p:nvPr/>
        </p:nvSpPr>
        <p:spPr>
          <a:xfrm>
            <a:off x="3034372" y="3613356"/>
            <a:ext cx="1717200" cy="22860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FFFFFF"/>
              </a:buClr>
              <a:buSzPts val="675"/>
              <a:buFont typeface="Inter"/>
              <a:buNone/>
            </a:pPr>
            <a:r>
              <a:rPr b="1" i="0" lang="en-US" sz="675" u="none" cap="none" strike="noStrike">
                <a:solidFill>
                  <a:srgbClr val="FFFFFF"/>
                </a:solidFill>
                <a:latin typeface="Inter"/>
                <a:ea typeface="Inter"/>
                <a:cs typeface="Inter"/>
                <a:sym typeface="Inter"/>
              </a:rPr>
              <a:t>Mailbox · attachments · email agent</a:t>
            </a:r>
            <a:endParaRPr b="0" i="0" sz="675" u="none" cap="none" strike="noStrike">
              <a:solidFill>
                <a:schemeClr val="dk1"/>
              </a:solidFill>
              <a:latin typeface="Inter"/>
              <a:ea typeface="Inter"/>
              <a:cs typeface="Inter"/>
              <a:sym typeface="Inter"/>
            </a:endParaRPr>
          </a:p>
        </p:txBody>
      </p:sp>
      <p:sp>
        <p:nvSpPr>
          <p:cNvPr id="397" name="Google Shape;397;p7"/>
          <p:cNvSpPr/>
          <p:nvPr/>
        </p:nvSpPr>
        <p:spPr>
          <a:xfrm>
            <a:off x="504071" y="4767667"/>
            <a:ext cx="64008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7"/>
          <p:cNvSpPr/>
          <p:nvPr/>
        </p:nvSpPr>
        <p:spPr>
          <a:xfrm>
            <a:off x="504071" y="4133361"/>
            <a:ext cx="2095500" cy="634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7"/>
          <p:cNvSpPr/>
          <p:nvPr/>
        </p:nvSpPr>
        <p:spPr>
          <a:xfrm>
            <a:off x="2590046" y="4133361"/>
            <a:ext cx="9600" cy="6342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7"/>
          <p:cNvSpPr/>
          <p:nvPr/>
        </p:nvSpPr>
        <p:spPr>
          <a:xfrm>
            <a:off x="637421" y="4247661"/>
            <a:ext cx="1895400" cy="310500"/>
          </a:xfrm>
          <a:prstGeom prst="rect">
            <a:avLst/>
          </a:prstGeom>
          <a:noFill/>
          <a:ln>
            <a:noFill/>
          </a:ln>
        </p:spPr>
        <p:txBody>
          <a:bodyPr anchorCtr="0" anchor="t" bIns="25400" lIns="25400" spcFirstLastPara="1" rIns="25400" wrap="square" tIns="25400">
            <a:normAutofit/>
          </a:bodyPr>
          <a:lstStyle/>
          <a:p>
            <a:pPr indent="0" lvl="0" marL="0" marR="0" rtl="0" algn="l">
              <a:lnSpc>
                <a:spcPct val="130000"/>
              </a:lnSpc>
              <a:spcBef>
                <a:spcPts val="0"/>
              </a:spcBef>
              <a:spcAft>
                <a:spcPts val="0"/>
              </a:spcAft>
              <a:buClr>
                <a:srgbClr val="0E1320"/>
              </a:buClr>
              <a:buSzPts val="825"/>
              <a:buFont typeface="Inter"/>
              <a:buNone/>
            </a:pPr>
            <a:r>
              <a:rPr b="1" i="0" lang="en-US" sz="825" u="none" cap="none" strike="noStrike">
                <a:solidFill>
                  <a:srgbClr val="0E1320"/>
                </a:solidFill>
                <a:latin typeface="Inter"/>
                <a:ea typeface="Inter"/>
                <a:cs typeface="Inter"/>
                <a:sym typeface="Inter"/>
              </a:rPr>
              <a:t>Validation engine &amp; historical comparison</a:t>
            </a:r>
            <a:endParaRPr b="0" i="0" sz="825" u="none" cap="none" strike="noStrike">
              <a:solidFill>
                <a:schemeClr val="dk1"/>
              </a:solidFill>
              <a:latin typeface="Inter"/>
              <a:ea typeface="Inter"/>
              <a:cs typeface="Inter"/>
              <a:sym typeface="Inter"/>
            </a:endParaRPr>
          </a:p>
        </p:txBody>
      </p:sp>
      <p:sp>
        <p:nvSpPr>
          <p:cNvPr id="401" name="Google Shape;401;p7"/>
          <p:cNvSpPr/>
          <p:nvPr/>
        </p:nvSpPr>
        <p:spPr>
          <a:xfrm>
            <a:off x="637421" y="4548592"/>
            <a:ext cx="1895400" cy="1428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686"/>
              </a:buClr>
              <a:buSzPts val="713"/>
              <a:buFont typeface="Inter"/>
              <a:buNone/>
            </a:pPr>
            <a:r>
              <a:rPr b="0" i="0" lang="en-US" sz="713" u="none" cap="none" strike="noStrike">
                <a:solidFill>
                  <a:srgbClr val="6B7686"/>
                </a:solidFill>
                <a:latin typeface="Inter"/>
                <a:ea typeface="Inter"/>
                <a:cs typeface="Inter"/>
                <a:sym typeface="Inter"/>
              </a:rPr>
              <a:t>W3 → W8</a:t>
            </a:r>
            <a:endParaRPr b="0" i="0" sz="713" u="none" cap="none" strike="noStrike">
              <a:solidFill>
                <a:schemeClr val="dk1"/>
              </a:solidFill>
              <a:latin typeface="Inter"/>
              <a:ea typeface="Inter"/>
              <a:cs typeface="Inter"/>
              <a:sym typeface="Inter"/>
            </a:endParaRPr>
          </a:p>
        </p:txBody>
      </p:sp>
      <p:sp>
        <p:nvSpPr>
          <p:cNvPr id="402" name="Google Shape;402;p7"/>
          <p:cNvSpPr/>
          <p:nvPr/>
        </p:nvSpPr>
        <p:spPr>
          <a:xfrm>
            <a:off x="2599571" y="4133361"/>
            <a:ext cx="4305300" cy="4383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7"/>
          <p:cNvSpPr/>
          <p:nvPr/>
        </p:nvSpPr>
        <p:spPr>
          <a:xfrm>
            <a:off x="3316774" y="4257186"/>
            <a:ext cx="2152800" cy="190500"/>
          </a:xfrm>
          <a:prstGeom prst="roundRect">
            <a:avLst>
              <a:gd fmla="val 15000" name="adj"/>
            </a:avLst>
          </a:prstGeom>
          <a:solidFill>
            <a:srgbClr val="004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7"/>
          <p:cNvSpPr/>
          <p:nvPr/>
        </p:nvSpPr>
        <p:spPr>
          <a:xfrm>
            <a:off x="3392974" y="4257186"/>
            <a:ext cx="2076600" cy="22860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FFFFFF"/>
              </a:buClr>
              <a:buSzPts val="675"/>
              <a:buFont typeface="Inter"/>
              <a:buNone/>
            </a:pPr>
            <a:r>
              <a:rPr b="1" i="0" lang="en-US" sz="675" u="none" cap="none" strike="noStrike">
                <a:solidFill>
                  <a:srgbClr val="FFFFFF"/>
                </a:solidFill>
                <a:latin typeface="Inter"/>
                <a:ea typeface="Inter"/>
                <a:cs typeface="Inter"/>
                <a:sym typeface="Inter"/>
              </a:rPr>
              <a:t>Rules · history · variance · reports</a:t>
            </a:r>
            <a:endParaRPr b="0" i="0" sz="675" u="none" cap="none" strike="noStrike">
              <a:solidFill>
                <a:schemeClr val="dk1"/>
              </a:solidFill>
              <a:latin typeface="Inter"/>
              <a:ea typeface="Inter"/>
              <a:cs typeface="Inter"/>
              <a:sym typeface="Inter"/>
            </a:endParaRPr>
          </a:p>
        </p:txBody>
      </p:sp>
      <p:sp>
        <p:nvSpPr>
          <p:cNvPr id="405" name="Google Shape;405;p7"/>
          <p:cNvSpPr/>
          <p:nvPr/>
        </p:nvSpPr>
        <p:spPr>
          <a:xfrm>
            <a:off x="504071" y="5411497"/>
            <a:ext cx="64008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7"/>
          <p:cNvSpPr/>
          <p:nvPr/>
        </p:nvSpPr>
        <p:spPr>
          <a:xfrm>
            <a:off x="504071" y="4777192"/>
            <a:ext cx="2095500" cy="634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7"/>
          <p:cNvSpPr/>
          <p:nvPr/>
        </p:nvSpPr>
        <p:spPr>
          <a:xfrm>
            <a:off x="2590046" y="4777192"/>
            <a:ext cx="9600" cy="6342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7"/>
          <p:cNvSpPr/>
          <p:nvPr/>
        </p:nvSpPr>
        <p:spPr>
          <a:xfrm>
            <a:off x="637421" y="4891492"/>
            <a:ext cx="1895400" cy="310500"/>
          </a:xfrm>
          <a:prstGeom prst="rect">
            <a:avLst/>
          </a:prstGeom>
          <a:noFill/>
          <a:ln>
            <a:noFill/>
          </a:ln>
        </p:spPr>
        <p:txBody>
          <a:bodyPr anchorCtr="0" anchor="t" bIns="25400" lIns="25400" spcFirstLastPara="1" rIns="25400" wrap="square" tIns="25400">
            <a:normAutofit/>
          </a:bodyPr>
          <a:lstStyle/>
          <a:p>
            <a:pPr indent="0" lvl="0" marL="0" marR="0" rtl="0" algn="l">
              <a:lnSpc>
                <a:spcPct val="130000"/>
              </a:lnSpc>
              <a:spcBef>
                <a:spcPts val="0"/>
              </a:spcBef>
              <a:spcAft>
                <a:spcPts val="0"/>
              </a:spcAft>
              <a:buClr>
                <a:srgbClr val="0E1320"/>
              </a:buClr>
              <a:buSzPts val="825"/>
              <a:buFont typeface="Inter"/>
              <a:buNone/>
            </a:pPr>
            <a:r>
              <a:rPr b="1" i="0" lang="en-US" sz="825" u="none" cap="none" strike="noStrike">
                <a:solidFill>
                  <a:srgbClr val="0E1320"/>
                </a:solidFill>
                <a:latin typeface="Inter"/>
                <a:ea typeface="Inter"/>
                <a:cs typeface="Inter"/>
                <a:sym typeface="Inter"/>
              </a:rPr>
              <a:t>Flow 2, Existing portal API integration</a:t>
            </a:r>
            <a:endParaRPr b="0" i="0" sz="825" u="none" cap="none" strike="noStrike">
              <a:solidFill>
                <a:schemeClr val="dk1"/>
              </a:solidFill>
              <a:latin typeface="Inter"/>
              <a:ea typeface="Inter"/>
              <a:cs typeface="Inter"/>
              <a:sym typeface="Inter"/>
            </a:endParaRPr>
          </a:p>
        </p:txBody>
      </p:sp>
      <p:sp>
        <p:nvSpPr>
          <p:cNvPr id="409" name="Google Shape;409;p7"/>
          <p:cNvSpPr/>
          <p:nvPr/>
        </p:nvSpPr>
        <p:spPr>
          <a:xfrm>
            <a:off x="637421" y="5192422"/>
            <a:ext cx="1895400" cy="1428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686"/>
              </a:buClr>
              <a:buSzPts val="713"/>
              <a:buFont typeface="Inter"/>
              <a:buNone/>
            </a:pPr>
            <a:r>
              <a:rPr b="0" i="0" lang="en-US" sz="713" u="none" cap="none" strike="noStrike">
                <a:solidFill>
                  <a:srgbClr val="6B7686"/>
                </a:solidFill>
                <a:latin typeface="Inter"/>
                <a:ea typeface="Inter"/>
                <a:cs typeface="Inter"/>
                <a:sym typeface="Inter"/>
              </a:rPr>
              <a:t>W5 → W8</a:t>
            </a:r>
            <a:endParaRPr b="0" i="0" sz="713" u="none" cap="none" strike="noStrike">
              <a:solidFill>
                <a:schemeClr val="dk1"/>
              </a:solidFill>
              <a:latin typeface="Inter"/>
              <a:ea typeface="Inter"/>
              <a:cs typeface="Inter"/>
              <a:sym typeface="Inter"/>
            </a:endParaRPr>
          </a:p>
        </p:txBody>
      </p:sp>
      <p:sp>
        <p:nvSpPr>
          <p:cNvPr id="410" name="Google Shape;410;p7"/>
          <p:cNvSpPr/>
          <p:nvPr/>
        </p:nvSpPr>
        <p:spPr>
          <a:xfrm>
            <a:off x="2599571" y="4777192"/>
            <a:ext cx="4305300" cy="4383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7"/>
          <p:cNvSpPr/>
          <p:nvPr/>
        </p:nvSpPr>
        <p:spPr>
          <a:xfrm>
            <a:off x="4034497" y="4901017"/>
            <a:ext cx="1076400" cy="190500"/>
          </a:xfrm>
          <a:prstGeom prst="roundRect">
            <a:avLst>
              <a:gd fmla="val 15000" name="adj"/>
            </a:avLst>
          </a:prstGeom>
          <a:solidFill>
            <a:srgbClr val="2E6F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7"/>
          <p:cNvSpPr/>
          <p:nvPr/>
        </p:nvSpPr>
        <p:spPr>
          <a:xfrm>
            <a:off x="4110697" y="4901017"/>
            <a:ext cx="1000200" cy="22860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FFFFFF"/>
              </a:buClr>
              <a:buSzPts val="675"/>
              <a:buFont typeface="Inter"/>
              <a:buNone/>
            </a:pPr>
            <a:r>
              <a:rPr b="1" i="0" lang="en-US" sz="675" u="none" cap="none" strike="noStrike">
                <a:solidFill>
                  <a:srgbClr val="FFFFFF"/>
                </a:solidFill>
                <a:latin typeface="Inter"/>
                <a:ea typeface="Inter"/>
                <a:cs typeface="Inter"/>
                <a:sym typeface="Inter"/>
              </a:rPr>
              <a:t>Portal API contract</a:t>
            </a:r>
            <a:endParaRPr b="0" i="0" sz="675" u="none" cap="none" strike="noStrike">
              <a:solidFill>
                <a:schemeClr val="dk1"/>
              </a:solidFill>
              <a:latin typeface="Inter"/>
              <a:ea typeface="Inter"/>
              <a:cs typeface="Inter"/>
              <a:sym typeface="Inter"/>
            </a:endParaRPr>
          </a:p>
        </p:txBody>
      </p:sp>
      <p:sp>
        <p:nvSpPr>
          <p:cNvPr id="413" name="Google Shape;413;p7"/>
          <p:cNvSpPr/>
          <p:nvPr/>
        </p:nvSpPr>
        <p:spPr>
          <a:xfrm>
            <a:off x="504071" y="5919150"/>
            <a:ext cx="64008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7"/>
          <p:cNvSpPr/>
          <p:nvPr/>
        </p:nvSpPr>
        <p:spPr>
          <a:xfrm>
            <a:off x="504071" y="5421022"/>
            <a:ext cx="2095500" cy="49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7"/>
          <p:cNvSpPr/>
          <p:nvPr/>
        </p:nvSpPr>
        <p:spPr>
          <a:xfrm>
            <a:off x="2590046" y="5421022"/>
            <a:ext cx="9600" cy="4980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7"/>
          <p:cNvSpPr/>
          <p:nvPr/>
        </p:nvSpPr>
        <p:spPr>
          <a:xfrm>
            <a:off x="637421" y="5535322"/>
            <a:ext cx="1895400" cy="174300"/>
          </a:xfrm>
          <a:prstGeom prst="rect">
            <a:avLst/>
          </a:prstGeom>
          <a:noFill/>
          <a:ln>
            <a:noFill/>
          </a:ln>
        </p:spPr>
        <p:txBody>
          <a:bodyPr anchorCtr="0" anchor="t" bIns="25400" lIns="25400" spcFirstLastPara="1" rIns="25400" wrap="square" tIns="25400">
            <a:normAutofit/>
          </a:bodyPr>
          <a:lstStyle/>
          <a:p>
            <a:pPr indent="0" lvl="0" marL="0" marR="0" rtl="0" algn="l">
              <a:lnSpc>
                <a:spcPct val="130000"/>
              </a:lnSpc>
              <a:spcBef>
                <a:spcPts val="0"/>
              </a:spcBef>
              <a:spcAft>
                <a:spcPts val="0"/>
              </a:spcAft>
              <a:buClr>
                <a:srgbClr val="0E1320"/>
              </a:buClr>
              <a:buSzPts val="825"/>
              <a:buFont typeface="Inter"/>
              <a:buNone/>
            </a:pPr>
            <a:r>
              <a:rPr b="1" i="0" lang="en-US" sz="825" u="none" cap="none" strike="noStrike">
                <a:solidFill>
                  <a:srgbClr val="0E1320"/>
                </a:solidFill>
                <a:latin typeface="Inter"/>
                <a:ea typeface="Inter"/>
                <a:cs typeface="Inter"/>
                <a:sym typeface="Inter"/>
              </a:rPr>
              <a:t>PAS API posting &amp; status tracking</a:t>
            </a:r>
            <a:endParaRPr b="0" i="0" sz="825" u="none" cap="none" strike="noStrike">
              <a:solidFill>
                <a:schemeClr val="dk1"/>
              </a:solidFill>
              <a:latin typeface="Inter"/>
              <a:ea typeface="Inter"/>
              <a:cs typeface="Inter"/>
              <a:sym typeface="Inter"/>
            </a:endParaRPr>
          </a:p>
        </p:txBody>
      </p:sp>
      <p:sp>
        <p:nvSpPr>
          <p:cNvPr id="417" name="Google Shape;417;p7"/>
          <p:cNvSpPr/>
          <p:nvPr/>
        </p:nvSpPr>
        <p:spPr>
          <a:xfrm>
            <a:off x="637421" y="5700075"/>
            <a:ext cx="1895400" cy="1428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686"/>
              </a:buClr>
              <a:buSzPts val="713"/>
              <a:buFont typeface="Inter"/>
              <a:buNone/>
            </a:pPr>
            <a:r>
              <a:rPr b="0" i="0" lang="en-US" sz="713" u="none" cap="none" strike="noStrike">
                <a:solidFill>
                  <a:srgbClr val="6B7686"/>
                </a:solidFill>
                <a:latin typeface="Inter"/>
                <a:ea typeface="Inter"/>
                <a:cs typeface="Inter"/>
                <a:sym typeface="Inter"/>
              </a:rPr>
              <a:t>W7 → W10</a:t>
            </a:r>
            <a:endParaRPr b="0" i="0" sz="713" u="none" cap="none" strike="noStrike">
              <a:solidFill>
                <a:schemeClr val="dk1"/>
              </a:solidFill>
              <a:latin typeface="Inter"/>
              <a:ea typeface="Inter"/>
              <a:cs typeface="Inter"/>
              <a:sym typeface="Inter"/>
            </a:endParaRPr>
          </a:p>
        </p:txBody>
      </p:sp>
      <p:sp>
        <p:nvSpPr>
          <p:cNvPr id="418" name="Google Shape;418;p7"/>
          <p:cNvSpPr/>
          <p:nvPr/>
        </p:nvSpPr>
        <p:spPr>
          <a:xfrm>
            <a:off x="2599571" y="5421022"/>
            <a:ext cx="4305300" cy="4383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7"/>
          <p:cNvSpPr/>
          <p:nvPr/>
        </p:nvSpPr>
        <p:spPr>
          <a:xfrm>
            <a:off x="4752221" y="5544847"/>
            <a:ext cx="1076400" cy="190500"/>
          </a:xfrm>
          <a:prstGeom prst="roundRect">
            <a:avLst>
              <a:gd fmla="val 15000" name="adj"/>
            </a:avLst>
          </a:prstGeom>
          <a:solidFill>
            <a:srgbClr val="2E6F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7"/>
          <p:cNvSpPr/>
          <p:nvPr/>
        </p:nvSpPr>
        <p:spPr>
          <a:xfrm>
            <a:off x="4828421" y="5544847"/>
            <a:ext cx="1000200" cy="22860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FFFFFF"/>
              </a:buClr>
              <a:buSzPts val="675"/>
              <a:buFont typeface="Inter"/>
              <a:buNone/>
            </a:pPr>
            <a:r>
              <a:rPr b="1" i="0" lang="en-US" sz="675" u="none" cap="none" strike="noStrike">
                <a:solidFill>
                  <a:srgbClr val="FFFFFF"/>
                </a:solidFill>
                <a:latin typeface="Inter"/>
                <a:ea typeface="Inter"/>
                <a:cs typeface="Inter"/>
                <a:sym typeface="Inter"/>
              </a:rPr>
              <a:t>PAS handoff · retries</a:t>
            </a:r>
            <a:endParaRPr b="0" i="0" sz="675" u="none" cap="none" strike="noStrike">
              <a:solidFill>
                <a:schemeClr val="dk1"/>
              </a:solidFill>
              <a:latin typeface="Inter"/>
              <a:ea typeface="Inter"/>
              <a:cs typeface="Inter"/>
              <a:sym typeface="Inter"/>
            </a:endParaRPr>
          </a:p>
        </p:txBody>
      </p:sp>
      <p:sp>
        <p:nvSpPr>
          <p:cNvPr id="421" name="Google Shape;421;p7"/>
          <p:cNvSpPr/>
          <p:nvPr/>
        </p:nvSpPr>
        <p:spPr>
          <a:xfrm>
            <a:off x="504071" y="5928675"/>
            <a:ext cx="2095500" cy="49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7"/>
          <p:cNvSpPr/>
          <p:nvPr/>
        </p:nvSpPr>
        <p:spPr>
          <a:xfrm>
            <a:off x="2590046" y="5928675"/>
            <a:ext cx="9600" cy="4980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7"/>
          <p:cNvSpPr/>
          <p:nvPr/>
        </p:nvSpPr>
        <p:spPr>
          <a:xfrm>
            <a:off x="637421" y="6042975"/>
            <a:ext cx="1895400" cy="174300"/>
          </a:xfrm>
          <a:prstGeom prst="rect">
            <a:avLst/>
          </a:prstGeom>
          <a:noFill/>
          <a:ln>
            <a:noFill/>
          </a:ln>
        </p:spPr>
        <p:txBody>
          <a:bodyPr anchorCtr="0" anchor="t" bIns="25400" lIns="25400" spcFirstLastPara="1" rIns="25400" wrap="square" tIns="25400">
            <a:normAutofit/>
          </a:bodyPr>
          <a:lstStyle/>
          <a:p>
            <a:pPr indent="0" lvl="0" marL="0" marR="0" rtl="0" algn="l">
              <a:lnSpc>
                <a:spcPct val="130000"/>
              </a:lnSpc>
              <a:spcBef>
                <a:spcPts val="0"/>
              </a:spcBef>
              <a:spcAft>
                <a:spcPts val="0"/>
              </a:spcAft>
              <a:buClr>
                <a:srgbClr val="0E1320"/>
              </a:buClr>
              <a:buSzPts val="825"/>
              <a:buFont typeface="Inter"/>
              <a:buNone/>
            </a:pPr>
            <a:r>
              <a:rPr b="1" i="0" lang="en-US" sz="825" u="none" cap="none" strike="noStrike">
                <a:solidFill>
                  <a:srgbClr val="0E1320"/>
                </a:solidFill>
                <a:latin typeface="Inter"/>
                <a:ea typeface="Inter"/>
                <a:cs typeface="Inter"/>
                <a:sym typeface="Inter"/>
              </a:rPr>
              <a:t>UAT, hardening &amp; handover</a:t>
            </a:r>
            <a:endParaRPr b="0" i="0" sz="825" u="none" cap="none" strike="noStrike">
              <a:solidFill>
                <a:schemeClr val="dk1"/>
              </a:solidFill>
              <a:latin typeface="Inter"/>
              <a:ea typeface="Inter"/>
              <a:cs typeface="Inter"/>
              <a:sym typeface="Inter"/>
            </a:endParaRPr>
          </a:p>
        </p:txBody>
      </p:sp>
      <p:sp>
        <p:nvSpPr>
          <p:cNvPr id="424" name="Google Shape;424;p7"/>
          <p:cNvSpPr/>
          <p:nvPr/>
        </p:nvSpPr>
        <p:spPr>
          <a:xfrm>
            <a:off x="637421" y="6207728"/>
            <a:ext cx="1895400" cy="1428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686"/>
              </a:buClr>
              <a:buSzPts val="713"/>
              <a:buFont typeface="Inter"/>
              <a:buNone/>
            </a:pPr>
            <a:r>
              <a:rPr b="0" i="0" lang="en-US" sz="713" u="none" cap="none" strike="noStrike">
                <a:solidFill>
                  <a:srgbClr val="6B7686"/>
                </a:solidFill>
                <a:latin typeface="Inter"/>
                <a:ea typeface="Inter"/>
                <a:cs typeface="Inter"/>
                <a:sym typeface="Inter"/>
              </a:rPr>
              <a:t>W9 → W12</a:t>
            </a:r>
            <a:endParaRPr b="0" i="0" sz="713" u="none" cap="none" strike="noStrike">
              <a:solidFill>
                <a:schemeClr val="dk1"/>
              </a:solidFill>
              <a:latin typeface="Inter"/>
              <a:ea typeface="Inter"/>
              <a:cs typeface="Inter"/>
              <a:sym typeface="Inter"/>
            </a:endParaRPr>
          </a:p>
        </p:txBody>
      </p:sp>
      <p:sp>
        <p:nvSpPr>
          <p:cNvPr id="425" name="Google Shape;425;p7"/>
          <p:cNvSpPr/>
          <p:nvPr/>
        </p:nvSpPr>
        <p:spPr>
          <a:xfrm>
            <a:off x="2599571" y="5928675"/>
            <a:ext cx="4305300" cy="4383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7"/>
          <p:cNvSpPr/>
          <p:nvPr/>
        </p:nvSpPr>
        <p:spPr>
          <a:xfrm>
            <a:off x="5469424" y="6052500"/>
            <a:ext cx="1434900" cy="190500"/>
          </a:xfrm>
          <a:prstGeom prst="roundRect">
            <a:avLst>
              <a:gd fmla="val 15000" name="adj"/>
            </a:avLst>
          </a:prstGeom>
          <a:solidFill>
            <a:srgbClr val="0047AB">
              <a:alpha val="10196"/>
            </a:srgbClr>
          </a:solidFill>
          <a:ln cap="flat" cmpd="sng" w="9525">
            <a:solidFill>
              <a:srgbClr val="0047A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7"/>
          <p:cNvSpPr/>
          <p:nvPr/>
        </p:nvSpPr>
        <p:spPr>
          <a:xfrm>
            <a:off x="5555149" y="6062025"/>
            <a:ext cx="1339800" cy="20970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0047AB"/>
              </a:buClr>
              <a:buSzPts val="675"/>
              <a:buFont typeface="Inter"/>
              <a:buNone/>
            </a:pPr>
            <a:r>
              <a:rPr b="1" i="0" lang="en-US" sz="675" u="none" cap="none" strike="noStrike">
                <a:solidFill>
                  <a:srgbClr val="0047AB"/>
                </a:solidFill>
                <a:latin typeface="Inter"/>
                <a:ea typeface="Inter"/>
                <a:cs typeface="Inter"/>
                <a:sym typeface="Inter"/>
              </a:rPr>
              <a:t>UAT · defects · handover</a:t>
            </a:r>
            <a:endParaRPr b="0" i="0" sz="675" u="none" cap="none" strike="noStrike">
              <a:solidFill>
                <a:schemeClr val="dk1"/>
              </a:solidFill>
              <a:latin typeface="Inter"/>
              <a:ea typeface="Inter"/>
              <a:cs typeface="Inter"/>
              <a:sym typeface="Inter"/>
            </a:endParaRPr>
          </a:p>
        </p:txBody>
      </p:sp>
      <p:sp>
        <p:nvSpPr>
          <p:cNvPr id="428" name="Google Shape;428;p7"/>
          <p:cNvSpPr/>
          <p:nvPr/>
        </p:nvSpPr>
        <p:spPr>
          <a:xfrm rot="2700000">
            <a:off x="6821348" y="6100137"/>
            <a:ext cx="123885" cy="123885"/>
          </a:xfrm>
          <a:prstGeom prst="rect">
            <a:avLst/>
          </a:prstGeom>
          <a:solidFill>
            <a:srgbClr val="F2B705"/>
          </a:solidFill>
          <a:ln cap="flat" cmpd="sng" w="14275">
            <a:solidFill>
              <a:srgbClr val="FFFFFF"/>
            </a:solidFill>
            <a:prstDash val="solid"/>
            <a:round/>
            <a:headEnd len="sm" w="sm" type="none"/>
            <a:tailEnd len="sm" w="sm" type="none"/>
          </a:ln>
          <a:effectLst>
            <a:outerShdw blurRad="101600" rotWithShape="0" algn="bl" dir="16200000" dist="50800">
              <a:srgbClr val="F2B705"/>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7"/>
          <p:cNvSpPr/>
          <p:nvPr/>
        </p:nvSpPr>
        <p:spPr>
          <a:xfrm>
            <a:off x="494546" y="6982223"/>
            <a:ext cx="2063700" cy="951600"/>
          </a:xfrm>
          <a:prstGeom prst="roundRect">
            <a:avLst>
              <a:gd fmla="val 6007" name="adj"/>
            </a:avLst>
          </a:prstGeom>
          <a:solidFill>
            <a:srgbClr val="F7F8FA"/>
          </a:solidFill>
          <a:ln cap="flat" cmpd="sng" w="9525">
            <a:solidFill>
              <a:srgbClr val="E2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7"/>
          <p:cNvSpPr/>
          <p:nvPr/>
        </p:nvSpPr>
        <p:spPr>
          <a:xfrm>
            <a:off x="656471" y="7125098"/>
            <a:ext cx="1816200" cy="1857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047AB"/>
              </a:buClr>
              <a:buSzPts val="975"/>
              <a:buFont typeface="Inter"/>
              <a:buNone/>
            </a:pPr>
            <a:r>
              <a:rPr b="1" i="0" lang="en-US" sz="975" u="none" cap="none" strike="noStrike">
                <a:solidFill>
                  <a:srgbClr val="0047AB"/>
                </a:solidFill>
                <a:latin typeface="Inter"/>
                <a:ea typeface="Inter"/>
                <a:cs typeface="Inter"/>
                <a:sym typeface="Inter"/>
              </a:rPr>
              <a:t>MILESTONE 1 · WEEK 2</a:t>
            </a:r>
            <a:endParaRPr b="0" i="0" sz="975" u="none" cap="none" strike="noStrike">
              <a:solidFill>
                <a:schemeClr val="dk1"/>
              </a:solidFill>
              <a:latin typeface="Inter"/>
              <a:ea typeface="Inter"/>
              <a:cs typeface="Inter"/>
              <a:sym typeface="Inter"/>
            </a:endParaRPr>
          </a:p>
        </p:txBody>
      </p:sp>
      <p:sp>
        <p:nvSpPr>
          <p:cNvPr id="431" name="Google Shape;431;p7"/>
          <p:cNvSpPr/>
          <p:nvPr/>
        </p:nvSpPr>
        <p:spPr>
          <a:xfrm>
            <a:off x="656471" y="7310835"/>
            <a:ext cx="1816200" cy="518100"/>
          </a:xfrm>
          <a:prstGeom prst="rect">
            <a:avLst/>
          </a:prstGeom>
          <a:noFill/>
          <a:ln>
            <a:noFill/>
          </a:ln>
        </p:spPr>
        <p:txBody>
          <a:bodyPr anchorCtr="0" anchor="t" bIns="25400" lIns="25400" spcFirstLastPara="1" rIns="25400" wrap="square" tIns="25400">
            <a:normAutofit/>
          </a:bodyPr>
          <a:lstStyle/>
          <a:p>
            <a:pPr indent="0" lvl="0" marL="0" marR="0" rtl="0" algn="l">
              <a:lnSpc>
                <a:spcPct val="160000"/>
              </a:lnSpc>
              <a:spcBef>
                <a:spcPts val="0"/>
              </a:spcBef>
              <a:spcAft>
                <a:spcPts val="0"/>
              </a:spcAft>
              <a:buClr>
                <a:srgbClr val="374151"/>
              </a:buClr>
              <a:buSzPts val="788"/>
              <a:buFont typeface="Inter"/>
              <a:buNone/>
            </a:pPr>
            <a:r>
              <a:rPr b="0" i="0" lang="en-US" sz="788" u="none" cap="none" strike="noStrike">
                <a:solidFill>
                  <a:srgbClr val="374151"/>
                </a:solidFill>
                <a:latin typeface="Inter"/>
                <a:ea typeface="Inter"/>
                <a:cs typeface="Inter"/>
                <a:sym typeface="Inter"/>
              </a:rPr>
              <a:t>Discovery sign-off, requirements, licenses, PAS API contract, storage access, and validation rules confirmed.</a:t>
            </a:r>
            <a:endParaRPr b="0" i="0" sz="788" u="none" cap="none" strike="noStrike">
              <a:solidFill>
                <a:schemeClr val="dk1"/>
              </a:solidFill>
              <a:latin typeface="Inter"/>
              <a:ea typeface="Inter"/>
              <a:cs typeface="Inter"/>
              <a:sym typeface="Inter"/>
            </a:endParaRPr>
          </a:p>
        </p:txBody>
      </p:sp>
      <p:sp>
        <p:nvSpPr>
          <p:cNvPr id="432" name="Google Shape;432;p7"/>
          <p:cNvSpPr/>
          <p:nvPr/>
        </p:nvSpPr>
        <p:spPr>
          <a:xfrm>
            <a:off x="2672571" y="6982223"/>
            <a:ext cx="2063700" cy="951600"/>
          </a:xfrm>
          <a:prstGeom prst="roundRect">
            <a:avLst>
              <a:gd fmla="val 6007" name="adj"/>
            </a:avLst>
          </a:prstGeom>
          <a:solidFill>
            <a:srgbClr val="F7F8FA"/>
          </a:solidFill>
          <a:ln cap="flat" cmpd="sng" w="9525">
            <a:solidFill>
              <a:srgbClr val="E2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7"/>
          <p:cNvSpPr/>
          <p:nvPr/>
        </p:nvSpPr>
        <p:spPr>
          <a:xfrm>
            <a:off x="2834496" y="7125098"/>
            <a:ext cx="1816200" cy="1857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047AB"/>
              </a:buClr>
              <a:buSzPts val="975"/>
              <a:buFont typeface="Inter"/>
              <a:buNone/>
            </a:pPr>
            <a:r>
              <a:rPr b="1" i="0" lang="en-US" sz="975" u="none" cap="none" strike="noStrike">
                <a:solidFill>
                  <a:srgbClr val="0047AB"/>
                </a:solidFill>
                <a:latin typeface="Inter"/>
                <a:ea typeface="Inter"/>
                <a:cs typeface="Inter"/>
                <a:sym typeface="Inter"/>
              </a:rPr>
              <a:t>MILESTONE 2 · WEEK 8</a:t>
            </a:r>
            <a:endParaRPr b="0" i="0" sz="975" u="none" cap="none" strike="noStrike">
              <a:solidFill>
                <a:schemeClr val="dk1"/>
              </a:solidFill>
              <a:latin typeface="Inter"/>
              <a:ea typeface="Inter"/>
              <a:cs typeface="Inter"/>
              <a:sym typeface="Inter"/>
            </a:endParaRPr>
          </a:p>
        </p:txBody>
      </p:sp>
      <p:sp>
        <p:nvSpPr>
          <p:cNvPr id="434" name="Google Shape;434;p7"/>
          <p:cNvSpPr/>
          <p:nvPr/>
        </p:nvSpPr>
        <p:spPr>
          <a:xfrm>
            <a:off x="2834496" y="7310835"/>
            <a:ext cx="1816200" cy="518100"/>
          </a:xfrm>
          <a:prstGeom prst="rect">
            <a:avLst/>
          </a:prstGeom>
          <a:noFill/>
          <a:ln>
            <a:noFill/>
          </a:ln>
        </p:spPr>
        <p:txBody>
          <a:bodyPr anchorCtr="0" anchor="t" bIns="25400" lIns="25400" spcFirstLastPara="1" rIns="25400" wrap="square" tIns="25400">
            <a:normAutofit/>
          </a:bodyPr>
          <a:lstStyle/>
          <a:p>
            <a:pPr indent="0" lvl="0" marL="0" marR="0" rtl="0" algn="l">
              <a:lnSpc>
                <a:spcPct val="160000"/>
              </a:lnSpc>
              <a:spcBef>
                <a:spcPts val="0"/>
              </a:spcBef>
              <a:spcAft>
                <a:spcPts val="0"/>
              </a:spcAft>
              <a:buClr>
                <a:srgbClr val="374151"/>
              </a:buClr>
              <a:buSzPts val="788"/>
              <a:buFont typeface="Inter"/>
              <a:buNone/>
            </a:pPr>
            <a:r>
              <a:rPr b="0" i="0" lang="en-US" sz="788" u="none" cap="none" strike="noStrike">
                <a:solidFill>
                  <a:srgbClr val="374151"/>
                </a:solidFill>
                <a:latin typeface="Inter"/>
                <a:ea typeface="Inter"/>
                <a:cs typeface="Inter"/>
                <a:sym typeface="Inter"/>
              </a:rPr>
              <a:t>Validation core stable, Flow 1 &amp; Flow 2 both running against a working rules engine and historical comparison.</a:t>
            </a:r>
            <a:endParaRPr b="0" i="0" sz="788" u="none" cap="none" strike="noStrike">
              <a:solidFill>
                <a:schemeClr val="dk1"/>
              </a:solidFill>
              <a:latin typeface="Inter"/>
              <a:ea typeface="Inter"/>
              <a:cs typeface="Inter"/>
              <a:sym typeface="Inter"/>
            </a:endParaRPr>
          </a:p>
        </p:txBody>
      </p:sp>
      <p:sp>
        <p:nvSpPr>
          <p:cNvPr id="435" name="Google Shape;435;p7"/>
          <p:cNvSpPr/>
          <p:nvPr/>
        </p:nvSpPr>
        <p:spPr>
          <a:xfrm>
            <a:off x="4850596" y="6982223"/>
            <a:ext cx="2063700" cy="951600"/>
          </a:xfrm>
          <a:prstGeom prst="roundRect">
            <a:avLst>
              <a:gd fmla="val 6007" name="adj"/>
            </a:avLst>
          </a:prstGeom>
          <a:solidFill>
            <a:srgbClr val="004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7"/>
          <p:cNvSpPr/>
          <p:nvPr/>
        </p:nvSpPr>
        <p:spPr>
          <a:xfrm>
            <a:off x="5002996" y="7115573"/>
            <a:ext cx="1835100" cy="1857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FFFFFF"/>
              </a:buClr>
              <a:buSzPts val="975"/>
              <a:buFont typeface="Inter"/>
              <a:buNone/>
            </a:pPr>
            <a:r>
              <a:rPr b="1" i="0" lang="en-US" sz="975" u="none" cap="none" strike="noStrike">
                <a:solidFill>
                  <a:srgbClr val="FFFFFF"/>
                </a:solidFill>
                <a:latin typeface="Inter"/>
                <a:ea typeface="Inter"/>
                <a:cs typeface="Inter"/>
                <a:sym typeface="Inter"/>
              </a:rPr>
              <a:t>GO-LIVE · WEEK 12</a:t>
            </a:r>
            <a:endParaRPr b="0" i="0" sz="975" u="none" cap="none" strike="noStrike">
              <a:solidFill>
                <a:schemeClr val="dk1"/>
              </a:solidFill>
              <a:latin typeface="Inter"/>
              <a:ea typeface="Inter"/>
              <a:cs typeface="Inter"/>
              <a:sym typeface="Inter"/>
            </a:endParaRPr>
          </a:p>
        </p:txBody>
      </p:sp>
      <p:sp>
        <p:nvSpPr>
          <p:cNvPr id="437" name="Google Shape;437;p7"/>
          <p:cNvSpPr/>
          <p:nvPr/>
        </p:nvSpPr>
        <p:spPr>
          <a:xfrm>
            <a:off x="5002996" y="7301310"/>
            <a:ext cx="1835100" cy="518100"/>
          </a:xfrm>
          <a:prstGeom prst="rect">
            <a:avLst/>
          </a:prstGeom>
          <a:noFill/>
          <a:ln>
            <a:noFill/>
          </a:ln>
        </p:spPr>
        <p:txBody>
          <a:bodyPr anchorCtr="0" anchor="t" bIns="25400" lIns="25400" spcFirstLastPara="1" rIns="25400" wrap="square" tIns="25400">
            <a:normAutofit/>
          </a:bodyPr>
          <a:lstStyle/>
          <a:p>
            <a:pPr indent="0" lvl="0" marL="0" marR="0" rtl="0" algn="l">
              <a:lnSpc>
                <a:spcPct val="160000"/>
              </a:lnSpc>
              <a:spcBef>
                <a:spcPts val="0"/>
              </a:spcBef>
              <a:spcAft>
                <a:spcPts val="0"/>
              </a:spcAft>
              <a:buClr>
                <a:srgbClr val="FFFFFF"/>
              </a:buClr>
              <a:buSzPts val="788"/>
              <a:buFont typeface="Inter"/>
              <a:buNone/>
            </a:pPr>
            <a:r>
              <a:rPr b="0" i="0" lang="en-US" sz="788" u="none" cap="none" strike="noStrike">
                <a:solidFill>
                  <a:srgbClr val="FFFFFF"/>
                </a:solidFill>
                <a:latin typeface="Inter"/>
                <a:ea typeface="Inter"/>
                <a:cs typeface="Inter"/>
                <a:sym typeface="Inter"/>
              </a:rPr>
              <a:t>MVP ready for controlled production use, with UAT signed off and a handover document delivered.</a:t>
            </a:r>
            <a:endParaRPr b="0" i="0" sz="788" u="none" cap="none" strike="noStrike">
              <a:solidFill>
                <a:schemeClr val="dk1"/>
              </a:solidFill>
              <a:latin typeface="Inter"/>
              <a:ea typeface="Inter"/>
              <a:cs typeface="Inter"/>
              <a:sym typeface="Inter"/>
            </a:endParaRPr>
          </a:p>
        </p:txBody>
      </p:sp>
      <p:sp>
        <p:nvSpPr>
          <p:cNvPr id="438" name="Google Shape;438;p7"/>
          <p:cNvSpPr/>
          <p:nvPr/>
        </p:nvSpPr>
        <p:spPr>
          <a:xfrm>
            <a:off x="494546" y="8162281"/>
            <a:ext cx="6612300" cy="198000"/>
          </a:xfrm>
          <a:prstGeom prst="rect">
            <a:avLst/>
          </a:prstGeom>
          <a:noFill/>
          <a:ln>
            <a:noFill/>
          </a:ln>
        </p:spPr>
        <p:txBody>
          <a:bodyPr anchorCtr="0" anchor="t" bIns="25400" lIns="25400" spcFirstLastPara="1" rIns="25400" wrap="square" tIns="25400">
            <a:normAutofit/>
          </a:bodyPr>
          <a:lstStyle/>
          <a:p>
            <a:pPr indent="0" lvl="0" marL="0" marR="0" rtl="0" algn="just">
              <a:lnSpc>
                <a:spcPct val="160000"/>
              </a:lnSpc>
              <a:spcBef>
                <a:spcPts val="0"/>
              </a:spcBef>
              <a:spcAft>
                <a:spcPts val="0"/>
              </a:spcAft>
              <a:buClr>
                <a:srgbClr val="6B7686"/>
              </a:buClr>
              <a:buSzPts val="788"/>
              <a:buFont typeface="Inter"/>
              <a:buNone/>
            </a:pPr>
            <a:r>
              <a:rPr b="0" i="0" lang="en-US" sz="788" u="none" cap="none" strike="noStrike">
                <a:solidFill>
                  <a:srgbClr val="6B7686"/>
                </a:solidFill>
                <a:latin typeface="Inter"/>
                <a:ea typeface="Inter"/>
                <a:cs typeface="Inter"/>
                <a:sym typeface="Inter"/>
              </a:rPr>
              <a:t>Plan prioritises a working end-to-end flow early, then adds validation depth, portal integration, PAS posting, and audit hardening.</a:t>
            </a:r>
            <a:endParaRPr b="0" i="0" sz="788" u="none" cap="none" strike="noStrike">
              <a:solidFill>
                <a:schemeClr val="dk1"/>
              </a:solidFill>
              <a:latin typeface="Inter"/>
              <a:ea typeface="Inter"/>
              <a:cs typeface="Inter"/>
              <a:sym typeface="Inter"/>
            </a:endParaRPr>
          </a:p>
        </p:txBody>
      </p:sp>
      <p:sp>
        <p:nvSpPr>
          <p:cNvPr id="439" name="Google Shape;439;p7"/>
          <p:cNvSpPr/>
          <p:nvPr/>
        </p:nvSpPr>
        <p:spPr>
          <a:xfrm>
            <a:off x="0" y="10234613"/>
            <a:ext cx="7562850" cy="461963"/>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7"/>
          <p:cNvSpPr/>
          <p:nvPr/>
        </p:nvSpPr>
        <p:spPr>
          <a:xfrm>
            <a:off x="0" y="10234613"/>
            <a:ext cx="7562850" cy="9525"/>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7"/>
          <p:cNvSpPr/>
          <p:nvPr/>
        </p:nvSpPr>
        <p:spPr>
          <a:xfrm>
            <a:off x="6540847" y="10377488"/>
            <a:ext cx="526703" cy="147638"/>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0047AB"/>
              </a:buClr>
              <a:buSzPts val="713"/>
              <a:buFont typeface="Inter"/>
              <a:buNone/>
            </a:pPr>
            <a:r>
              <a:rPr b="1" i="0" lang="en-US" sz="713" u="none" cap="none" strike="noStrike">
                <a:solidFill>
                  <a:srgbClr val="6B7686"/>
                </a:solidFill>
                <a:latin typeface="Inter"/>
                <a:ea typeface="Inter"/>
                <a:cs typeface="Inter"/>
                <a:sym typeface="Inter"/>
              </a:rPr>
              <a:t>0</a:t>
            </a:r>
            <a:r>
              <a:rPr b="1" lang="en-US" sz="713">
                <a:solidFill>
                  <a:srgbClr val="6B7686"/>
                </a:solidFill>
              </a:rPr>
              <a:t>8</a:t>
            </a:r>
            <a:r>
              <a:rPr b="1" i="0" lang="en-US" sz="713" u="none" cap="none" strike="noStrike">
                <a:solidFill>
                  <a:srgbClr val="6B7686"/>
                </a:solidFill>
                <a:latin typeface="Inter"/>
                <a:ea typeface="Inter"/>
                <a:cs typeface="Inter"/>
                <a:sym typeface="Inter"/>
              </a:rPr>
              <a:t> / 1</a:t>
            </a:r>
            <a:r>
              <a:rPr b="1" lang="en-US" sz="713">
                <a:solidFill>
                  <a:srgbClr val="6B7686"/>
                </a:solidFill>
              </a:rPr>
              <a:t>2</a:t>
            </a:r>
            <a:endParaRPr b="0" i="0" sz="713" u="none" cap="none" strike="noStrike">
              <a:solidFill>
                <a:srgbClr val="6B7686"/>
              </a:solidFill>
              <a:latin typeface="Inter"/>
              <a:ea typeface="Inter"/>
              <a:cs typeface="Inter"/>
              <a:sym typeface="Inter"/>
            </a:endParaRPr>
          </a:p>
        </p:txBody>
      </p:sp>
      <p:sp>
        <p:nvSpPr>
          <p:cNvPr id="442" name="Google Shape;442;p7"/>
          <p:cNvSpPr/>
          <p:nvPr/>
        </p:nvSpPr>
        <p:spPr>
          <a:xfrm>
            <a:off x="571500" y="10377500"/>
            <a:ext cx="3966300" cy="138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7686"/>
              </a:buClr>
              <a:buSzPts val="713"/>
              <a:buFont typeface="Inter"/>
              <a:buNone/>
            </a:pPr>
            <a:r>
              <a:rPr b="0" i="0" lang="en-US" sz="713" u="none" cap="none" strike="noStrike">
                <a:solidFill>
                  <a:srgbClr val="6B7686"/>
                </a:solidFill>
                <a:latin typeface="Inter"/>
                <a:ea typeface="Inter"/>
                <a:cs typeface="Inter"/>
                <a:sym typeface="Inter"/>
              </a:rPr>
              <a:t>NEWTUPLE TECHNOLOGIES · 		  		     </a:t>
            </a:r>
            <a:r>
              <a:rPr lang="en-US" sz="713">
                <a:solidFill>
                  <a:srgbClr val="6B7686"/>
                </a:solidFill>
              </a:rPr>
              <a:t>    </a:t>
            </a:r>
            <a:r>
              <a:rPr b="0" i="0" lang="en-US" sz="713" u="none" cap="none" strike="noStrike">
                <a:solidFill>
                  <a:srgbClr val="6B7686"/>
                </a:solidFill>
                <a:latin typeface="Inter"/>
                <a:ea typeface="Inter"/>
                <a:cs typeface="Inter"/>
                <a:sym typeface="Inter"/>
              </a:rPr>
              <a:t>CONFIDENTIAL</a:t>
            </a:r>
            <a:endParaRPr b="0" i="0" sz="713" u="none" cap="none" strike="noStrike">
              <a:solidFill>
                <a:schemeClr val="dk1"/>
              </a:solidFill>
              <a:latin typeface="Inter"/>
              <a:ea typeface="Inter"/>
              <a:cs typeface="Inter"/>
              <a:sym typeface="Inte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7" name="Shape 447"/>
        <p:cNvGrpSpPr/>
        <p:nvPr/>
      </p:nvGrpSpPr>
      <p:grpSpPr>
        <a:xfrm>
          <a:off x="0" y="0"/>
          <a:ext cx="0" cy="0"/>
          <a:chOff x="0" y="0"/>
          <a:chExt cx="0" cy="0"/>
        </a:xfrm>
      </p:grpSpPr>
      <p:sp>
        <p:nvSpPr>
          <p:cNvPr id="448" name="Google Shape;448;p8"/>
          <p:cNvSpPr/>
          <p:nvPr/>
        </p:nvSpPr>
        <p:spPr>
          <a:xfrm>
            <a:off x="0" y="0"/>
            <a:ext cx="7562850" cy="10696575"/>
          </a:xfrm>
          <a:prstGeom prst="rect">
            <a:avLst/>
          </a:prstGeom>
          <a:noFill/>
          <a:ln>
            <a:noFill/>
          </a:ln>
          <a:effectLst>
            <a:outerShdw blurRad="381000" rotWithShape="0" algn="bl" dir="5400000" dist="133350">
              <a:srgbClr val="0E132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49" name="Google Shape;449;p8"/>
          <p:cNvPicPr preferRelativeResize="0"/>
          <p:nvPr/>
        </p:nvPicPr>
        <p:blipFill rotWithShape="1">
          <a:blip r:embed="rId3">
            <a:alphaModFix/>
          </a:blip>
          <a:srcRect b="0" l="0" r="0" t="0"/>
          <a:stretch/>
        </p:blipFill>
        <p:spPr>
          <a:xfrm>
            <a:off x="571500" y="394239"/>
            <a:ext cx="815357" cy="152400"/>
          </a:xfrm>
          <a:prstGeom prst="rect">
            <a:avLst/>
          </a:prstGeom>
          <a:noFill/>
          <a:ln>
            <a:noFill/>
          </a:ln>
        </p:spPr>
      </p:pic>
      <p:sp>
        <p:nvSpPr>
          <p:cNvPr id="450" name="Google Shape;450;p8"/>
          <p:cNvSpPr/>
          <p:nvPr/>
        </p:nvSpPr>
        <p:spPr>
          <a:xfrm>
            <a:off x="3486522" y="413289"/>
            <a:ext cx="3609900" cy="152400"/>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6B7686"/>
              </a:buClr>
              <a:buSzPts val="750"/>
              <a:buFont typeface="Inter"/>
              <a:buNone/>
            </a:pPr>
            <a:r>
              <a:rPr b="1" i="0" lang="en-US" sz="750" u="none" cap="none" strike="noStrike">
                <a:solidFill>
                  <a:srgbClr val="6B7686"/>
                </a:solidFill>
                <a:latin typeface="Inter"/>
                <a:ea typeface="Inter"/>
                <a:cs typeface="Inter"/>
                <a:sym typeface="Inter"/>
              </a:rPr>
              <a:t>PENSION CONTRIBUTION PROCESSING AUTOMATION</a:t>
            </a:r>
            <a:endParaRPr b="0" i="0" sz="750" u="none" cap="none" strike="noStrike">
              <a:solidFill>
                <a:schemeClr val="dk1"/>
              </a:solidFill>
              <a:latin typeface="Inter"/>
              <a:ea typeface="Inter"/>
              <a:cs typeface="Inter"/>
              <a:sym typeface="Inter"/>
            </a:endParaRPr>
          </a:p>
        </p:txBody>
      </p:sp>
      <p:sp>
        <p:nvSpPr>
          <p:cNvPr id="451" name="Google Shape;451;p8"/>
          <p:cNvSpPr/>
          <p:nvPr/>
        </p:nvSpPr>
        <p:spPr>
          <a:xfrm>
            <a:off x="571500" y="1611885"/>
            <a:ext cx="6419700" cy="9600"/>
          </a:xfrm>
          <a:prstGeom prst="rect">
            <a:avLst/>
          </a:prstGeom>
          <a:solidFill>
            <a:srgbClr val="004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8"/>
          <p:cNvSpPr/>
          <p:nvPr/>
        </p:nvSpPr>
        <p:spPr>
          <a:xfrm>
            <a:off x="571500" y="1372868"/>
            <a:ext cx="268800" cy="153300"/>
          </a:xfrm>
          <a:prstGeom prst="rect">
            <a:avLst/>
          </a:prstGeom>
          <a:noFill/>
          <a:ln>
            <a:noFill/>
          </a:ln>
        </p:spPr>
        <p:txBody>
          <a:bodyPr anchorCtr="0" anchor="t" bIns="25400" lIns="25400" spcFirstLastPara="1" rIns="25400" wrap="square" tIns="25400">
            <a:normAutofit/>
          </a:bodyPr>
          <a:lstStyle/>
          <a:p>
            <a:pPr indent="0" lvl="0" marL="0" marR="0" rtl="0" algn="l">
              <a:lnSpc>
                <a:spcPct val="110000"/>
              </a:lnSpc>
              <a:spcBef>
                <a:spcPts val="0"/>
              </a:spcBef>
              <a:spcAft>
                <a:spcPts val="0"/>
              </a:spcAft>
              <a:buClr>
                <a:srgbClr val="0047AB"/>
              </a:buClr>
              <a:buSzPts val="825"/>
              <a:buFont typeface="Inter"/>
              <a:buNone/>
            </a:pPr>
            <a:r>
              <a:rPr b="1" i="0" lang="en-US" sz="825" u="none" cap="none" strike="noStrike">
                <a:solidFill>
                  <a:srgbClr val="0047AB"/>
                </a:solidFill>
                <a:latin typeface="Inter"/>
                <a:ea typeface="Inter"/>
                <a:cs typeface="Inter"/>
                <a:sym typeface="Inter"/>
              </a:rPr>
              <a:t>07</a:t>
            </a:r>
            <a:endParaRPr b="0" i="0" sz="825" u="none" cap="none" strike="noStrike">
              <a:solidFill>
                <a:schemeClr val="dk1"/>
              </a:solidFill>
              <a:latin typeface="Inter"/>
              <a:ea typeface="Inter"/>
              <a:cs typeface="Inter"/>
              <a:sym typeface="Inter"/>
            </a:endParaRPr>
          </a:p>
        </p:txBody>
      </p:sp>
      <p:sp>
        <p:nvSpPr>
          <p:cNvPr id="453" name="Google Shape;453;p8"/>
          <p:cNvSpPr/>
          <p:nvPr/>
        </p:nvSpPr>
        <p:spPr>
          <a:xfrm>
            <a:off x="916558" y="1244280"/>
            <a:ext cx="1740900" cy="310500"/>
          </a:xfrm>
          <a:prstGeom prst="rect">
            <a:avLst/>
          </a:prstGeom>
          <a:noFill/>
          <a:ln>
            <a:noFill/>
          </a:ln>
        </p:spPr>
        <p:txBody>
          <a:bodyPr anchorCtr="0" anchor="t" bIns="25400" lIns="25400" spcFirstLastPara="1" rIns="25400" wrap="square" tIns="25400">
            <a:normAutofit/>
          </a:bodyPr>
          <a:lstStyle/>
          <a:p>
            <a:pPr indent="0" lvl="0" marL="0" marR="0" rtl="0" algn="l">
              <a:lnSpc>
                <a:spcPct val="110000"/>
              </a:lnSpc>
              <a:spcBef>
                <a:spcPts val="0"/>
              </a:spcBef>
              <a:spcAft>
                <a:spcPts val="0"/>
              </a:spcAft>
              <a:buClr>
                <a:srgbClr val="0E1320"/>
              </a:buClr>
              <a:buSzPts val="1950"/>
              <a:buFont typeface="Inter"/>
              <a:buNone/>
            </a:pPr>
            <a:r>
              <a:rPr b="0" i="0" lang="en-US" sz="1950" u="none" cap="none" strike="noStrike">
                <a:solidFill>
                  <a:srgbClr val="0E1320"/>
                </a:solidFill>
                <a:latin typeface="Inter"/>
                <a:ea typeface="Inter"/>
                <a:cs typeface="Inter"/>
                <a:sym typeface="Inter"/>
              </a:rPr>
              <a:t>UAT Summary</a:t>
            </a:r>
            <a:endParaRPr b="0" i="0" sz="1950" u="none" cap="none" strike="noStrike">
              <a:solidFill>
                <a:schemeClr val="dk1"/>
              </a:solidFill>
              <a:latin typeface="Inter"/>
              <a:ea typeface="Inter"/>
              <a:cs typeface="Inter"/>
              <a:sym typeface="Inter"/>
            </a:endParaRPr>
          </a:p>
        </p:txBody>
      </p:sp>
      <p:sp>
        <p:nvSpPr>
          <p:cNvPr id="454" name="Google Shape;454;p8"/>
          <p:cNvSpPr/>
          <p:nvPr/>
        </p:nvSpPr>
        <p:spPr>
          <a:xfrm>
            <a:off x="571500" y="1811910"/>
            <a:ext cx="6612300" cy="388500"/>
          </a:xfrm>
          <a:prstGeom prst="rect">
            <a:avLst/>
          </a:prstGeom>
          <a:noFill/>
          <a:ln>
            <a:noFill/>
          </a:ln>
        </p:spPr>
        <p:txBody>
          <a:bodyPr anchorCtr="0" anchor="t" bIns="25400" lIns="25400" spcFirstLastPara="1" rIns="25400" wrap="square" tIns="25400">
            <a:normAutofit/>
          </a:bodyPr>
          <a:lstStyle/>
          <a:p>
            <a:pPr indent="0" lvl="0" marL="0" marR="0" rtl="0" algn="just">
              <a:lnSpc>
                <a:spcPct val="160000"/>
              </a:lnSpc>
              <a:spcBef>
                <a:spcPts val="0"/>
              </a:spcBef>
              <a:spcAft>
                <a:spcPts val="0"/>
              </a:spcAft>
              <a:buClr>
                <a:srgbClr val="374151"/>
              </a:buClr>
              <a:buSzPts val="863"/>
              <a:buFont typeface="Inter"/>
              <a:buNone/>
            </a:pPr>
            <a:r>
              <a:rPr b="0" i="0" lang="en-US" sz="863" u="none" cap="none" strike="noStrike">
                <a:solidFill>
                  <a:srgbClr val="374151"/>
                </a:solidFill>
                <a:latin typeface="Inter"/>
                <a:ea typeface="Inter"/>
                <a:cs typeface="Inter"/>
                <a:sym typeface="Inter"/>
              </a:rPr>
              <a:t>UAT runs in short cycles across the engagement rather than waiting until the end. This is important because validation behaviour depends on real employer files, historical comparisons, and client-specific business rules.</a:t>
            </a:r>
            <a:endParaRPr b="0" i="0" sz="863" u="none" cap="none" strike="noStrike">
              <a:solidFill>
                <a:schemeClr val="dk1"/>
              </a:solidFill>
              <a:latin typeface="Inter"/>
              <a:ea typeface="Inter"/>
              <a:cs typeface="Inter"/>
              <a:sym typeface="Inter"/>
            </a:endParaRPr>
          </a:p>
        </p:txBody>
      </p:sp>
      <p:sp>
        <p:nvSpPr>
          <p:cNvPr id="455" name="Google Shape;455;p8"/>
          <p:cNvSpPr/>
          <p:nvPr/>
        </p:nvSpPr>
        <p:spPr>
          <a:xfrm>
            <a:off x="571500" y="2314801"/>
            <a:ext cx="952500" cy="288000"/>
          </a:xfrm>
          <a:prstGeom prst="rect">
            <a:avLst/>
          </a:prstGeom>
          <a:solidFill>
            <a:srgbClr val="F7F8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8"/>
          <p:cNvSpPr/>
          <p:nvPr/>
        </p:nvSpPr>
        <p:spPr>
          <a:xfrm>
            <a:off x="571500" y="2593407"/>
            <a:ext cx="952500" cy="9600"/>
          </a:xfrm>
          <a:prstGeom prst="rect">
            <a:avLst/>
          </a:prstGeom>
          <a:solidFill>
            <a:srgbClr val="004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8"/>
          <p:cNvSpPr/>
          <p:nvPr/>
        </p:nvSpPr>
        <p:spPr>
          <a:xfrm>
            <a:off x="666750" y="2381476"/>
            <a:ext cx="838200" cy="1833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788"/>
              <a:buFont typeface="Inter"/>
              <a:buNone/>
            </a:pPr>
            <a:r>
              <a:rPr b="1" i="0" lang="en-US" sz="788" u="none" cap="none" strike="noStrike">
                <a:solidFill>
                  <a:srgbClr val="374151"/>
                </a:solidFill>
                <a:latin typeface="Inter"/>
                <a:ea typeface="Inter"/>
                <a:cs typeface="Inter"/>
                <a:sym typeface="Inter"/>
              </a:rPr>
              <a:t>CYCLE</a:t>
            </a:r>
            <a:endParaRPr b="0" i="0" sz="788" u="none" cap="none" strike="noStrike">
              <a:solidFill>
                <a:schemeClr val="dk1"/>
              </a:solidFill>
              <a:latin typeface="Inter"/>
              <a:ea typeface="Inter"/>
              <a:cs typeface="Inter"/>
              <a:sym typeface="Inter"/>
            </a:endParaRPr>
          </a:p>
        </p:txBody>
      </p:sp>
      <p:sp>
        <p:nvSpPr>
          <p:cNvPr id="458" name="Google Shape;458;p8"/>
          <p:cNvSpPr/>
          <p:nvPr/>
        </p:nvSpPr>
        <p:spPr>
          <a:xfrm>
            <a:off x="1524000" y="2314801"/>
            <a:ext cx="1524000" cy="288000"/>
          </a:xfrm>
          <a:prstGeom prst="rect">
            <a:avLst/>
          </a:prstGeom>
          <a:solidFill>
            <a:srgbClr val="F7F8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8"/>
          <p:cNvSpPr/>
          <p:nvPr/>
        </p:nvSpPr>
        <p:spPr>
          <a:xfrm>
            <a:off x="1524000" y="2593407"/>
            <a:ext cx="1524000" cy="9600"/>
          </a:xfrm>
          <a:prstGeom prst="rect">
            <a:avLst/>
          </a:prstGeom>
          <a:solidFill>
            <a:srgbClr val="004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8"/>
          <p:cNvSpPr/>
          <p:nvPr/>
        </p:nvSpPr>
        <p:spPr>
          <a:xfrm>
            <a:off x="1619250" y="2381476"/>
            <a:ext cx="1409700" cy="1833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788"/>
              <a:buFont typeface="Inter"/>
              <a:buNone/>
            </a:pPr>
            <a:r>
              <a:rPr b="1" i="0" lang="en-US" sz="788" u="none" cap="none" strike="noStrike">
                <a:solidFill>
                  <a:srgbClr val="374151"/>
                </a:solidFill>
                <a:latin typeface="Inter"/>
                <a:ea typeface="Inter"/>
                <a:cs typeface="Inter"/>
                <a:sym typeface="Inter"/>
              </a:rPr>
              <a:t>TIMING</a:t>
            </a:r>
            <a:endParaRPr b="0" i="0" sz="788" u="none" cap="none" strike="noStrike">
              <a:solidFill>
                <a:schemeClr val="dk1"/>
              </a:solidFill>
              <a:latin typeface="Inter"/>
              <a:ea typeface="Inter"/>
              <a:cs typeface="Inter"/>
              <a:sym typeface="Inter"/>
            </a:endParaRPr>
          </a:p>
        </p:txBody>
      </p:sp>
      <p:sp>
        <p:nvSpPr>
          <p:cNvPr id="461" name="Google Shape;461;p8"/>
          <p:cNvSpPr/>
          <p:nvPr/>
        </p:nvSpPr>
        <p:spPr>
          <a:xfrm>
            <a:off x="3048000" y="2314801"/>
            <a:ext cx="3943200" cy="288000"/>
          </a:xfrm>
          <a:prstGeom prst="rect">
            <a:avLst/>
          </a:prstGeom>
          <a:solidFill>
            <a:srgbClr val="F7F8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8"/>
          <p:cNvSpPr/>
          <p:nvPr/>
        </p:nvSpPr>
        <p:spPr>
          <a:xfrm>
            <a:off x="3048000" y="2593407"/>
            <a:ext cx="3943200" cy="9600"/>
          </a:xfrm>
          <a:prstGeom prst="rect">
            <a:avLst/>
          </a:prstGeom>
          <a:solidFill>
            <a:srgbClr val="004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8"/>
          <p:cNvSpPr/>
          <p:nvPr/>
        </p:nvSpPr>
        <p:spPr>
          <a:xfrm>
            <a:off x="3143250" y="2381476"/>
            <a:ext cx="3871200" cy="1833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788"/>
              <a:buFont typeface="Inter"/>
              <a:buNone/>
            </a:pPr>
            <a:r>
              <a:rPr b="1" i="0" lang="en-US" sz="788" u="none" cap="none" strike="noStrike">
                <a:solidFill>
                  <a:srgbClr val="374151"/>
                </a:solidFill>
                <a:latin typeface="Inter"/>
                <a:ea typeface="Inter"/>
                <a:cs typeface="Inter"/>
                <a:sym typeface="Inter"/>
              </a:rPr>
              <a:t>FOCUS</a:t>
            </a:r>
            <a:endParaRPr b="0" i="0" sz="788" u="none" cap="none" strike="noStrike">
              <a:solidFill>
                <a:schemeClr val="dk1"/>
              </a:solidFill>
              <a:latin typeface="Inter"/>
              <a:ea typeface="Inter"/>
              <a:cs typeface="Inter"/>
              <a:sym typeface="Inter"/>
            </a:endParaRPr>
          </a:p>
        </p:txBody>
      </p:sp>
      <p:sp>
        <p:nvSpPr>
          <p:cNvPr id="464" name="Google Shape;464;p8"/>
          <p:cNvSpPr/>
          <p:nvPr/>
        </p:nvSpPr>
        <p:spPr>
          <a:xfrm>
            <a:off x="571500" y="3050607"/>
            <a:ext cx="9525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8"/>
          <p:cNvSpPr/>
          <p:nvPr/>
        </p:nvSpPr>
        <p:spPr>
          <a:xfrm>
            <a:off x="666750" y="2669607"/>
            <a:ext cx="838200" cy="3525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0E1320"/>
              </a:buClr>
              <a:buSzPts val="825"/>
              <a:buFont typeface="Inter"/>
              <a:buNone/>
            </a:pPr>
            <a:r>
              <a:rPr b="1" i="0" lang="en-US" sz="825" u="none" cap="none" strike="noStrike">
                <a:solidFill>
                  <a:srgbClr val="0E1320"/>
                </a:solidFill>
                <a:latin typeface="Inter"/>
                <a:ea typeface="Inter"/>
                <a:cs typeface="Inter"/>
                <a:sym typeface="Inter"/>
              </a:rPr>
              <a:t>Cycle 1</a:t>
            </a:r>
            <a:endParaRPr b="0" i="0" sz="825" u="none" cap="none" strike="noStrike">
              <a:solidFill>
                <a:schemeClr val="dk1"/>
              </a:solidFill>
              <a:latin typeface="Inter"/>
              <a:ea typeface="Inter"/>
              <a:cs typeface="Inter"/>
              <a:sym typeface="Inter"/>
            </a:endParaRPr>
          </a:p>
        </p:txBody>
      </p:sp>
      <p:sp>
        <p:nvSpPr>
          <p:cNvPr id="466" name="Google Shape;466;p8"/>
          <p:cNvSpPr/>
          <p:nvPr/>
        </p:nvSpPr>
        <p:spPr>
          <a:xfrm>
            <a:off x="1524000" y="3050607"/>
            <a:ext cx="15240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8"/>
          <p:cNvSpPr/>
          <p:nvPr/>
        </p:nvSpPr>
        <p:spPr>
          <a:xfrm>
            <a:off x="1619250" y="2669607"/>
            <a:ext cx="1409700" cy="3525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825"/>
              <a:buFont typeface="Inter"/>
              <a:buNone/>
            </a:pPr>
            <a:r>
              <a:rPr b="0" i="0" lang="en-US" sz="825" u="none" cap="none" strike="noStrike">
                <a:solidFill>
                  <a:srgbClr val="374151"/>
                </a:solidFill>
                <a:latin typeface="Inter"/>
                <a:ea typeface="Inter"/>
                <a:cs typeface="Inter"/>
                <a:sym typeface="Inter"/>
              </a:rPr>
              <a:t>End of Week 5</a:t>
            </a:r>
            <a:endParaRPr b="0" i="0" sz="825" u="none" cap="none" strike="noStrike">
              <a:solidFill>
                <a:schemeClr val="dk1"/>
              </a:solidFill>
              <a:latin typeface="Inter"/>
              <a:ea typeface="Inter"/>
              <a:cs typeface="Inter"/>
              <a:sym typeface="Inter"/>
            </a:endParaRPr>
          </a:p>
        </p:txBody>
      </p:sp>
      <p:sp>
        <p:nvSpPr>
          <p:cNvPr id="468" name="Google Shape;468;p8"/>
          <p:cNvSpPr/>
          <p:nvPr/>
        </p:nvSpPr>
        <p:spPr>
          <a:xfrm>
            <a:off x="3048000" y="3050607"/>
            <a:ext cx="39432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8"/>
          <p:cNvSpPr/>
          <p:nvPr/>
        </p:nvSpPr>
        <p:spPr>
          <a:xfrm>
            <a:off x="3143250" y="2669607"/>
            <a:ext cx="3871200" cy="3525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825"/>
              <a:buFont typeface="Inter"/>
              <a:buNone/>
            </a:pPr>
            <a:r>
              <a:rPr b="0" i="0" lang="en-US" sz="825" u="none" cap="none" strike="noStrike">
                <a:solidFill>
                  <a:srgbClr val="374151"/>
                </a:solidFill>
                <a:latin typeface="Inter"/>
                <a:ea typeface="Inter"/>
                <a:cs typeface="Inter"/>
                <a:sym typeface="Inter"/>
              </a:rPr>
              <a:t>Mailbox intake, attachment capture, submission registration, and AI interpretation of email commentary.</a:t>
            </a:r>
            <a:endParaRPr b="0" i="0" sz="825" u="none" cap="none" strike="noStrike">
              <a:solidFill>
                <a:schemeClr val="dk1"/>
              </a:solidFill>
              <a:latin typeface="Inter"/>
              <a:ea typeface="Inter"/>
              <a:cs typeface="Inter"/>
              <a:sym typeface="Inter"/>
            </a:endParaRPr>
          </a:p>
        </p:txBody>
      </p:sp>
      <p:sp>
        <p:nvSpPr>
          <p:cNvPr id="470" name="Google Shape;470;p8"/>
          <p:cNvSpPr/>
          <p:nvPr/>
        </p:nvSpPr>
        <p:spPr>
          <a:xfrm>
            <a:off x="571500" y="3507807"/>
            <a:ext cx="9525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8"/>
          <p:cNvSpPr/>
          <p:nvPr/>
        </p:nvSpPr>
        <p:spPr>
          <a:xfrm>
            <a:off x="666750" y="3126807"/>
            <a:ext cx="838200" cy="3525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0E1320"/>
              </a:buClr>
              <a:buSzPts val="825"/>
              <a:buFont typeface="Inter"/>
              <a:buNone/>
            </a:pPr>
            <a:r>
              <a:rPr b="1" i="0" lang="en-US" sz="825" u="none" cap="none" strike="noStrike">
                <a:solidFill>
                  <a:srgbClr val="0E1320"/>
                </a:solidFill>
                <a:latin typeface="Inter"/>
                <a:ea typeface="Inter"/>
                <a:cs typeface="Inter"/>
                <a:sym typeface="Inter"/>
              </a:rPr>
              <a:t>Cycle 2</a:t>
            </a:r>
            <a:endParaRPr b="0" i="0" sz="825" u="none" cap="none" strike="noStrike">
              <a:solidFill>
                <a:schemeClr val="dk1"/>
              </a:solidFill>
              <a:latin typeface="Inter"/>
              <a:ea typeface="Inter"/>
              <a:cs typeface="Inter"/>
              <a:sym typeface="Inter"/>
            </a:endParaRPr>
          </a:p>
        </p:txBody>
      </p:sp>
      <p:sp>
        <p:nvSpPr>
          <p:cNvPr id="472" name="Google Shape;472;p8"/>
          <p:cNvSpPr/>
          <p:nvPr/>
        </p:nvSpPr>
        <p:spPr>
          <a:xfrm>
            <a:off x="1524000" y="3507807"/>
            <a:ext cx="15240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8"/>
          <p:cNvSpPr/>
          <p:nvPr/>
        </p:nvSpPr>
        <p:spPr>
          <a:xfrm>
            <a:off x="1619250" y="3126807"/>
            <a:ext cx="1409700" cy="3525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825"/>
              <a:buFont typeface="Inter"/>
              <a:buNone/>
            </a:pPr>
            <a:r>
              <a:rPr b="0" i="0" lang="en-US" sz="825" u="none" cap="none" strike="noStrike">
                <a:solidFill>
                  <a:srgbClr val="374151"/>
                </a:solidFill>
                <a:latin typeface="Inter"/>
                <a:ea typeface="Inter"/>
                <a:cs typeface="Inter"/>
                <a:sym typeface="Inter"/>
              </a:rPr>
              <a:t>End of Week 8</a:t>
            </a:r>
            <a:endParaRPr b="0" i="0" sz="825" u="none" cap="none" strike="noStrike">
              <a:solidFill>
                <a:schemeClr val="dk1"/>
              </a:solidFill>
              <a:latin typeface="Inter"/>
              <a:ea typeface="Inter"/>
              <a:cs typeface="Inter"/>
              <a:sym typeface="Inter"/>
            </a:endParaRPr>
          </a:p>
        </p:txBody>
      </p:sp>
      <p:sp>
        <p:nvSpPr>
          <p:cNvPr id="474" name="Google Shape;474;p8"/>
          <p:cNvSpPr/>
          <p:nvPr/>
        </p:nvSpPr>
        <p:spPr>
          <a:xfrm>
            <a:off x="3048000" y="3507807"/>
            <a:ext cx="39432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8"/>
          <p:cNvSpPr/>
          <p:nvPr/>
        </p:nvSpPr>
        <p:spPr>
          <a:xfrm>
            <a:off x="3143250" y="3126807"/>
            <a:ext cx="3871200" cy="3525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825"/>
              <a:buFont typeface="Inter"/>
              <a:buNone/>
            </a:pPr>
            <a:r>
              <a:rPr b="0" i="0" lang="en-US" sz="825" u="none" cap="none" strike="noStrike">
                <a:solidFill>
                  <a:srgbClr val="374151"/>
                </a:solidFill>
                <a:latin typeface="Inter"/>
                <a:ea typeface="Inter"/>
                <a:cs typeface="Inter"/>
                <a:sym typeface="Inter"/>
              </a:rPr>
              <a:t>Validation rules, historical comparison, error reporting, and portal-facing validation response.</a:t>
            </a:r>
            <a:endParaRPr b="0" i="0" sz="825" u="none" cap="none" strike="noStrike">
              <a:solidFill>
                <a:schemeClr val="dk1"/>
              </a:solidFill>
              <a:latin typeface="Inter"/>
              <a:ea typeface="Inter"/>
              <a:cs typeface="Inter"/>
              <a:sym typeface="Inter"/>
            </a:endParaRPr>
          </a:p>
        </p:txBody>
      </p:sp>
      <p:sp>
        <p:nvSpPr>
          <p:cNvPr id="476" name="Google Shape;476;p8"/>
          <p:cNvSpPr/>
          <p:nvPr/>
        </p:nvSpPr>
        <p:spPr>
          <a:xfrm>
            <a:off x="666750" y="3584007"/>
            <a:ext cx="838200" cy="3573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0E1320"/>
              </a:buClr>
              <a:buSzPts val="825"/>
              <a:buFont typeface="Inter"/>
              <a:buNone/>
            </a:pPr>
            <a:r>
              <a:rPr b="1" i="0" lang="en-US" sz="825" u="none" cap="none" strike="noStrike">
                <a:solidFill>
                  <a:srgbClr val="0E1320"/>
                </a:solidFill>
                <a:latin typeface="Inter"/>
                <a:ea typeface="Inter"/>
                <a:cs typeface="Inter"/>
                <a:sym typeface="Inter"/>
              </a:rPr>
              <a:t>Cycle 3</a:t>
            </a:r>
            <a:endParaRPr b="0" i="0" sz="825" u="none" cap="none" strike="noStrike">
              <a:solidFill>
                <a:schemeClr val="dk1"/>
              </a:solidFill>
              <a:latin typeface="Inter"/>
              <a:ea typeface="Inter"/>
              <a:cs typeface="Inter"/>
              <a:sym typeface="Inter"/>
            </a:endParaRPr>
          </a:p>
        </p:txBody>
      </p:sp>
      <p:sp>
        <p:nvSpPr>
          <p:cNvPr id="477" name="Google Shape;477;p8"/>
          <p:cNvSpPr/>
          <p:nvPr/>
        </p:nvSpPr>
        <p:spPr>
          <a:xfrm>
            <a:off x="1619250" y="3584007"/>
            <a:ext cx="1409700" cy="3573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825"/>
              <a:buFont typeface="Inter"/>
              <a:buNone/>
            </a:pPr>
            <a:r>
              <a:rPr b="0" i="0" lang="en-US" sz="825" u="none" cap="none" strike="noStrike">
                <a:solidFill>
                  <a:srgbClr val="374151"/>
                </a:solidFill>
                <a:latin typeface="Inter"/>
                <a:ea typeface="Inter"/>
                <a:cs typeface="Inter"/>
                <a:sym typeface="Inter"/>
              </a:rPr>
              <a:t>Weeks 10 → 12</a:t>
            </a:r>
            <a:endParaRPr b="0" i="0" sz="825" u="none" cap="none" strike="noStrike">
              <a:solidFill>
                <a:schemeClr val="dk1"/>
              </a:solidFill>
              <a:latin typeface="Inter"/>
              <a:ea typeface="Inter"/>
              <a:cs typeface="Inter"/>
              <a:sym typeface="Inter"/>
            </a:endParaRPr>
          </a:p>
        </p:txBody>
      </p:sp>
      <p:sp>
        <p:nvSpPr>
          <p:cNvPr id="478" name="Google Shape;478;p8"/>
          <p:cNvSpPr/>
          <p:nvPr/>
        </p:nvSpPr>
        <p:spPr>
          <a:xfrm>
            <a:off x="3143250" y="3584007"/>
            <a:ext cx="3871200" cy="3573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825"/>
              <a:buFont typeface="Inter"/>
              <a:buNone/>
            </a:pPr>
            <a:r>
              <a:rPr b="0" i="0" lang="en-US" sz="825" u="none" cap="none" strike="noStrike">
                <a:solidFill>
                  <a:srgbClr val="374151"/>
                </a:solidFill>
                <a:latin typeface="Inter"/>
                <a:ea typeface="Inter"/>
                <a:cs typeface="Inter"/>
                <a:sym typeface="Inter"/>
              </a:rPr>
              <a:t>PAS posting, retry and status handling, audit trail, operational reports, and handover readiness.</a:t>
            </a:r>
            <a:endParaRPr b="0" i="0" sz="825" u="none" cap="none" strike="noStrike">
              <a:solidFill>
                <a:schemeClr val="dk1"/>
              </a:solidFill>
              <a:latin typeface="Inter"/>
              <a:ea typeface="Inter"/>
              <a:cs typeface="Inter"/>
              <a:sym typeface="Inter"/>
            </a:endParaRPr>
          </a:p>
        </p:txBody>
      </p:sp>
      <p:sp>
        <p:nvSpPr>
          <p:cNvPr id="479" name="Google Shape;479;p8"/>
          <p:cNvSpPr/>
          <p:nvPr/>
        </p:nvSpPr>
        <p:spPr>
          <a:xfrm>
            <a:off x="571500" y="4806757"/>
            <a:ext cx="6419700" cy="9600"/>
          </a:xfrm>
          <a:prstGeom prst="rect">
            <a:avLst/>
          </a:prstGeom>
          <a:solidFill>
            <a:srgbClr val="004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8"/>
          <p:cNvSpPr/>
          <p:nvPr/>
        </p:nvSpPr>
        <p:spPr>
          <a:xfrm>
            <a:off x="571500" y="4567739"/>
            <a:ext cx="268800" cy="153300"/>
          </a:xfrm>
          <a:prstGeom prst="rect">
            <a:avLst/>
          </a:prstGeom>
          <a:noFill/>
          <a:ln>
            <a:noFill/>
          </a:ln>
        </p:spPr>
        <p:txBody>
          <a:bodyPr anchorCtr="0" anchor="t" bIns="25400" lIns="25400" spcFirstLastPara="1" rIns="25400" wrap="square" tIns="25400">
            <a:normAutofit/>
          </a:bodyPr>
          <a:lstStyle/>
          <a:p>
            <a:pPr indent="0" lvl="0" marL="0" marR="0" rtl="0" algn="l">
              <a:lnSpc>
                <a:spcPct val="110000"/>
              </a:lnSpc>
              <a:spcBef>
                <a:spcPts val="0"/>
              </a:spcBef>
              <a:spcAft>
                <a:spcPts val="0"/>
              </a:spcAft>
              <a:buClr>
                <a:srgbClr val="0047AB"/>
              </a:buClr>
              <a:buSzPts val="825"/>
              <a:buFont typeface="Inter"/>
              <a:buNone/>
            </a:pPr>
            <a:r>
              <a:rPr b="1" i="0" lang="en-US" sz="825" u="none" cap="none" strike="noStrike">
                <a:solidFill>
                  <a:srgbClr val="0047AB"/>
                </a:solidFill>
                <a:latin typeface="Inter"/>
                <a:ea typeface="Inter"/>
                <a:cs typeface="Inter"/>
                <a:sym typeface="Inter"/>
              </a:rPr>
              <a:t>08</a:t>
            </a:r>
            <a:endParaRPr b="0" i="0" sz="825" u="none" cap="none" strike="noStrike">
              <a:solidFill>
                <a:schemeClr val="dk1"/>
              </a:solidFill>
              <a:latin typeface="Inter"/>
              <a:ea typeface="Inter"/>
              <a:cs typeface="Inter"/>
              <a:sym typeface="Inter"/>
            </a:endParaRPr>
          </a:p>
        </p:txBody>
      </p:sp>
      <p:sp>
        <p:nvSpPr>
          <p:cNvPr id="481" name="Google Shape;481;p8"/>
          <p:cNvSpPr/>
          <p:nvPr/>
        </p:nvSpPr>
        <p:spPr>
          <a:xfrm>
            <a:off x="916558" y="4439151"/>
            <a:ext cx="2853000" cy="310500"/>
          </a:xfrm>
          <a:prstGeom prst="rect">
            <a:avLst/>
          </a:prstGeom>
          <a:noFill/>
          <a:ln>
            <a:noFill/>
          </a:ln>
        </p:spPr>
        <p:txBody>
          <a:bodyPr anchorCtr="0" anchor="t" bIns="25400" lIns="25400" spcFirstLastPara="1" rIns="25400" wrap="square" tIns="25400">
            <a:normAutofit/>
          </a:bodyPr>
          <a:lstStyle/>
          <a:p>
            <a:pPr indent="0" lvl="0" marL="0" marR="0" rtl="0" algn="l">
              <a:lnSpc>
                <a:spcPct val="110000"/>
              </a:lnSpc>
              <a:spcBef>
                <a:spcPts val="0"/>
              </a:spcBef>
              <a:spcAft>
                <a:spcPts val="0"/>
              </a:spcAft>
              <a:buClr>
                <a:srgbClr val="0E1320"/>
              </a:buClr>
              <a:buSzPts val="1950"/>
              <a:buFont typeface="Inter"/>
              <a:buNone/>
            </a:pPr>
            <a:r>
              <a:rPr b="0" i="0" lang="en-US" sz="1950" u="none" cap="none" strike="noStrike">
                <a:solidFill>
                  <a:srgbClr val="0E1320"/>
                </a:solidFill>
                <a:latin typeface="Inter"/>
                <a:ea typeface="Inter"/>
                <a:cs typeface="Inter"/>
                <a:sym typeface="Inter"/>
              </a:rPr>
              <a:t>Our Delivery Advantage</a:t>
            </a:r>
            <a:endParaRPr b="0" i="0" sz="1950" u="none" cap="none" strike="noStrike">
              <a:solidFill>
                <a:schemeClr val="dk1"/>
              </a:solidFill>
              <a:latin typeface="Inter"/>
              <a:ea typeface="Inter"/>
              <a:cs typeface="Inter"/>
              <a:sym typeface="Inter"/>
            </a:endParaRPr>
          </a:p>
        </p:txBody>
      </p:sp>
      <p:sp>
        <p:nvSpPr>
          <p:cNvPr id="482" name="Google Shape;482;p8"/>
          <p:cNvSpPr/>
          <p:nvPr/>
        </p:nvSpPr>
        <p:spPr>
          <a:xfrm>
            <a:off x="571500" y="5006782"/>
            <a:ext cx="6612300" cy="563700"/>
          </a:xfrm>
          <a:prstGeom prst="rect">
            <a:avLst/>
          </a:prstGeom>
          <a:noFill/>
          <a:ln>
            <a:noFill/>
          </a:ln>
        </p:spPr>
        <p:txBody>
          <a:bodyPr anchorCtr="0" anchor="t" bIns="25400" lIns="25400" spcFirstLastPara="1" rIns="25400" wrap="square" tIns="25400">
            <a:normAutofit/>
          </a:bodyPr>
          <a:lstStyle/>
          <a:p>
            <a:pPr indent="0" lvl="0" marL="0" marR="0" rtl="0" algn="l">
              <a:lnSpc>
                <a:spcPct val="160000"/>
              </a:lnSpc>
              <a:spcBef>
                <a:spcPts val="0"/>
              </a:spcBef>
              <a:spcAft>
                <a:spcPts val="0"/>
              </a:spcAft>
              <a:buClr>
                <a:srgbClr val="374151"/>
              </a:buClr>
              <a:buSzPts val="863"/>
              <a:buFont typeface="Inter"/>
              <a:buNone/>
            </a:pPr>
            <a:r>
              <a:rPr b="0" i="0" lang="en-US" sz="863" u="none" cap="none" strike="noStrike">
                <a:solidFill>
                  <a:srgbClr val="374151"/>
                </a:solidFill>
                <a:latin typeface="Inter"/>
                <a:ea typeface="Inter"/>
                <a:cs typeface="Inter"/>
                <a:sym typeface="Inter"/>
              </a:rPr>
              <a:t>Newtuple's advantage in this engagement is practical delivery discipline. The proposed design avoids over-engineering, keeps the client's existing portal intact, and puts the highest-risk logic in a service layer that can be tested, audited, and changed without rewriting process flows.</a:t>
            </a:r>
            <a:endParaRPr b="0" i="0" sz="863" u="none" cap="none" strike="noStrike">
              <a:solidFill>
                <a:schemeClr val="dk1"/>
              </a:solidFill>
              <a:latin typeface="Inter"/>
              <a:ea typeface="Inter"/>
              <a:cs typeface="Inter"/>
              <a:sym typeface="Inter"/>
            </a:endParaRPr>
          </a:p>
        </p:txBody>
      </p:sp>
      <p:sp>
        <p:nvSpPr>
          <p:cNvPr id="483" name="Google Shape;483;p8"/>
          <p:cNvSpPr/>
          <p:nvPr/>
        </p:nvSpPr>
        <p:spPr>
          <a:xfrm>
            <a:off x="469900" y="5761117"/>
            <a:ext cx="3321000" cy="1170900"/>
          </a:xfrm>
          <a:prstGeom prst="rect">
            <a:avLst/>
          </a:prstGeom>
          <a:noFill/>
          <a:ln>
            <a:noFill/>
          </a:ln>
        </p:spPr>
        <p:txBody>
          <a:bodyPr anchorCtr="0" anchor="t" bIns="25400" lIns="25400" spcFirstLastPara="1" rIns="25400" wrap="square" tIns="25400">
            <a:normAutofit/>
          </a:bodyPr>
          <a:lstStyle/>
          <a:p>
            <a:pPr indent="-283401" lvl="0" marL="457200" marR="0" rtl="0" algn="l">
              <a:lnSpc>
                <a:spcPct val="155000"/>
              </a:lnSpc>
              <a:spcBef>
                <a:spcPts val="0"/>
              </a:spcBef>
              <a:spcAft>
                <a:spcPts val="0"/>
              </a:spcAft>
              <a:buClr>
                <a:srgbClr val="374151"/>
              </a:buClr>
              <a:buSzPts val="863"/>
              <a:buFont typeface="Inter"/>
              <a:buChar char="●"/>
            </a:pPr>
            <a:r>
              <a:rPr b="0" i="0" lang="en-US" sz="863" u="none" cap="none" strike="noStrike">
                <a:solidFill>
                  <a:srgbClr val="374151"/>
                </a:solidFill>
                <a:latin typeface="Inter"/>
                <a:ea typeface="Inter"/>
                <a:cs typeface="Inter"/>
                <a:sym typeface="Inter"/>
              </a:rPr>
              <a:t>Clear separation between workflow orchestration and business validation logic.</a:t>
            </a:r>
            <a:endParaRPr b="0" i="0" sz="863" u="none" cap="none" strike="noStrike">
              <a:solidFill>
                <a:schemeClr val="dk1"/>
              </a:solidFill>
              <a:latin typeface="Inter"/>
              <a:ea typeface="Inter"/>
              <a:cs typeface="Inter"/>
              <a:sym typeface="Inter"/>
            </a:endParaRPr>
          </a:p>
          <a:p>
            <a:pPr indent="-283401" lvl="0" marL="457200" marR="0" rtl="0" algn="l">
              <a:lnSpc>
                <a:spcPct val="155000"/>
              </a:lnSpc>
              <a:spcBef>
                <a:spcPts val="0"/>
              </a:spcBef>
              <a:spcAft>
                <a:spcPts val="0"/>
              </a:spcAft>
              <a:buClr>
                <a:srgbClr val="374151"/>
              </a:buClr>
              <a:buSzPts val="863"/>
              <a:buFont typeface="Inter"/>
              <a:buChar char="●"/>
            </a:pPr>
            <a:r>
              <a:rPr b="0" i="0" lang="en-US" sz="863" u="none" cap="none" strike="noStrike">
                <a:solidFill>
                  <a:srgbClr val="374151"/>
                </a:solidFill>
                <a:latin typeface="Inter"/>
                <a:ea typeface="Inter"/>
                <a:cs typeface="Inter"/>
                <a:sym typeface="Inter"/>
              </a:rPr>
              <a:t>Agent-based interpretation only where it matters, employer comments and instructions in mailbox-led submissions.</a:t>
            </a:r>
            <a:endParaRPr b="0" i="0" sz="863" u="none" cap="none" strike="noStrike">
              <a:solidFill>
                <a:schemeClr val="dk1"/>
              </a:solidFill>
              <a:latin typeface="Inter"/>
              <a:ea typeface="Inter"/>
              <a:cs typeface="Inter"/>
              <a:sym typeface="Inter"/>
            </a:endParaRPr>
          </a:p>
          <a:p>
            <a:pPr indent="-283401" lvl="0" marL="457200" marR="0" rtl="0" algn="l">
              <a:lnSpc>
                <a:spcPct val="155000"/>
              </a:lnSpc>
              <a:spcBef>
                <a:spcPts val="0"/>
              </a:spcBef>
              <a:spcAft>
                <a:spcPts val="0"/>
              </a:spcAft>
              <a:buClr>
                <a:srgbClr val="374151"/>
              </a:buClr>
              <a:buSzPts val="863"/>
              <a:buFont typeface="Inter"/>
              <a:buChar char="●"/>
            </a:pPr>
            <a:r>
              <a:rPr b="0" i="0" lang="en-US" sz="863" u="none" cap="none" strike="noStrike">
                <a:solidFill>
                  <a:srgbClr val="374151"/>
                </a:solidFill>
                <a:latin typeface="Inter"/>
                <a:ea typeface="Inter"/>
                <a:cs typeface="Inter"/>
                <a:sym typeface="Inter"/>
              </a:rPr>
              <a:t>A reusable validation API that serves both mailbox and portal flows.</a:t>
            </a:r>
            <a:endParaRPr b="0" i="0" sz="863" u="none" cap="none" strike="noStrike">
              <a:solidFill>
                <a:schemeClr val="dk1"/>
              </a:solidFill>
              <a:latin typeface="Inter"/>
              <a:ea typeface="Inter"/>
              <a:cs typeface="Inter"/>
              <a:sym typeface="Inter"/>
            </a:endParaRPr>
          </a:p>
        </p:txBody>
      </p:sp>
      <p:sp>
        <p:nvSpPr>
          <p:cNvPr id="484" name="Google Shape;484;p8"/>
          <p:cNvSpPr/>
          <p:nvPr/>
        </p:nvSpPr>
        <p:spPr>
          <a:xfrm>
            <a:off x="3746500" y="5761117"/>
            <a:ext cx="3321000" cy="1340700"/>
          </a:xfrm>
          <a:prstGeom prst="rect">
            <a:avLst/>
          </a:prstGeom>
          <a:noFill/>
          <a:ln>
            <a:noFill/>
          </a:ln>
        </p:spPr>
        <p:txBody>
          <a:bodyPr anchorCtr="0" anchor="t" bIns="25400" lIns="25400" spcFirstLastPara="1" rIns="25400" wrap="square" tIns="25400">
            <a:normAutofit/>
          </a:bodyPr>
          <a:lstStyle/>
          <a:p>
            <a:pPr indent="-283401" lvl="0" marL="457200" marR="0" rtl="0" algn="l">
              <a:lnSpc>
                <a:spcPct val="155000"/>
              </a:lnSpc>
              <a:spcBef>
                <a:spcPts val="0"/>
              </a:spcBef>
              <a:spcAft>
                <a:spcPts val="0"/>
              </a:spcAft>
              <a:buClr>
                <a:srgbClr val="374151"/>
              </a:buClr>
              <a:buSzPts val="863"/>
              <a:buFont typeface="Inter"/>
              <a:buChar char="●"/>
            </a:pPr>
            <a:r>
              <a:rPr b="0" i="0" lang="en-US" sz="863" u="none" cap="none" strike="noStrike">
                <a:solidFill>
                  <a:srgbClr val="374151"/>
                </a:solidFill>
                <a:latin typeface="Inter"/>
                <a:ea typeface="Inter"/>
                <a:cs typeface="Inter"/>
                <a:sym typeface="Inter"/>
              </a:rPr>
              <a:t>Audit-first processing so every file, decision, error, notification, and upload status can be traced.</a:t>
            </a:r>
            <a:endParaRPr b="0" i="0" sz="863" u="none" cap="none" strike="noStrike">
              <a:solidFill>
                <a:schemeClr val="dk1"/>
              </a:solidFill>
              <a:latin typeface="Inter"/>
              <a:ea typeface="Inter"/>
              <a:cs typeface="Inter"/>
              <a:sym typeface="Inter"/>
            </a:endParaRPr>
          </a:p>
          <a:p>
            <a:pPr indent="-283401" lvl="0" marL="457200" marR="0" rtl="0" algn="l">
              <a:lnSpc>
                <a:spcPct val="155000"/>
              </a:lnSpc>
              <a:spcBef>
                <a:spcPts val="0"/>
              </a:spcBef>
              <a:spcAft>
                <a:spcPts val="0"/>
              </a:spcAft>
              <a:buClr>
                <a:srgbClr val="374151"/>
              </a:buClr>
              <a:buSzPts val="863"/>
              <a:buFont typeface="Inter"/>
              <a:buChar char="●"/>
            </a:pPr>
            <a:r>
              <a:rPr b="0" i="0" lang="en-US" sz="863" u="none" cap="none" strike="noStrike">
                <a:solidFill>
                  <a:srgbClr val="374151"/>
                </a:solidFill>
                <a:latin typeface="Inter"/>
                <a:ea typeface="Inter"/>
                <a:cs typeface="Inter"/>
                <a:sym typeface="Inter"/>
              </a:rPr>
              <a:t>A delivery model sized for a budgetary decision now, with discovery used to confirm the final build path.</a:t>
            </a:r>
            <a:endParaRPr b="0" i="0" sz="863" u="none" cap="none" strike="noStrike">
              <a:solidFill>
                <a:schemeClr val="dk1"/>
              </a:solidFill>
              <a:latin typeface="Inter"/>
              <a:ea typeface="Inter"/>
              <a:cs typeface="Inter"/>
              <a:sym typeface="Inter"/>
            </a:endParaRPr>
          </a:p>
          <a:p>
            <a:pPr indent="-283401" lvl="0" marL="457200" marR="0" rtl="0" algn="l">
              <a:lnSpc>
                <a:spcPct val="155000"/>
              </a:lnSpc>
              <a:spcBef>
                <a:spcPts val="0"/>
              </a:spcBef>
              <a:spcAft>
                <a:spcPts val="0"/>
              </a:spcAft>
              <a:buClr>
                <a:srgbClr val="374151"/>
              </a:buClr>
              <a:buSzPts val="863"/>
              <a:buFont typeface="Inter"/>
              <a:buChar char="●"/>
            </a:pPr>
            <a:r>
              <a:rPr b="0" i="0" lang="en-US" sz="863" u="none" cap="none" strike="noStrike">
                <a:solidFill>
                  <a:srgbClr val="374151"/>
                </a:solidFill>
                <a:latin typeface="Inter"/>
                <a:ea typeface="Inter"/>
                <a:cs typeface="Inter"/>
                <a:sym typeface="Inter"/>
              </a:rPr>
              <a:t>A controlled MVP that can expand later into dashboards, employer analytics, exception recommendations, or richer self-service workflows.</a:t>
            </a:r>
            <a:endParaRPr b="0" i="0" sz="863" u="none" cap="none" strike="noStrike">
              <a:solidFill>
                <a:schemeClr val="dk1"/>
              </a:solidFill>
              <a:latin typeface="Inter"/>
              <a:ea typeface="Inter"/>
              <a:cs typeface="Inter"/>
              <a:sym typeface="Inter"/>
            </a:endParaRPr>
          </a:p>
        </p:txBody>
      </p:sp>
      <p:sp>
        <p:nvSpPr>
          <p:cNvPr id="485" name="Google Shape;485;p8"/>
          <p:cNvSpPr/>
          <p:nvPr/>
        </p:nvSpPr>
        <p:spPr>
          <a:xfrm>
            <a:off x="571500" y="7529222"/>
            <a:ext cx="2063700" cy="1127400"/>
          </a:xfrm>
          <a:prstGeom prst="roundRect">
            <a:avLst>
              <a:gd fmla="val 5069" name="adj"/>
            </a:avLst>
          </a:prstGeom>
          <a:solidFill>
            <a:srgbClr val="FFFFFF"/>
          </a:solidFill>
          <a:ln cap="flat" cmpd="sng" w="9525">
            <a:solidFill>
              <a:srgbClr val="E2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8"/>
          <p:cNvSpPr/>
          <p:nvPr/>
        </p:nvSpPr>
        <p:spPr>
          <a:xfrm>
            <a:off x="733425" y="7672097"/>
            <a:ext cx="1816200" cy="1524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047AB"/>
              </a:buClr>
              <a:buSzPts val="750"/>
              <a:buFont typeface="Inter"/>
              <a:buNone/>
            </a:pPr>
            <a:r>
              <a:rPr b="1" i="0" lang="en-US" sz="750" u="none" cap="none" strike="noStrike">
                <a:solidFill>
                  <a:srgbClr val="0047AB"/>
                </a:solidFill>
                <a:latin typeface="Inter"/>
                <a:ea typeface="Inter"/>
                <a:cs typeface="Inter"/>
                <a:sym typeface="Inter"/>
              </a:rPr>
              <a:t>WHY NEWTUPLE</a:t>
            </a:r>
            <a:endParaRPr b="0" i="0" sz="750" u="none" cap="none" strike="noStrike">
              <a:solidFill>
                <a:schemeClr val="dk1"/>
              </a:solidFill>
              <a:latin typeface="Inter"/>
              <a:ea typeface="Inter"/>
              <a:cs typeface="Inter"/>
              <a:sym typeface="Inter"/>
            </a:endParaRPr>
          </a:p>
        </p:txBody>
      </p:sp>
      <p:sp>
        <p:nvSpPr>
          <p:cNvPr id="487" name="Google Shape;487;p8"/>
          <p:cNvSpPr/>
          <p:nvPr/>
        </p:nvSpPr>
        <p:spPr>
          <a:xfrm>
            <a:off x="733425" y="7843547"/>
            <a:ext cx="1816200" cy="708300"/>
          </a:xfrm>
          <a:prstGeom prst="rect">
            <a:avLst/>
          </a:prstGeom>
          <a:noFill/>
          <a:ln>
            <a:noFill/>
          </a:ln>
        </p:spPr>
        <p:txBody>
          <a:bodyPr anchorCtr="0" anchor="t" bIns="25400" lIns="25400" spcFirstLastPara="1" rIns="25400" wrap="square" tIns="25400">
            <a:normAutofit/>
          </a:bodyPr>
          <a:lstStyle/>
          <a:p>
            <a:pPr indent="0" lvl="0" marL="0" marR="0" rtl="0" algn="l">
              <a:lnSpc>
                <a:spcPct val="160000"/>
              </a:lnSpc>
              <a:spcBef>
                <a:spcPts val="0"/>
              </a:spcBef>
              <a:spcAft>
                <a:spcPts val="0"/>
              </a:spcAft>
              <a:buClr>
                <a:srgbClr val="374151"/>
              </a:buClr>
              <a:buSzPts val="825"/>
              <a:buFont typeface="Inter"/>
              <a:buNone/>
            </a:pPr>
            <a:r>
              <a:rPr b="0" i="0" lang="en-US" sz="825" u="none" cap="none" strike="noStrike">
                <a:solidFill>
                  <a:srgbClr val="374151"/>
                </a:solidFill>
                <a:latin typeface="Inter"/>
                <a:ea typeface="Inter"/>
                <a:cs typeface="Inter"/>
                <a:sym typeface="Inter"/>
              </a:rPr>
              <a:t>Deep GenAI &amp; data engineering practice. Two dozen production-grade AI builds across finance, compliance, and enterprise automation.</a:t>
            </a:r>
            <a:endParaRPr b="0" i="0" sz="825" u="none" cap="none" strike="noStrike">
              <a:solidFill>
                <a:schemeClr val="dk1"/>
              </a:solidFill>
              <a:latin typeface="Inter"/>
              <a:ea typeface="Inter"/>
              <a:cs typeface="Inter"/>
              <a:sym typeface="Inter"/>
            </a:endParaRPr>
          </a:p>
        </p:txBody>
      </p:sp>
      <p:sp>
        <p:nvSpPr>
          <p:cNvPr id="488" name="Google Shape;488;p8"/>
          <p:cNvSpPr/>
          <p:nvPr/>
        </p:nvSpPr>
        <p:spPr>
          <a:xfrm>
            <a:off x="2749525" y="7529222"/>
            <a:ext cx="2063700" cy="1127400"/>
          </a:xfrm>
          <a:prstGeom prst="roundRect">
            <a:avLst>
              <a:gd fmla="val 5069" name="adj"/>
            </a:avLst>
          </a:prstGeom>
          <a:solidFill>
            <a:srgbClr val="FFFFFF"/>
          </a:solidFill>
          <a:ln cap="flat" cmpd="sng" w="9525">
            <a:solidFill>
              <a:srgbClr val="E2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8"/>
          <p:cNvSpPr/>
          <p:nvPr/>
        </p:nvSpPr>
        <p:spPr>
          <a:xfrm>
            <a:off x="2911450" y="7672097"/>
            <a:ext cx="1816200" cy="1524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047AB"/>
              </a:buClr>
              <a:buSzPts val="750"/>
              <a:buFont typeface="Inter"/>
              <a:buNone/>
            </a:pPr>
            <a:r>
              <a:rPr b="1" i="0" lang="en-US" sz="750" u="none" cap="none" strike="noStrike">
                <a:solidFill>
                  <a:srgbClr val="0047AB"/>
                </a:solidFill>
                <a:latin typeface="Inter"/>
                <a:ea typeface="Inter"/>
                <a:cs typeface="Inter"/>
                <a:sym typeface="Inter"/>
              </a:rPr>
              <a:t>OPERATING STYLE</a:t>
            </a:r>
            <a:endParaRPr b="0" i="0" sz="750" u="none" cap="none" strike="noStrike">
              <a:solidFill>
                <a:schemeClr val="dk1"/>
              </a:solidFill>
              <a:latin typeface="Inter"/>
              <a:ea typeface="Inter"/>
              <a:cs typeface="Inter"/>
              <a:sym typeface="Inter"/>
            </a:endParaRPr>
          </a:p>
        </p:txBody>
      </p:sp>
      <p:sp>
        <p:nvSpPr>
          <p:cNvPr id="490" name="Google Shape;490;p8"/>
          <p:cNvSpPr/>
          <p:nvPr/>
        </p:nvSpPr>
        <p:spPr>
          <a:xfrm>
            <a:off x="2911450" y="7843547"/>
            <a:ext cx="1816200" cy="708300"/>
          </a:xfrm>
          <a:prstGeom prst="rect">
            <a:avLst/>
          </a:prstGeom>
          <a:noFill/>
          <a:ln>
            <a:noFill/>
          </a:ln>
        </p:spPr>
        <p:txBody>
          <a:bodyPr anchorCtr="0" anchor="t" bIns="25400" lIns="25400" spcFirstLastPara="1" rIns="25400" wrap="square" tIns="25400">
            <a:normAutofit/>
          </a:bodyPr>
          <a:lstStyle/>
          <a:p>
            <a:pPr indent="0" lvl="0" marL="0" marR="0" rtl="0" algn="l">
              <a:lnSpc>
                <a:spcPct val="160000"/>
              </a:lnSpc>
              <a:spcBef>
                <a:spcPts val="0"/>
              </a:spcBef>
              <a:spcAft>
                <a:spcPts val="0"/>
              </a:spcAft>
              <a:buClr>
                <a:srgbClr val="374151"/>
              </a:buClr>
              <a:buSzPts val="825"/>
              <a:buFont typeface="Inter"/>
              <a:buNone/>
            </a:pPr>
            <a:r>
              <a:rPr b="0" i="0" lang="en-US" sz="825" u="none" cap="none" strike="noStrike">
                <a:solidFill>
                  <a:srgbClr val="374151"/>
                </a:solidFill>
                <a:latin typeface="Inter"/>
                <a:ea typeface="Inter"/>
                <a:cs typeface="Inter"/>
                <a:sym typeface="Inter"/>
              </a:rPr>
              <a:t>Senior practitioners on every engagement. Weekly demos, sprint discipline, and code in your environment from day one.</a:t>
            </a:r>
            <a:endParaRPr b="0" i="0" sz="825" u="none" cap="none" strike="noStrike">
              <a:solidFill>
                <a:schemeClr val="dk1"/>
              </a:solidFill>
              <a:latin typeface="Inter"/>
              <a:ea typeface="Inter"/>
              <a:cs typeface="Inter"/>
              <a:sym typeface="Inter"/>
            </a:endParaRPr>
          </a:p>
        </p:txBody>
      </p:sp>
      <p:sp>
        <p:nvSpPr>
          <p:cNvPr id="491" name="Google Shape;491;p8"/>
          <p:cNvSpPr/>
          <p:nvPr/>
        </p:nvSpPr>
        <p:spPr>
          <a:xfrm>
            <a:off x="4927550" y="7529222"/>
            <a:ext cx="2063700" cy="1127400"/>
          </a:xfrm>
          <a:prstGeom prst="roundRect">
            <a:avLst>
              <a:gd fmla="val 5069" name="adj"/>
            </a:avLst>
          </a:prstGeom>
          <a:solidFill>
            <a:srgbClr val="FFFFFF"/>
          </a:solidFill>
          <a:ln cap="flat" cmpd="sng" w="9525">
            <a:solidFill>
              <a:srgbClr val="E2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8"/>
          <p:cNvSpPr/>
          <p:nvPr/>
        </p:nvSpPr>
        <p:spPr>
          <a:xfrm>
            <a:off x="5089475" y="7672097"/>
            <a:ext cx="1816200" cy="1524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047AB"/>
              </a:buClr>
              <a:buSzPts val="750"/>
              <a:buFont typeface="Inter"/>
              <a:buNone/>
            </a:pPr>
            <a:r>
              <a:rPr b="1" i="0" lang="en-US" sz="750" u="none" cap="none" strike="noStrike">
                <a:solidFill>
                  <a:srgbClr val="0047AB"/>
                </a:solidFill>
                <a:latin typeface="Inter"/>
                <a:ea typeface="Inter"/>
                <a:cs typeface="Inter"/>
                <a:sym typeface="Inter"/>
              </a:rPr>
              <a:t>AFTER GO-LIVE</a:t>
            </a:r>
            <a:endParaRPr b="0" i="0" sz="750" u="none" cap="none" strike="noStrike">
              <a:solidFill>
                <a:schemeClr val="dk1"/>
              </a:solidFill>
              <a:latin typeface="Inter"/>
              <a:ea typeface="Inter"/>
              <a:cs typeface="Inter"/>
              <a:sym typeface="Inter"/>
            </a:endParaRPr>
          </a:p>
        </p:txBody>
      </p:sp>
      <p:sp>
        <p:nvSpPr>
          <p:cNvPr id="493" name="Google Shape;493;p8"/>
          <p:cNvSpPr/>
          <p:nvPr/>
        </p:nvSpPr>
        <p:spPr>
          <a:xfrm>
            <a:off x="5089475" y="7843547"/>
            <a:ext cx="1740900" cy="540900"/>
          </a:xfrm>
          <a:prstGeom prst="rect">
            <a:avLst/>
          </a:prstGeom>
          <a:noFill/>
          <a:ln>
            <a:noFill/>
          </a:ln>
        </p:spPr>
        <p:txBody>
          <a:bodyPr anchorCtr="0" anchor="t" bIns="25400" lIns="25400" spcFirstLastPara="1" rIns="25400" wrap="square" tIns="25400">
            <a:normAutofit/>
          </a:bodyPr>
          <a:lstStyle/>
          <a:p>
            <a:pPr indent="0" lvl="0" marL="0" marR="0" rtl="0" algn="l">
              <a:lnSpc>
                <a:spcPct val="160000"/>
              </a:lnSpc>
              <a:spcBef>
                <a:spcPts val="0"/>
              </a:spcBef>
              <a:spcAft>
                <a:spcPts val="0"/>
              </a:spcAft>
              <a:buClr>
                <a:srgbClr val="374151"/>
              </a:buClr>
              <a:buSzPts val="825"/>
              <a:buFont typeface="Inter"/>
              <a:buNone/>
            </a:pPr>
            <a:r>
              <a:rPr b="0" i="0" lang="en-US" sz="825" u="none" cap="none" strike="noStrike">
                <a:solidFill>
                  <a:srgbClr val="374151"/>
                </a:solidFill>
                <a:latin typeface="Inter"/>
                <a:ea typeface="Inter"/>
                <a:cs typeface="Inter"/>
                <a:sym typeface="Inter"/>
              </a:rPr>
              <a:t>A clean handover, or a turnkey operate model under Option B, whichever suits your team's</a:t>
            </a:r>
            <a:r>
              <a:rPr lang="en-US" sz="825">
                <a:solidFill>
                  <a:srgbClr val="374151"/>
                </a:solidFill>
              </a:rPr>
              <a:t> </a:t>
            </a:r>
            <a:r>
              <a:rPr lang="en-US" sz="825">
                <a:solidFill>
                  <a:srgbClr val="374151"/>
                </a:solidFill>
              </a:rPr>
              <a:t>bandwidth</a:t>
            </a:r>
            <a:r>
              <a:rPr b="0" i="0" lang="en-US" sz="825" u="none" cap="none" strike="noStrike">
                <a:solidFill>
                  <a:srgbClr val="374151"/>
                </a:solidFill>
                <a:latin typeface="Inter"/>
                <a:ea typeface="Inter"/>
                <a:cs typeface="Inter"/>
                <a:sym typeface="Inter"/>
              </a:rPr>
              <a:t>.</a:t>
            </a:r>
            <a:endParaRPr b="0" i="0" sz="825" u="none" cap="none" strike="noStrike">
              <a:solidFill>
                <a:schemeClr val="dk1"/>
              </a:solidFill>
              <a:latin typeface="Inter"/>
              <a:ea typeface="Inter"/>
              <a:cs typeface="Inter"/>
              <a:sym typeface="Inter"/>
            </a:endParaRPr>
          </a:p>
        </p:txBody>
      </p:sp>
      <p:sp>
        <p:nvSpPr>
          <p:cNvPr id="494" name="Google Shape;494;p8"/>
          <p:cNvSpPr/>
          <p:nvPr/>
        </p:nvSpPr>
        <p:spPr>
          <a:xfrm>
            <a:off x="0" y="10234613"/>
            <a:ext cx="7562850" cy="461963"/>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8"/>
          <p:cNvSpPr/>
          <p:nvPr/>
        </p:nvSpPr>
        <p:spPr>
          <a:xfrm>
            <a:off x="0" y="10234613"/>
            <a:ext cx="7562850" cy="9525"/>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8"/>
          <p:cNvSpPr/>
          <p:nvPr/>
        </p:nvSpPr>
        <p:spPr>
          <a:xfrm>
            <a:off x="6540847" y="10377488"/>
            <a:ext cx="526703" cy="147638"/>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0047AB"/>
              </a:buClr>
              <a:buSzPts val="713"/>
              <a:buFont typeface="Inter"/>
              <a:buNone/>
            </a:pPr>
            <a:r>
              <a:rPr b="1" i="0" lang="en-US" sz="713" u="none" cap="none" strike="noStrike">
                <a:solidFill>
                  <a:srgbClr val="6B7686"/>
                </a:solidFill>
                <a:latin typeface="Inter"/>
                <a:ea typeface="Inter"/>
                <a:cs typeface="Inter"/>
                <a:sym typeface="Inter"/>
              </a:rPr>
              <a:t>0</a:t>
            </a:r>
            <a:r>
              <a:rPr b="1" lang="en-US" sz="713">
                <a:solidFill>
                  <a:srgbClr val="6B7686"/>
                </a:solidFill>
              </a:rPr>
              <a:t>9</a:t>
            </a:r>
            <a:r>
              <a:rPr b="1" i="0" lang="en-US" sz="713" u="none" cap="none" strike="noStrike">
                <a:solidFill>
                  <a:srgbClr val="6B7686"/>
                </a:solidFill>
                <a:latin typeface="Inter"/>
                <a:ea typeface="Inter"/>
                <a:cs typeface="Inter"/>
                <a:sym typeface="Inter"/>
              </a:rPr>
              <a:t> / 1</a:t>
            </a:r>
            <a:r>
              <a:rPr b="1" lang="en-US" sz="713">
                <a:solidFill>
                  <a:srgbClr val="6B7686"/>
                </a:solidFill>
              </a:rPr>
              <a:t>2</a:t>
            </a:r>
            <a:endParaRPr b="0" i="0" sz="713" u="none" cap="none" strike="noStrike">
              <a:solidFill>
                <a:srgbClr val="6B7686"/>
              </a:solidFill>
              <a:latin typeface="Inter"/>
              <a:ea typeface="Inter"/>
              <a:cs typeface="Inter"/>
              <a:sym typeface="Inter"/>
            </a:endParaRPr>
          </a:p>
        </p:txBody>
      </p:sp>
      <p:sp>
        <p:nvSpPr>
          <p:cNvPr id="497" name="Google Shape;497;p8"/>
          <p:cNvSpPr/>
          <p:nvPr/>
        </p:nvSpPr>
        <p:spPr>
          <a:xfrm>
            <a:off x="571500" y="10377500"/>
            <a:ext cx="3966300" cy="138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7686"/>
              </a:buClr>
              <a:buSzPts val="713"/>
              <a:buFont typeface="Inter"/>
              <a:buNone/>
            </a:pPr>
            <a:r>
              <a:rPr b="0" i="0" lang="en-US" sz="713" u="none" cap="none" strike="noStrike">
                <a:solidFill>
                  <a:srgbClr val="6B7686"/>
                </a:solidFill>
                <a:latin typeface="Inter"/>
                <a:ea typeface="Inter"/>
                <a:cs typeface="Inter"/>
                <a:sym typeface="Inter"/>
              </a:rPr>
              <a:t>NEWTUPLE TECHNOLOGIES · 		  		     </a:t>
            </a:r>
            <a:r>
              <a:rPr lang="en-US" sz="713">
                <a:solidFill>
                  <a:srgbClr val="6B7686"/>
                </a:solidFill>
              </a:rPr>
              <a:t>    </a:t>
            </a:r>
            <a:r>
              <a:rPr b="0" i="0" lang="en-US" sz="713" u="none" cap="none" strike="noStrike">
                <a:solidFill>
                  <a:srgbClr val="6B7686"/>
                </a:solidFill>
                <a:latin typeface="Inter"/>
                <a:ea typeface="Inter"/>
                <a:cs typeface="Inter"/>
                <a:sym typeface="Inter"/>
              </a:rPr>
              <a:t>CONFIDENTIAL</a:t>
            </a:r>
            <a:endParaRPr b="0" i="0" sz="713" u="none" cap="none" strike="noStrike">
              <a:solidFill>
                <a:schemeClr val="dk1"/>
              </a:solidFill>
              <a:latin typeface="Inter"/>
              <a:ea typeface="Inter"/>
              <a:cs typeface="Inter"/>
              <a:sym typeface="Inte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2" name="Shape 502"/>
        <p:cNvGrpSpPr/>
        <p:nvPr/>
      </p:nvGrpSpPr>
      <p:grpSpPr>
        <a:xfrm>
          <a:off x="0" y="0"/>
          <a:ext cx="0" cy="0"/>
          <a:chOff x="0" y="0"/>
          <a:chExt cx="0" cy="0"/>
        </a:xfrm>
      </p:grpSpPr>
      <p:sp>
        <p:nvSpPr>
          <p:cNvPr id="503" name="Google Shape;503;p9"/>
          <p:cNvSpPr/>
          <p:nvPr/>
        </p:nvSpPr>
        <p:spPr>
          <a:xfrm>
            <a:off x="0" y="-63500"/>
            <a:ext cx="7563000" cy="10696500"/>
          </a:xfrm>
          <a:prstGeom prst="rect">
            <a:avLst/>
          </a:prstGeom>
          <a:noFill/>
          <a:ln>
            <a:noFill/>
          </a:ln>
          <a:effectLst>
            <a:outerShdw blurRad="381000" rotWithShape="0" algn="bl" dir="5400000" dist="133350">
              <a:srgbClr val="0E132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04" name="Google Shape;504;p9"/>
          <p:cNvPicPr preferRelativeResize="0"/>
          <p:nvPr/>
        </p:nvPicPr>
        <p:blipFill rotWithShape="1">
          <a:blip r:embed="rId3">
            <a:alphaModFix/>
          </a:blip>
          <a:srcRect b="0" l="0" r="0" t="0"/>
          <a:stretch/>
        </p:blipFill>
        <p:spPr>
          <a:xfrm>
            <a:off x="571500" y="394239"/>
            <a:ext cx="815357" cy="152400"/>
          </a:xfrm>
          <a:prstGeom prst="rect">
            <a:avLst/>
          </a:prstGeom>
          <a:noFill/>
          <a:ln>
            <a:noFill/>
          </a:ln>
        </p:spPr>
      </p:pic>
      <p:sp>
        <p:nvSpPr>
          <p:cNvPr id="505" name="Google Shape;505;p9"/>
          <p:cNvSpPr/>
          <p:nvPr/>
        </p:nvSpPr>
        <p:spPr>
          <a:xfrm>
            <a:off x="3486522" y="413289"/>
            <a:ext cx="3609900" cy="152400"/>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6B7686"/>
              </a:buClr>
              <a:buSzPts val="750"/>
              <a:buFont typeface="Inter"/>
              <a:buNone/>
            </a:pPr>
            <a:r>
              <a:rPr b="1" i="0" lang="en-US" sz="750" u="none" cap="none" strike="noStrike">
                <a:solidFill>
                  <a:srgbClr val="6B7686"/>
                </a:solidFill>
                <a:latin typeface="Inter"/>
                <a:ea typeface="Inter"/>
                <a:cs typeface="Inter"/>
                <a:sym typeface="Inter"/>
              </a:rPr>
              <a:t>PENSION CONTRIBUTION PROCESSING AUTOMATION</a:t>
            </a:r>
            <a:endParaRPr b="0" i="0" sz="750" u="none" cap="none" strike="noStrike">
              <a:solidFill>
                <a:schemeClr val="dk1"/>
              </a:solidFill>
              <a:latin typeface="Inter"/>
              <a:ea typeface="Inter"/>
              <a:cs typeface="Inter"/>
              <a:sym typeface="Inter"/>
            </a:endParaRPr>
          </a:p>
        </p:txBody>
      </p:sp>
      <p:sp>
        <p:nvSpPr>
          <p:cNvPr id="506" name="Google Shape;506;p9"/>
          <p:cNvSpPr/>
          <p:nvPr/>
        </p:nvSpPr>
        <p:spPr>
          <a:xfrm>
            <a:off x="571500" y="1550322"/>
            <a:ext cx="6419700" cy="9600"/>
          </a:xfrm>
          <a:prstGeom prst="rect">
            <a:avLst/>
          </a:prstGeom>
          <a:solidFill>
            <a:srgbClr val="004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9"/>
          <p:cNvSpPr/>
          <p:nvPr/>
        </p:nvSpPr>
        <p:spPr>
          <a:xfrm>
            <a:off x="571500" y="1311305"/>
            <a:ext cx="268800" cy="153300"/>
          </a:xfrm>
          <a:prstGeom prst="rect">
            <a:avLst/>
          </a:prstGeom>
          <a:noFill/>
          <a:ln>
            <a:noFill/>
          </a:ln>
        </p:spPr>
        <p:txBody>
          <a:bodyPr anchorCtr="0" anchor="t" bIns="25400" lIns="25400" spcFirstLastPara="1" rIns="25400" wrap="square" tIns="25400">
            <a:normAutofit/>
          </a:bodyPr>
          <a:lstStyle/>
          <a:p>
            <a:pPr indent="0" lvl="0" marL="0" marR="0" rtl="0" algn="l">
              <a:lnSpc>
                <a:spcPct val="110000"/>
              </a:lnSpc>
              <a:spcBef>
                <a:spcPts val="0"/>
              </a:spcBef>
              <a:spcAft>
                <a:spcPts val="0"/>
              </a:spcAft>
              <a:buClr>
                <a:srgbClr val="0047AB"/>
              </a:buClr>
              <a:buSzPts val="825"/>
              <a:buFont typeface="Inter"/>
              <a:buNone/>
            </a:pPr>
            <a:r>
              <a:rPr b="1" i="0" lang="en-US" sz="825" u="none" cap="none" strike="noStrike">
                <a:solidFill>
                  <a:srgbClr val="0047AB"/>
                </a:solidFill>
                <a:latin typeface="Inter"/>
                <a:ea typeface="Inter"/>
                <a:cs typeface="Inter"/>
                <a:sym typeface="Inter"/>
              </a:rPr>
              <a:t>09</a:t>
            </a:r>
            <a:endParaRPr b="0" i="0" sz="825" u="none" cap="none" strike="noStrike">
              <a:solidFill>
                <a:schemeClr val="dk1"/>
              </a:solidFill>
              <a:latin typeface="Inter"/>
              <a:ea typeface="Inter"/>
              <a:cs typeface="Inter"/>
              <a:sym typeface="Inter"/>
            </a:endParaRPr>
          </a:p>
        </p:txBody>
      </p:sp>
      <p:sp>
        <p:nvSpPr>
          <p:cNvPr id="508" name="Google Shape;508;p9"/>
          <p:cNvSpPr/>
          <p:nvPr/>
        </p:nvSpPr>
        <p:spPr>
          <a:xfrm>
            <a:off x="916558" y="1182717"/>
            <a:ext cx="2255100" cy="310500"/>
          </a:xfrm>
          <a:prstGeom prst="rect">
            <a:avLst/>
          </a:prstGeom>
          <a:noFill/>
          <a:ln>
            <a:noFill/>
          </a:ln>
        </p:spPr>
        <p:txBody>
          <a:bodyPr anchorCtr="0" anchor="t" bIns="25400" lIns="25400" spcFirstLastPara="1" rIns="25400" wrap="square" tIns="25400">
            <a:normAutofit/>
          </a:bodyPr>
          <a:lstStyle/>
          <a:p>
            <a:pPr indent="0" lvl="0" marL="0" marR="0" rtl="0" algn="l">
              <a:lnSpc>
                <a:spcPct val="110000"/>
              </a:lnSpc>
              <a:spcBef>
                <a:spcPts val="0"/>
              </a:spcBef>
              <a:spcAft>
                <a:spcPts val="0"/>
              </a:spcAft>
              <a:buClr>
                <a:srgbClr val="0E1320"/>
              </a:buClr>
              <a:buSzPts val="1950"/>
              <a:buFont typeface="Inter"/>
              <a:buNone/>
            </a:pPr>
            <a:r>
              <a:rPr b="0" i="0" lang="en-US" sz="1950" u="none" cap="none" strike="noStrike">
                <a:solidFill>
                  <a:srgbClr val="0E1320"/>
                </a:solidFill>
                <a:latin typeface="Inter"/>
                <a:ea typeface="Inter"/>
                <a:cs typeface="Inter"/>
                <a:sym typeface="Inter"/>
              </a:rPr>
              <a:t>Commercial Model</a:t>
            </a:r>
            <a:endParaRPr b="0" i="0" sz="1950" u="none" cap="none" strike="noStrike">
              <a:solidFill>
                <a:schemeClr val="dk1"/>
              </a:solidFill>
              <a:latin typeface="Inter"/>
              <a:ea typeface="Inter"/>
              <a:cs typeface="Inter"/>
              <a:sym typeface="Inter"/>
            </a:endParaRPr>
          </a:p>
        </p:txBody>
      </p:sp>
      <p:sp>
        <p:nvSpPr>
          <p:cNvPr id="509" name="Google Shape;509;p9"/>
          <p:cNvSpPr/>
          <p:nvPr/>
        </p:nvSpPr>
        <p:spPr>
          <a:xfrm>
            <a:off x="6181948" y="1316067"/>
            <a:ext cx="885600" cy="148200"/>
          </a:xfrm>
          <a:prstGeom prst="rect">
            <a:avLst/>
          </a:prstGeom>
          <a:noFill/>
          <a:ln>
            <a:noFill/>
          </a:ln>
        </p:spPr>
        <p:txBody>
          <a:bodyPr anchorCtr="0" anchor="t" bIns="25400" lIns="25400" spcFirstLastPara="1" rIns="25400" wrap="square" tIns="25400">
            <a:normAutofit/>
          </a:bodyPr>
          <a:lstStyle/>
          <a:p>
            <a:pPr indent="0" lvl="0" marL="0" marR="0" rtl="0" algn="l">
              <a:lnSpc>
                <a:spcPct val="110000"/>
              </a:lnSpc>
              <a:spcBef>
                <a:spcPts val="0"/>
              </a:spcBef>
              <a:spcAft>
                <a:spcPts val="0"/>
              </a:spcAft>
              <a:buClr>
                <a:srgbClr val="6B7686"/>
              </a:buClr>
              <a:buSzPts val="788"/>
              <a:buFont typeface="Inter"/>
              <a:buNone/>
            </a:pPr>
            <a:r>
              <a:rPr b="0" i="0" lang="en-US" sz="788" u="none" cap="none" strike="noStrike">
                <a:solidFill>
                  <a:srgbClr val="6B7686"/>
                </a:solidFill>
                <a:latin typeface="Inter"/>
                <a:ea typeface="Inter"/>
                <a:cs typeface="Inter"/>
                <a:sym typeface="Inter"/>
              </a:rPr>
              <a:t>Indicative, ±30%</a:t>
            </a:r>
            <a:endParaRPr b="0" i="0" sz="788" u="none" cap="none" strike="noStrike">
              <a:solidFill>
                <a:schemeClr val="dk1"/>
              </a:solidFill>
              <a:latin typeface="Inter"/>
              <a:ea typeface="Inter"/>
              <a:cs typeface="Inter"/>
              <a:sym typeface="Inter"/>
            </a:endParaRPr>
          </a:p>
        </p:txBody>
      </p:sp>
      <p:sp>
        <p:nvSpPr>
          <p:cNvPr id="510" name="Google Shape;510;p9"/>
          <p:cNvSpPr/>
          <p:nvPr/>
        </p:nvSpPr>
        <p:spPr>
          <a:xfrm>
            <a:off x="571500" y="1709225"/>
            <a:ext cx="6612300" cy="462000"/>
          </a:xfrm>
          <a:prstGeom prst="rect">
            <a:avLst/>
          </a:prstGeom>
          <a:noFill/>
          <a:ln>
            <a:noFill/>
          </a:ln>
        </p:spPr>
        <p:txBody>
          <a:bodyPr anchorCtr="0" anchor="t" bIns="25400" lIns="25400" spcFirstLastPara="1" rIns="25400" wrap="square" tIns="25400">
            <a:normAutofit/>
          </a:bodyPr>
          <a:lstStyle/>
          <a:p>
            <a:pPr indent="0" lvl="0" marL="0" marR="0" rtl="0" algn="l">
              <a:lnSpc>
                <a:spcPct val="160000"/>
              </a:lnSpc>
              <a:spcBef>
                <a:spcPts val="0"/>
              </a:spcBef>
              <a:spcAft>
                <a:spcPts val="0"/>
              </a:spcAft>
              <a:buClr>
                <a:srgbClr val="374151"/>
              </a:buClr>
              <a:buSzPts val="863"/>
              <a:buFont typeface="Inter"/>
              <a:buNone/>
            </a:pPr>
            <a:r>
              <a:rPr b="0" i="0" lang="en-US" sz="863" u="none" cap="none" strike="noStrike">
                <a:solidFill>
                  <a:srgbClr val="374151"/>
                </a:solidFill>
                <a:latin typeface="Inter"/>
                <a:ea typeface="Inter"/>
                <a:cs typeface="Inter"/>
                <a:sym typeface="Inter"/>
              </a:rPr>
              <a:t>The figures below are budgetary estimates based on the current requirement notes and partner clarification. They should be treated as </a:t>
            </a:r>
            <a:r>
              <a:rPr b="1" i="0" lang="en-US" sz="863" u="none" cap="none" strike="noStrike">
                <a:solidFill>
                  <a:srgbClr val="0E1320"/>
                </a:solidFill>
                <a:latin typeface="Inter"/>
                <a:ea typeface="Inter"/>
                <a:cs typeface="Inter"/>
                <a:sym typeface="Inter"/>
              </a:rPr>
              <a:t>±30% </a:t>
            </a:r>
            <a:r>
              <a:rPr b="0" i="0" lang="en-US" sz="863" u="none" cap="none" strike="noStrike">
                <a:solidFill>
                  <a:srgbClr val="374151"/>
                </a:solidFill>
                <a:latin typeface="Inter"/>
                <a:ea typeface="Inter"/>
                <a:cs typeface="Inter"/>
                <a:sym typeface="Inter"/>
              </a:rPr>
              <a:t>until discovery confirms validation complexity, licensing, integration access, PAS API behaviour, and client-side dependencies.</a:t>
            </a:r>
            <a:endParaRPr b="0" i="0" sz="863" u="none" cap="none" strike="noStrike">
              <a:solidFill>
                <a:schemeClr val="dk1"/>
              </a:solidFill>
              <a:latin typeface="Inter"/>
              <a:ea typeface="Inter"/>
              <a:cs typeface="Inter"/>
              <a:sym typeface="Inter"/>
            </a:endParaRPr>
          </a:p>
        </p:txBody>
      </p:sp>
      <p:sp>
        <p:nvSpPr>
          <p:cNvPr id="511" name="Google Shape;511;p9"/>
          <p:cNvSpPr/>
          <p:nvPr/>
        </p:nvSpPr>
        <p:spPr>
          <a:xfrm>
            <a:off x="571500" y="2504683"/>
            <a:ext cx="3133800" cy="2534400"/>
          </a:xfrm>
          <a:prstGeom prst="roundRect">
            <a:avLst>
              <a:gd fmla="val 3006" name="adj"/>
            </a:avLst>
          </a:prstGeom>
          <a:solidFill>
            <a:srgbClr val="F4F8FE"/>
          </a:solidFill>
          <a:ln cap="flat" cmpd="sng" w="14275">
            <a:solidFill>
              <a:srgbClr val="0047A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9"/>
          <p:cNvSpPr/>
          <p:nvPr/>
        </p:nvSpPr>
        <p:spPr>
          <a:xfrm>
            <a:off x="776288" y="2423720"/>
            <a:ext cx="2628900" cy="171600"/>
          </a:xfrm>
          <a:prstGeom prst="roundRect">
            <a:avLst>
              <a:gd fmla="val 16667" name="adj"/>
            </a:avLst>
          </a:prstGeom>
          <a:solidFill>
            <a:srgbClr val="004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9"/>
          <p:cNvSpPr/>
          <p:nvPr/>
        </p:nvSpPr>
        <p:spPr>
          <a:xfrm>
            <a:off x="862013" y="2440416"/>
            <a:ext cx="2536200" cy="13350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FFFFFF"/>
              </a:buClr>
              <a:buSzPts val="638"/>
              <a:buFont typeface="Inter"/>
              <a:buNone/>
            </a:pPr>
            <a:r>
              <a:rPr b="1" i="0" lang="en-US" sz="638" u="none" cap="none" strike="noStrike">
                <a:solidFill>
                  <a:srgbClr val="FFFFFF"/>
                </a:solidFill>
                <a:latin typeface="Inter"/>
                <a:ea typeface="Inter"/>
                <a:cs typeface="Inter"/>
                <a:sym typeface="Inter"/>
              </a:rPr>
              <a:t>RECOMMENDED</a:t>
            </a:r>
            <a:endParaRPr b="0" i="0" sz="638" u="none" cap="none" strike="noStrike">
              <a:solidFill>
                <a:schemeClr val="dk1"/>
              </a:solidFill>
              <a:latin typeface="Inter"/>
              <a:ea typeface="Inter"/>
              <a:cs typeface="Inter"/>
              <a:sym typeface="Inter"/>
            </a:endParaRPr>
          </a:p>
        </p:txBody>
      </p:sp>
      <p:sp>
        <p:nvSpPr>
          <p:cNvPr id="514" name="Google Shape;514;p9"/>
          <p:cNvSpPr/>
          <p:nvPr/>
        </p:nvSpPr>
        <p:spPr>
          <a:xfrm>
            <a:off x="776288" y="2728520"/>
            <a:ext cx="2805900" cy="1524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047AB"/>
              </a:buClr>
              <a:buSzPts val="750"/>
              <a:buFont typeface="Inter"/>
              <a:buNone/>
            </a:pPr>
            <a:r>
              <a:rPr b="1" i="0" lang="en-US" sz="750" u="none" cap="none" strike="noStrike">
                <a:solidFill>
                  <a:srgbClr val="0047AB"/>
                </a:solidFill>
                <a:latin typeface="Inter"/>
                <a:ea typeface="Inter"/>
                <a:cs typeface="Inter"/>
                <a:sym typeface="Inter"/>
              </a:rPr>
              <a:t>OPTION A</a:t>
            </a:r>
            <a:endParaRPr b="0" i="0" sz="750" u="none" cap="none" strike="noStrike">
              <a:solidFill>
                <a:schemeClr val="dk1"/>
              </a:solidFill>
              <a:latin typeface="Inter"/>
              <a:ea typeface="Inter"/>
              <a:cs typeface="Inter"/>
              <a:sym typeface="Inter"/>
            </a:endParaRPr>
          </a:p>
        </p:txBody>
      </p:sp>
      <p:sp>
        <p:nvSpPr>
          <p:cNvPr id="515" name="Google Shape;515;p9"/>
          <p:cNvSpPr/>
          <p:nvPr/>
        </p:nvSpPr>
        <p:spPr>
          <a:xfrm>
            <a:off x="776288" y="2938070"/>
            <a:ext cx="2805900" cy="243900"/>
          </a:xfrm>
          <a:prstGeom prst="rect">
            <a:avLst/>
          </a:prstGeom>
          <a:noFill/>
          <a:ln>
            <a:noFill/>
          </a:ln>
        </p:spPr>
        <p:txBody>
          <a:bodyPr anchorCtr="0" anchor="t" bIns="25400" lIns="25400" spcFirstLastPara="1" rIns="25400" wrap="square" tIns="25400">
            <a:normAutofit/>
          </a:bodyPr>
          <a:lstStyle/>
          <a:p>
            <a:pPr indent="0" lvl="0" marL="0" marR="0" rtl="0" algn="l">
              <a:lnSpc>
                <a:spcPct val="120000"/>
              </a:lnSpc>
              <a:spcBef>
                <a:spcPts val="0"/>
              </a:spcBef>
              <a:spcAft>
                <a:spcPts val="0"/>
              </a:spcAft>
              <a:buClr>
                <a:srgbClr val="0E1320"/>
              </a:buClr>
              <a:buSzPts val="1350"/>
              <a:buFont typeface="Inter"/>
              <a:buNone/>
            </a:pPr>
            <a:r>
              <a:rPr b="0" i="0" lang="en-US" sz="1350" u="none" cap="none" strike="noStrike">
                <a:solidFill>
                  <a:srgbClr val="0E1320"/>
                </a:solidFill>
                <a:latin typeface="Inter"/>
                <a:ea typeface="Inter"/>
                <a:cs typeface="Inter"/>
                <a:sym typeface="Inter"/>
              </a:rPr>
              <a:t>3-month build engagement</a:t>
            </a:r>
            <a:endParaRPr b="0" i="0" sz="1350" u="none" cap="none" strike="noStrike">
              <a:solidFill>
                <a:schemeClr val="dk1"/>
              </a:solidFill>
              <a:latin typeface="Inter"/>
              <a:ea typeface="Inter"/>
              <a:cs typeface="Inter"/>
              <a:sym typeface="Inter"/>
            </a:endParaRPr>
          </a:p>
        </p:txBody>
      </p:sp>
      <p:sp>
        <p:nvSpPr>
          <p:cNvPr id="516" name="Google Shape;516;p9"/>
          <p:cNvSpPr/>
          <p:nvPr/>
        </p:nvSpPr>
        <p:spPr>
          <a:xfrm>
            <a:off x="776288" y="3258051"/>
            <a:ext cx="2805900" cy="3240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0047AB"/>
              </a:buClr>
              <a:buSzPts val="2250"/>
              <a:buFont typeface="Inter"/>
              <a:buNone/>
            </a:pPr>
            <a:r>
              <a:rPr b="0" i="0" lang="en-US" sz="2250" u="none" cap="none" strike="noStrike">
                <a:solidFill>
                  <a:srgbClr val="0047AB"/>
                </a:solidFill>
                <a:latin typeface="Inter"/>
                <a:ea typeface="Inter"/>
                <a:cs typeface="Inter"/>
                <a:sym typeface="Inter"/>
              </a:rPr>
              <a:t>USD 36,000 </a:t>
            </a:r>
            <a:r>
              <a:rPr b="0" baseline="30000" i="0" lang="en-US" sz="900" u="none" cap="none" strike="noStrike">
                <a:solidFill>
                  <a:srgbClr val="6B7686"/>
                </a:solidFill>
                <a:latin typeface="Inter"/>
                <a:ea typeface="Inter"/>
                <a:cs typeface="Inter"/>
                <a:sym typeface="Inter"/>
              </a:rPr>
              <a:t>±30%</a:t>
            </a:r>
            <a:endParaRPr b="0" i="0" sz="2250" u="none" cap="none" strike="noStrike">
              <a:solidFill>
                <a:schemeClr val="dk1"/>
              </a:solidFill>
              <a:latin typeface="Inter"/>
              <a:ea typeface="Inter"/>
              <a:cs typeface="Inter"/>
              <a:sym typeface="Inter"/>
            </a:endParaRPr>
          </a:p>
        </p:txBody>
      </p:sp>
      <p:sp>
        <p:nvSpPr>
          <p:cNvPr id="517" name="Google Shape;517;p9"/>
          <p:cNvSpPr/>
          <p:nvPr/>
        </p:nvSpPr>
        <p:spPr>
          <a:xfrm>
            <a:off x="776288" y="3639051"/>
            <a:ext cx="2805900" cy="3381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4B5563"/>
              </a:buClr>
              <a:buSzPts val="788"/>
              <a:buFont typeface="Inter"/>
              <a:buNone/>
            </a:pPr>
            <a:r>
              <a:rPr b="0" i="0" lang="en-US" sz="788" u="none" cap="none" strike="noStrike">
                <a:solidFill>
                  <a:srgbClr val="4B5563"/>
                </a:solidFill>
                <a:latin typeface="Inter"/>
                <a:ea typeface="Inter"/>
                <a:cs typeface="Inter"/>
                <a:sym typeface="Inter"/>
              </a:rPr>
              <a:t>Best fit when the client wants a focused MVP build and handover.</a:t>
            </a:r>
            <a:endParaRPr b="0" i="0" sz="788" u="none" cap="none" strike="noStrike">
              <a:solidFill>
                <a:schemeClr val="dk1"/>
              </a:solidFill>
              <a:latin typeface="Inter"/>
              <a:ea typeface="Inter"/>
              <a:cs typeface="Inter"/>
              <a:sym typeface="Inter"/>
            </a:endParaRPr>
          </a:p>
        </p:txBody>
      </p:sp>
      <p:sp>
        <p:nvSpPr>
          <p:cNvPr id="518" name="Google Shape;518;p9"/>
          <p:cNvSpPr/>
          <p:nvPr/>
        </p:nvSpPr>
        <p:spPr>
          <a:xfrm>
            <a:off x="770699" y="4072450"/>
            <a:ext cx="2805900" cy="7812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788"/>
              <a:buFont typeface="Inter"/>
              <a:buNone/>
            </a:pPr>
            <a:r>
              <a:rPr b="0" i="0" lang="en-US" sz="788" u="none" cap="none" strike="noStrike">
                <a:solidFill>
                  <a:srgbClr val="374151"/>
                </a:solidFill>
                <a:latin typeface="Inter"/>
                <a:ea typeface="Inter"/>
                <a:cs typeface="Inter"/>
                <a:sym typeface="Inter"/>
              </a:rPr>
              <a:t>Duration · 3 months</a:t>
            </a:r>
            <a:endParaRPr b="0" i="0" sz="788" u="none" cap="none" strike="noStrike">
              <a:solidFill>
                <a:schemeClr val="dk1"/>
              </a:solidFill>
              <a:latin typeface="Inter"/>
              <a:ea typeface="Inter"/>
              <a:cs typeface="Inter"/>
              <a:sym typeface="Inter"/>
            </a:endParaRPr>
          </a:p>
          <a:p>
            <a:pPr indent="0" lvl="0" marL="0" marR="0" rtl="0" algn="l">
              <a:lnSpc>
                <a:spcPct val="150000"/>
              </a:lnSpc>
              <a:spcBef>
                <a:spcPts val="0"/>
              </a:spcBef>
              <a:spcAft>
                <a:spcPts val="0"/>
              </a:spcAft>
              <a:buClr>
                <a:srgbClr val="374151"/>
              </a:buClr>
              <a:buSzPts val="788"/>
              <a:buFont typeface="Inter"/>
              <a:buNone/>
            </a:pPr>
            <a:r>
              <a:rPr b="0" i="0" lang="en-US" sz="788" u="none" cap="none" strike="noStrike">
                <a:solidFill>
                  <a:srgbClr val="374151"/>
                </a:solidFill>
                <a:latin typeface="Inter"/>
                <a:ea typeface="Inter"/>
                <a:cs typeface="Inter"/>
                <a:sym typeface="Inter"/>
              </a:rPr>
              <a:t>Monthly fee · USD 12,000</a:t>
            </a:r>
            <a:endParaRPr b="0" i="0" sz="788" u="none" cap="none" strike="noStrike">
              <a:solidFill>
                <a:schemeClr val="dk1"/>
              </a:solidFill>
              <a:latin typeface="Inter"/>
              <a:ea typeface="Inter"/>
              <a:cs typeface="Inter"/>
              <a:sym typeface="Inter"/>
            </a:endParaRPr>
          </a:p>
          <a:p>
            <a:pPr indent="0" lvl="0" marL="0" marR="0" rtl="0" algn="l">
              <a:lnSpc>
                <a:spcPct val="150000"/>
              </a:lnSpc>
              <a:spcBef>
                <a:spcPts val="0"/>
              </a:spcBef>
              <a:spcAft>
                <a:spcPts val="0"/>
              </a:spcAft>
              <a:buClr>
                <a:srgbClr val="374151"/>
              </a:buClr>
              <a:buSzPts val="788"/>
              <a:buFont typeface="Inter"/>
              <a:buNone/>
            </a:pPr>
            <a:r>
              <a:rPr b="0" i="0" lang="en-US" sz="788" u="none" cap="none" strike="noStrike">
                <a:solidFill>
                  <a:srgbClr val="374151"/>
                </a:solidFill>
                <a:latin typeface="Inter"/>
                <a:ea typeface="Inter"/>
                <a:cs typeface="Inter"/>
                <a:sym typeface="Inter"/>
              </a:rPr>
              <a:t>Model · Build &amp; handover</a:t>
            </a:r>
            <a:endParaRPr b="0" i="0" sz="788" u="none" cap="none" strike="noStrike">
              <a:solidFill>
                <a:schemeClr val="dk1"/>
              </a:solidFill>
              <a:latin typeface="Inter"/>
              <a:ea typeface="Inter"/>
              <a:cs typeface="Inter"/>
              <a:sym typeface="Inter"/>
            </a:endParaRPr>
          </a:p>
          <a:p>
            <a:pPr indent="0" lvl="0" marL="0" marR="0" rtl="0" algn="l">
              <a:lnSpc>
                <a:spcPct val="150000"/>
              </a:lnSpc>
              <a:spcBef>
                <a:spcPts val="0"/>
              </a:spcBef>
              <a:spcAft>
                <a:spcPts val="0"/>
              </a:spcAft>
              <a:buClr>
                <a:srgbClr val="374151"/>
              </a:buClr>
              <a:buSzPts val="788"/>
              <a:buFont typeface="Inter"/>
              <a:buNone/>
            </a:pPr>
            <a:r>
              <a:rPr b="0" i="0" lang="en-US" sz="788" u="none" cap="none" strike="noStrike">
                <a:solidFill>
                  <a:srgbClr val="374151"/>
                </a:solidFill>
                <a:latin typeface="Inter"/>
                <a:ea typeface="Inter"/>
                <a:cs typeface="Inter"/>
                <a:sym typeface="Inter"/>
              </a:rPr>
              <a:t>Post-go-live bug-fix window · 2 weeks</a:t>
            </a:r>
            <a:endParaRPr b="0" i="0" sz="788" u="none" cap="none" strike="noStrike">
              <a:solidFill>
                <a:schemeClr val="dk1"/>
              </a:solidFill>
              <a:latin typeface="Inter"/>
              <a:ea typeface="Inter"/>
              <a:cs typeface="Inter"/>
              <a:sym typeface="Inter"/>
            </a:endParaRPr>
          </a:p>
        </p:txBody>
      </p:sp>
      <p:sp>
        <p:nvSpPr>
          <p:cNvPr id="519" name="Google Shape;519;p9"/>
          <p:cNvSpPr/>
          <p:nvPr/>
        </p:nvSpPr>
        <p:spPr>
          <a:xfrm>
            <a:off x="3857625" y="2504683"/>
            <a:ext cx="3133800" cy="2534400"/>
          </a:xfrm>
          <a:prstGeom prst="roundRect">
            <a:avLst>
              <a:gd fmla="val 3006" name="adj"/>
            </a:avLst>
          </a:prstGeom>
          <a:solidFill>
            <a:srgbClr val="FFFFFF"/>
          </a:solidFill>
          <a:ln cap="flat" cmpd="sng" w="14275">
            <a:solidFill>
              <a:srgbClr val="E2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9"/>
          <p:cNvSpPr/>
          <p:nvPr/>
        </p:nvSpPr>
        <p:spPr>
          <a:xfrm>
            <a:off x="4062412" y="2728520"/>
            <a:ext cx="2805900" cy="1524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047AB"/>
              </a:buClr>
              <a:buSzPts val="750"/>
              <a:buFont typeface="Inter"/>
              <a:buNone/>
            </a:pPr>
            <a:r>
              <a:rPr b="1" i="0" lang="en-US" sz="750" u="none" cap="none" strike="noStrike">
                <a:solidFill>
                  <a:srgbClr val="0047AB"/>
                </a:solidFill>
                <a:latin typeface="Inter"/>
                <a:ea typeface="Inter"/>
                <a:cs typeface="Inter"/>
                <a:sym typeface="Inter"/>
              </a:rPr>
              <a:t>OPTION B</a:t>
            </a:r>
            <a:endParaRPr b="0" i="0" sz="750" u="none" cap="none" strike="noStrike">
              <a:solidFill>
                <a:schemeClr val="dk1"/>
              </a:solidFill>
              <a:latin typeface="Inter"/>
              <a:ea typeface="Inter"/>
              <a:cs typeface="Inter"/>
              <a:sym typeface="Inter"/>
            </a:endParaRPr>
          </a:p>
        </p:txBody>
      </p:sp>
      <p:sp>
        <p:nvSpPr>
          <p:cNvPr id="521" name="Google Shape;521;p9"/>
          <p:cNvSpPr/>
          <p:nvPr/>
        </p:nvSpPr>
        <p:spPr>
          <a:xfrm>
            <a:off x="4062412" y="2938070"/>
            <a:ext cx="2805900" cy="243900"/>
          </a:xfrm>
          <a:prstGeom prst="rect">
            <a:avLst/>
          </a:prstGeom>
          <a:noFill/>
          <a:ln>
            <a:noFill/>
          </a:ln>
        </p:spPr>
        <p:txBody>
          <a:bodyPr anchorCtr="0" anchor="t" bIns="25400" lIns="25400" spcFirstLastPara="1" rIns="25400" wrap="square" tIns="25400">
            <a:normAutofit/>
          </a:bodyPr>
          <a:lstStyle/>
          <a:p>
            <a:pPr indent="0" lvl="0" marL="0" marR="0" rtl="0" algn="l">
              <a:lnSpc>
                <a:spcPct val="120000"/>
              </a:lnSpc>
              <a:spcBef>
                <a:spcPts val="0"/>
              </a:spcBef>
              <a:spcAft>
                <a:spcPts val="0"/>
              </a:spcAft>
              <a:buClr>
                <a:srgbClr val="0E1320"/>
              </a:buClr>
              <a:buSzPts val="1350"/>
              <a:buFont typeface="Inter"/>
              <a:buNone/>
            </a:pPr>
            <a:r>
              <a:rPr b="0" i="0" lang="en-US" sz="1350" u="none" cap="none" strike="noStrike">
                <a:solidFill>
                  <a:srgbClr val="0E1320"/>
                </a:solidFill>
                <a:latin typeface="Inter"/>
                <a:ea typeface="Inter"/>
                <a:cs typeface="Inter"/>
                <a:sym typeface="Inter"/>
              </a:rPr>
              <a:t>6-month build, manage &amp; operate</a:t>
            </a:r>
            <a:endParaRPr b="0" i="0" sz="1350" u="none" cap="none" strike="noStrike">
              <a:solidFill>
                <a:schemeClr val="dk1"/>
              </a:solidFill>
              <a:latin typeface="Inter"/>
              <a:ea typeface="Inter"/>
              <a:cs typeface="Inter"/>
              <a:sym typeface="Inter"/>
            </a:endParaRPr>
          </a:p>
        </p:txBody>
      </p:sp>
      <p:sp>
        <p:nvSpPr>
          <p:cNvPr id="522" name="Google Shape;522;p9"/>
          <p:cNvSpPr/>
          <p:nvPr/>
        </p:nvSpPr>
        <p:spPr>
          <a:xfrm>
            <a:off x="4062412" y="3258051"/>
            <a:ext cx="2805900" cy="3240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0047AB"/>
              </a:buClr>
              <a:buSzPts val="2250"/>
              <a:buFont typeface="Inter"/>
              <a:buNone/>
            </a:pPr>
            <a:r>
              <a:rPr b="0" i="0" lang="en-US" sz="2250" u="none" cap="none" strike="noStrike">
                <a:solidFill>
                  <a:srgbClr val="0047AB"/>
                </a:solidFill>
                <a:latin typeface="Inter"/>
                <a:ea typeface="Inter"/>
                <a:cs typeface="Inter"/>
                <a:sym typeface="Inter"/>
              </a:rPr>
              <a:t>USD 5,000 </a:t>
            </a:r>
            <a:r>
              <a:rPr b="0" baseline="30000" i="0" lang="en-US" sz="900" u="none" cap="none" strike="noStrike">
                <a:solidFill>
                  <a:srgbClr val="6B7686"/>
                </a:solidFill>
                <a:latin typeface="Inter"/>
                <a:ea typeface="Inter"/>
                <a:cs typeface="Inter"/>
                <a:sym typeface="Inter"/>
              </a:rPr>
              <a:t>/ month</a:t>
            </a:r>
            <a:endParaRPr b="0" i="0" sz="2250" u="none" cap="none" strike="noStrike">
              <a:solidFill>
                <a:schemeClr val="dk1"/>
              </a:solidFill>
              <a:latin typeface="Inter"/>
              <a:ea typeface="Inter"/>
              <a:cs typeface="Inter"/>
              <a:sym typeface="Inter"/>
            </a:endParaRPr>
          </a:p>
        </p:txBody>
      </p:sp>
      <p:sp>
        <p:nvSpPr>
          <p:cNvPr id="523" name="Google Shape;523;p9"/>
          <p:cNvSpPr/>
          <p:nvPr/>
        </p:nvSpPr>
        <p:spPr>
          <a:xfrm>
            <a:off x="4062412" y="3639051"/>
            <a:ext cx="2805900" cy="3381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4B5563"/>
              </a:buClr>
              <a:buSzPts val="788"/>
              <a:buFont typeface="Inter"/>
              <a:buNone/>
            </a:pPr>
            <a:r>
              <a:rPr b="0" i="0" lang="en-US" sz="788" u="none" cap="none" strike="noStrike">
                <a:solidFill>
                  <a:srgbClr val="4B5563"/>
                </a:solidFill>
                <a:latin typeface="Inter"/>
                <a:ea typeface="Inter"/>
                <a:cs typeface="Inter"/>
                <a:sym typeface="Inter"/>
              </a:rPr>
              <a:t>Best fit when the client wants a lower monthly run-rate and ongoing operational support within agreed monthly capacity.</a:t>
            </a:r>
            <a:endParaRPr b="0" i="0" sz="788" u="none" cap="none" strike="noStrike">
              <a:solidFill>
                <a:schemeClr val="dk1"/>
              </a:solidFill>
              <a:latin typeface="Inter"/>
              <a:ea typeface="Inter"/>
              <a:cs typeface="Inter"/>
              <a:sym typeface="Inter"/>
            </a:endParaRPr>
          </a:p>
        </p:txBody>
      </p:sp>
      <p:sp>
        <p:nvSpPr>
          <p:cNvPr id="524" name="Google Shape;524;p9"/>
          <p:cNvSpPr/>
          <p:nvPr/>
        </p:nvSpPr>
        <p:spPr>
          <a:xfrm>
            <a:off x="4056825" y="4072450"/>
            <a:ext cx="2805900" cy="7812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788"/>
              <a:buFont typeface="Inter"/>
              <a:buNone/>
            </a:pPr>
            <a:r>
              <a:rPr b="0" i="0" lang="en-US" sz="788" u="none" cap="none" strike="noStrike">
                <a:solidFill>
                  <a:srgbClr val="374151"/>
                </a:solidFill>
                <a:latin typeface="Inter"/>
                <a:ea typeface="Inter"/>
                <a:cs typeface="Inter"/>
                <a:sym typeface="Inter"/>
              </a:rPr>
              <a:t>Duration · 6 months</a:t>
            </a:r>
            <a:endParaRPr b="0" i="0" sz="788" u="none" cap="none" strike="noStrike">
              <a:solidFill>
                <a:schemeClr val="dk1"/>
              </a:solidFill>
              <a:latin typeface="Inter"/>
              <a:ea typeface="Inter"/>
              <a:cs typeface="Inter"/>
              <a:sym typeface="Inter"/>
            </a:endParaRPr>
          </a:p>
          <a:p>
            <a:pPr indent="0" lvl="0" marL="0" marR="0" rtl="0" algn="l">
              <a:lnSpc>
                <a:spcPct val="150000"/>
              </a:lnSpc>
              <a:spcBef>
                <a:spcPts val="0"/>
              </a:spcBef>
              <a:spcAft>
                <a:spcPts val="0"/>
              </a:spcAft>
              <a:buClr>
                <a:srgbClr val="374151"/>
              </a:buClr>
              <a:buSzPts val="788"/>
              <a:buFont typeface="Inter"/>
              <a:buNone/>
            </a:pPr>
            <a:r>
              <a:rPr b="0" i="0" lang="en-US" sz="788" u="none" cap="none" strike="noStrike">
                <a:solidFill>
                  <a:srgbClr val="374151"/>
                </a:solidFill>
                <a:latin typeface="Inter"/>
                <a:ea typeface="Inter"/>
                <a:cs typeface="Inter"/>
                <a:sym typeface="Inter"/>
              </a:rPr>
              <a:t>Monthly fee · USD 5,000, paid in advance</a:t>
            </a:r>
            <a:endParaRPr b="0" i="0" sz="788" u="none" cap="none" strike="noStrike">
              <a:solidFill>
                <a:schemeClr val="dk1"/>
              </a:solidFill>
              <a:latin typeface="Inter"/>
              <a:ea typeface="Inter"/>
              <a:cs typeface="Inter"/>
              <a:sym typeface="Inter"/>
            </a:endParaRPr>
          </a:p>
          <a:p>
            <a:pPr indent="0" lvl="0" marL="0" marR="0" rtl="0" algn="l">
              <a:lnSpc>
                <a:spcPct val="150000"/>
              </a:lnSpc>
              <a:spcBef>
                <a:spcPts val="0"/>
              </a:spcBef>
              <a:spcAft>
                <a:spcPts val="0"/>
              </a:spcAft>
              <a:buClr>
                <a:srgbClr val="374151"/>
              </a:buClr>
              <a:buSzPts val="788"/>
              <a:buFont typeface="Inter"/>
              <a:buNone/>
            </a:pPr>
            <a:r>
              <a:rPr b="0" i="0" lang="en-US" sz="788" u="none" cap="none" strike="noStrike">
                <a:solidFill>
                  <a:srgbClr val="374151"/>
                </a:solidFill>
                <a:latin typeface="Inter"/>
                <a:ea typeface="Inter"/>
                <a:cs typeface="Inter"/>
                <a:sym typeface="Inter"/>
              </a:rPr>
              <a:t>Model · Build, manage &amp; operate</a:t>
            </a:r>
            <a:endParaRPr b="0" i="0" sz="788" u="none" cap="none" strike="noStrike">
              <a:solidFill>
                <a:schemeClr val="dk1"/>
              </a:solidFill>
              <a:latin typeface="Inter"/>
              <a:ea typeface="Inter"/>
              <a:cs typeface="Inter"/>
              <a:sym typeface="Inter"/>
            </a:endParaRPr>
          </a:p>
          <a:p>
            <a:pPr indent="0" lvl="0" marL="0" marR="0" rtl="0" algn="l">
              <a:lnSpc>
                <a:spcPct val="150000"/>
              </a:lnSpc>
              <a:spcBef>
                <a:spcPts val="0"/>
              </a:spcBef>
              <a:spcAft>
                <a:spcPts val="0"/>
              </a:spcAft>
              <a:buClr>
                <a:srgbClr val="374151"/>
              </a:buClr>
              <a:buSzPts val="788"/>
              <a:buFont typeface="Inter"/>
              <a:buNone/>
            </a:pPr>
            <a:r>
              <a:rPr b="0" i="0" lang="en-US" sz="788" u="none" cap="none" strike="noStrike">
                <a:solidFill>
                  <a:srgbClr val="374151"/>
                </a:solidFill>
                <a:latin typeface="Inter"/>
                <a:ea typeface="Inter"/>
                <a:cs typeface="Inter"/>
                <a:sym typeface="Inter"/>
              </a:rPr>
              <a:t>Support · Standard IST business hours</a:t>
            </a:r>
            <a:endParaRPr b="0" i="0" sz="788" u="none" cap="none" strike="noStrike">
              <a:solidFill>
                <a:schemeClr val="dk1"/>
              </a:solidFill>
              <a:latin typeface="Inter"/>
              <a:ea typeface="Inter"/>
              <a:cs typeface="Inter"/>
              <a:sym typeface="Inter"/>
            </a:endParaRPr>
          </a:p>
        </p:txBody>
      </p:sp>
      <p:sp>
        <p:nvSpPr>
          <p:cNvPr id="525" name="Google Shape;525;p9"/>
          <p:cNvSpPr/>
          <p:nvPr/>
        </p:nvSpPr>
        <p:spPr>
          <a:xfrm>
            <a:off x="571500" y="5567530"/>
            <a:ext cx="6612300" cy="2334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E1320"/>
              </a:buClr>
              <a:buSzPts val="1275"/>
              <a:buFont typeface="Inter"/>
              <a:buNone/>
            </a:pPr>
            <a:r>
              <a:rPr b="1" i="0" lang="en-US" sz="1275" u="none" cap="none" strike="noStrike">
                <a:solidFill>
                  <a:srgbClr val="0E1320"/>
                </a:solidFill>
                <a:latin typeface="Inter"/>
                <a:ea typeface="Inter"/>
                <a:cs typeface="Inter"/>
                <a:sym typeface="Inter"/>
              </a:rPr>
              <a:t>What's included in both options</a:t>
            </a:r>
            <a:endParaRPr b="0" i="0" sz="1275" u="none" cap="none" strike="noStrike">
              <a:solidFill>
                <a:schemeClr val="dk1"/>
              </a:solidFill>
              <a:latin typeface="Inter"/>
              <a:ea typeface="Inter"/>
              <a:cs typeface="Inter"/>
              <a:sym typeface="Inter"/>
            </a:endParaRPr>
          </a:p>
        </p:txBody>
      </p:sp>
      <p:sp>
        <p:nvSpPr>
          <p:cNvPr id="526" name="Google Shape;526;p9"/>
          <p:cNvSpPr/>
          <p:nvPr/>
        </p:nvSpPr>
        <p:spPr>
          <a:xfrm>
            <a:off x="571500" y="5915192"/>
            <a:ext cx="2063700" cy="1127400"/>
          </a:xfrm>
          <a:prstGeom prst="roundRect">
            <a:avLst>
              <a:gd fmla="val 5069" name="adj"/>
            </a:avLst>
          </a:prstGeom>
          <a:solidFill>
            <a:srgbClr val="F7F8FA"/>
          </a:solidFill>
          <a:ln cap="flat" cmpd="sng" w="9525">
            <a:solidFill>
              <a:srgbClr val="E2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9"/>
          <p:cNvSpPr/>
          <p:nvPr/>
        </p:nvSpPr>
        <p:spPr>
          <a:xfrm>
            <a:off x="733425" y="6058067"/>
            <a:ext cx="1816200" cy="1524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047AB"/>
              </a:buClr>
              <a:buSzPts val="750"/>
              <a:buFont typeface="Inter"/>
              <a:buNone/>
            </a:pPr>
            <a:r>
              <a:rPr b="1" i="0" lang="en-US" sz="750" u="none" cap="none" strike="noStrike">
                <a:solidFill>
                  <a:srgbClr val="0047AB"/>
                </a:solidFill>
                <a:latin typeface="Inter"/>
                <a:ea typeface="Inter"/>
                <a:cs typeface="Inter"/>
                <a:sym typeface="Inter"/>
              </a:rPr>
              <a:t>BUILD</a:t>
            </a:r>
            <a:endParaRPr b="0" i="0" sz="750" u="none" cap="none" strike="noStrike">
              <a:solidFill>
                <a:schemeClr val="dk1"/>
              </a:solidFill>
              <a:latin typeface="Inter"/>
              <a:ea typeface="Inter"/>
              <a:cs typeface="Inter"/>
              <a:sym typeface="Inter"/>
            </a:endParaRPr>
          </a:p>
        </p:txBody>
      </p:sp>
      <p:sp>
        <p:nvSpPr>
          <p:cNvPr id="528" name="Google Shape;528;p9"/>
          <p:cNvSpPr/>
          <p:nvPr/>
        </p:nvSpPr>
        <p:spPr>
          <a:xfrm>
            <a:off x="733425" y="6229517"/>
            <a:ext cx="1816200" cy="708300"/>
          </a:xfrm>
          <a:prstGeom prst="rect">
            <a:avLst/>
          </a:prstGeom>
          <a:noFill/>
          <a:ln>
            <a:noFill/>
          </a:ln>
        </p:spPr>
        <p:txBody>
          <a:bodyPr anchorCtr="0" anchor="t" bIns="25400" lIns="25400" spcFirstLastPara="1" rIns="25400" wrap="square" tIns="25400">
            <a:normAutofit/>
          </a:bodyPr>
          <a:lstStyle/>
          <a:p>
            <a:pPr indent="0" lvl="0" marL="0" marR="0" rtl="0" algn="l">
              <a:lnSpc>
                <a:spcPct val="160000"/>
              </a:lnSpc>
              <a:spcBef>
                <a:spcPts val="0"/>
              </a:spcBef>
              <a:spcAft>
                <a:spcPts val="0"/>
              </a:spcAft>
              <a:buClr>
                <a:srgbClr val="374151"/>
              </a:buClr>
              <a:buSzPts val="825"/>
              <a:buFont typeface="Inter"/>
              <a:buNone/>
            </a:pPr>
            <a:r>
              <a:rPr b="0" i="0" lang="en-US" sz="825" u="none" cap="none" strike="noStrike">
                <a:solidFill>
                  <a:srgbClr val="374151"/>
                </a:solidFill>
                <a:latin typeface="Inter"/>
                <a:ea typeface="Inter"/>
                <a:cs typeface="Inter"/>
                <a:sym typeface="Inter"/>
              </a:rPr>
              <a:t>Senior delivery team, weekly demos, code in your environment from day one, and a working MVP across both flows.</a:t>
            </a:r>
            <a:endParaRPr b="0" i="0" sz="825" u="none" cap="none" strike="noStrike">
              <a:solidFill>
                <a:schemeClr val="dk1"/>
              </a:solidFill>
              <a:latin typeface="Inter"/>
              <a:ea typeface="Inter"/>
              <a:cs typeface="Inter"/>
              <a:sym typeface="Inter"/>
            </a:endParaRPr>
          </a:p>
        </p:txBody>
      </p:sp>
      <p:sp>
        <p:nvSpPr>
          <p:cNvPr id="529" name="Google Shape;529;p9"/>
          <p:cNvSpPr/>
          <p:nvPr/>
        </p:nvSpPr>
        <p:spPr>
          <a:xfrm>
            <a:off x="2749525" y="5915192"/>
            <a:ext cx="2063700" cy="1127400"/>
          </a:xfrm>
          <a:prstGeom prst="roundRect">
            <a:avLst>
              <a:gd fmla="val 5069" name="adj"/>
            </a:avLst>
          </a:prstGeom>
          <a:solidFill>
            <a:srgbClr val="F7F8FA"/>
          </a:solidFill>
          <a:ln cap="flat" cmpd="sng" w="9525">
            <a:solidFill>
              <a:srgbClr val="E2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9"/>
          <p:cNvSpPr/>
          <p:nvPr/>
        </p:nvSpPr>
        <p:spPr>
          <a:xfrm>
            <a:off x="2911450" y="6058067"/>
            <a:ext cx="1816200" cy="1524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047AB"/>
              </a:buClr>
              <a:buSzPts val="750"/>
              <a:buFont typeface="Inter"/>
              <a:buNone/>
            </a:pPr>
            <a:r>
              <a:rPr b="1" i="0" lang="en-US" sz="750" u="none" cap="none" strike="noStrike">
                <a:solidFill>
                  <a:srgbClr val="0047AB"/>
                </a:solidFill>
                <a:latin typeface="Inter"/>
                <a:ea typeface="Inter"/>
                <a:cs typeface="Inter"/>
                <a:sym typeface="Inter"/>
              </a:rPr>
              <a:t>QUALITY &amp; UAT</a:t>
            </a:r>
            <a:endParaRPr b="0" i="0" sz="750" u="none" cap="none" strike="noStrike">
              <a:solidFill>
                <a:schemeClr val="dk1"/>
              </a:solidFill>
              <a:latin typeface="Inter"/>
              <a:ea typeface="Inter"/>
              <a:cs typeface="Inter"/>
              <a:sym typeface="Inter"/>
            </a:endParaRPr>
          </a:p>
        </p:txBody>
      </p:sp>
      <p:sp>
        <p:nvSpPr>
          <p:cNvPr id="531" name="Google Shape;531;p9"/>
          <p:cNvSpPr/>
          <p:nvPr/>
        </p:nvSpPr>
        <p:spPr>
          <a:xfrm>
            <a:off x="2911450" y="6229517"/>
            <a:ext cx="1816200" cy="708300"/>
          </a:xfrm>
          <a:prstGeom prst="rect">
            <a:avLst/>
          </a:prstGeom>
          <a:noFill/>
          <a:ln>
            <a:noFill/>
          </a:ln>
        </p:spPr>
        <p:txBody>
          <a:bodyPr anchorCtr="0" anchor="t" bIns="25400" lIns="25400" spcFirstLastPara="1" rIns="25400" wrap="square" tIns="25400">
            <a:normAutofit/>
          </a:bodyPr>
          <a:lstStyle/>
          <a:p>
            <a:pPr indent="0" lvl="0" marL="0" marR="0" rtl="0" algn="l">
              <a:lnSpc>
                <a:spcPct val="160000"/>
              </a:lnSpc>
              <a:spcBef>
                <a:spcPts val="0"/>
              </a:spcBef>
              <a:spcAft>
                <a:spcPts val="0"/>
              </a:spcAft>
              <a:buClr>
                <a:srgbClr val="374151"/>
              </a:buClr>
              <a:buSzPts val="825"/>
              <a:buFont typeface="Inter"/>
              <a:buNone/>
            </a:pPr>
            <a:r>
              <a:rPr b="0" i="0" lang="en-US" sz="825" u="none" cap="none" strike="noStrike">
                <a:solidFill>
                  <a:srgbClr val="374151"/>
                </a:solidFill>
                <a:latin typeface="Inter"/>
                <a:ea typeface="Inter"/>
                <a:cs typeface="Inter"/>
                <a:sym typeface="Inter"/>
              </a:rPr>
              <a:t>Three rolling UAT cycles, defect triage, validated against representative employer files and the agreed rule catalogue.</a:t>
            </a:r>
            <a:endParaRPr b="0" i="0" sz="825" u="none" cap="none" strike="noStrike">
              <a:solidFill>
                <a:schemeClr val="dk1"/>
              </a:solidFill>
              <a:latin typeface="Inter"/>
              <a:ea typeface="Inter"/>
              <a:cs typeface="Inter"/>
              <a:sym typeface="Inter"/>
            </a:endParaRPr>
          </a:p>
        </p:txBody>
      </p:sp>
      <p:sp>
        <p:nvSpPr>
          <p:cNvPr id="532" name="Google Shape;532;p9"/>
          <p:cNvSpPr/>
          <p:nvPr/>
        </p:nvSpPr>
        <p:spPr>
          <a:xfrm>
            <a:off x="4927550" y="5915192"/>
            <a:ext cx="2063700" cy="1127400"/>
          </a:xfrm>
          <a:prstGeom prst="roundRect">
            <a:avLst>
              <a:gd fmla="val 5069" name="adj"/>
            </a:avLst>
          </a:prstGeom>
          <a:solidFill>
            <a:srgbClr val="F7F8FA"/>
          </a:solidFill>
          <a:ln cap="flat" cmpd="sng" w="9525">
            <a:solidFill>
              <a:srgbClr val="E2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9"/>
          <p:cNvSpPr/>
          <p:nvPr/>
        </p:nvSpPr>
        <p:spPr>
          <a:xfrm>
            <a:off x="5089475" y="6058067"/>
            <a:ext cx="1816200" cy="1524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047AB"/>
              </a:buClr>
              <a:buSzPts val="750"/>
              <a:buFont typeface="Inter"/>
              <a:buNone/>
            </a:pPr>
            <a:r>
              <a:rPr b="1" i="0" lang="en-US" sz="750" u="none" cap="none" strike="noStrike">
                <a:solidFill>
                  <a:srgbClr val="0047AB"/>
                </a:solidFill>
                <a:latin typeface="Inter"/>
                <a:ea typeface="Inter"/>
                <a:cs typeface="Inter"/>
                <a:sym typeface="Inter"/>
              </a:rPr>
              <a:t>HANDOVER</a:t>
            </a:r>
            <a:endParaRPr b="0" i="0" sz="750" u="none" cap="none" strike="noStrike">
              <a:solidFill>
                <a:schemeClr val="dk1"/>
              </a:solidFill>
              <a:latin typeface="Inter"/>
              <a:ea typeface="Inter"/>
              <a:cs typeface="Inter"/>
              <a:sym typeface="Inter"/>
            </a:endParaRPr>
          </a:p>
        </p:txBody>
      </p:sp>
      <p:sp>
        <p:nvSpPr>
          <p:cNvPr id="534" name="Google Shape;534;p9"/>
          <p:cNvSpPr/>
          <p:nvPr/>
        </p:nvSpPr>
        <p:spPr>
          <a:xfrm>
            <a:off x="5089475" y="6229517"/>
            <a:ext cx="1816200" cy="708300"/>
          </a:xfrm>
          <a:prstGeom prst="rect">
            <a:avLst/>
          </a:prstGeom>
          <a:noFill/>
          <a:ln>
            <a:noFill/>
          </a:ln>
        </p:spPr>
        <p:txBody>
          <a:bodyPr anchorCtr="0" anchor="t" bIns="25400" lIns="25400" spcFirstLastPara="1" rIns="25400" wrap="square" tIns="25400">
            <a:normAutofit/>
          </a:bodyPr>
          <a:lstStyle/>
          <a:p>
            <a:pPr indent="0" lvl="0" marL="0" marR="0" rtl="0" algn="l">
              <a:lnSpc>
                <a:spcPct val="160000"/>
              </a:lnSpc>
              <a:spcBef>
                <a:spcPts val="0"/>
              </a:spcBef>
              <a:spcAft>
                <a:spcPts val="0"/>
              </a:spcAft>
              <a:buClr>
                <a:srgbClr val="374151"/>
              </a:buClr>
              <a:buSzPts val="825"/>
              <a:buFont typeface="Inter"/>
              <a:buNone/>
            </a:pPr>
            <a:r>
              <a:rPr b="0" i="0" lang="en-US" sz="825" u="none" cap="none" strike="noStrike">
                <a:solidFill>
                  <a:srgbClr val="374151"/>
                </a:solidFill>
                <a:latin typeface="Inter"/>
                <a:ea typeface="Inter"/>
                <a:cs typeface="Inter"/>
                <a:sym typeface="Inter"/>
              </a:rPr>
              <a:t>Architecture notes, runbook, rule configuration guide, and a walkthrough with the client operations team.</a:t>
            </a:r>
            <a:endParaRPr b="0" i="0" sz="825" u="none" cap="none" strike="noStrike">
              <a:solidFill>
                <a:schemeClr val="dk1"/>
              </a:solidFill>
              <a:latin typeface="Inter"/>
              <a:ea typeface="Inter"/>
              <a:cs typeface="Inter"/>
              <a:sym typeface="Inter"/>
            </a:endParaRPr>
          </a:p>
        </p:txBody>
      </p:sp>
      <p:sp>
        <p:nvSpPr>
          <p:cNvPr id="535" name="Google Shape;535;p9"/>
          <p:cNvSpPr/>
          <p:nvPr/>
        </p:nvSpPr>
        <p:spPr>
          <a:xfrm>
            <a:off x="571500" y="7328464"/>
            <a:ext cx="6612300" cy="2334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E1320"/>
              </a:buClr>
              <a:buSzPts val="1275"/>
              <a:buFont typeface="Inter"/>
              <a:buNone/>
            </a:pPr>
            <a:r>
              <a:rPr b="1" i="0" lang="en-US" sz="1275" u="none" cap="none" strike="noStrike">
                <a:solidFill>
                  <a:srgbClr val="0E1320"/>
                </a:solidFill>
                <a:latin typeface="Inter"/>
                <a:ea typeface="Inter"/>
                <a:cs typeface="Inter"/>
                <a:sym typeface="Inter"/>
              </a:rPr>
              <a:t>Commercial Notes</a:t>
            </a:r>
            <a:endParaRPr b="0" i="0" sz="1275" u="none" cap="none" strike="noStrike">
              <a:solidFill>
                <a:schemeClr val="dk1"/>
              </a:solidFill>
              <a:latin typeface="Inter"/>
              <a:ea typeface="Inter"/>
              <a:cs typeface="Inter"/>
              <a:sym typeface="Inter"/>
            </a:endParaRPr>
          </a:p>
        </p:txBody>
      </p:sp>
      <p:sp>
        <p:nvSpPr>
          <p:cNvPr id="536" name="Google Shape;536;p9"/>
          <p:cNvSpPr/>
          <p:nvPr/>
        </p:nvSpPr>
        <p:spPr>
          <a:xfrm>
            <a:off x="469900" y="7676127"/>
            <a:ext cx="6597600" cy="1058100"/>
          </a:xfrm>
          <a:prstGeom prst="rect">
            <a:avLst/>
          </a:prstGeom>
          <a:noFill/>
          <a:ln>
            <a:noFill/>
          </a:ln>
        </p:spPr>
        <p:txBody>
          <a:bodyPr anchorCtr="0" anchor="t" bIns="25400" lIns="25400" spcFirstLastPara="1" rIns="25400" wrap="square" tIns="25400">
            <a:normAutofit/>
          </a:bodyPr>
          <a:lstStyle/>
          <a:p>
            <a:pPr indent="-283401" lvl="0" marL="457200" marR="0" rtl="0" algn="l">
              <a:lnSpc>
                <a:spcPct val="155000"/>
              </a:lnSpc>
              <a:spcBef>
                <a:spcPts val="0"/>
              </a:spcBef>
              <a:spcAft>
                <a:spcPts val="0"/>
              </a:spcAft>
              <a:buClr>
                <a:srgbClr val="374151"/>
              </a:buClr>
              <a:buSzPts val="863"/>
              <a:buFont typeface="Inter"/>
              <a:buChar char="●"/>
            </a:pPr>
            <a:r>
              <a:rPr b="0" i="0" lang="en-US" sz="863" u="none" cap="none" strike="noStrike">
                <a:solidFill>
                  <a:srgbClr val="374151"/>
                </a:solidFill>
                <a:latin typeface="Inter"/>
                <a:ea typeface="Inter"/>
                <a:cs typeface="Inter"/>
                <a:sym typeface="Inter"/>
              </a:rPr>
              <a:t>Power Automate Premium or Process licensing may be required even if the client has Microsoft E5.</a:t>
            </a:r>
            <a:endParaRPr b="0" i="0" sz="863" u="none" cap="none" strike="noStrike">
              <a:solidFill>
                <a:schemeClr val="dk1"/>
              </a:solidFill>
              <a:latin typeface="Inter"/>
              <a:ea typeface="Inter"/>
              <a:cs typeface="Inter"/>
              <a:sym typeface="Inter"/>
            </a:endParaRPr>
          </a:p>
          <a:p>
            <a:pPr indent="-283401" lvl="0" marL="457200" marR="0" rtl="0" algn="l">
              <a:lnSpc>
                <a:spcPct val="155000"/>
              </a:lnSpc>
              <a:spcBef>
                <a:spcPts val="0"/>
              </a:spcBef>
              <a:spcAft>
                <a:spcPts val="0"/>
              </a:spcAft>
              <a:buClr>
                <a:srgbClr val="374151"/>
              </a:buClr>
              <a:buSzPts val="863"/>
              <a:buFont typeface="Inter"/>
              <a:buChar char="●"/>
            </a:pPr>
            <a:r>
              <a:rPr b="0" i="0" lang="en-US" sz="863" u="none" cap="none" strike="noStrike">
                <a:solidFill>
                  <a:srgbClr val="374151"/>
                </a:solidFill>
                <a:latin typeface="Inter"/>
                <a:ea typeface="Inter"/>
                <a:cs typeface="Inter"/>
                <a:sym typeface="Inter"/>
              </a:rPr>
              <a:t>Cloud hosting, Microsoft licensing, PAS API charges, storage charges, and third-party service costs are not included unless explicitly agreed.</a:t>
            </a:r>
            <a:endParaRPr b="0" i="0" sz="863" u="none" cap="none" strike="noStrike">
              <a:solidFill>
                <a:schemeClr val="dk1"/>
              </a:solidFill>
              <a:latin typeface="Inter"/>
              <a:ea typeface="Inter"/>
              <a:cs typeface="Inter"/>
              <a:sym typeface="Inter"/>
            </a:endParaRPr>
          </a:p>
          <a:p>
            <a:pPr indent="-283401" lvl="0" marL="457200" marR="0" rtl="0" algn="l">
              <a:lnSpc>
                <a:spcPct val="155000"/>
              </a:lnSpc>
              <a:spcBef>
                <a:spcPts val="0"/>
              </a:spcBef>
              <a:spcAft>
                <a:spcPts val="0"/>
              </a:spcAft>
              <a:buClr>
                <a:srgbClr val="374151"/>
              </a:buClr>
              <a:buSzPts val="863"/>
              <a:buFont typeface="Inter"/>
              <a:buChar char="●"/>
            </a:pPr>
            <a:r>
              <a:rPr b="0" i="0" lang="en-US" sz="863" u="none" cap="none" strike="noStrike">
                <a:solidFill>
                  <a:srgbClr val="374151"/>
                </a:solidFill>
                <a:latin typeface="Inter"/>
                <a:ea typeface="Inter"/>
                <a:cs typeface="Inter"/>
                <a:sym typeface="Inter"/>
              </a:rPr>
              <a:t>Final commercials should be confirmed after discovery validates integration complexity and the final rule catalogue.</a:t>
            </a:r>
            <a:endParaRPr b="0" i="0" sz="863" u="none" cap="none" strike="noStrike">
              <a:solidFill>
                <a:schemeClr val="dk1"/>
              </a:solidFill>
              <a:latin typeface="Inter"/>
              <a:ea typeface="Inter"/>
              <a:cs typeface="Inter"/>
              <a:sym typeface="Inter"/>
            </a:endParaRPr>
          </a:p>
          <a:p>
            <a:pPr indent="-283401" lvl="0" marL="457200" marR="0" rtl="0" algn="l">
              <a:lnSpc>
                <a:spcPct val="155000"/>
              </a:lnSpc>
              <a:spcBef>
                <a:spcPts val="0"/>
              </a:spcBef>
              <a:spcAft>
                <a:spcPts val="0"/>
              </a:spcAft>
              <a:buClr>
                <a:srgbClr val="374151"/>
              </a:buClr>
              <a:buSzPts val="863"/>
              <a:buFont typeface="Inter"/>
              <a:buChar char="●"/>
            </a:pPr>
            <a:r>
              <a:rPr b="0" i="0" lang="en-US" sz="863" u="none" cap="none" strike="noStrike">
                <a:solidFill>
                  <a:srgbClr val="374151"/>
                </a:solidFill>
                <a:latin typeface="Inter"/>
                <a:ea typeface="Inter"/>
                <a:cs typeface="Inter"/>
                <a:sym typeface="Inter"/>
              </a:rPr>
              <a:t>Quote validity should be confirmed before client submission.</a:t>
            </a:r>
            <a:endParaRPr b="0" i="0" sz="863" u="none" cap="none" strike="noStrike">
              <a:solidFill>
                <a:schemeClr val="dk1"/>
              </a:solidFill>
              <a:latin typeface="Inter"/>
              <a:ea typeface="Inter"/>
              <a:cs typeface="Inter"/>
              <a:sym typeface="Inter"/>
            </a:endParaRPr>
          </a:p>
        </p:txBody>
      </p:sp>
      <p:sp>
        <p:nvSpPr>
          <p:cNvPr id="537" name="Google Shape;537;p9"/>
          <p:cNvSpPr/>
          <p:nvPr/>
        </p:nvSpPr>
        <p:spPr>
          <a:xfrm>
            <a:off x="0" y="10234613"/>
            <a:ext cx="7562850" cy="461963"/>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9"/>
          <p:cNvSpPr/>
          <p:nvPr/>
        </p:nvSpPr>
        <p:spPr>
          <a:xfrm>
            <a:off x="0" y="10234613"/>
            <a:ext cx="7562850" cy="9525"/>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9"/>
          <p:cNvSpPr/>
          <p:nvPr/>
        </p:nvSpPr>
        <p:spPr>
          <a:xfrm>
            <a:off x="6540847" y="10377488"/>
            <a:ext cx="526703" cy="147638"/>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0047AB"/>
              </a:buClr>
              <a:buSzPts val="713"/>
              <a:buFont typeface="Inter"/>
              <a:buNone/>
            </a:pPr>
            <a:r>
              <a:rPr b="1" lang="en-US" sz="713">
                <a:solidFill>
                  <a:srgbClr val="6B7686"/>
                </a:solidFill>
              </a:rPr>
              <a:t>10</a:t>
            </a:r>
            <a:r>
              <a:rPr b="1" i="0" lang="en-US" sz="713" u="none" cap="none" strike="noStrike">
                <a:solidFill>
                  <a:srgbClr val="6B7686"/>
                </a:solidFill>
                <a:latin typeface="Inter"/>
                <a:ea typeface="Inter"/>
                <a:cs typeface="Inter"/>
                <a:sym typeface="Inter"/>
              </a:rPr>
              <a:t> / 1</a:t>
            </a:r>
            <a:r>
              <a:rPr b="1" lang="en-US" sz="713">
                <a:solidFill>
                  <a:srgbClr val="6B7686"/>
                </a:solidFill>
              </a:rPr>
              <a:t>2</a:t>
            </a:r>
            <a:endParaRPr b="0" i="0" sz="713" u="none" cap="none" strike="noStrike">
              <a:solidFill>
                <a:srgbClr val="6B7686"/>
              </a:solidFill>
              <a:latin typeface="Inter"/>
              <a:ea typeface="Inter"/>
              <a:cs typeface="Inter"/>
              <a:sym typeface="Inter"/>
            </a:endParaRPr>
          </a:p>
        </p:txBody>
      </p:sp>
      <p:sp>
        <p:nvSpPr>
          <p:cNvPr id="540" name="Google Shape;540;p9"/>
          <p:cNvSpPr/>
          <p:nvPr/>
        </p:nvSpPr>
        <p:spPr>
          <a:xfrm>
            <a:off x="571500" y="10377500"/>
            <a:ext cx="3966300" cy="138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7686"/>
              </a:buClr>
              <a:buSzPts val="713"/>
              <a:buFont typeface="Inter"/>
              <a:buNone/>
            </a:pPr>
            <a:r>
              <a:rPr b="0" i="0" lang="en-US" sz="713" u="none" cap="none" strike="noStrike">
                <a:solidFill>
                  <a:srgbClr val="6B7686"/>
                </a:solidFill>
                <a:latin typeface="Inter"/>
                <a:ea typeface="Inter"/>
                <a:cs typeface="Inter"/>
                <a:sym typeface="Inter"/>
              </a:rPr>
              <a:t>NEWTUPLE TECHNOLOGIES · 		  		     </a:t>
            </a:r>
            <a:r>
              <a:rPr lang="en-US" sz="713">
                <a:solidFill>
                  <a:srgbClr val="6B7686"/>
                </a:solidFill>
              </a:rPr>
              <a:t>    </a:t>
            </a:r>
            <a:r>
              <a:rPr b="0" i="0" lang="en-US" sz="713" u="none" cap="none" strike="noStrike">
                <a:solidFill>
                  <a:srgbClr val="6B7686"/>
                </a:solidFill>
                <a:latin typeface="Inter"/>
                <a:ea typeface="Inter"/>
                <a:cs typeface="Inter"/>
                <a:sym typeface="Inter"/>
              </a:rPr>
              <a:t>CONFIDENTIAL</a:t>
            </a:r>
            <a:endParaRPr b="0" i="0" sz="713" u="none" cap="none" strike="noStrike">
              <a:solidFill>
                <a:schemeClr val="dk1"/>
              </a:solidFill>
              <a:latin typeface="Inter"/>
              <a:ea typeface="Inter"/>
              <a:cs typeface="Inter"/>
              <a:sym typeface="Inte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5" name="Shape 545"/>
        <p:cNvGrpSpPr/>
        <p:nvPr/>
      </p:nvGrpSpPr>
      <p:grpSpPr>
        <a:xfrm>
          <a:off x="0" y="0"/>
          <a:ext cx="0" cy="0"/>
          <a:chOff x="0" y="0"/>
          <a:chExt cx="0" cy="0"/>
        </a:xfrm>
      </p:grpSpPr>
      <p:sp>
        <p:nvSpPr>
          <p:cNvPr id="546" name="Google Shape;546;p10"/>
          <p:cNvSpPr/>
          <p:nvPr/>
        </p:nvSpPr>
        <p:spPr>
          <a:xfrm>
            <a:off x="0" y="91816"/>
            <a:ext cx="7563000" cy="10696500"/>
          </a:xfrm>
          <a:prstGeom prst="rect">
            <a:avLst/>
          </a:prstGeom>
          <a:noFill/>
          <a:ln>
            <a:noFill/>
          </a:ln>
          <a:effectLst>
            <a:outerShdw blurRad="381000" rotWithShape="0" algn="bl" dir="5400000" dist="133350">
              <a:srgbClr val="0E132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47" name="Google Shape;547;p10"/>
          <p:cNvPicPr preferRelativeResize="0"/>
          <p:nvPr/>
        </p:nvPicPr>
        <p:blipFill rotWithShape="1">
          <a:blip r:embed="rId3">
            <a:alphaModFix/>
          </a:blip>
          <a:srcRect b="0" l="0" r="0" t="0"/>
          <a:stretch/>
        </p:blipFill>
        <p:spPr>
          <a:xfrm>
            <a:off x="571500" y="348067"/>
            <a:ext cx="815357" cy="152400"/>
          </a:xfrm>
          <a:prstGeom prst="rect">
            <a:avLst/>
          </a:prstGeom>
          <a:noFill/>
          <a:ln>
            <a:noFill/>
          </a:ln>
        </p:spPr>
      </p:pic>
      <p:sp>
        <p:nvSpPr>
          <p:cNvPr id="548" name="Google Shape;548;p10"/>
          <p:cNvSpPr/>
          <p:nvPr/>
        </p:nvSpPr>
        <p:spPr>
          <a:xfrm>
            <a:off x="3486522" y="367117"/>
            <a:ext cx="3609900" cy="152400"/>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6B7686"/>
              </a:buClr>
              <a:buSzPts val="750"/>
              <a:buFont typeface="Inter"/>
              <a:buNone/>
            </a:pPr>
            <a:r>
              <a:rPr b="1" i="0" lang="en-US" sz="750" u="none" cap="none" strike="noStrike">
                <a:solidFill>
                  <a:srgbClr val="6B7686"/>
                </a:solidFill>
                <a:latin typeface="Inter"/>
                <a:ea typeface="Inter"/>
                <a:cs typeface="Inter"/>
                <a:sym typeface="Inter"/>
              </a:rPr>
              <a:t>PENSION CONTRIBUTION PROCESSING AUTOMATION</a:t>
            </a:r>
            <a:endParaRPr b="0" i="0" sz="750" u="none" cap="none" strike="noStrike">
              <a:solidFill>
                <a:schemeClr val="dk1"/>
              </a:solidFill>
              <a:latin typeface="Inter"/>
              <a:ea typeface="Inter"/>
              <a:cs typeface="Inter"/>
              <a:sym typeface="Inter"/>
            </a:endParaRPr>
          </a:p>
        </p:txBody>
      </p:sp>
      <p:sp>
        <p:nvSpPr>
          <p:cNvPr id="549" name="Google Shape;549;p10"/>
          <p:cNvSpPr/>
          <p:nvPr/>
        </p:nvSpPr>
        <p:spPr>
          <a:xfrm>
            <a:off x="571500" y="1365633"/>
            <a:ext cx="6419700" cy="9600"/>
          </a:xfrm>
          <a:prstGeom prst="rect">
            <a:avLst/>
          </a:prstGeom>
          <a:solidFill>
            <a:srgbClr val="004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10"/>
          <p:cNvSpPr/>
          <p:nvPr/>
        </p:nvSpPr>
        <p:spPr>
          <a:xfrm>
            <a:off x="571500" y="1126616"/>
            <a:ext cx="268800" cy="153300"/>
          </a:xfrm>
          <a:prstGeom prst="rect">
            <a:avLst/>
          </a:prstGeom>
          <a:noFill/>
          <a:ln>
            <a:noFill/>
          </a:ln>
        </p:spPr>
        <p:txBody>
          <a:bodyPr anchorCtr="0" anchor="t" bIns="25400" lIns="25400" spcFirstLastPara="1" rIns="25400" wrap="square" tIns="25400">
            <a:normAutofit/>
          </a:bodyPr>
          <a:lstStyle/>
          <a:p>
            <a:pPr indent="0" lvl="0" marL="0" marR="0" rtl="0" algn="l">
              <a:lnSpc>
                <a:spcPct val="110000"/>
              </a:lnSpc>
              <a:spcBef>
                <a:spcPts val="0"/>
              </a:spcBef>
              <a:spcAft>
                <a:spcPts val="0"/>
              </a:spcAft>
              <a:buClr>
                <a:srgbClr val="0047AB"/>
              </a:buClr>
              <a:buSzPts val="825"/>
              <a:buFont typeface="Inter"/>
              <a:buNone/>
            </a:pPr>
            <a:r>
              <a:rPr b="1" i="0" lang="en-US" sz="825" u="none" cap="none" strike="noStrike">
                <a:solidFill>
                  <a:srgbClr val="0047AB"/>
                </a:solidFill>
                <a:latin typeface="Inter"/>
                <a:ea typeface="Inter"/>
                <a:cs typeface="Inter"/>
                <a:sym typeface="Inter"/>
              </a:rPr>
              <a:t>10</a:t>
            </a:r>
            <a:endParaRPr b="0" i="0" sz="825" u="none" cap="none" strike="noStrike">
              <a:solidFill>
                <a:schemeClr val="dk1"/>
              </a:solidFill>
              <a:latin typeface="Inter"/>
              <a:ea typeface="Inter"/>
              <a:cs typeface="Inter"/>
              <a:sym typeface="Inter"/>
            </a:endParaRPr>
          </a:p>
        </p:txBody>
      </p:sp>
      <p:sp>
        <p:nvSpPr>
          <p:cNvPr id="551" name="Google Shape;551;p10"/>
          <p:cNvSpPr/>
          <p:nvPr/>
        </p:nvSpPr>
        <p:spPr>
          <a:xfrm>
            <a:off x="916558" y="998028"/>
            <a:ext cx="4639500" cy="310500"/>
          </a:xfrm>
          <a:prstGeom prst="rect">
            <a:avLst/>
          </a:prstGeom>
          <a:noFill/>
          <a:ln>
            <a:noFill/>
          </a:ln>
        </p:spPr>
        <p:txBody>
          <a:bodyPr anchorCtr="0" anchor="t" bIns="25400" lIns="25400" spcFirstLastPara="1" rIns="25400" wrap="square" tIns="25400">
            <a:normAutofit/>
          </a:bodyPr>
          <a:lstStyle/>
          <a:p>
            <a:pPr indent="0" lvl="0" marL="0" marR="0" rtl="0" algn="l">
              <a:lnSpc>
                <a:spcPct val="110000"/>
              </a:lnSpc>
              <a:spcBef>
                <a:spcPts val="0"/>
              </a:spcBef>
              <a:spcAft>
                <a:spcPts val="0"/>
              </a:spcAft>
              <a:buClr>
                <a:srgbClr val="0E1320"/>
              </a:buClr>
              <a:buSzPts val="1950"/>
              <a:buFont typeface="Inter"/>
              <a:buNone/>
            </a:pPr>
            <a:r>
              <a:rPr b="0" i="0" lang="en-US" sz="1950" u="none" cap="none" strike="noStrike">
                <a:solidFill>
                  <a:srgbClr val="0E1320"/>
                </a:solidFill>
                <a:latin typeface="Inter"/>
                <a:ea typeface="Inter"/>
                <a:cs typeface="Inter"/>
                <a:sym typeface="Inter"/>
              </a:rPr>
              <a:t>Assumptions, Exclusions &amp; Open Items</a:t>
            </a:r>
            <a:endParaRPr b="0" i="0" sz="1950" u="none" cap="none" strike="noStrike">
              <a:solidFill>
                <a:schemeClr val="dk1"/>
              </a:solidFill>
              <a:latin typeface="Inter"/>
              <a:ea typeface="Inter"/>
              <a:cs typeface="Inter"/>
              <a:sym typeface="Inter"/>
            </a:endParaRPr>
          </a:p>
        </p:txBody>
      </p:sp>
      <p:sp>
        <p:nvSpPr>
          <p:cNvPr id="552" name="Google Shape;552;p10"/>
          <p:cNvSpPr/>
          <p:nvPr/>
        </p:nvSpPr>
        <p:spPr>
          <a:xfrm>
            <a:off x="571500" y="1565658"/>
            <a:ext cx="3237600" cy="1857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047AB"/>
              </a:buClr>
              <a:buSzPts val="975"/>
              <a:buFont typeface="Inter"/>
              <a:buNone/>
            </a:pPr>
            <a:r>
              <a:rPr b="1" i="0" lang="en-US" sz="975" u="none" cap="none" strike="noStrike">
                <a:solidFill>
                  <a:srgbClr val="0047AB"/>
                </a:solidFill>
                <a:latin typeface="Inter"/>
                <a:ea typeface="Inter"/>
                <a:cs typeface="Inter"/>
                <a:sym typeface="Inter"/>
              </a:rPr>
              <a:t>ASSUMPTIONS</a:t>
            </a:r>
            <a:endParaRPr b="0" i="0" sz="975" u="none" cap="none" strike="noStrike">
              <a:solidFill>
                <a:schemeClr val="dk1"/>
              </a:solidFill>
              <a:latin typeface="Inter"/>
              <a:ea typeface="Inter"/>
              <a:cs typeface="Inter"/>
              <a:sym typeface="Inter"/>
            </a:endParaRPr>
          </a:p>
        </p:txBody>
      </p:sp>
      <p:sp>
        <p:nvSpPr>
          <p:cNvPr id="553" name="Google Shape;553;p10"/>
          <p:cNvSpPr/>
          <p:nvPr/>
        </p:nvSpPr>
        <p:spPr>
          <a:xfrm>
            <a:off x="469900" y="1789496"/>
            <a:ext cx="3321000" cy="2473200"/>
          </a:xfrm>
          <a:prstGeom prst="rect">
            <a:avLst/>
          </a:prstGeom>
          <a:noFill/>
          <a:ln>
            <a:noFill/>
          </a:ln>
        </p:spPr>
        <p:txBody>
          <a:bodyPr anchorCtr="0" anchor="t" bIns="25400" lIns="25400" spcFirstLastPara="1" rIns="25400" wrap="square" tIns="25400">
            <a:normAutofit/>
          </a:bodyPr>
          <a:lstStyle/>
          <a:p>
            <a:pPr indent="-283401" lvl="0" marL="457200" marR="0" rtl="0" algn="l">
              <a:lnSpc>
                <a:spcPct val="155000"/>
              </a:lnSpc>
              <a:spcBef>
                <a:spcPts val="0"/>
              </a:spcBef>
              <a:spcAft>
                <a:spcPts val="0"/>
              </a:spcAft>
              <a:buClr>
                <a:srgbClr val="374151"/>
              </a:buClr>
              <a:buSzPts val="863"/>
              <a:buFont typeface="Inter"/>
              <a:buChar char="●"/>
            </a:pPr>
            <a:r>
              <a:rPr b="0" i="0" lang="en-US" sz="863" u="none" cap="none" strike="noStrike">
                <a:solidFill>
                  <a:srgbClr val="374151"/>
                </a:solidFill>
                <a:latin typeface="Inter"/>
                <a:ea typeface="Inter"/>
                <a:cs typeface="Inter"/>
                <a:sym typeface="Inter"/>
              </a:rPr>
              <a:t>The client will provide representative employer files, previous-month files, validation rules, and expected outputs during discovery.</a:t>
            </a:r>
            <a:endParaRPr b="0" i="0" sz="863" u="none" cap="none" strike="noStrike">
              <a:solidFill>
                <a:schemeClr val="dk1"/>
              </a:solidFill>
              <a:latin typeface="Inter"/>
              <a:ea typeface="Inter"/>
              <a:cs typeface="Inter"/>
              <a:sym typeface="Inter"/>
            </a:endParaRPr>
          </a:p>
          <a:p>
            <a:pPr indent="-283401" lvl="0" marL="457200" marR="0" rtl="0" algn="l">
              <a:lnSpc>
                <a:spcPct val="155000"/>
              </a:lnSpc>
              <a:spcBef>
                <a:spcPts val="0"/>
              </a:spcBef>
              <a:spcAft>
                <a:spcPts val="0"/>
              </a:spcAft>
              <a:buClr>
                <a:srgbClr val="374151"/>
              </a:buClr>
              <a:buSzPts val="863"/>
              <a:buFont typeface="Inter"/>
              <a:buChar char="●"/>
            </a:pPr>
            <a:r>
              <a:rPr b="0" i="0" lang="en-US" sz="863" u="none" cap="none" strike="noStrike">
                <a:solidFill>
                  <a:srgbClr val="374151"/>
                </a:solidFill>
                <a:latin typeface="Inter"/>
                <a:ea typeface="Inter"/>
                <a:cs typeface="Inter"/>
                <a:sym typeface="Inter"/>
              </a:rPr>
              <a:t>Required access to Microsoft 365, Power Automate, cloud storage, PAS API documentation, and test environments will be available on time.</a:t>
            </a:r>
            <a:endParaRPr b="0" i="0" sz="863" u="none" cap="none" strike="noStrike">
              <a:solidFill>
                <a:schemeClr val="dk1"/>
              </a:solidFill>
              <a:latin typeface="Inter"/>
              <a:ea typeface="Inter"/>
              <a:cs typeface="Inter"/>
              <a:sym typeface="Inter"/>
            </a:endParaRPr>
          </a:p>
          <a:p>
            <a:pPr indent="-283401" lvl="0" marL="457200" marR="0" rtl="0" algn="l">
              <a:lnSpc>
                <a:spcPct val="155000"/>
              </a:lnSpc>
              <a:spcBef>
                <a:spcPts val="0"/>
              </a:spcBef>
              <a:spcAft>
                <a:spcPts val="0"/>
              </a:spcAft>
              <a:buClr>
                <a:srgbClr val="374151"/>
              </a:buClr>
              <a:buSzPts val="863"/>
              <a:buFont typeface="Inter"/>
              <a:buChar char="●"/>
            </a:pPr>
            <a:r>
              <a:rPr b="0" i="0" lang="en-US" sz="863" u="none" cap="none" strike="noStrike">
                <a:solidFill>
                  <a:srgbClr val="374151"/>
                </a:solidFill>
                <a:latin typeface="Inter"/>
                <a:ea typeface="Inter"/>
                <a:cs typeface="Inter"/>
                <a:sym typeface="Inter"/>
              </a:rPr>
              <a:t>The existing portal team will expose the integration point or consume Newtuple's validation API as agreed.</a:t>
            </a:r>
            <a:endParaRPr b="0" i="0" sz="863" u="none" cap="none" strike="noStrike">
              <a:solidFill>
                <a:schemeClr val="dk1"/>
              </a:solidFill>
              <a:latin typeface="Inter"/>
              <a:ea typeface="Inter"/>
              <a:cs typeface="Inter"/>
              <a:sym typeface="Inter"/>
            </a:endParaRPr>
          </a:p>
          <a:p>
            <a:pPr indent="-283401" lvl="0" marL="457200" marR="0" rtl="0" algn="l">
              <a:lnSpc>
                <a:spcPct val="155000"/>
              </a:lnSpc>
              <a:spcBef>
                <a:spcPts val="0"/>
              </a:spcBef>
              <a:spcAft>
                <a:spcPts val="0"/>
              </a:spcAft>
              <a:buClr>
                <a:srgbClr val="374151"/>
              </a:buClr>
              <a:buSzPts val="863"/>
              <a:buFont typeface="Inter"/>
              <a:buChar char="●"/>
            </a:pPr>
            <a:r>
              <a:rPr b="0" i="0" lang="en-US" sz="863" u="none" cap="none" strike="noStrike">
                <a:solidFill>
                  <a:srgbClr val="374151"/>
                </a:solidFill>
                <a:latin typeface="Inter"/>
                <a:ea typeface="Inter"/>
                <a:cs typeface="Inter"/>
                <a:sym typeface="Inter"/>
              </a:rPr>
              <a:t>PAS API posting is subject to confirmed endpoint availability, authentication, payload schema, error handling, and rate limits.</a:t>
            </a:r>
            <a:endParaRPr b="0" i="0" sz="863" u="none" cap="none" strike="noStrike">
              <a:solidFill>
                <a:schemeClr val="dk1"/>
              </a:solidFill>
              <a:latin typeface="Inter"/>
              <a:ea typeface="Inter"/>
              <a:cs typeface="Inter"/>
              <a:sym typeface="Inter"/>
            </a:endParaRPr>
          </a:p>
          <a:p>
            <a:pPr indent="-283401" lvl="0" marL="457200" marR="0" rtl="0" algn="l">
              <a:lnSpc>
                <a:spcPct val="155000"/>
              </a:lnSpc>
              <a:spcBef>
                <a:spcPts val="0"/>
              </a:spcBef>
              <a:spcAft>
                <a:spcPts val="0"/>
              </a:spcAft>
              <a:buClr>
                <a:srgbClr val="374151"/>
              </a:buClr>
              <a:buSzPts val="863"/>
              <a:buFont typeface="Inter"/>
              <a:buChar char="●"/>
            </a:pPr>
            <a:r>
              <a:rPr b="0" i="0" lang="en-US" sz="863" u="none" cap="none" strike="noStrike">
                <a:solidFill>
                  <a:srgbClr val="374151"/>
                </a:solidFill>
                <a:latin typeface="Inter"/>
                <a:ea typeface="Inter"/>
                <a:cs typeface="Inter"/>
                <a:sym typeface="Inter"/>
              </a:rPr>
              <a:t>The client will nominate business users for weekly review, UAT feedback, and rule confirmation.</a:t>
            </a:r>
            <a:endParaRPr b="0" i="0" sz="863" u="none" cap="none" strike="noStrike">
              <a:solidFill>
                <a:schemeClr val="dk1"/>
              </a:solidFill>
              <a:latin typeface="Inter"/>
              <a:ea typeface="Inter"/>
              <a:cs typeface="Inter"/>
              <a:sym typeface="Inter"/>
            </a:endParaRPr>
          </a:p>
        </p:txBody>
      </p:sp>
      <p:sp>
        <p:nvSpPr>
          <p:cNvPr id="554" name="Google Shape;554;p10"/>
          <p:cNvSpPr/>
          <p:nvPr/>
        </p:nvSpPr>
        <p:spPr>
          <a:xfrm>
            <a:off x="3848100" y="1565658"/>
            <a:ext cx="3237600" cy="1857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047AB"/>
              </a:buClr>
              <a:buSzPts val="975"/>
              <a:buFont typeface="Inter"/>
              <a:buNone/>
            </a:pPr>
            <a:r>
              <a:rPr b="1" i="0" lang="en-US" sz="975" u="none" cap="none" strike="noStrike">
                <a:solidFill>
                  <a:srgbClr val="0047AB"/>
                </a:solidFill>
                <a:latin typeface="Inter"/>
                <a:ea typeface="Inter"/>
                <a:cs typeface="Inter"/>
                <a:sym typeface="Inter"/>
              </a:rPr>
              <a:t>EXCLUSIONS</a:t>
            </a:r>
            <a:endParaRPr b="0" i="0" sz="975" u="none" cap="none" strike="noStrike">
              <a:solidFill>
                <a:schemeClr val="dk1"/>
              </a:solidFill>
              <a:latin typeface="Inter"/>
              <a:ea typeface="Inter"/>
              <a:cs typeface="Inter"/>
              <a:sym typeface="Inter"/>
            </a:endParaRPr>
          </a:p>
        </p:txBody>
      </p:sp>
      <p:sp>
        <p:nvSpPr>
          <p:cNvPr id="555" name="Google Shape;555;p10"/>
          <p:cNvSpPr/>
          <p:nvPr/>
        </p:nvSpPr>
        <p:spPr>
          <a:xfrm>
            <a:off x="3746500" y="1789496"/>
            <a:ext cx="3321000" cy="1964100"/>
          </a:xfrm>
          <a:prstGeom prst="rect">
            <a:avLst/>
          </a:prstGeom>
          <a:noFill/>
          <a:ln>
            <a:noFill/>
          </a:ln>
        </p:spPr>
        <p:txBody>
          <a:bodyPr anchorCtr="0" anchor="t" bIns="25400" lIns="25400" spcFirstLastPara="1" rIns="25400" wrap="square" tIns="25400">
            <a:normAutofit/>
          </a:bodyPr>
          <a:lstStyle/>
          <a:p>
            <a:pPr indent="-283401" lvl="0" marL="457200" marR="0" rtl="0" algn="l">
              <a:lnSpc>
                <a:spcPct val="155000"/>
              </a:lnSpc>
              <a:spcBef>
                <a:spcPts val="0"/>
              </a:spcBef>
              <a:spcAft>
                <a:spcPts val="0"/>
              </a:spcAft>
              <a:buClr>
                <a:srgbClr val="374151"/>
              </a:buClr>
              <a:buSzPts val="863"/>
              <a:buFont typeface="Inter"/>
              <a:buChar char="●"/>
            </a:pPr>
            <a:r>
              <a:rPr b="0" i="0" lang="en-US" sz="863" u="none" cap="none" strike="noStrike">
                <a:solidFill>
                  <a:srgbClr val="374151"/>
                </a:solidFill>
                <a:latin typeface="Inter"/>
                <a:ea typeface="Inter"/>
                <a:cs typeface="Inter"/>
                <a:sym typeface="Inter"/>
              </a:rPr>
              <a:t>Portal rebuild, new portal UX, or employer identity management changes.</a:t>
            </a:r>
            <a:endParaRPr b="0" i="0" sz="863" u="none" cap="none" strike="noStrike">
              <a:solidFill>
                <a:schemeClr val="dk1"/>
              </a:solidFill>
              <a:latin typeface="Inter"/>
              <a:ea typeface="Inter"/>
              <a:cs typeface="Inter"/>
              <a:sym typeface="Inter"/>
            </a:endParaRPr>
          </a:p>
          <a:p>
            <a:pPr indent="-283401" lvl="0" marL="457200" marR="0" rtl="0" algn="l">
              <a:lnSpc>
                <a:spcPct val="155000"/>
              </a:lnSpc>
              <a:spcBef>
                <a:spcPts val="0"/>
              </a:spcBef>
              <a:spcAft>
                <a:spcPts val="0"/>
              </a:spcAft>
              <a:buClr>
                <a:srgbClr val="374151"/>
              </a:buClr>
              <a:buSzPts val="863"/>
              <a:buFont typeface="Inter"/>
              <a:buChar char="●"/>
            </a:pPr>
            <a:r>
              <a:rPr b="0" i="0" lang="en-US" sz="863" u="none" cap="none" strike="noStrike">
                <a:solidFill>
                  <a:srgbClr val="374151"/>
                </a:solidFill>
                <a:latin typeface="Inter"/>
                <a:ea typeface="Inter"/>
                <a:cs typeface="Inter"/>
                <a:sym typeface="Inter"/>
              </a:rPr>
              <a:t>Large-scale historical data migration or cleansing outside validation test needs.</a:t>
            </a:r>
            <a:endParaRPr b="0" i="0" sz="863" u="none" cap="none" strike="noStrike">
              <a:solidFill>
                <a:schemeClr val="dk1"/>
              </a:solidFill>
              <a:latin typeface="Inter"/>
              <a:ea typeface="Inter"/>
              <a:cs typeface="Inter"/>
              <a:sym typeface="Inter"/>
            </a:endParaRPr>
          </a:p>
          <a:p>
            <a:pPr indent="-283401" lvl="0" marL="457200" marR="0" rtl="0" algn="l">
              <a:lnSpc>
                <a:spcPct val="155000"/>
              </a:lnSpc>
              <a:spcBef>
                <a:spcPts val="0"/>
              </a:spcBef>
              <a:spcAft>
                <a:spcPts val="0"/>
              </a:spcAft>
              <a:buClr>
                <a:srgbClr val="374151"/>
              </a:buClr>
              <a:buSzPts val="863"/>
              <a:buFont typeface="Inter"/>
              <a:buChar char="●"/>
            </a:pPr>
            <a:r>
              <a:rPr b="0" i="0" lang="en-US" sz="863" u="none" cap="none" strike="noStrike">
                <a:solidFill>
                  <a:srgbClr val="374151"/>
                </a:solidFill>
                <a:latin typeface="Inter"/>
                <a:ea typeface="Inter"/>
                <a:cs typeface="Inter"/>
                <a:sym typeface="Inter"/>
              </a:rPr>
              <a:t>Formal security certification, penetration testing, or regulatory attestation.</a:t>
            </a:r>
            <a:endParaRPr b="0" i="0" sz="863" u="none" cap="none" strike="noStrike">
              <a:solidFill>
                <a:schemeClr val="dk1"/>
              </a:solidFill>
              <a:latin typeface="Inter"/>
              <a:ea typeface="Inter"/>
              <a:cs typeface="Inter"/>
              <a:sym typeface="Inter"/>
            </a:endParaRPr>
          </a:p>
          <a:p>
            <a:pPr indent="-283401" lvl="0" marL="457200" marR="0" rtl="0" algn="l">
              <a:lnSpc>
                <a:spcPct val="155000"/>
              </a:lnSpc>
              <a:spcBef>
                <a:spcPts val="0"/>
              </a:spcBef>
              <a:spcAft>
                <a:spcPts val="0"/>
              </a:spcAft>
              <a:buClr>
                <a:srgbClr val="374151"/>
              </a:buClr>
              <a:buSzPts val="863"/>
              <a:buFont typeface="Inter"/>
              <a:buChar char="●"/>
            </a:pPr>
            <a:r>
              <a:rPr b="0" i="0" lang="en-US" sz="863" u="none" cap="none" strike="noStrike">
                <a:solidFill>
                  <a:srgbClr val="374151"/>
                </a:solidFill>
                <a:latin typeface="Inter"/>
                <a:ea typeface="Inter"/>
                <a:cs typeface="Inter"/>
                <a:sym typeface="Inter"/>
              </a:rPr>
              <a:t>Long-term managed service beyond the selected commercial option.</a:t>
            </a:r>
            <a:endParaRPr b="0" i="0" sz="863" u="none" cap="none" strike="noStrike">
              <a:solidFill>
                <a:schemeClr val="dk1"/>
              </a:solidFill>
              <a:latin typeface="Inter"/>
              <a:ea typeface="Inter"/>
              <a:cs typeface="Inter"/>
              <a:sym typeface="Inter"/>
            </a:endParaRPr>
          </a:p>
          <a:p>
            <a:pPr indent="-283401" lvl="0" marL="457200" marR="0" rtl="0" algn="l">
              <a:lnSpc>
                <a:spcPct val="155000"/>
              </a:lnSpc>
              <a:spcBef>
                <a:spcPts val="0"/>
              </a:spcBef>
              <a:spcAft>
                <a:spcPts val="0"/>
              </a:spcAft>
              <a:buClr>
                <a:srgbClr val="374151"/>
              </a:buClr>
              <a:buSzPts val="863"/>
              <a:buFont typeface="Inter"/>
              <a:buChar char="●"/>
            </a:pPr>
            <a:r>
              <a:rPr b="0" i="0" lang="en-US" sz="863" u="none" cap="none" strike="noStrike">
                <a:solidFill>
                  <a:srgbClr val="374151"/>
                </a:solidFill>
                <a:latin typeface="Inter"/>
                <a:ea typeface="Inter"/>
                <a:cs typeface="Inter"/>
                <a:sym typeface="Inter"/>
              </a:rPr>
              <a:t>Enhancements outside the agreed MVP backlog unless approved through change control.</a:t>
            </a:r>
            <a:endParaRPr b="0" i="0" sz="863" u="none" cap="none" strike="noStrike">
              <a:solidFill>
                <a:schemeClr val="dk1"/>
              </a:solidFill>
              <a:latin typeface="Inter"/>
              <a:ea typeface="Inter"/>
              <a:cs typeface="Inter"/>
              <a:sym typeface="Inter"/>
            </a:endParaRPr>
          </a:p>
        </p:txBody>
      </p:sp>
      <p:sp>
        <p:nvSpPr>
          <p:cNvPr id="556" name="Google Shape;556;p10"/>
          <p:cNvSpPr/>
          <p:nvPr/>
        </p:nvSpPr>
        <p:spPr>
          <a:xfrm>
            <a:off x="571500" y="4663473"/>
            <a:ext cx="6612300" cy="2334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E1320"/>
              </a:buClr>
              <a:buSzPts val="1275"/>
              <a:buFont typeface="Inter"/>
              <a:buNone/>
            </a:pPr>
            <a:r>
              <a:rPr b="1" i="0" lang="en-US" sz="1275" u="none" cap="none" strike="noStrike">
                <a:solidFill>
                  <a:srgbClr val="0E1320"/>
                </a:solidFill>
                <a:latin typeface="Inter"/>
                <a:ea typeface="Inter"/>
                <a:cs typeface="Inter"/>
                <a:sym typeface="Inter"/>
              </a:rPr>
              <a:t>Open Items Before Final Submission</a:t>
            </a:r>
            <a:endParaRPr b="0" i="0" sz="1275" u="none" cap="none" strike="noStrike">
              <a:solidFill>
                <a:schemeClr val="dk1"/>
              </a:solidFill>
              <a:latin typeface="Inter"/>
              <a:ea typeface="Inter"/>
              <a:cs typeface="Inter"/>
              <a:sym typeface="Inter"/>
            </a:endParaRPr>
          </a:p>
        </p:txBody>
      </p:sp>
      <p:sp>
        <p:nvSpPr>
          <p:cNvPr id="557" name="Google Shape;557;p10"/>
          <p:cNvSpPr/>
          <p:nvPr/>
        </p:nvSpPr>
        <p:spPr>
          <a:xfrm>
            <a:off x="571500" y="5011136"/>
            <a:ext cx="2381400" cy="288000"/>
          </a:xfrm>
          <a:prstGeom prst="rect">
            <a:avLst/>
          </a:prstGeom>
          <a:solidFill>
            <a:srgbClr val="F7F8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10"/>
          <p:cNvSpPr/>
          <p:nvPr/>
        </p:nvSpPr>
        <p:spPr>
          <a:xfrm>
            <a:off x="571500" y="5289742"/>
            <a:ext cx="2381400" cy="9600"/>
          </a:xfrm>
          <a:prstGeom prst="rect">
            <a:avLst/>
          </a:prstGeom>
          <a:solidFill>
            <a:srgbClr val="004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10"/>
          <p:cNvSpPr/>
          <p:nvPr/>
        </p:nvSpPr>
        <p:spPr>
          <a:xfrm>
            <a:off x="666750" y="5077811"/>
            <a:ext cx="2267100" cy="1833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788"/>
              <a:buFont typeface="Inter"/>
              <a:buNone/>
            </a:pPr>
            <a:r>
              <a:rPr b="1" i="0" lang="en-US" sz="788" u="none" cap="none" strike="noStrike">
                <a:solidFill>
                  <a:srgbClr val="374151"/>
                </a:solidFill>
                <a:latin typeface="Inter"/>
                <a:ea typeface="Inter"/>
                <a:cs typeface="Inter"/>
                <a:sym typeface="Inter"/>
              </a:rPr>
              <a:t>OPEN ITEM</a:t>
            </a:r>
            <a:endParaRPr b="0" i="0" sz="788" u="none" cap="none" strike="noStrike">
              <a:solidFill>
                <a:schemeClr val="dk1"/>
              </a:solidFill>
              <a:latin typeface="Inter"/>
              <a:ea typeface="Inter"/>
              <a:cs typeface="Inter"/>
              <a:sym typeface="Inter"/>
            </a:endParaRPr>
          </a:p>
        </p:txBody>
      </p:sp>
      <p:sp>
        <p:nvSpPr>
          <p:cNvPr id="560" name="Google Shape;560;p10"/>
          <p:cNvSpPr/>
          <p:nvPr/>
        </p:nvSpPr>
        <p:spPr>
          <a:xfrm>
            <a:off x="2952750" y="5011136"/>
            <a:ext cx="1809600" cy="288000"/>
          </a:xfrm>
          <a:prstGeom prst="rect">
            <a:avLst/>
          </a:prstGeom>
          <a:solidFill>
            <a:srgbClr val="F7F8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10"/>
          <p:cNvSpPr/>
          <p:nvPr/>
        </p:nvSpPr>
        <p:spPr>
          <a:xfrm>
            <a:off x="2952750" y="5289742"/>
            <a:ext cx="1809600" cy="9600"/>
          </a:xfrm>
          <a:prstGeom prst="rect">
            <a:avLst/>
          </a:prstGeom>
          <a:solidFill>
            <a:srgbClr val="004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10"/>
          <p:cNvSpPr/>
          <p:nvPr/>
        </p:nvSpPr>
        <p:spPr>
          <a:xfrm>
            <a:off x="3048000" y="5077811"/>
            <a:ext cx="1695600" cy="1833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788"/>
              <a:buFont typeface="Inter"/>
              <a:buNone/>
            </a:pPr>
            <a:r>
              <a:rPr b="1" i="0" lang="en-US" sz="788" u="none" cap="none" strike="noStrike">
                <a:solidFill>
                  <a:srgbClr val="374151"/>
                </a:solidFill>
                <a:latin typeface="Inter"/>
                <a:ea typeface="Inter"/>
                <a:cs typeface="Inter"/>
                <a:sym typeface="Inter"/>
              </a:rPr>
              <a:t>OWNER GROUP</a:t>
            </a:r>
            <a:endParaRPr b="0" i="0" sz="788" u="none" cap="none" strike="noStrike">
              <a:solidFill>
                <a:schemeClr val="dk1"/>
              </a:solidFill>
              <a:latin typeface="Inter"/>
              <a:ea typeface="Inter"/>
              <a:cs typeface="Inter"/>
              <a:sym typeface="Inter"/>
            </a:endParaRPr>
          </a:p>
        </p:txBody>
      </p:sp>
      <p:sp>
        <p:nvSpPr>
          <p:cNvPr id="563" name="Google Shape;563;p10"/>
          <p:cNvSpPr/>
          <p:nvPr/>
        </p:nvSpPr>
        <p:spPr>
          <a:xfrm>
            <a:off x="4762500" y="5011136"/>
            <a:ext cx="2229000" cy="288000"/>
          </a:xfrm>
          <a:prstGeom prst="rect">
            <a:avLst/>
          </a:prstGeom>
          <a:solidFill>
            <a:srgbClr val="F7F8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10"/>
          <p:cNvSpPr/>
          <p:nvPr/>
        </p:nvSpPr>
        <p:spPr>
          <a:xfrm>
            <a:off x="4762500" y="5289742"/>
            <a:ext cx="2229000" cy="9600"/>
          </a:xfrm>
          <a:prstGeom prst="rect">
            <a:avLst/>
          </a:prstGeom>
          <a:solidFill>
            <a:srgbClr val="004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10"/>
          <p:cNvSpPr/>
          <p:nvPr/>
        </p:nvSpPr>
        <p:spPr>
          <a:xfrm>
            <a:off x="4857750" y="5077811"/>
            <a:ext cx="2114700" cy="1833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788"/>
              <a:buFont typeface="Inter"/>
              <a:buNone/>
            </a:pPr>
            <a:r>
              <a:rPr b="1" i="0" lang="en-US" sz="788" u="none" cap="none" strike="noStrike">
                <a:solidFill>
                  <a:srgbClr val="374151"/>
                </a:solidFill>
                <a:latin typeface="Inter"/>
                <a:ea typeface="Inter"/>
                <a:cs typeface="Inter"/>
                <a:sym typeface="Inter"/>
              </a:rPr>
              <a:t>WHY IT MATTERS</a:t>
            </a:r>
            <a:endParaRPr b="0" i="0" sz="788" u="none" cap="none" strike="noStrike">
              <a:solidFill>
                <a:schemeClr val="dk1"/>
              </a:solidFill>
              <a:latin typeface="Inter"/>
              <a:ea typeface="Inter"/>
              <a:cs typeface="Inter"/>
              <a:sym typeface="Inter"/>
            </a:endParaRPr>
          </a:p>
        </p:txBody>
      </p:sp>
      <p:sp>
        <p:nvSpPr>
          <p:cNvPr id="566" name="Google Shape;566;p10"/>
          <p:cNvSpPr/>
          <p:nvPr/>
        </p:nvSpPr>
        <p:spPr>
          <a:xfrm>
            <a:off x="571500" y="5746942"/>
            <a:ext cx="23814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10"/>
          <p:cNvSpPr/>
          <p:nvPr/>
        </p:nvSpPr>
        <p:spPr>
          <a:xfrm>
            <a:off x="666750" y="5365942"/>
            <a:ext cx="2267100" cy="3525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0E1320"/>
              </a:buClr>
              <a:buSzPts val="825"/>
              <a:buFont typeface="Inter"/>
              <a:buNone/>
            </a:pPr>
            <a:r>
              <a:rPr b="1" i="0" lang="en-US" sz="825" u="none" cap="none" strike="noStrike">
                <a:solidFill>
                  <a:srgbClr val="0E1320"/>
                </a:solidFill>
                <a:latin typeface="Inter"/>
                <a:ea typeface="Inter"/>
                <a:cs typeface="Inter"/>
                <a:sym typeface="Inter"/>
              </a:rPr>
              <a:t>Client name and signatory details</a:t>
            </a:r>
            <a:endParaRPr b="0" i="0" sz="825" u="none" cap="none" strike="noStrike">
              <a:solidFill>
                <a:schemeClr val="dk1"/>
              </a:solidFill>
              <a:latin typeface="Inter"/>
              <a:ea typeface="Inter"/>
              <a:cs typeface="Inter"/>
              <a:sym typeface="Inter"/>
            </a:endParaRPr>
          </a:p>
        </p:txBody>
      </p:sp>
      <p:sp>
        <p:nvSpPr>
          <p:cNvPr id="568" name="Google Shape;568;p10"/>
          <p:cNvSpPr/>
          <p:nvPr/>
        </p:nvSpPr>
        <p:spPr>
          <a:xfrm>
            <a:off x="2952750" y="5746942"/>
            <a:ext cx="18096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10"/>
          <p:cNvSpPr/>
          <p:nvPr/>
        </p:nvSpPr>
        <p:spPr>
          <a:xfrm>
            <a:off x="3048000" y="5365942"/>
            <a:ext cx="1695600" cy="3525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825"/>
              <a:buFont typeface="Inter"/>
              <a:buNone/>
            </a:pPr>
            <a:r>
              <a:rPr b="0" i="0" lang="en-US" sz="825" u="none" cap="none" strike="noStrike">
                <a:solidFill>
                  <a:srgbClr val="374151"/>
                </a:solidFill>
                <a:latin typeface="Inter"/>
                <a:ea typeface="Inter"/>
                <a:cs typeface="Inter"/>
                <a:sym typeface="Inter"/>
              </a:rPr>
              <a:t>Sales</a:t>
            </a:r>
            <a:endParaRPr b="0" i="0" sz="825" u="none" cap="none" strike="noStrike">
              <a:solidFill>
                <a:schemeClr val="dk1"/>
              </a:solidFill>
              <a:latin typeface="Inter"/>
              <a:ea typeface="Inter"/>
              <a:cs typeface="Inter"/>
              <a:sym typeface="Inter"/>
            </a:endParaRPr>
          </a:p>
        </p:txBody>
      </p:sp>
      <p:sp>
        <p:nvSpPr>
          <p:cNvPr id="570" name="Google Shape;570;p10"/>
          <p:cNvSpPr/>
          <p:nvPr/>
        </p:nvSpPr>
        <p:spPr>
          <a:xfrm>
            <a:off x="4762500" y="5746942"/>
            <a:ext cx="22290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10"/>
          <p:cNvSpPr/>
          <p:nvPr/>
        </p:nvSpPr>
        <p:spPr>
          <a:xfrm>
            <a:off x="4857750" y="5365942"/>
            <a:ext cx="2114700" cy="3525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825"/>
              <a:buFont typeface="Inter"/>
              <a:buNone/>
            </a:pPr>
            <a:r>
              <a:rPr b="0" i="0" lang="en-US" sz="825" u="none" cap="none" strike="noStrike">
                <a:solidFill>
                  <a:srgbClr val="374151"/>
                </a:solidFill>
                <a:latin typeface="Inter"/>
                <a:ea typeface="Inter"/>
                <a:cs typeface="Inter"/>
                <a:sym typeface="Inter"/>
              </a:rPr>
              <a:t>Needed for cover page, signature block, and final quote validity.</a:t>
            </a:r>
            <a:endParaRPr b="0" i="0" sz="825" u="none" cap="none" strike="noStrike">
              <a:solidFill>
                <a:schemeClr val="dk1"/>
              </a:solidFill>
              <a:latin typeface="Inter"/>
              <a:ea typeface="Inter"/>
              <a:cs typeface="Inter"/>
              <a:sym typeface="Inter"/>
            </a:endParaRPr>
          </a:p>
        </p:txBody>
      </p:sp>
      <p:sp>
        <p:nvSpPr>
          <p:cNvPr id="572" name="Google Shape;572;p10"/>
          <p:cNvSpPr/>
          <p:nvPr/>
        </p:nvSpPr>
        <p:spPr>
          <a:xfrm>
            <a:off x="571500" y="6204142"/>
            <a:ext cx="23814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10"/>
          <p:cNvSpPr/>
          <p:nvPr/>
        </p:nvSpPr>
        <p:spPr>
          <a:xfrm>
            <a:off x="666750" y="5823142"/>
            <a:ext cx="2267100" cy="3525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0E1320"/>
              </a:buClr>
              <a:buSzPts val="825"/>
              <a:buFont typeface="Inter"/>
              <a:buNone/>
            </a:pPr>
            <a:r>
              <a:rPr b="1" i="0" lang="en-US" sz="825" u="none" cap="none" strike="noStrike">
                <a:solidFill>
                  <a:srgbClr val="0E1320"/>
                </a:solidFill>
                <a:latin typeface="Inter"/>
                <a:ea typeface="Inter"/>
                <a:cs typeface="Inter"/>
                <a:sym typeface="Inter"/>
              </a:rPr>
              <a:t>PAS API contract and authentication model</a:t>
            </a:r>
            <a:endParaRPr b="0" i="0" sz="825" u="none" cap="none" strike="noStrike">
              <a:solidFill>
                <a:schemeClr val="dk1"/>
              </a:solidFill>
              <a:latin typeface="Inter"/>
              <a:ea typeface="Inter"/>
              <a:cs typeface="Inter"/>
              <a:sym typeface="Inter"/>
            </a:endParaRPr>
          </a:p>
        </p:txBody>
      </p:sp>
      <p:sp>
        <p:nvSpPr>
          <p:cNvPr id="574" name="Google Shape;574;p10"/>
          <p:cNvSpPr/>
          <p:nvPr/>
        </p:nvSpPr>
        <p:spPr>
          <a:xfrm>
            <a:off x="2952750" y="6204142"/>
            <a:ext cx="18096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10"/>
          <p:cNvSpPr/>
          <p:nvPr/>
        </p:nvSpPr>
        <p:spPr>
          <a:xfrm>
            <a:off x="3048000" y="5823142"/>
            <a:ext cx="1695600" cy="3525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825"/>
              <a:buFont typeface="Inter"/>
              <a:buNone/>
            </a:pPr>
            <a:r>
              <a:rPr b="0" i="0" lang="en-US" sz="825" u="none" cap="none" strike="noStrike">
                <a:solidFill>
                  <a:srgbClr val="374151"/>
                </a:solidFill>
                <a:latin typeface="Inter"/>
                <a:ea typeface="Inter"/>
                <a:cs typeface="Inter"/>
                <a:sym typeface="Inter"/>
              </a:rPr>
              <a:t>Product / client technical team</a:t>
            </a:r>
            <a:endParaRPr b="0" i="0" sz="825" u="none" cap="none" strike="noStrike">
              <a:solidFill>
                <a:schemeClr val="dk1"/>
              </a:solidFill>
              <a:latin typeface="Inter"/>
              <a:ea typeface="Inter"/>
              <a:cs typeface="Inter"/>
              <a:sym typeface="Inter"/>
            </a:endParaRPr>
          </a:p>
        </p:txBody>
      </p:sp>
      <p:sp>
        <p:nvSpPr>
          <p:cNvPr id="576" name="Google Shape;576;p10"/>
          <p:cNvSpPr/>
          <p:nvPr/>
        </p:nvSpPr>
        <p:spPr>
          <a:xfrm>
            <a:off x="4762500" y="6204142"/>
            <a:ext cx="22290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10"/>
          <p:cNvSpPr/>
          <p:nvPr/>
        </p:nvSpPr>
        <p:spPr>
          <a:xfrm>
            <a:off x="4857750" y="5823142"/>
            <a:ext cx="2114700" cy="3525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825"/>
              <a:buFont typeface="Inter"/>
              <a:buNone/>
            </a:pPr>
            <a:r>
              <a:rPr b="0" i="0" lang="en-US" sz="825" u="none" cap="none" strike="noStrike">
                <a:solidFill>
                  <a:srgbClr val="374151"/>
                </a:solidFill>
                <a:latin typeface="Inter"/>
                <a:ea typeface="Inter"/>
                <a:cs typeface="Inter"/>
                <a:sym typeface="Inter"/>
              </a:rPr>
              <a:t>Determines whether automated upload can be committed in the MVP.</a:t>
            </a:r>
            <a:endParaRPr b="0" i="0" sz="825" u="none" cap="none" strike="noStrike">
              <a:solidFill>
                <a:schemeClr val="dk1"/>
              </a:solidFill>
              <a:latin typeface="Inter"/>
              <a:ea typeface="Inter"/>
              <a:cs typeface="Inter"/>
              <a:sym typeface="Inter"/>
            </a:endParaRPr>
          </a:p>
        </p:txBody>
      </p:sp>
      <p:sp>
        <p:nvSpPr>
          <p:cNvPr id="578" name="Google Shape;578;p10"/>
          <p:cNvSpPr/>
          <p:nvPr/>
        </p:nvSpPr>
        <p:spPr>
          <a:xfrm>
            <a:off x="571500" y="6661342"/>
            <a:ext cx="23814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10"/>
          <p:cNvSpPr/>
          <p:nvPr/>
        </p:nvSpPr>
        <p:spPr>
          <a:xfrm>
            <a:off x="666750" y="6280342"/>
            <a:ext cx="2267100" cy="3525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0E1320"/>
              </a:buClr>
              <a:buSzPts val="825"/>
              <a:buFont typeface="Inter"/>
              <a:buNone/>
            </a:pPr>
            <a:r>
              <a:rPr b="1" i="0" lang="en-US" sz="825" u="none" cap="none" strike="noStrike">
                <a:solidFill>
                  <a:srgbClr val="0E1320"/>
                </a:solidFill>
                <a:latin typeface="Inter"/>
                <a:ea typeface="Inter"/>
                <a:cs typeface="Inter"/>
                <a:sym typeface="Inter"/>
              </a:rPr>
              <a:t>Power Automate licensing position</a:t>
            </a:r>
            <a:endParaRPr b="0" i="0" sz="825" u="none" cap="none" strike="noStrike">
              <a:solidFill>
                <a:schemeClr val="dk1"/>
              </a:solidFill>
              <a:latin typeface="Inter"/>
              <a:ea typeface="Inter"/>
              <a:cs typeface="Inter"/>
              <a:sym typeface="Inter"/>
            </a:endParaRPr>
          </a:p>
        </p:txBody>
      </p:sp>
      <p:sp>
        <p:nvSpPr>
          <p:cNvPr id="580" name="Google Shape;580;p10"/>
          <p:cNvSpPr/>
          <p:nvPr/>
        </p:nvSpPr>
        <p:spPr>
          <a:xfrm>
            <a:off x="2952750" y="6661342"/>
            <a:ext cx="18096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10"/>
          <p:cNvSpPr/>
          <p:nvPr/>
        </p:nvSpPr>
        <p:spPr>
          <a:xfrm>
            <a:off x="3048000" y="6280342"/>
            <a:ext cx="1695600" cy="3525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825"/>
              <a:buFont typeface="Inter"/>
              <a:buNone/>
            </a:pPr>
            <a:r>
              <a:rPr b="0" i="0" lang="en-US" sz="825" u="none" cap="none" strike="noStrike">
                <a:solidFill>
                  <a:srgbClr val="374151"/>
                </a:solidFill>
                <a:latin typeface="Inter"/>
                <a:ea typeface="Inter"/>
                <a:cs typeface="Inter"/>
                <a:sym typeface="Inter"/>
              </a:rPr>
              <a:t>Client IT / Microsoft admin</a:t>
            </a:r>
            <a:endParaRPr b="0" i="0" sz="825" u="none" cap="none" strike="noStrike">
              <a:solidFill>
                <a:schemeClr val="dk1"/>
              </a:solidFill>
              <a:latin typeface="Inter"/>
              <a:ea typeface="Inter"/>
              <a:cs typeface="Inter"/>
              <a:sym typeface="Inter"/>
            </a:endParaRPr>
          </a:p>
        </p:txBody>
      </p:sp>
      <p:sp>
        <p:nvSpPr>
          <p:cNvPr id="582" name="Google Shape;582;p10"/>
          <p:cNvSpPr/>
          <p:nvPr/>
        </p:nvSpPr>
        <p:spPr>
          <a:xfrm>
            <a:off x="4762500" y="6661342"/>
            <a:ext cx="22290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10"/>
          <p:cNvSpPr/>
          <p:nvPr/>
        </p:nvSpPr>
        <p:spPr>
          <a:xfrm>
            <a:off x="4857750" y="6280342"/>
            <a:ext cx="2114700" cy="3525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825"/>
              <a:buFont typeface="Inter"/>
              <a:buNone/>
            </a:pPr>
            <a:r>
              <a:rPr b="0" i="0" lang="en-US" sz="825" u="none" cap="none" strike="noStrike">
                <a:solidFill>
                  <a:srgbClr val="374151"/>
                </a:solidFill>
                <a:latin typeface="Inter"/>
                <a:ea typeface="Inter"/>
                <a:cs typeface="Inter"/>
                <a:sym typeface="Inter"/>
              </a:rPr>
              <a:t>May affect implementation cost and process design.</a:t>
            </a:r>
            <a:endParaRPr b="0" i="0" sz="825" u="none" cap="none" strike="noStrike">
              <a:solidFill>
                <a:schemeClr val="dk1"/>
              </a:solidFill>
              <a:latin typeface="Inter"/>
              <a:ea typeface="Inter"/>
              <a:cs typeface="Inter"/>
              <a:sym typeface="Inter"/>
            </a:endParaRPr>
          </a:p>
        </p:txBody>
      </p:sp>
      <p:sp>
        <p:nvSpPr>
          <p:cNvPr id="584" name="Google Shape;584;p10"/>
          <p:cNvSpPr/>
          <p:nvPr/>
        </p:nvSpPr>
        <p:spPr>
          <a:xfrm>
            <a:off x="571500" y="7118542"/>
            <a:ext cx="23814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10"/>
          <p:cNvSpPr/>
          <p:nvPr/>
        </p:nvSpPr>
        <p:spPr>
          <a:xfrm>
            <a:off x="666750" y="6737542"/>
            <a:ext cx="2267100" cy="3525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0E1320"/>
              </a:buClr>
              <a:buSzPts val="825"/>
              <a:buFont typeface="Inter"/>
              <a:buNone/>
            </a:pPr>
            <a:r>
              <a:rPr b="1" i="0" lang="en-US" sz="825" u="none" cap="none" strike="noStrike">
                <a:solidFill>
                  <a:srgbClr val="0E1320"/>
                </a:solidFill>
                <a:latin typeface="Inter"/>
                <a:ea typeface="Inter"/>
                <a:cs typeface="Inter"/>
                <a:sym typeface="Inter"/>
              </a:rPr>
              <a:t>Final validation rule catalogue</a:t>
            </a:r>
            <a:endParaRPr b="0" i="0" sz="825" u="none" cap="none" strike="noStrike">
              <a:solidFill>
                <a:schemeClr val="dk1"/>
              </a:solidFill>
              <a:latin typeface="Inter"/>
              <a:ea typeface="Inter"/>
              <a:cs typeface="Inter"/>
              <a:sym typeface="Inter"/>
            </a:endParaRPr>
          </a:p>
        </p:txBody>
      </p:sp>
      <p:sp>
        <p:nvSpPr>
          <p:cNvPr id="586" name="Google Shape;586;p10"/>
          <p:cNvSpPr/>
          <p:nvPr/>
        </p:nvSpPr>
        <p:spPr>
          <a:xfrm>
            <a:off x="2952750" y="7118542"/>
            <a:ext cx="18096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10"/>
          <p:cNvSpPr/>
          <p:nvPr/>
        </p:nvSpPr>
        <p:spPr>
          <a:xfrm>
            <a:off x="3048000" y="6737542"/>
            <a:ext cx="1695600" cy="3525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825"/>
              <a:buFont typeface="Inter"/>
              <a:buNone/>
            </a:pPr>
            <a:r>
              <a:rPr b="0" i="0" lang="en-US" sz="825" u="none" cap="none" strike="noStrike">
                <a:solidFill>
                  <a:srgbClr val="374151"/>
                </a:solidFill>
                <a:latin typeface="Inter"/>
                <a:ea typeface="Inter"/>
                <a:cs typeface="Inter"/>
                <a:sym typeface="Inter"/>
              </a:rPr>
              <a:t>Client operations / SME</a:t>
            </a:r>
            <a:endParaRPr b="0" i="0" sz="825" u="none" cap="none" strike="noStrike">
              <a:solidFill>
                <a:schemeClr val="dk1"/>
              </a:solidFill>
              <a:latin typeface="Inter"/>
              <a:ea typeface="Inter"/>
              <a:cs typeface="Inter"/>
              <a:sym typeface="Inter"/>
            </a:endParaRPr>
          </a:p>
        </p:txBody>
      </p:sp>
      <p:sp>
        <p:nvSpPr>
          <p:cNvPr id="588" name="Google Shape;588;p10"/>
          <p:cNvSpPr/>
          <p:nvPr/>
        </p:nvSpPr>
        <p:spPr>
          <a:xfrm>
            <a:off x="4762500" y="7118542"/>
            <a:ext cx="22290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10"/>
          <p:cNvSpPr/>
          <p:nvPr/>
        </p:nvSpPr>
        <p:spPr>
          <a:xfrm>
            <a:off x="4857750" y="6737542"/>
            <a:ext cx="2114700" cy="3525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825"/>
              <a:buFont typeface="Inter"/>
              <a:buNone/>
            </a:pPr>
            <a:r>
              <a:rPr b="0" i="0" lang="en-US" sz="825" u="none" cap="none" strike="noStrike">
                <a:solidFill>
                  <a:srgbClr val="374151"/>
                </a:solidFill>
                <a:latin typeface="Inter"/>
                <a:ea typeface="Inter"/>
                <a:cs typeface="Inter"/>
                <a:sym typeface="Inter"/>
              </a:rPr>
              <a:t>Controls scope, test cases, and estimate confidence.</a:t>
            </a:r>
            <a:endParaRPr b="0" i="0" sz="825" u="none" cap="none" strike="noStrike">
              <a:solidFill>
                <a:schemeClr val="dk1"/>
              </a:solidFill>
              <a:latin typeface="Inter"/>
              <a:ea typeface="Inter"/>
              <a:cs typeface="Inter"/>
              <a:sym typeface="Inter"/>
            </a:endParaRPr>
          </a:p>
        </p:txBody>
      </p:sp>
      <p:sp>
        <p:nvSpPr>
          <p:cNvPr id="590" name="Google Shape;590;p10"/>
          <p:cNvSpPr/>
          <p:nvPr/>
        </p:nvSpPr>
        <p:spPr>
          <a:xfrm>
            <a:off x="571500" y="7575742"/>
            <a:ext cx="23814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10"/>
          <p:cNvSpPr/>
          <p:nvPr/>
        </p:nvSpPr>
        <p:spPr>
          <a:xfrm>
            <a:off x="666750" y="7194742"/>
            <a:ext cx="2267100" cy="3525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0E1320"/>
              </a:buClr>
              <a:buSzPts val="825"/>
              <a:buFont typeface="Inter"/>
              <a:buNone/>
            </a:pPr>
            <a:r>
              <a:rPr b="1" i="0" lang="en-US" sz="825" u="none" cap="none" strike="noStrike">
                <a:solidFill>
                  <a:srgbClr val="0E1320"/>
                </a:solidFill>
                <a:latin typeface="Inter"/>
                <a:ea typeface="Inter"/>
                <a:cs typeface="Inter"/>
                <a:sym typeface="Inter"/>
              </a:rPr>
              <a:t>Historical storage location and access pattern</a:t>
            </a:r>
            <a:endParaRPr b="0" i="0" sz="825" u="none" cap="none" strike="noStrike">
              <a:solidFill>
                <a:schemeClr val="dk1"/>
              </a:solidFill>
              <a:latin typeface="Inter"/>
              <a:ea typeface="Inter"/>
              <a:cs typeface="Inter"/>
              <a:sym typeface="Inter"/>
            </a:endParaRPr>
          </a:p>
        </p:txBody>
      </p:sp>
      <p:sp>
        <p:nvSpPr>
          <p:cNvPr id="592" name="Google Shape;592;p10"/>
          <p:cNvSpPr/>
          <p:nvPr/>
        </p:nvSpPr>
        <p:spPr>
          <a:xfrm>
            <a:off x="2952750" y="7575742"/>
            <a:ext cx="18096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10"/>
          <p:cNvSpPr/>
          <p:nvPr/>
        </p:nvSpPr>
        <p:spPr>
          <a:xfrm>
            <a:off x="3048000" y="7194742"/>
            <a:ext cx="1695600" cy="3525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825"/>
              <a:buFont typeface="Inter"/>
              <a:buNone/>
            </a:pPr>
            <a:r>
              <a:rPr b="0" i="0" lang="en-US" sz="825" u="none" cap="none" strike="noStrike">
                <a:solidFill>
                  <a:srgbClr val="374151"/>
                </a:solidFill>
                <a:latin typeface="Inter"/>
                <a:ea typeface="Inter"/>
                <a:cs typeface="Inter"/>
                <a:sym typeface="Inter"/>
              </a:rPr>
              <a:t>Client IT</a:t>
            </a:r>
            <a:endParaRPr b="0" i="0" sz="825" u="none" cap="none" strike="noStrike">
              <a:solidFill>
                <a:schemeClr val="dk1"/>
              </a:solidFill>
              <a:latin typeface="Inter"/>
              <a:ea typeface="Inter"/>
              <a:cs typeface="Inter"/>
              <a:sym typeface="Inter"/>
            </a:endParaRPr>
          </a:p>
        </p:txBody>
      </p:sp>
      <p:sp>
        <p:nvSpPr>
          <p:cNvPr id="594" name="Google Shape;594;p10"/>
          <p:cNvSpPr/>
          <p:nvPr/>
        </p:nvSpPr>
        <p:spPr>
          <a:xfrm>
            <a:off x="4762500" y="7575742"/>
            <a:ext cx="22290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10"/>
          <p:cNvSpPr/>
          <p:nvPr/>
        </p:nvSpPr>
        <p:spPr>
          <a:xfrm>
            <a:off x="4857750" y="7194742"/>
            <a:ext cx="2114700" cy="3525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825"/>
              <a:buFont typeface="Inter"/>
              <a:buNone/>
            </a:pPr>
            <a:r>
              <a:rPr b="0" i="0" lang="en-US" sz="825" u="none" cap="none" strike="noStrike">
                <a:solidFill>
                  <a:srgbClr val="374151"/>
                </a:solidFill>
                <a:latin typeface="Inter"/>
                <a:ea typeface="Inter"/>
                <a:cs typeface="Inter"/>
                <a:sym typeface="Inter"/>
              </a:rPr>
              <a:t>Required for previous-month comparison and data retrieval timing.</a:t>
            </a:r>
            <a:endParaRPr b="0" i="0" sz="825" u="none" cap="none" strike="noStrike">
              <a:solidFill>
                <a:schemeClr val="dk1"/>
              </a:solidFill>
              <a:latin typeface="Inter"/>
              <a:ea typeface="Inter"/>
              <a:cs typeface="Inter"/>
              <a:sym typeface="Inter"/>
            </a:endParaRPr>
          </a:p>
        </p:txBody>
      </p:sp>
      <p:sp>
        <p:nvSpPr>
          <p:cNvPr id="596" name="Google Shape;596;p10"/>
          <p:cNvSpPr/>
          <p:nvPr/>
        </p:nvSpPr>
        <p:spPr>
          <a:xfrm>
            <a:off x="666750" y="7651942"/>
            <a:ext cx="2267100" cy="3573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0E1320"/>
              </a:buClr>
              <a:buSzPts val="825"/>
              <a:buFont typeface="Inter"/>
              <a:buNone/>
            </a:pPr>
            <a:r>
              <a:rPr b="1" i="0" lang="en-US" sz="825" u="none" cap="none" strike="noStrike">
                <a:solidFill>
                  <a:srgbClr val="0E1320"/>
                </a:solidFill>
                <a:latin typeface="Inter"/>
                <a:ea typeface="Inter"/>
                <a:cs typeface="Inter"/>
                <a:sym typeface="Inter"/>
              </a:rPr>
              <a:t>Decision on Option A vs. Option B</a:t>
            </a:r>
            <a:endParaRPr b="0" i="0" sz="825" u="none" cap="none" strike="noStrike">
              <a:solidFill>
                <a:schemeClr val="dk1"/>
              </a:solidFill>
              <a:latin typeface="Inter"/>
              <a:ea typeface="Inter"/>
              <a:cs typeface="Inter"/>
              <a:sym typeface="Inter"/>
            </a:endParaRPr>
          </a:p>
        </p:txBody>
      </p:sp>
      <p:sp>
        <p:nvSpPr>
          <p:cNvPr id="597" name="Google Shape;597;p10"/>
          <p:cNvSpPr/>
          <p:nvPr/>
        </p:nvSpPr>
        <p:spPr>
          <a:xfrm>
            <a:off x="3048000" y="7651942"/>
            <a:ext cx="1695600" cy="3573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825"/>
              <a:buFont typeface="Inter"/>
              <a:buNone/>
            </a:pPr>
            <a:r>
              <a:rPr b="0" i="0" lang="en-US" sz="825" u="none" cap="none" strike="noStrike">
                <a:solidFill>
                  <a:srgbClr val="374151"/>
                </a:solidFill>
                <a:latin typeface="Inter"/>
                <a:ea typeface="Inter"/>
                <a:cs typeface="Inter"/>
                <a:sym typeface="Inter"/>
              </a:rPr>
              <a:t>Sales / commercial</a:t>
            </a:r>
            <a:endParaRPr b="0" i="0" sz="825" u="none" cap="none" strike="noStrike">
              <a:solidFill>
                <a:schemeClr val="dk1"/>
              </a:solidFill>
              <a:latin typeface="Inter"/>
              <a:ea typeface="Inter"/>
              <a:cs typeface="Inter"/>
              <a:sym typeface="Inter"/>
            </a:endParaRPr>
          </a:p>
        </p:txBody>
      </p:sp>
      <p:sp>
        <p:nvSpPr>
          <p:cNvPr id="598" name="Google Shape;598;p10"/>
          <p:cNvSpPr/>
          <p:nvPr/>
        </p:nvSpPr>
        <p:spPr>
          <a:xfrm>
            <a:off x="4857750" y="7651942"/>
            <a:ext cx="2114700" cy="357300"/>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374151"/>
              </a:buClr>
              <a:buSzPts val="825"/>
              <a:buFont typeface="Inter"/>
              <a:buNone/>
            </a:pPr>
            <a:r>
              <a:rPr b="0" i="0" lang="en-US" sz="825" u="none" cap="none" strike="noStrike">
                <a:solidFill>
                  <a:srgbClr val="374151"/>
                </a:solidFill>
                <a:latin typeface="Inter"/>
                <a:ea typeface="Inter"/>
                <a:cs typeface="Inter"/>
                <a:sym typeface="Inter"/>
              </a:rPr>
              <a:t>Needed before presenting a final commercial recommendation.</a:t>
            </a:r>
            <a:endParaRPr b="0" i="0" sz="825" u="none" cap="none" strike="noStrike">
              <a:solidFill>
                <a:schemeClr val="dk1"/>
              </a:solidFill>
              <a:latin typeface="Inter"/>
              <a:ea typeface="Inter"/>
              <a:cs typeface="Inter"/>
              <a:sym typeface="Inter"/>
            </a:endParaRPr>
          </a:p>
        </p:txBody>
      </p:sp>
      <p:sp>
        <p:nvSpPr>
          <p:cNvPr id="599" name="Google Shape;599;p10"/>
          <p:cNvSpPr/>
          <p:nvPr/>
        </p:nvSpPr>
        <p:spPr>
          <a:xfrm>
            <a:off x="571500" y="8258496"/>
            <a:ext cx="6612300" cy="2334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E1320"/>
              </a:buClr>
              <a:buSzPts val="1275"/>
              <a:buFont typeface="Inter"/>
              <a:buNone/>
            </a:pPr>
            <a:r>
              <a:rPr b="1" i="0" lang="en-US" sz="1275" u="none" cap="none" strike="noStrike">
                <a:solidFill>
                  <a:srgbClr val="0E1320"/>
                </a:solidFill>
                <a:latin typeface="Inter"/>
                <a:ea typeface="Inter"/>
                <a:cs typeface="Inter"/>
                <a:sym typeface="Inter"/>
              </a:rPr>
              <a:t>Commercial Conditions</a:t>
            </a:r>
            <a:endParaRPr b="0" i="0" sz="1275" u="none" cap="none" strike="noStrike">
              <a:solidFill>
                <a:schemeClr val="dk1"/>
              </a:solidFill>
              <a:latin typeface="Inter"/>
              <a:ea typeface="Inter"/>
              <a:cs typeface="Inter"/>
              <a:sym typeface="Inter"/>
            </a:endParaRPr>
          </a:p>
        </p:txBody>
      </p:sp>
      <p:sp>
        <p:nvSpPr>
          <p:cNvPr id="600" name="Google Shape;600;p10"/>
          <p:cNvSpPr/>
          <p:nvPr/>
        </p:nvSpPr>
        <p:spPr>
          <a:xfrm>
            <a:off x="469900" y="8606159"/>
            <a:ext cx="3321000" cy="1170900"/>
          </a:xfrm>
          <a:prstGeom prst="rect">
            <a:avLst/>
          </a:prstGeom>
          <a:noFill/>
          <a:ln>
            <a:noFill/>
          </a:ln>
        </p:spPr>
        <p:txBody>
          <a:bodyPr anchorCtr="0" anchor="t" bIns="25400" lIns="25400" spcFirstLastPara="1" rIns="25400" wrap="square" tIns="25400">
            <a:normAutofit/>
          </a:bodyPr>
          <a:lstStyle/>
          <a:p>
            <a:pPr indent="-283401" lvl="0" marL="457200" marR="0" rtl="0" algn="l">
              <a:lnSpc>
                <a:spcPct val="155000"/>
              </a:lnSpc>
              <a:spcBef>
                <a:spcPts val="0"/>
              </a:spcBef>
              <a:spcAft>
                <a:spcPts val="0"/>
              </a:spcAft>
              <a:buClr>
                <a:srgbClr val="374151"/>
              </a:buClr>
              <a:buSzPts val="863"/>
              <a:buFont typeface="Inter"/>
              <a:buChar char="●"/>
            </a:pPr>
            <a:r>
              <a:rPr b="0" i="0" lang="en-US" sz="863" u="none" cap="none" strike="noStrike">
                <a:solidFill>
                  <a:srgbClr val="374151"/>
                </a:solidFill>
                <a:latin typeface="Inter"/>
                <a:ea typeface="Inter"/>
                <a:cs typeface="Inter"/>
                <a:sym typeface="Inter"/>
              </a:rPr>
              <a:t>Prices are in USD and exclusive of taxes, GST, duties, and statutory charges.</a:t>
            </a:r>
            <a:endParaRPr b="0" i="0" sz="863" u="none" cap="none" strike="noStrike">
              <a:solidFill>
                <a:schemeClr val="dk1"/>
              </a:solidFill>
              <a:latin typeface="Inter"/>
              <a:ea typeface="Inter"/>
              <a:cs typeface="Inter"/>
              <a:sym typeface="Inter"/>
            </a:endParaRPr>
          </a:p>
          <a:p>
            <a:pPr indent="-283401" lvl="0" marL="457200" marR="0" rtl="0" algn="l">
              <a:lnSpc>
                <a:spcPct val="155000"/>
              </a:lnSpc>
              <a:spcBef>
                <a:spcPts val="0"/>
              </a:spcBef>
              <a:spcAft>
                <a:spcPts val="0"/>
              </a:spcAft>
              <a:buClr>
                <a:srgbClr val="374151"/>
              </a:buClr>
              <a:buSzPts val="863"/>
              <a:buFont typeface="Inter"/>
              <a:buChar char="●"/>
            </a:pPr>
            <a:r>
              <a:rPr b="0" i="0" lang="en-US" sz="863" u="none" cap="none" strike="noStrike">
                <a:solidFill>
                  <a:srgbClr val="374151"/>
                </a:solidFill>
                <a:latin typeface="Inter"/>
                <a:ea typeface="Inter"/>
                <a:cs typeface="Inter"/>
                <a:sym typeface="Inter"/>
              </a:rPr>
              <a:t>Invoices are payable within 15 days of invoice date.</a:t>
            </a:r>
            <a:endParaRPr b="0" i="0" sz="863" u="none" cap="none" strike="noStrike">
              <a:solidFill>
                <a:schemeClr val="dk1"/>
              </a:solidFill>
              <a:latin typeface="Inter"/>
              <a:ea typeface="Inter"/>
              <a:cs typeface="Inter"/>
              <a:sym typeface="Inter"/>
            </a:endParaRPr>
          </a:p>
          <a:p>
            <a:pPr indent="-283401" lvl="0" marL="457200" marR="0" rtl="0" algn="l">
              <a:lnSpc>
                <a:spcPct val="155000"/>
              </a:lnSpc>
              <a:spcBef>
                <a:spcPts val="0"/>
              </a:spcBef>
              <a:spcAft>
                <a:spcPts val="0"/>
              </a:spcAft>
              <a:buClr>
                <a:srgbClr val="374151"/>
              </a:buClr>
              <a:buSzPts val="863"/>
              <a:buFont typeface="Inter"/>
              <a:buChar char="●"/>
            </a:pPr>
            <a:r>
              <a:rPr b="0" i="0" lang="en-US" sz="863" u="none" cap="none" strike="noStrike">
                <a:solidFill>
                  <a:srgbClr val="374151"/>
                </a:solidFill>
                <a:latin typeface="Inter"/>
                <a:ea typeface="Inter"/>
                <a:cs typeface="Inter"/>
                <a:sym typeface="Inter"/>
              </a:rPr>
              <a:t>Infrastructure, Power Automate licensing, connector costs, API usage, and third-party software costs are borne by the client.</a:t>
            </a:r>
            <a:endParaRPr b="0" i="0" sz="863" u="none" cap="none" strike="noStrike">
              <a:solidFill>
                <a:schemeClr val="dk1"/>
              </a:solidFill>
              <a:latin typeface="Inter"/>
              <a:ea typeface="Inter"/>
              <a:cs typeface="Inter"/>
              <a:sym typeface="Inter"/>
            </a:endParaRPr>
          </a:p>
        </p:txBody>
      </p:sp>
      <p:sp>
        <p:nvSpPr>
          <p:cNvPr id="601" name="Google Shape;601;p10"/>
          <p:cNvSpPr/>
          <p:nvPr/>
        </p:nvSpPr>
        <p:spPr>
          <a:xfrm>
            <a:off x="3746500" y="8606159"/>
            <a:ext cx="3321000" cy="831300"/>
          </a:xfrm>
          <a:prstGeom prst="rect">
            <a:avLst/>
          </a:prstGeom>
          <a:noFill/>
          <a:ln>
            <a:noFill/>
          </a:ln>
        </p:spPr>
        <p:txBody>
          <a:bodyPr anchorCtr="0" anchor="t" bIns="25400" lIns="25400" spcFirstLastPara="1" rIns="25400" wrap="square" tIns="25400">
            <a:normAutofit/>
          </a:bodyPr>
          <a:lstStyle/>
          <a:p>
            <a:pPr indent="-283401" lvl="0" marL="457200" marR="0" rtl="0" algn="l">
              <a:lnSpc>
                <a:spcPct val="155000"/>
              </a:lnSpc>
              <a:spcBef>
                <a:spcPts val="0"/>
              </a:spcBef>
              <a:spcAft>
                <a:spcPts val="0"/>
              </a:spcAft>
              <a:buClr>
                <a:srgbClr val="374151"/>
              </a:buClr>
              <a:buSzPts val="863"/>
              <a:buFont typeface="Inter"/>
              <a:buChar char="●"/>
            </a:pPr>
            <a:r>
              <a:rPr b="0" i="0" lang="en-US" sz="863" u="none" cap="none" strike="noStrike">
                <a:solidFill>
                  <a:srgbClr val="374151"/>
                </a:solidFill>
                <a:latin typeface="Inter"/>
                <a:ea typeface="Inter"/>
                <a:cs typeface="Inter"/>
                <a:sym typeface="Inter"/>
              </a:rPr>
              <a:t>Travel, if required, will be billed at actuals.</a:t>
            </a:r>
            <a:endParaRPr b="0" i="0" sz="863" u="none" cap="none" strike="noStrike">
              <a:solidFill>
                <a:schemeClr val="dk1"/>
              </a:solidFill>
              <a:latin typeface="Inter"/>
              <a:ea typeface="Inter"/>
              <a:cs typeface="Inter"/>
              <a:sym typeface="Inter"/>
            </a:endParaRPr>
          </a:p>
          <a:p>
            <a:pPr indent="-283401" lvl="0" marL="457200" marR="0" rtl="0" algn="l">
              <a:lnSpc>
                <a:spcPct val="155000"/>
              </a:lnSpc>
              <a:spcBef>
                <a:spcPts val="0"/>
              </a:spcBef>
              <a:spcAft>
                <a:spcPts val="0"/>
              </a:spcAft>
              <a:buClr>
                <a:srgbClr val="374151"/>
              </a:buClr>
              <a:buSzPts val="863"/>
              <a:buFont typeface="Inter"/>
              <a:buChar char="●"/>
            </a:pPr>
            <a:r>
              <a:rPr b="0" i="0" lang="en-US" sz="863" u="none" cap="none" strike="noStrike">
                <a:solidFill>
                  <a:srgbClr val="374151"/>
                </a:solidFill>
                <a:latin typeface="Inter"/>
                <a:ea typeface="Inter"/>
                <a:cs typeface="Inter"/>
                <a:sym typeface="Inter"/>
              </a:rPr>
              <a:t>Work will be performed during standard IST business hours.</a:t>
            </a:r>
            <a:endParaRPr b="0" i="0" sz="863" u="none" cap="none" strike="noStrike">
              <a:solidFill>
                <a:schemeClr val="dk1"/>
              </a:solidFill>
              <a:latin typeface="Inter"/>
              <a:ea typeface="Inter"/>
              <a:cs typeface="Inter"/>
              <a:sym typeface="Inter"/>
            </a:endParaRPr>
          </a:p>
          <a:p>
            <a:pPr indent="-283401" lvl="0" marL="457200" marR="0" rtl="0" algn="l">
              <a:lnSpc>
                <a:spcPct val="155000"/>
              </a:lnSpc>
              <a:spcBef>
                <a:spcPts val="0"/>
              </a:spcBef>
              <a:spcAft>
                <a:spcPts val="0"/>
              </a:spcAft>
              <a:buClr>
                <a:srgbClr val="374151"/>
              </a:buClr>
              <a:buSzPts val="863"/>
              <a:buFont typeface="Inter"/>
              <a:buChar char="●"/>
            </a:pPr>
            <a:r>
              <a:rPr b="0" i="0" lang="en-US" sz="863" u="none" cap="none" strike="noStrike">
                <a:solidFill>
                  <a:srgbClr val="374151"/>
                </a:solidFill>
                <a:latin typeface="Inter"/>
                <a:ea typeface="Inter"/>
                <a:cs typeface="Inter"/>
                <a:sym typeface="Inter"/>
              </a:rPr>
              <a:t>Scope extensions will be handled through a mutually agreed change request.</a:t>
            </a:r>
            <a:endParaRPr b="0" i="0" sz="863" u="none" cap="none" strike="noStrike">
              <a:solidFill>
                <a:schemeClr val="dk1"/>
              </a:solidFill>
              <a:latin typeface="Inter"/>
              <a:ea typeface="Inter"/>
              <a:cs typeface="Inter"/>
              <a:sym typeface="Inter"/>
            </a:endParaRPr>
          </a:p>
        </p:txBody>
      </p:sp>
      <p:sp>
        <p:nvSpPr>
          <p:cNvPr id="602" name="Google Shape;602;p10"/>
          <p:cNvSpPr/>
          <p:nvPr/>
        </p:nvSpPr>
        <p:spPr>
          <a:xfrm>
            <a:off x="0" y="10234613"/>
            <a:ext cx="7562850" cy="461963"/>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10"/>
          <p:cNvSpPr/>
          <p:nvPr/>
        </p:nvSpPr>
        <p:spPr>
          <a:xfrm>
            <a:off x="0" y="10234613"/>
            <a:ext cx="7562850" cy="9525"/>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10"/>
          <p:cNvSpPr/>
          <p:nvPr/>
        </p:nvSpPr>
        <p:spPr>
          <a:xfrm>
            <a:off x="6540847" y="10377488"/>
            <a:ext cx="526703" cy="147638"/>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0047AB"/>
              </a:buClr>
              <a:buSzPts val="713"/>
              <a:buFont typeface="Inter"/>
              <a:buNone/>
            </a:pPr>
            <a:r>
              <a:rPr b="1" i="0" lang="en-US" sz="713" u="none" cap="none" strike="noStrike">
                <a:solidFill>
                  <a:srgbClr val="6B7686"/>
                </a:solidFill>
                <a:latin typeface="Inter"/>
                <a:ea typeface="Inter"/>
                <a:cs typeface="Inter"/>
                <a:sym typeface="Inter"/>
              </a:rPr>
              <a:t>1</a:t>
            </a:r>
            <a:r>
              <a:rPr b="1" lang="en-US" sz="713">
                <a:solidFill>
                  <a:srgbClr val="6B7686"/>
                </a:solidFill>
              </a:rPr>
              <a:t>1</a:t>
            </a:r>
            <a:r>
              <a:rPr b="1" i="0" lang="en-US" sz="713" u="none" cap="none" strike="noStrike">
                <a:solidFill>
                  <a:srgbClr val="6B7686"/>
                </a:solidFill>
                <a:latin typeface="Inter"/>
                <a:ea typeface="Inter"/>
                <a:cs typeface="Inter"/>
                <a:sym typeface="Inter"/>
              </a:rPr>
              <a:t> / 1</a:t>
            </a:r>
            <a:r>
              <a:rPr b="1" lang="en-US" sz="713">
                <a:solidFill>
                  <a:srgbClr val="6B7686"/>
                </a:solidFill>
              </a:rPr>
              <a:t>2</a:t>
            </a:r>
            <a:endParaRPr b="0" i="0" sz="713" u="none" cap="none" strike="noStrike">
              <a:solidFill>
                <a:srgbClr val="6B7686"/>
              </a:solidFill>
              <a:latin typeface="Inter"/>
              <a:ea typeface="Inter"/>
              <a:cs typeface="Inter"/>
              <a:sym typeface="Inter"/>
            </a:endParaRPr>
          </a:p>
        </p:txBody>
      </p:sp>
      <p:sp>
        <p:nvSpPr>
          <p:cNvPr id="605" name="Google Shape;605;p10"/>
          <p:cNvSpPr/>
          <p:nvPr/>
        </p:nvSpPr>
        <p:spPr>
          <a:xfrm>
            <a:off x="571500" y="10377500"/>
            <a:ext cx="3966300" cy="138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7686"/>
              </a:buClr>
              <a:buSzPts val="713"/>
              <a:buFont typeface="Inter"/>
              <a:buNone/>
            </a:pPr>
            <a:r>
              <a:rPr b="0" i="0" lang="en-US" sz="713" u="none" cap="none" strike="noStrike">
                <a:solidFill>
                  <a:srgbClr val="6B7686"/>
                </a:solidFill>
                <a:latin typeface="Inter"/>
                <a:ea typeface="Inter"/>
                <a:cs typeface="Inter"/>
                <a:sym typeface="Inter"/>
              </a:rPr>
              <a:t>NEWTUPLE TECHNOLOGIES · 		  		     </a:t>
            </a:r>
            <a:r>
              <a:rPr lang="en-US" sz="713">
                <a:solidFill>
                  <a:srgbClr val="6B7686"/>
                </a:solidFill>
              </a:rPr>
              <a:t>    </a:t>
            </a:r>
            <a:r>
              <a:rPr b="0" i="0" lang="en-US" sz="713" u="none" cap="none" strike="noStrike">
                <a:solidFill>
                  <a:srgbClr val="6B7686"/>
                </a:solidFill>
                <a:latin typeface="Inter"/>
                <a:ea typeface="Inter"/>
                <a:cs typeface="Inter"/>
                <a:sym typeface="Inter"/>
              </a:rPr>
              <a:t>CONFIDENTIAL</a:t>
            </a:r>
            <a:endParaRPr b="0" i="0" sz="713" u="none" cap="none" strike="noStrike">
              <a:solidFill>
                <a:schemeClr val="dk1"/>
              </a:solidFill>
              <a:latin typeface="Inter"/>
              <a:ea typeface="Inter"/>
              <a:cs typeface="Inter"/>
              <a:sym typeface="Inte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0" name="Shape 610"/>
        <p:cNvGrpSpPr/>
        <p:nvPr/>
      </p:nvGrpSpPr>
      <p:grpSpPr>
        <a:xfrm>
          <a:off x="0" y="0"/>
          <a:ext cx="0" cy="0"/>
          <a:chOff x="0" y="0"/>
          <a:chExt cx="0" cy="0"/>
        </a:xfrm>
      </p:grpSpPr>
      <p:sp>
        <p:nvSpPr>
          <p:cNvPr id="611" name="Google Shape;611;p11"/>
          <p:cNvSpPr/>
          <p:nvPr/>
        </p:nvSpPr>
        <p:spPr>
          <a:xfrm>
            <a:off x="0" y="0"/>
            <a:ext cx="7563000" cy="10696500"/>
          </a:xfrm>
          <a:prstGeom prst="rect">
            <a:avLst/>
          </a:prstGeom>
          <a:noFill/>
          <a:ln>
            <a:noFill/>
          </a:ln>
          <a:effectLst>
            <a:outerShdw blurRad="381000" rotWithShape="0" algn="bl" dir="5400000" dist="133350">
              <a:srgbClr val="0E132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12" name="Google Shape;612;p11"/>
          <p:cNvPicPr preferRelativeResize="0"/>
          <p:nvPr/>
        </p:nvPicPr>
        <p:blipFill rotWithShape="1">
          <a:blip r:embed="rId3">
            <a:alphaModFix/>
          </a:blip>
          <a:srcRect b="0" l="0" r="0" t="0"/>
          <a:stretch/>
        </p:blipFill>
        <p:spPr>
          <a:xfrm>
            <a:off x="571500" y="378848"/>
            <a:ext cx="815357" cy="152400"/>
          </a:xfrm>
          <a:prstGeom prst="rect">
            <a:avLst/>
          </a:prstGeom>
          <a:noFill/>
          <a:ln>
            <a:noFill/>
          </a:ln>
        </p:spPr>
      </p:pic>
      <p:sp>
        <p:nvSpPr>
          <p:cNvPr id="613" name="Google Shape;613;p11"/>
          <p:cNvSpPr/>
          <p:nvPr/>
        </p:nvSpPr>
        <p:spPr>
          <a:xfrm>
            <a:off x="3486522" y="397898"/>
            <a:ext cx="3609900" cy="152400"/>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6B7686"/>
              </a:buClr>
              <a:buSzPts val="750"/>
              <a:buFont typeface="Inter"/>
              <a:buNone/>
            </a:pPr>
            <a:r>
              <a:rPr b="1" i="0" lang="en-US" sz="750" u="none" cap="none" strike="noStrike">
                <a:solidFill>
                  <a:srgbClr val="6B7686"/>
                </a:solidFill>
                <a:latin typeface="Inter"/>
                <a:ea typeface="Inter"/>
                <a:cs typeface="Inter"/>
                <a:sym typeface="Inter"/>
              </a:rPr>
              <a:t>PENSION CONTRIBUTION PROCESSING AUTOMATION</a:t>
            </a:r>
            <a:endParaRPr b="0" i="0" sz="750" u="none" cap="none" strike="noStrike">
              <a:solidFill>
                <a:schemeClr val="dk1"/>
              </a:solidFill>
              <a:latin typeface="Inter"/>
              <a:ea typeface="Inter"/>
              <a:cs typeface="Inter"/>
              <a:sym typeface="Inter"/>
            </a:endParaRPr>
          </a:p>
        </p:txBody>
      </p:sp>
      <p:sp>
        <p:nvSpPr>
          <p:cNvPr id="614" name="Google Shape;614;p11"/>
          <p:cNvSpPr/>
          <p:nvPr/>
        </p:nvSpPr>
        <p:spPr>
          <a:xfrm>
            <a:off x="571500" y="1719620"/>
            <a:ext cx="6419700" cy="9600"/>
          </a:xfrm>
          <a:prstGeom prst="rect">
            <a:avLst/>
          </a:prstGeom>
          <a:solidFill>
            <a:srgbClr val="004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11"/>
          <p:cNvSpPr/>
          <p:nvPr/>
        </p:nvSpPr>
        <p:spPr>
          <a:xfrm>
            <a:off x="571500" y="1480603"/>
            <a:ext cx="268800" cy="153300"/>
          </a:xfrm>
          <a:prstGeom prst="rect">
            <a:avLst/>
          </a:prstGeom>
          <a:noFill/>
          <a:ln>
            <a:noFill/>
          </a:ln>
        </p:spPr>
        <p:txBody>
          <a:bodyPr anchorCtr="0" anchor="t" bIns="25400" lIns="25400" spcFirstLastPara="1" rIns="25400" wrap="square" tIns="25400">
            <a:normAutofit/>
          </a:bodyPr>
          <a:lstStyle/>
          <a:p>
            <a:pPr indent="0" lvl="0" marL="0" marR="0" rtl="0" algn="l">
              <a:lnSpc>
                <a:spcPct val="110000"/>
              </a:lnSpc>
              <a:spcBef>
                <a:spcPts val="0"/>
              </a:spcBef>
              <a:spcAft>
                <a:spcPts val="0"/>
              </a:spcAft>
              <a:buClr>
                <a:srgbClr val="0047AB"/>
              </a:buClr>
              <a:buSzPts val="825"/>
              <a:buFont typeface="Inter"/>
              <a:buNone/>
            </a:pPr>
            <a:r>
              <a:rPr b="1" i="0" lang="en-US" sz="825" u="none" cap="none" strike="noStrike">
                <a:solidFill>
                  <a:srgbClr val="0047AB"/>
                </a:solidFill>
                <a:latin typeface="Inter"/>
                <a:ea typeface="Inter"/>
                <a:cs typeface="Inter"/>
                <a:sym typeface="Inter"/>
              </a:rPr>
              <a:t>11</a:t>
            </a:r>
            <a:endParaRPr b="0" i="0" sz="825" u="none" cap="none" strike="noStrike">
              <a:solidFill>
                <a:schemeClr val="dk1"/>
              </a:solidFill>
              <a:latin typeface="Inter"/>
              <a:ea typeface="Inter"/>
              <a:cs typeface="Inter"/>
              <a:sym typeface="Inter"/>
            </a:endParaRPr>
          </a:p>
        </p:txBody>
      </p:sp>
      <p:sp>
        <p:nvSpPr>
          <p:cNvPr id="616" name="Google Shape;616;p11"/>
          <p:cNvSpPr/>
          <p:nvPr/>
        </p:nvSpPr>
        <p:spPr>
          <a:xfrm>
            <a:off x="916558" y="1352015"/>
            <a:ext cx="2596200" cy="310500"/>
          </a:xfrm>
          <a:prstGeom prst="rect">
            <a:avLst/>
          </a:prstGeom>
          <a:noFill/>
          <a:ln>
            <a:noFill/>
          </a:ln>
        </p:spPr>
        <p:txBody>
          <a:bodyPr anchorCtr="0" anchor="t" bIns="25400" lIns="25400" spcFirstLastPara="1" rIns="25400" wrap="square" tIns="25400">
            <a:normAutofit/>
          </a:bodyPr>
          <a:lstStyle/>
          <a:p>
            <a:pPr indent="0" lvl="0" marL="0" marR="0" rtl="0" algn="l">
              <a:lnSpc>
                <a:spcPct val="110000"/>
              </a:lnSpc>
              <a:spcBef>
                <a:spcPts val="0"/>
              </a:spcBef>
              <a:spcAft>
                <a:spcPts val="0"/>
              </a:spcAft>
              <a:buClr>
                <a:srgbClr val="0E1320"/>
              </a:buClr>
              <a:buSzPts val="1950"/>
              <a:buFont typeface="Inter"/>
              <a:buNone/>
            </a:pPr>
            <a:r>
              <a:rPr b="0" i="0" lang="en-US" sz="1950" u="none" cap="none" strike="noStrike">
                <a:solidFill>
                  <a:srgbClr val="0E1320"/>
                </a:solidFill>
                <a:latin typeface="Inter"/>
                <a:ea typeface="Inter"/>
                <a:cs typeface="Inter"/>
                <a:sym typeface="Inter"/>
              </a:rPr>
              <a:t>Signature of Approval</a:t>
            </a:r>
            <a:endParaRPr b="0" i="0" sz="1950" u="none" cap="none" strike="noStrike">
              <a:solidFill>
                <a:schemeClr val="dk1"/>
              </a:solidFill>
              <a:latin typeface="Inter"/>
              <a:ea typeface="Inter"/>
              <a:cs typeface="Inter"/>
              <a:sym typeface="Inter"/>
            </a:endParaRPr>
          </a:p>
        </p:txBody>
      </p:sp>
      <p:sp>
        <p:nvSpPr>
          <p:cNvPr id="617" name="Google Shape;617;p11"/>
          <p:cNvSpPr/>
          <p:nvPr/>
        </p:nvSpPr>
        <p:spPr>
          <a:xfrm>
            <a:off x="571500" y="1919645"/>
            <a:ext cx="6612300" cy="388500"/>
          </a:xfrm>
          <a:prstGeom prst="rect">
            <a:avLst/>
          </a:prstGeom>
          <a:noFill/>
          <a:ln>
            <a:noFill/>
          </a:ln>
        </p:spPr>
        <p:txBody>
          <a:bodyPr anchorCtr="0" anchor="t" bIns="25400" lIns="25400" spcFirstLastPara="1" rIns="25400" wrap="square" tIns="25400">
            <a:normAutofit/>
          </a:bodyPr>
          <a:lstStyle/>
          <a:p>
            <a:pPr indent="0" lvl="0" marL="0" marR="0" rtl="0" algn="l">
              <a:lnSpc>
                <a:spcPct val="160000"/>
              </a:lnSpc>
              <a:spcBef>
                <a:spcPts val="0"/>
              </a:spcBef>
              <a:spcAft>
                <a:spcPts val="0"/>
              </a:spcAft>
              <a:buClr>
                <a:srgbClr val="374151"/>
              </a:buClr>
              <a:buSzPts val="863"/>
              <a:buFont typeface="Inter"/>
              <a:buNone/>
            </a:pPr>
            <a:r>
              <a:rPr b="0" i="0" lang="en-US" sz="863" u="none" cap="none" strike="noStrike">
                <a:solidFill>
                  <a:srgbClr val="374151"/>
                </a:solidFill>
                <a:latin typeface="Inter"/>
                <a:ea typeface="Inter"/>
                <a:cs typeface="Inter"/>
                <a:sym typeface="Inter"/>
              </a:rPr>
              <a:t>This section will be finalized once the client legal name, authorized signatory, selected commercial option, and quote validity are confirmed.</a:t>
            </a:r>
            <a:endParaRPr b="0" i="0" sz="863" u="none" cap="none" strike="noStrike">
              <a:solidFill>
                <a:schemeClr val="dk1"/>
              </a:solidFill>
              <a:latin typeface="Inter"/>
              <a:ea typeface="Inter"/>
              <a:cs typeface="Inter"/>
              <a:sym typeface="Inter"/>
            </a:endParaRPr>
          </a:p>
        </p:txBody>
      </p:sp>
      <p:sp>
        <p:nvSpPr>
          <p:cNvPr id="618" name="Google Shape;618;p11"/>
          <p:cNvSpPr/>
          <p:nvPr/>
        </p:nvSpPr>
        <p:spPr>
          <a:xfrm>
            <a:off x="571500" y="2670186"/>
            <a:ext cx="6419700" cy="2314500"/>
          </a:xfrm>
          <a:prstGeom prst="roundRect">
            <a:avLst>
              <a:gd fmla="val 2469" name="adj"/>
            </a:avLst>
          </a:prstGeom>
          <a:noFill/>
          <a:ln cap="flat" cmpd="sng" w="9525">
            <a:solidFill>
              <a:srgbClr val="E2E6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11"/>
          <p:cNvSpPr/>
          <p:nvPr/>
        </p:nvSpPr>
        <p:spPr>
          <a:xfrm>
            <a:off x="809625" y="2908311"/>
            <a:ext cx="2884500" cy="1476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047AB"/>
              </a:buClr>
              <a:buSzPts val="713"/>
              <a:buFont typeface="Inter"/>
              <a:buNone/>
            </a:pPr>
            <a:r>
              <a:rPr b="1" i="0" lang="en-US" sz="713" u="none" cap="none" strike="noStrike">
                <a:solidFill>
                  <a:srgbClr val="0047AB"/>
                </a:solidFill>
                <a:latin typeface="Inter"/>
                <a:ea typeface="Inter"/>
                <a:cs typeface="Inter"/>
                <a:sym typeface="Inter"/>
              </a:rPr>
              <a:t>FOR </a:t>
            </a:r>
            <a:r>
              <a:rPr b="1" i="0" lang="en-US" sz="713" u="none" cap="none" strike="noStrike">
                <a:solidFill>
                  <a:srgbClr val="0047AB"/>
                </a:solidFill>
                <a:highlight>
                  <a:schemeClr val="lt1"/>
                </a:highlight>
                <a:latin typeface="Inter"/>
                <a:ea typeface="Inter"/>
                <a:cs typeface="Inter"/>
                <a:sym typeface="Inter"/>
              </a:rPr>
              <a:t>CLIENT</a:t>
            </a:r>
            <a:endParaRPr b="0" i="0" sz="713" u="none" cap="none" strike="noStrike">
              <a:solidFill>
                <a:schemeClr val="dk1"/>
              </a:solidFill>
              <a:highlight>
                <a:schemeClr val="lt1"/>
              </a:highlight>
              <a:latin typeface="Inter"/>
              <a:ea typeface="Inter"/>
              <a:cs typeface="Inter"/>
              <a:sym typeface="Inter"/>
            </a:endParaRPr>
          </a:p>
        </p:txBody>
      </p:sp>
      <p:sp>
        <p:nvSpPr>
          <p:cNvPr id="620" name="Google Shape;620;p11"/>
          <p:cNvSpPr/>
          <p:nvPr/>
        </p:nvSpPr>
        <p:spPr>
          <a:xfrm>
            <a:off x="809625" y="3532198"/>
            <a:ext cx="2800500" cy="9600"/>
          </a:xfrm>
          <a:prstGeom prst="rect">
            <a:avLst/>
          </a:prstGeom>
          <a:solidFill>
            <a:srgbClr val="3741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11"/>
          <p:cNvSpPr/>
          <p:nvPr/>
        </p:nvSpPr>
        <p:spPr>
          <a:xfrm>
            <a:off x="809625" y="3894148"/>
            <a:ext cx="28005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11"/>
          <p:cNvSpPr/>
          <p:nvPr/>
        </p:nvSpPr>
        <p:spPr>
          <a:xfrm>
            <a:off x="809625" y="3713173"/>
            <a:ext cx="647700" cy="1620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686"/>
              </a:buClr>
              <a:buSzPts val="825"/>
              <a:buFont typeface="Inter"/>
              <a:buNone/>
            </a:pPr>
            <a:r>
              <a:rPr b="1" i="0" lang="en-US" sz="825" u="none" cap="none" strike="noStrike">
                <a:solidFill>
                  <a:srgbClr val="6B7686"/>
                </a:solidFill>
                <a:latin typeface="Inter"/>
                <a:ea typeface="Inter"/>
                <a:cs typeface="Inter"/>
                <a:sym typeface="Inter"/>
              </a:rPr>
              <a:t>Name</a:t>
            </a:r>
            <a:endParaRPr b="0" i="0" sz="825" u="none" cap="none" strike="noStrike">
              <a:solidFill>
                <a:schemeClr val="dk1"/>
              </a:solidFill>
              <a:latin typeface="Inter"/>
              <a:ea typeface="Inter"/>
              <a:cs typeface="Inter"/>
              <a:sym typeface="Inter"/>
            </a:endParaRPr>
          </a:p>
        </p:txBody>
      </p:sp>
      <p:sp>
        <p:nvSpPr>
          <p:cNvPr id="623" name="Google Shape;623;p11"/>
          <p:cNvSpPr/>
          <p:nvPr/>
        </p:nvSpPr>
        <p:spPr>
          <a:xfrm>
            <a:off x="809625" y="4141798"/>
            <a:ext cx="28005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11"/>
          <p:cNvSpPr/>
          <p:nvPr/>
        </p:nvSpPr>
        <p:spPr>
          <a:xfrm>
            <a:off x="809625" y="3960823"/>
            <a:ext cx="647700" cy="1620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686"/>
              </a:buClr>
              <a:buSzPts val="825"/>
              <a:buFont typeface="Inter"/>
              <a:buNone/>
            </a:pPr>
            <a:r>
              <a:rPr b="1" i="0" lang="en-US" sz="825" u="none" cap="none" strike="noStrike">
                <a:solidFill>
                  <a:srgbClr val="6B7686"/>
                </a:solidFill>
                <a:latin typeface="Inter"/>
                <a:ea typeface="Inter"/>
                <a:cs typeface="Inter"/>
                <a:sym typeface="Inter"/>
              </a:rPr>
              <a:t>Title</a:t>
            </a:r>
            <a:endParaRPr b="0" i="0" sz="825" u="none" cap="none" strike="noStrike">
              <a:solidFill>
                <a:schemeClr val="dk1"/>
              </a:solidFill>
              <a:latin typeface="Inter"/>
              <a:ea typeface="Inter"/>
              <a:cs typeface="Inter"/>
              <a:sym typeface="Inter"/>
            </a:endParaRPr>
          </a:p>
        </p:txBody>
      </p:sp>
      <p:sp>
        <p:nvSpPr>
          <p:cNvPr id="625" name="Google Shape;625;p11"/>
          <p:cNvSpPr/>
          <p:nvPr/>
        </p:nvSpPr>
        <p:spPr>
          <a:xfrm>
            <a:off x="809625" y="4389448"/>
            <a:ext cx="28005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11"/>
          <p:cNvSpPr/>
          <p:nvPr/>
        </p:nvSpPr>
        <p:spPr>
          <a:xfrm>
            <a:off x="809625" y="4208473"/>
            <a:ext cx="647700" cy="1620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686"/>
              </a:buClr>
              <a:buSzPts val="825"/>
              <a:buFont typeface="Inter"/>
              <a:buNone/>
            </a:pPr>
            <a:r>
              <a:rPr b="1" i="0" lang="en-US" sz="825" u="none" cap="none" strike="noStrike">
                <a:solidFill>
                  <a:srgbClr val="6B7686"/>
                </a:solidFill>
                <a:latin typeface="Inter"/>
                <a:ea typeface="Inter"/>
                <a:cs typeface="Inter"/>
                <a:sym typeface="Inter"/>
              </a:rPr>
              <a:t>Date</a:t>
            </a:r>
            <a:endParaRPr b="0" i="0" sz="825" u="none" cap="none" strike="noStrike">
              <a:solidFill>
                <a:schemeClr val="dk1"/>
              </a:solidFill>
              <a:latin typeface="Inter"/>
              <a:ea typeface="Inter"/>
              <a:cs typeface="Inter"/>
              <a:sym typeface="Inter"/>
            </a:endParaRPr>
          </a:p>
        </p:txBody>
      </p:sp>
      <p:sp>
        <p:nvSpPr>
          <p:cNvPr id="627" name="Google Shape;627;p11"/>
          <p:cNvSpPr/>
          <p:nvPr/>
        </p:nvSpPr>
        <p:spPr>
          <a:xfrm>
            <a:off x="3952875" y="2908311"/>
            <a:ext cx="2884500" cy="2571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047AB"/>
              </a:buClr>
              <a:buSzPts val="713"/>
              <a:buFont typeface="Inter"/>
              <a:buNone/>
            </a:pPr>
            <a:r>
              <a:rPr b="1" i="0" lang="en-US" sz="713" u="none" cap="none" strike="noStrike">
                <a:solidFill>
                  <a:srgbClr val="0047AB"/>
                </a:solidFill>
                <a:latin typeface="Inter"/>
                <a:ea typeface="Inter"/>
                <a:cs typeface="Inter"/>
                <a:sym typeface="Inter"/>
              </a:rPr>
              <a:t>FOR NEWTUPLE TECHNOLOGIES PRIVATE LIMITED</a:t>
            </a:r>
            <a:endParaRPr b="0" i="0" sz="713" u="none" cap="none" strike="noStrike">
              <a:solidFill>
                <a:schemeClr val="dk1"/>
              </a:solidFill>
              <a:latin typeface="Inter"/>
              <a:ea typeface="Inter"/>
              <a:cs typeface="Inter"/>
              <a:sym typeface="Inter"/>
            </a:endParaRPr>
          </a:p>
        </p:txBody>
      </p:sp>
      <p:sp>
        <p:nvSpPr>
          <p:cNvPr id="628" name="Google Shape;628;p11"/>
          <p:cNvSpPr/>
          <p:nvPr/>
        </p:nvSpPr>
        <p:spPr>
          <a:xfrm>
            <a:off x="3952875" y="3534714"/>
            <a:ext cx="2800500" cy="9600"/>
          </a:xfrm>
          <a:prstGeom prst="rect">
            <a:avLst/>
          </a:prstGeom>
          <a:solidFill>
            <a:srgbClr val="37415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11"/>
          <p:cNvSpPr/>
          <p:nvPr/>
        </p:nvSpPr>
        <p:spPr>
          <a:xfrm>
            <a:off x="3952875" y="3893643"/>
            <a:ext cx="28005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11"/>
          <p:cNvSpPr/>
          <p:nvPr/>
        </p:nvSpPr>
        <p:spPr>
          <a:xfrm>
            <a:off x="3952875" y="3697305"/>
            <a:ext cx="647700" cy="1620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686"/>
              </a:buClr>
              <a:buSzPts val="825"/>
              <a:buFont typeface="Inter"/>
              <a:buNone/>
            </a:pPr>
            <a:r>
              <a:rPr b="1" i="0" lang="en-US" sz="825" u="none" cap="none" strike="noStrike">
                <a:solidFill>
                  <a:srgbClr val="6B7686"/>
                </a:solidFill>
                <a:latin typeface="Inter"/>
                <a:ea typeface="Inter"/>
                <a:cs typeface="Inter"/>
                <a:sym typeface="Inter"/>
              </a:rPr>
              <a:t>Name</a:t>
            </a:r>
            <a:endParaRPr b="0" i="0" sz="825" u="none" cap="none" strike="noStrike">
              <a:solidFill>
                <a:schemeClr val="dk1"/>
              </a:solidFill>
              <a:latin typeface="Inter"/>
              <a:ea typeface="Inter"/>
              <a:cs typeface="Inter"/>
              <a:sym typeface="Inter"/>
            </a:endParaRPr>
          </a:p>
        </p:txBody>
      </p:sp>
      <p:sp>
        <p:nvSpPr>
          <p:cNvPr id="631" name="Google Shape;631;p11"/>
          <p:cNvSpPr/>
          <p:nvPr/>
        </p:nvSpPr>
        <p:spPr>
          <a:xfrm>
            <a:off x="4600575" y="3699790"/>
            <a:ext cx="2229000" cy="1620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E1320"/>
              </a:buClr>
              <a:buSzPts val="825"/>
              <a:buFont typeface="Inter"/>
              <a:buNone/>
            </a:pPr>
            <a:r>
              <a:rPr lang="en-US" sz="825">
                <a:solidFill>
                  <a:srgbClr val="0E1320"/>
                </a:solidFill>
              </a:rPr>
              <a:t>Dhiraj Nambiar</a:t>
            </a:r>
            <a:endParaRPr b="0" i="0" sz="825" u="none" cap="none" strike="noStrike">
              <a:solidFill>
                <a:schemeClr val="dk1"/>
              </a:solidFill>
              <a:latin typeface="Inter"/>
              <a:ea typeface="Inter"/>
              <a:cs typeface="Inter"/>
              <a:sym typeface="Inter"/>
            </a:endParaRPr>
          </a:p>
        </p:txBody>
      </p:sp>
      <p:sp>
        <p:nvSpPr>
          <p:cNvPr id="632" name="Google Shape;632;p11"/>
          <p:cNvSpPr/>
          <p:nvPr/>
        </p:nvSpPr>
        <p:spPr>
          <a:xfrm>
            <a:off x="3952875" y="4151478"/>
            <a:ext cx="28005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11"/>
          <p:cNvSpPr/>
          <p:nvPr/>
        </p:nvSpPr>
        <p:spPr>
          <a:xfrm>
            <a:off x="3952875" y="3955140"/>
            <a:ext cx="647700" cy="1620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686"/>
              </a:buClr>
              <a:buSzPts val="825"/>
              <a:buFont typeface="Inter"/>
              <a:buNone/>
            </a:pPr>
            <a:r>
              <a:rPr b="1" i="0" lang="en-US" sz="825" u="none" cap="none" strike="noStrike">
                <a:solidFill>
                  <a:srgbClr val="6B7686"/>
                </a:solidFill>
                <a:latin typeface="Inter"/>
                <a:ea typeface="Inter"/>
                <a:cs typeface="Inter"/>
                <a:sym typeface="Inter"/>
              </a:rPr>
              <a:t>Title</a:t>
            </a:r>
            <a:endParaRPr b="0" i="0" sz="825" u="none" cap="none" strike="noStrike">
              <a:solidFill>
                <a:schemeClr val="dk1"/>
              </a:solidFill>
              <a:latin typeface="Inter"/>
              <a:ea typeface="Inter"/>
              <a:cs typeface="Inter"/>
              <a:sym typeface="Inter"/>
            </a:endParaRPr>
          </a:p>
        </p:txBody>
      </p:sp>
      <p:sp>
        <p:nvSpPr>
          <p:cNvPr id="634" name="Google Shape;634;p11"/>
          <p:cNvSpPr/>
          <p:nvPr/>
        </p:nvSpPr>
        <p:spPr>
          <a:xfrm>
            <a:off x="4600575" y="3955140"/>
            <a:ext cx="2229000" cy="1620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E1320"/>
              </a:buClr>
              <a:buSzPts val="825"/>
              <a:buFont typeface="Inter"/>
              <a:buNone/>
            </a:pPr>
            <a:r>
              <a:rPr lang="en-US" sz="825">
                <a:solidFill>
                  <a:schemeClr val="dk1"/>
                </a:solidFill>
                <a:latin typeface="Inter"/>
                <a:ea typeface="Inter"/>
                <a:cs typeface="Inter"/>
                <a:sym typeface="Inter"/>
              </a:rPr>
              <a:t>Founder</a:t>
            </a:r>
            <a:endParaRPr b="0" i="0" sz="825" u="none" cap="none" strike="noStrike">
              <a:solidFill>
                <a:schemeClr val="dk1"/>
              </a:solidFill>
              <a:latin typeface="Inter"/>
              <a:ea typeface="Inter"/>
              <a:cs typeface="Inter"/>
              <a:sym typeface="Inter"/>
            </a:endParaRPr>
          </a:p>
        </p:txBody>
      </p:sp>
      <p:sp>
        <p:nvSpPr>
          <p:cNvPr id="635" name="Google Shape;635;p11"/>
          <p:cNvSpPr/>
          <p:nvPr/>
        </p:nvSpPr>
        <p:spPr>
          <a:xfrm>
            <a:off x="3952875" y="4399128"/>
            <a:ext cx="2800500" cy="9600"/>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11"/>
          <p:cNvSpPr/>
          <p:nvPr/>
        </p:nvSpPr>
        <p:spPr>
          <a:xfrm>
            <a:off x="3952875" y="4202790"/>
            <a:ext cx="647700" cy="1620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6B7686"/>
              </a:buClr>
              <a:buSzPts val="825"/>
              <a:buFont typeface="Inter"/>
              <a:buNone/>
            </a:pPr>
            <a:r>
              <a:rPr b="1" i="0" lang="en-US" sz="825" u="none" cap="none" strike="noStrike">
                <a:solidFill>
                  <a:srgbClr val="6B7686"/>
                </a:solidFill>
                <a:latin typeface="Inter"/>
                <a:ea typeface="Inter"/>
                <a:cs typeface="Inter"/>
                <a:sym typeface="Inter"/>
              </a:rPr>
              <a:t>Date</a:t>
            </a:r>
            <a:endParaRPr b="0" i="0" sz="825" u="none" cap="none" strike="noStrike">
              <a:solidFill>
                <a:schemeClr val="dk1"/>
              </a:solidFill>
              <a:latin typeface="Inter"/>
              <a:ea typeface="Inter"/>
              <a:cs typeface="Inter"/>
              <a:sym typeface="Inter"/>
            </a:endParaRPr>
          </a:p>
        </p:txBody>
      </p:sp>
      <p:sp>
        <p:nvSpPr>
          <p:cNvPr id="637" name="Google Shape;637;p11"/>
          <p:cNvSpPr/>
          <p:nvPr/>
        </p:nvSpPr>
        <p:spPr>
          <a:xfrm>
            <a:off x="571500" y="5308611"/>
            <a:ext cx="6419700" cy="601800"/>
          </a:xfrm>
          <a:prstGeom prst="rect">
            <a:avLst/>
          </a:prstGeom>
          <a:solidFill>
            <a:srgbClr val="F7F8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11"/>
          <p:cNvSpPr/>
          <p:nvPr/>
        </p:nvSpPr>
        <p:spPr>
          <a:xfrm>
            <a:off x="571500" y="5308611"/>
            <a:ext cx="28500" cy="601800"/>
          </a:xfrm>
          <a:prstGeom prst="rect">
            <a:avLst/>
          </a:prstGeom>
          <a:solidFill>
            <a:srgbClr val="0047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11"/>
          <p:cNvSpPr/>
          <p:nvPr/>
        </p:nvSpPr>
        <p:spPr>
          <a:xfrm>
            <a:off x="771525" y="5441961"/>
            <a:ext cx="6229800" cy="373200"/>
          </a:xfrm>
          <a:prstGeom prst="rect">
            <a:avLst/>
          </a:prstGeom>
          <a:noFill/>
          <a:ln>
            <a:noFill/>
          </a:ln>
        </p:spPr>
        <p:txBody>
          <a:bodyPr anchorCtr="0" anchor="t" bIns="25400" lIns="25400" spcFirstLastPara="1" rIns="25400" wrap="square" tIns="25400">
            <a:normAutofit/>
          </a:bodyPr>
          <a:lstStyle/>
          <a:p>
            <a:pPr indent="0" lvl="0" marL="0" marR="0" rtl="0" algn="l">
              <a:lnSpc>
                <a:spcPct val="160000"/>
              </a:lnSpc>
              <a:spcBef>
                <a:spcPts val="0"/>
              </a:spcBef>
              <a:spcAft>
                <a:spcPts val="0"/>
              </a:spcAft>
              <a:buClr>
                <a:srgbClr val="374151"/>
              </a:buClr>
              <a:buSzPts val="825"/>
              <a:buFont typeface="Inter"/>
              <a:buNone/>
            </a:pPr>
            <a:r>
              <a:rPr b="0" i="0" lang="en-US" sz="850" u="none" cap="none" strike="noStrike">
                <a:solidFill>
                  <a:srgbClr val="374151"/>
                </a:solidFill>
                <a:latin typeface="Inter"/>
                <a:ea typeface="Inter"/>
                <a:cs typeface="Inter"/>
                <a:sym typeface="Inter"/>
              </a:rPr>
              <a:t>On signature, Newtuple will schedule a discovery kickoff within 5 business days, share the proposed delivery team and weekly cadence, and confirm access requirements across Microsoft 365, Power Automate, cloud storage, and PAS API documentation.</a:t>
            </a:r>
            <a:endParaRPr b="0" i="0" sz="850" u="none" cap="none" strike="noStrike">
              <a:solidFill>
                <a:schemeClr val="dk1"/>
              </a:solidFill>
              <a:latin typeface="Inter"/>
              <a:ea typeface="Inter"/>
              <a:cs typeface="Inter"/>
              <a:sym typeface="Inter"/>
            </a:endParaRPr>
          </a:p>
        </p:txBody>
      </p:sp>
      <p:sp>
        <p:nvSpPr>
          <p:cNvPr id="640" name="Google Shape;640;p11"/>
          <p:cNvSpPr/>
          <p:nvPr/>
        </p:nvSpPr>
        <p:spPr>
          <a:xfrm>
            <a:off x="571500" y="9383167"/>
            <a:ext cx="6419850" cy="9525"/>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11"/>
          <p:cNvSpPr/>
          <p:nvPr/>
        </p:nvSpPr>
        <p:spPr>
          <a:xfrm>
            <a:off x="0" y="10234613"/>
            <a:ext cx="7562850" cy="461963"/>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11"/>
          <p:cNvSpPr/>
          <p:nvPr/>
        </p:nvSpPr>
        <p:spPr>
          <a:xfrm>
            <a:off x="0" y="10234613"/>
            <a:ext cx="7562850" cy="9525"/>
          </a:xfrm>
          <a:prstGeom prst="rect">
            <a:avLst/>
          </a:prstGeom>
          <a:solidFill>
            <a:srgbClr val="E2E6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11"/>
          <p:cNvSpPr/>
          <p:nvPr/>
        </p:nvSpPr>
        <p:spPr>
          <a:xfrm>
            <a:off x="6540847" y="10377488"/>
            <a:ext cx="526703" cy="147638"/>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0047AB"/>
              </a:buClr>
              <a:buSzPts val="713"/>
              <a:buFont typeface="Inter"/>
              <a:buNone/>
            </a:pPr>
            <a:r>
              <a:rPr b="1" i="0" lang="en-US" sz="713" u="none" cap="none" strike="noStrike">
                <a:solidFill>
                  <a:srgbClr val="6B7686"/>
                </a:solidFill>
                <a:latin typeface="Inter"/>
                <a:ea typeface="Inter"/>
                <a:cs typeface="Inter"/>
                <a:sym typeface="Inter"/>
              </a:rPr>
              <a:t>1</a:t>
            </a:r>
            <a:r>
              <a:rPr b="1" lang="en-US" sz="713">
                <a:solidFill>
                  <a:srgbClr val="6B7686"/>
                </a:solidFill>
              </a:rPr>
              <a:t>2</a:t>
            </a:r>
            <a:r>
              <a:rPr b="1" i="0" lang="en-US" sz="713" u="none" cap="none" strike="noStrike">
                <a:solidFill>
                  <a:srgbClr val="6B7686"/>
                </a:solidFill>
                <a:latin typeface="Inter"/>
                <a:ea typeface="Inter"/>
                <a:cs typeface="Inter"/>
                <a:sym typeface="Inter"/>
              </a:rPr>
              <a:t> / 1</a:t>
            </a:r>
            <a:r>
              <a:rPr b="1" lang="en-US" sz="713">
                <a:solidFill>
                  <a:srgbClr val="6B7686"/>
                </a:solidFill>
              </a:rPr>
              <a:t>2</a:t>
            </a:r>
            <a:endParaRPr b="0" i="0" sz="713" u="none" cap="none" strike="noStrike">
              <a:solidFill>
                <a:srgbClr val="6B7686"/>
              </a:solidFill>
              <a:latin typeface="Inter"/>
              <a:ea typeface="Inter"/>
              <a:cs typeface="Inter"/>
              <a:sym typeface="Inter"/>
            </a:endParaRPr>
          </a:p>
        </p:txBody>
      </p:sp>
      <p:sp>
        <p:nvSpPr>
          <p:cNvPr id="644" name="Google Shape;644;p11"/>
          <p:cNvSpPr/>
          <p:nvPr/>
        </p:nvSpPr>
        <p:spPr>
          <a:xfrm>
            <a:off x="571500" y="10377500"/>
            <a:ext cx="3966300" cy="1380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6B7686"/>
              </a:buClr>
              <a:buSzPts val="713"/>
              <a:buFont typeface="Inter"/>
              <a:buNone/>
            </a:pPr>
            <a:r>
              <a:rPr b="0" i="0" lang="en-US" sz="713" u="none" cap="none" strike="noStrike">
                <a:solidFill>
                  <a:srgbClr val="6B7686"/>
                </a:solidFill>
                <a:latin typeface="Inter"/>
                <a:ea typeface="Inter"/>
                <a:cs typeface="Inter"/>
                <a:sym typeface="Inter"/>
              </a:rPr>
              <a:t>NEWTUPLE TECHNOLOGIES · 		  		     </a:t>
            </a:r>
            <a:r>
              <a:rPr lang="en-US" sz="713">
                <a:solidFill>
                  <a:srgbClr val="6B7686"/>
                </a:solidFill>
              </a:rPr>
              <a:t>    </a:t>
            </a:r>
            <a:r>
              <a:rPr b="0" i="0" lang="en-US" sz="713" u="none" cap="none" strike="noStrike">
                <a:solidFill>
                  <a:srgbClr val="6B7686"/>
                </a:solidFill>
                <a:latin typeface="Inter"/>
                <a:ea typeface="Inter"/>
                <a:cs typeface="Inter"/>
                <a:sym typeface="Inter"/>
              </a:rPr>
              <a:t>CONFIDENTIAL</a:t>
            </a:r>
            <a:endParaRPr b="0" i="0" sz="713" u="none" cap="none" strike="noStrike">
              <a:solidFill>
                <a:schemeClr val="dk1"/>
              </a:solidFill>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nter"/>
        <a:ea typeface=""/>
        <a:cs typeface=""/>
        <a:font script="Jpan" typeface="ＭＳ Ｐゴシック"/>
        <a:font script="Hang" typeface="맑은 고딕"/>
        <a:font script="Hans" typeface="宋体"/>
        <a:font script="Hant" typeface="新細明體"/>
        <a:font script="Arab" typeface="Inter"/>
        <a:font script="Hebr" typeface="Inter"/>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Inter"/>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nter"/>
        <a:ea typeface=""/>
        <a:cs typeface=""/>
        <a:font script="Jpan" typeface="ＭＳ Ｐゴシック"/>
        <a:font script="Hang" typeface="맑은 고딕"/>
        <a:font script="Hans" typeface="宋体"/>
        <a:font script="Hant" typeface="新細明體"/>
        <a:font script="Arab" typeface="Inter"/>
        <a:font script="Hebr" typeface="Inter"/>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Inter"/>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2026-06-05T09:23:29Z</dcterms:created>
  <dc:creator>PptxGenJS</dc:creator>
</cp:coreProperties>
</file>