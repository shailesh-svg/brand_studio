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0287000" cy="10287000"/>
  <p:notesSz cx="6858000" cy="9144000"/>
  <p:embeddedFontLst>
    <p:embeddedFont>
      <p:font typeface="Arial" charset="1" panose="020B0604020202020204"/>
      <p:regular r:id="rId16"/>
    </p:embeddedFont>
    <p:embeddedFont>
      <p:font typeface="Arial Bold" charset="1" panose="020B0704020202020204"/>
      <p:regular r:id="rId17"/>
    </p:embeddedFont>
    <p:embeddedFont>
      <p:font typeface="Courier New Bold" charset="1" panose="02070609020205020404"/>
      <p:regular r:id="rId18"/>
    </p:embeddedFont>
    <p:embeddedFont>
      <p:font typeface="Courier New" charset="1" panose="020703090202050204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11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287000" cy="10287000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71500" y="-342900"/>
            <a:ext cx="12344400" cy="12344400"/>
            <a:chOff x="0" y="0"/>
            <a:chExt cx="16459200" cy="164592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6459200" cy="16459200"/>
            </a:xfrm>
            <a:custGeom>
              <a:avLst/>
              <a:gdLst/>
              <a:ahLst/>
              <a:cxnLst/>
              <a:rect r="r" b="b" t="t" l="l"/>
              <a:pathLst>
                <a:path h="164592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6459200"/>
                  </a:lnTo>
                  <a:lnTo>
                    <a:pt x="0" y="1645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7238" y="604838"/>
            <a:ext cx="2031282" cy="361950"/>
            <a:chOff x="0" y="0"/>
            <a:chExt cx="2708377" cy="482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8402" cy="482600"/>
            </a:xfrm>
            <a:custGeom>
              <a:avLst/>
              <a:gdLst/>
              <a:ahLst/>
              <a:cxnLst/>
              <a:rect r="r" b="b" t="t" l="l"/>
              <a:pathLst>
                <a:path h="482600" w="2708402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lnTo>
                    <a:pt x="2467102" y="0"/>
                  </a:lnTo>
                  <a:cubicBezTo>
                    <a:pt x="2600325" y="0"/>
                    <a:pt x="2708402" y="108077"/>
                    <a:pt x="2708402" y="241300"/>
                  </a:cubicBezTo>
                  <a:cubicBezTo>
                    <a:pt x="2708402" y="374523"/>
                    <a:pt x="2600325" y="482600"/>
                    <a:pt x="2467102" y="482600"/>
                  </a:cubicBezTo>
                  <a:lnTo>
                    <a:pt x="241300" y="482600"/>
                  </a:ln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42975" y="704850"/>
            <a:ext cx="1736007" cy="200025"/>
            <a:chOff x="0" y="0"/>
            <a:chExt cx="2314677" cy="26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14675" cy="266700"/>
            </a:xfrm>
            <a:custGeom>
              <a:avLst/>
              <a:gdLst/>
              <a:ahLst/>
              <a:cxnLst/>
              <a:rect r="r" b="b" t="t" l="l"/>
              <a:pathLst>
                <a:path h="266700" w="2314675">
                  <a:moveTo>
                    <a:pt x="0" y="0"/>
                  </a:moveTo>
                  <a:lnTo>
                    <a:pt x="2314675" y="0"/>
                  </a:lnTo>
                  <a:lnTo>
                    <a:pt x="2314675" y="266700"/>
                  </a:lnTo>
                  <a:lnTo>
                    <a:pt x="0" y="2667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109" r="0" b="-11910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314677" cy="276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spc="18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WEEKLY AI UPDATE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70516" y="652462"/>
            <a:ext cx="1354484" cy="266700"/>
            <a:chOff x="0" y="0"/>
            <a:chExt cx="1805978" cy="3556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805940" cy="355600"/>
            </a:xfrm>
            <a:custGeom>
              <a:avLst/>
              <a:gdLst/>
              <a:ahLst/>
              <a:cxnLst/>
              <a:rect r="r" b="b" t="t" l="l"/>
              <a:pathLst>
                <a:path h="355600" w="1805940">
                  <a:moveTo>
                    <a:pt x="0" y="0"/>
                  </a:moveTo>
                  <a:lnTo>
                    <a:pt x="1805940" y="0"/>
                  </a:lnTo>
                  <a:lnTo>
                    <a:pt x="180594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" t="0" r="-4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01561" y="3245186"/>
            <a:ext cx="9685439" cy="185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26"/>
              </a:lnSpc>
              <a:spcBef>
                <a:spcPct val="0"/>
              </a:spcBef>
            </a:pPr>
            <a:r>
              <a:rPr lang="en-US" b="true" sz="5550" spc="-138" strike="noStrike" u="non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Everyone is taking AI Seriously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1561" y="5019675"/>
            <a:ext cx="2652065" cy="845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70"/>
              </a:lnSpc>
              <a:spcBef>
                <a:spcPct val="0"/>
              </a:spcBef>
            </a:pPr>
            <a:r>
              <a:rPr lang="en-US" b="true" sz="4771" spc="-47" strike="noStrike" u="none">
                <a:solidFill>
                  <a:srgbClr val="8FB4FF"/>
                </a:solidFill>
                <a:latin typeface="Arial Bold"/>
                <a:ea typeface="Arial Bold"/>
                <a:cs typeface="Arial Bold"/>
                <a:sym typeface="Arial Bold"/>
              </a:rPr>
              <a:t>Are you?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91600" y="9486900"/>
            <a:ext cx="266700" cy="266700"/>
            <a:chOff x="0" y="0"/>
            <a:chExt cx="355600" cy="3556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63050" y="9486900"/>
            <a:ext cx="266700" cy="266700"/>
            <a:chOff x="0" y="0"/>
            <a:chExt cx="355600" cy="3556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34500" y="9486900"/>
            <a:ext cx="266700" cy="266700"/>
            <a:chOff x="0" y="0"/>
            <a:chExt cx="355600" cy="3556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87403" y="9526591"/>
            <a:ext cx="56472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b="true" sz="975" spc="156">
                <a:solidFill>
                  <a:srgbClr val="FFFFFF">
                    <a:alpha val="49804"/>
                  </a:srgbClr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01/ 06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1561" y="6705595"/>
            <a:ext cx="8229600" cy="130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3600" spc="-36">
                <a:solidFill>
                  <a:srgbClr val="8FB4FF"/>
                </a:solidFill>
                <a:latin typeface="Arial"/>
                <a:ea typeface="Arial"/>
                <a:cs typeface="Arial"/>
                <a:sym typeface="Arial"/>
              </a:rPr>
              <a:t>A fas</a:t>
            </a:r>
            <a:r>
              <a:rPr lang="en-US" sz="3600" spc="-36">
                <a:solidFill>
                  <a:srgbClr val="8FB4FF"/>
                </a:solidFill>
                <a:latin typeface="Arial"/>
                <a:ea typeface="Arial"/>
                <a:cs typeface="Arial"/>
                <a:sym typeface="Arial"/>
              </a:rPr>
              <a:t>t AI translation is useless if it’s confidently wrong. Safety &gt; Speed.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287000" cy="10287000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7238" y="604838"/>
            <a:ext cx="1331566" cy="361950"/>
            <a:chOff x="0" y="0"/>
            <a:chExt cx="1775422" cy="482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5460" cy="482600"/>
            </a:xfrm>
            <a:custGeom>
              <a:avLst/>
              <a:gdLst/>
              <a:ahLst/>
              <a:cxnLst/>
              <a:rect r="r" b="b" t="t" l="l"/>
              <a:pathLst>
                <a:path h="482600" w="177546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lnTo>
                    <a:pt x="1534160" y="0"/>
                  </a:lnTo>
                  <a:cubicBezTo>
                    <a:pt x="1667383" y="0"/>
                    <a:pt x="1775460" y="108077"/>
                    <a:pt x="1775460" y="241300"/>
                  </a:cubicBezTo>
                  <a:cubicBezTo>
                    <a:pt x="1775460" y="374523"/>
                    <a:pt x="1667383" y="482600"/>
                    <a:pt x="1534160" y="482600"/>
                  </a:cubicBezTo>
                  <a:lnTo>
                    <a:pt x="241300" y="482600"/>
                  </a:ln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0047AB">
                <a:alpha val="392"/>
              </a:srgbClr>
            </a:solidFill>
            <a:ln w="9525" cap="sq">
              <a:solidFill>
                <a:srgbClr val="0047A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42975" y="704850"/>
            <a:ext cx="1036291" cy="200025"/>
            <a:chOff x="0" y="0"/>
            <a:chExt cx="1381722" cy="266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1720" cy="266700"/>
            </a:xfrm>
            <a:custGeom>
              <a:avLst/>
              <a:gdLst/>
              <a:ahLst/>
              <a:cxnLst/>
              <a:rect r="r" b="b" t="t" l="l"/>
              <a:pathLst>
                <a:path h="266700" w="1381720">
                  <a:moveTo>
                    <a:pt x="0" y="0"/>
                  </a:moveTo>
                  <a:lnTo>
                    <a:pt x="1381720" y="0"/>
                  </a:lnTo>
                  <a:lnTo>
                    <a:pt x="1381720" y="266700"/>
                  </a:lnTo>
                  <a:lnTo>
                    <a:pt x="0" y="266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48" r="0" b="-509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81722" cy="276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spc="189">
                  <a:solidFill>
                    <a:srgbClr val="0047AB"/>
                  </a:solidFill>
                  <a:latin typeface="Arial"/>
                  <a:ea typeface="Arial"/>
                  <a:cs typeface="Arial"/>
                  <a:sym typeface="Arial"/>
                </a:rPr>
                <a:t>WHAT IT 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098041" y="652462"/>
            <a:ext cx="1426959" cy="266700"/>
            <a:chOff x="0" y="0"/>
            <a:chExt cx="1902612" cy="355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2587" cy="355600"/>
            </a:xfrm>
            <a:custGeom>
              <a:avLst/>
              <a:gdLst/>
              <a:ahLst/>
              <a:cxnLst/>
              <a:rect r="r" b="b" t="t" l="l"/>
              <a:pathLst>
                <a:path h="355600" w="1902587">
                  <a:moveTo>
                    <a:pt x="0" y="0"/>
                  </a:moveTo>
                  <a:lnTo>
                    <a:pt x="1902587" y="0"/>
                  </a:lnTo>
                  <a:lnTo>
                    <a:pt x="1902587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6800" r="0" b="-9680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62000" y="1619250"/>
            <a:ext cx="8763000" cy="3106864"/>
            <a:chOff x="0" y="0"/>
            <a:chExt cx="11684000" cy="4142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84000" cy="4142486"/>
            </a:xfrm>
            <a:custGeom>
              <a:avLst/>
              <a:gdLst/>
              <a:ahLst/>
              <a:cxnLst/>
              <a:rect r="r" b="b" t="t" l="l"/>
              <a:pathLst>
                <a:path h="4142486" w="11684000">
                  <a:moveTo>
                    <a:pt x="0" y="406400"/>
                  </a:moveTo>
                  <a:cubicBezTo>
                    <a:pt x="0" y="181991"/>
                    <a:pt x="181991" y="0"/>
                    <a:pt x="406400" y="0"/>
                  </a:cubicBezTo>
                  <a:lnTo>
                    <a:pt x="11277600" y="0"/>
                  </a:lnTo>
                  <a:cubicBezTo>
                    <a:pt x="11502009" y="0"/>
                    <a:pt x="11684000" y="181991"/>
                    <a:pt x="11684000" y="406400"/>
                  </a:cubicBezTo>
                  <a:lnTo>
                    <a:pt x="11684000" y="3736086"/>
                  </a:lnTo>
                  <a:cubicBezTo>
                    <a:pt x="11684000" y="3960495"/>
                    <a:pt x="11502009" y="4142486"/>
                    <a:pt x="11277600" y="4142486"/>
                  </a:cubicBezTo>
                  <a:lnTo>
                    <a:pt x="406400" y="4142486"/>
                  </a:lnTo>
                  <a:cubicBezTo>
                    <a:pt x="181991" y="4142486"/>
                    <a:pt x="0" y="3960495"/>
                    <a:pt x="0" y="3736086"/>
                  </a:cubicBezTo>
                  <a:close/>
                </a:path>
              </a:pathLst>
            </a:custGeom>
            <a:solidFill>
              <a:srgbClr val="0A0E2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57238" y="5102352"/>
            <a:ext cx="1624908" cy="1052512"/>
            <a:chOff x="0" y="0"/>
            <a:chExt cx="2166544" cy="14033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6493" cy="1403350"/>
            </a:xfrm>
            <a:custGeom>
              <a:avLst/>
              <a:gdLst/>
              <a:ahLst/>
              <a:cxnLst/>
              <a:rect r="r" b="b" t="t" l="l"/>
              <a:pathLst>
                <a:path h="1403350" w="2166493">
                  <a:moveTo>
                    <a:pt x="0" y="256286"/>
                  </a:moveTo>
                  <a:cubicBezTo>
                    <a:pt x="0" y="114808"/>
                    <a:pt x="114808" y="0"/>
                    <a:pt x="256286" y="0"/>
                  </a:cubicBezTo>
                  <a:lnTo>
                    <a:pt x="1910207" y="0"/>
                  </a:lnTo>
                  <a:cubicBezTo>
                    <a:pt x="2051812" y="0"/>
                    <a:pt x="2166493" y="114808"/>
                    <a:pt x="2166493" y="256286"/>
                  </a:cubicBezTo>
                  <a:lnTo>
                    <a:pt x="2166493" y="1147064"/>
                  </a:lnTo>
                  <a:cubicBezTo>
                    <a:pt x="2166493" y="1288669"/>
                    <a:pt x="2051685" y="1403350"/>
                    <a:pt x="1910207" y="1403350"/>
                  </a:cubicBezTo>
                  <a:lnTo>
                    <a:pt x="256286" y="1403350"/>
                  </a:lnTo>
                  <a:cubicBezTo>
                    <a:pt x="114808" y="1403350"/>
                    <a:pt x="0" y="1288542"/>
                    <a:pt x="0" y="1147064"/>
                  </a:cubicBezTo>
                  <a:close/>
                </a:path>
              </a:pathLst>
            </a:custGeom>
            <a:solidFill>
              <a:srgbClr val="F7F8FA"/>
            </a:solidFill>
            <a:ln w="9525" cap="sq">
              <a:solidFill>
                <a:srgbClr val="E2E6EC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26816" y="5326190"/>
            <a:ext cx="285750" cy="285750"/>
            <a:chOff x="0" y="0"/>
            <a:chExt cx="381000" cy="3810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544070" y="5102352"/>
            <a:ext cx="1624984" cy="1052512"/>
            <a:chOff x="0" y="0"/>
            <a:chExt cx="2166645" cy="14033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6620" cy="1403350"/>
            </a:xfrm>
            <a:custGeom>
              <a:avLst/>
              <a:gdLst/>
              <a:ahLst/>
              <a:cxnLst/>
              <a:rect r="r" b="b" t="t" l="l"/>
              <a:pathLst>
                <a:path h="1403350" w="2166620">
                  <a:moveTo>
                    <a:pt x="0" y="256286"/>
                  </a:moveTo>
                  <a:cubicBezTo>
                    <a:pt x="0" y="114808"/>
                    <a:pt x="114808" y="0"/>
                    <a:pt x="256286" y="0"/>
                  </a:cubicBezTo>
                  <a:lnTo>
                    <a:pt x="1910334" y="0"/>
                  </a:lnTo>
                  <a:cubicBezTo>
                    <a:pt x="2051939" y="0"/>
                    <a:pt x="2166620" y="114808"/>
                    <a:pt x="2166620" y="256286"/>
                  </a:cubicBezTo>
                  <a:lnTo>
                    <a:pt x="2166620" y="1147064"/>
                  </a:lnTo>
                  <a:cubicBezTo>
                    <a:pt x="2166620" y="1288669"/>
                    <a:pt x="2051812" y="1403350"/>
                    <a:pt x="1910334" y="1403350"/>
                  </a:cubicBezTo>
                  <a:lnTo>
                    <a:pt x="256286" y="1403350"/>
                  </a:lnTo>
                  <a:cubicBezTo>
                    <a:pt x="114808" y="1403350"/>
                    <a:pt x="0" y="1288542"/>
                    <a:pt x="0" y="1147064"/>
                  </a:cubicBezTo>
                  <a:close/>
                </a:path>
              </a:pathLst>
            </a:custGeom>
            <a:solidFill>
              <a:srgbClr val="F7F8FA"/>
            </a:solidFill>
            <a:ln w="9525" cap="sq">
              <a:solidFill>
                <a:srgbClr val="E2E6E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3213649" y="5326190"/>
            <a:ext cx="285750" cy="285750"/>
            <a:chOff x="0" y="0"/>
            <a:chExt cx="381000" cy="3810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330970" y="5102352"/>
            <a:ext cx="1624984" cy="1052512"/>
            <a:chOff x="0" y="0"/>
            <a:chExt cx="2166645" cy="14033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66620" cy="1403350"/>
            </a:xfrm>
            <a:custGeom>
              <a:avLst/>
              <a:gdLst/>
              <a:ahLst/>
              <a:cxnLst/>
              <a:rect r="r" b="b" t="t" l="l"/>
              <a:pathLst>
                <a:path h="1403350" w="2166620">
                  <a:moveTo>
                    <a:pt x="0" y="256286"/>
                  </a:moveTo>
                  <a:cubicBezTo>
                    <a:pt x="0" y="114808"/>
                    <a:pt x="114808" y="0"/>
                    <a:pt x="256286" y="0"/>
                  </a:cubicBezTo>
                  <a:lnTo>
                    <a:pt x="1910334" y="0"/>
                  </a:lnTo>
                  <a:cubicBezTo>
                    <a:pt x="2051939" y="0"/>
                    <a:pt x="2166620" y="114808"/>
                    <a:pt x="2166620" y="256286"/>
                  </a:cubicBezTo>
                  <a:lnTo>
                    <a:pt x="2166620" y="1147064"/>
                  </a:lnTo>
                  <a:cubicBezTo>
                    <a:pt x="2166620" y="1288669"/>
                    <a:pt x="2051812" y="1403350"/>
                    <a:pt x="1910334" y="1403350"/>
                  </a:cubicBezTo>
                  <a:lnTo>
                    <a:pt x="256286" y="1403350"/>
                  </a:lnTo>
                  <a:cubicBezTo>
                    <a:pt x="114808" y="1403350"/>
                    <a:pt x="0" y="1288542"/>
                    <a:pt x="0" y="1147064"/>
                  </a:cubicBezTo>
                  <a:close/>
                </a:path>
              </a:pathLst>
            </a:custGeom>
            <a:solidFill>
              <a:srgbClr val="F7F8FA"/>
            </a:solidFill>
            <a:ln w="9525" cap="sq">
              <a:solidFill>
                <a:srgbClr val="E2E6EC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000549" y="5326190"/>
            <a:ext cx="285750" cy="285750"/>
            <a:chOff x="0" y="0"/>
            <a:chExt cx="381000" cy="3810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117879" y="5102352"/>
            <a:ext cx="1624984" cy="1052512"/>
            <a:chOff x="0" y="0"/>
            <a:chExt cx="2166645" cy="14033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66620" cy="1403350"/>
            </a:xfrm>
            <a:custGeom>
              <a:avLst/>
              <a:gdLst/>
              <a:ahLst/>
              <a:cxnLst/>
              <a:rect r="r" b="b" t="t" l="l"/>
              <a:pathLst>
                <a:path h="1403350" w="2166620">
                  <a:moveTo>
                    <a:pt x="0" y="256286"/>
                  </a:moveTo>
                  <a:cubicBezTo>
                    <a:pt x="0" y="114808"/>
                    <a:pt x="114808" y="0"/>
                    <a:pt x="256286" y="0"/>
                  </a:cubicBezTo>
                  <a:lnTo>
                    <a:pt x="1910334" y="0"/>
                  </a:lnTo>
                  <a:cubicBezTo>
                    <a:pt x="2051939" y="0"/>
                    <a:pt x="2166620" y="114808"/>
                    <a:pt x="2166620" y="256286"/>
                  </a:cubicBezTo>
                  <a:lnTo>
                    <a:pt x="2166620" y="1147064"/>
                  </a:lnTo>
                  <a:cubicBezTo>
                    <a:pt x="2166620" y="1288669"/>
                    <a:pt x="2051812" y="1403350"/>
                    <a:pt x="1910334" y="1403350"/>
                  </a:cubicBezTo>
                  <a:lnTo>
                    <a:pt x="256286" y="1403350"/>
                  </a:lnTo>
                  <a:cubicBezTo>
                    <a:pt x="114808" y="1403350"/>
                    <a:pt x="0" y="1288542"/>
                    <a:pt x="0" y="1147064"/>
                  </a:cubicBezTo>
                  <a:close/>
                </a:path>
              </a:pathLst>
            </a:custGeom>
            <a:solidFill>
              <a:srgbClr val="F7F8FA"/>
            </a:solidFill>
            <a:ln w="9525" cap="sq">
              <a:solidFill>
                <a:srgbClr val="E2E6EC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787458" y="5326190"/>
            <a:ext cx="285750" cy="285750"/>
            <a:chOff x="0" y="0"/>
            <a:chExt cx="381000" cy="3810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904778" y="5102352"/>
            <a:ext cx="1624984" cy="1052512"/>
            <a:chOff x="0" y="0"/>
            <a:chExt cx="2166645" cy="14033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66620" cy="1403350"/>
            </a:xfrm>
            <a:custGeom>
              <a:avLst/>
              <a:gdLst/>
              <a:ahLst/>
              <a:cxnLst/>
              <a:rect r="r" b="b" t="t" l="l"/>
              <a:pathLst>
                <a:path h="1403350" w="2166620">
                  <a:moveTo>
                    <a:pt x="0" y="256286"/>
                  </a:moveTo>
                  <a:cubicBezTo>
                    <a:pt x="0" y="114808"/>
                    <a:pt x="114808" y="0"/>
                    <a:pt x="256286" y="0"/>
                  </a:cubicBezTo>
                  <a:lnTo>
                    <a:pt x="1910334" y="0"/>
                  </a:lnTo>
                  <a:cubicBezTo>
                    <a:pt x="2051939" y="0"/>
                    <a:pt x="2166620" y="114808"/>
                    <a:pt x="2166620" y="256286"/>
                  </a:cubicBezTo>
                  <a:lnTo>
                    <a:pt x="2166620" y="1147064"/>
                  </a:lnTo>
                  <a:cubicBezTo>
                    <a:pt x="2166620" y="1288669"/>
                    <a:pt x="2051812" y="1403350"/>
                    <a:pt x="1910334" y="1403350"/>
                  </a:cubicBezTo>
                  <a:lnTo>
                    <a:pt x="256286" y="1403350"/>
                  </a:lnTo>
                  <a:cubicBezTo>
                    <a:pt x="114808" y="1403350"/>
                    <a:pt x="0" y="1288542"/>
                    <a:pt x="0" y="1147064"/>
                  </a:cubicBezTo>
                  <a:close/>
                </a:path>
              </a:pathLst>
            </a:custGeom>
            <a:solidFill>
              <a:srgbClr val="F7F8FA"/>
            </a:solidFill>
            <a:ln w="9525" cap="sq">
              <a:solidFill>
                <a:srgbClr val="E2E6EC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574357" y="5326190"/>
            <a:ext cx="285750" cy="285750"/>
            <a:chOff x="0" y="0"/>
            <a:chExt cx="381000" cy="38100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991600" y="9486900"/>
            <a:ext cx="266700" cy="266700"/>
            <a:chOff x="0" y="0"/>
            <a:chExt cx="355600" cy="3556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63050" y="9486900"/>
            <a:ext cx="266700" cy="266700"/>
            <a:chOff x="0" y="0"/>
            <a:chExt cx="355600" cy="35560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334500" y="9486900"/>
            <a:ext cx="266700" cy="266700"/>
            <a:chOff x="0" y="0"/>
            <a:chExt cx="355600" cy="35560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263653" y="1930403"/>
            <a:ext cx="7994018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2850" spc="-2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Mythos is now inside </a:t>
            </a:r>
            <a:r>
              <a:rPr lang="en-US" b="true" sz="2850" spc="-28">
                <a:solidFill>
                  <a:srgbClr val="8FB4FF"/>
                </a:solidFill>
                <a:latin typeface="Arial Bold"/>
                <a:ea typeface="Arial Bold"/>
                <a:cs typeface="Arial Bold"/>
                <a:sym typeface="Arial Bold"/>
              </a:rPr>
              <a:t>150 organisations </a:t>
            </a:r>
            <a:r>
              <a:rPr lang="en-US" sz="2850" spc="-2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across </a:t>
            </a:r>
            <a:r>
              <a:rPr lang="en-US" b="true" sz="2850" spc="-28">
                <a:solidFill>
                  <a:srgbClr val="8FB4FF"/>
                </a:solidFill>
                <a:latin typeface="Arial Bold"/>
                <a:ea typeface="Arial Bold"/>
                <a:cs typeface="Arial Bold"/>
                <a:sym typeface="Arial Bold"/>
              </a:rPr>
              <a:t>15 countries</a:t>
            </a:r>
            <a:r>
              <a:rPr lang="en-US" sz="2850" spc="-2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63653" y="3136202"/>
            <a:ext cx="7994018" cy="118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1800">
                <a:solidFill>
                  <a:srgbClr val="FFFFFF">
                    <a:alpha val="77647"/>
                  </a:srgbClr>
                </a:solidFill>
                <a:latin typeface="Arial"/>
                <a:ea typeface="Arial"/>
                <a:cs typeface="Arial"/>
                <a:sym typeface="Arial"/>
              </a:rPr>
              <a:t>Every one of them met security requirements before getting access. A successful attack on most of these codebases could affect over 100 million people 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1228" y="5751633"/>
            <a:ext cx="1316926" cy="19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0E1320"/>
                </a:solidFill>
                <a:latin typeface="Arial"/>
                <a:ea typeface="Arial"/>
                <a:cs typeface="Arial"/>
                <a:sym typeface="Arial"/>
              </a:rPr>
              <a:t>Power grids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698052" y="5751633"/>
            <a:ext cx="1317003" cy="19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0E1320"/>
                </a:solidFill>
                <a:latin typeface="Arial"/>
                <a:ea typeface="Arial"/>
                <a:cs typeface="Arial"/>
                <a:sym typeface="Arial"/>
              </a:rPr>
              <a:t>Water systems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484961" y="5751633"/>
            <a:ext cx="1317003" cy="19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0E1320"/>
                </a:solidFill>
                <a:latin typeface="Arial"/>
                <a:ea typeface="Arial"/>
                <a:cs typeface="Arial"/>
                <a:sym typeface="Arial"/>
              </a:rPr>
              <a:t>Healthcare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271870" y="5751633"/>
            <a:ext cx="1317003" cy="19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0E1320"/>
                </a:solidFill>
                <a:latin typeface="Arial"/>
                <a:ea typeface="Arial"/>
                <a:cs typeface="Arial"/>
                <a:sym typeface="Arial"/>
              </a:rPr>
              <a:t>Comms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058769" y="5751633"/>
            <a:ext cx="1317003" cy="19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0E1320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87403" y="9526591"/>
            <a:ext cx="684266" cy="16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spc="156">
                <a:solidFill>
                  <a:srgbClr val="6B7686"/>
                </a:solidFill>
                <a:latin typeface="Courier New"/>
                <a:ea typeface="Courier New"/>
                <a:cs typeface="Courier New"/>
                <a:sym typeface="Courier New"/>
              </a:rPr>
              <a:t>02/ 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287000" cy="10287000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7238" y="604838"/>
            <a:ext cx="2396433" cy="361950"/>
            <a:chOff x="0" y="0"/>
            <a:chExt cx="3195244" cy="482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95193" cy="482600"/>
            </a:xfrm>
            <a:custGeom>
              <a:avLst/>
              <a:gdLst/>
              <a:ahLst/>
              <a:cxnLst/>
              <a:rect r="r" b="b" t="t" l="l"/>
              <a:pathLst>
                <a:path h="482600" w="3195193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lnTo>
                    <a:pt x="2953893" y="0"/>
                  </a:lnTo>
                  <a:cubicBezTo>
                    <a:pt x="3087116" y="0"/>
                    <a:pt x="3195193" y="108077"/>
                    <a:pt x="3195193" y="241300"/>
                  </a:cubicBezTo>
                  <a:cubicBezTo>
                    <a:pt x="3195193" y="374523"/>
                    <a:pt x="3087116" y="482600"/>
                    <a:pt x="2953893" y="482600"/>
                  </a:cubicBezTo>
                  <a:lnTo>
                    <a:pt x="241300" y="482600"/>
                  </a:ln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0047AB">
                <a:alpha val="392"/>
              </a:srgbClr>
            </a:solidFill>
            <a:ln w="9525" cap="sq">
              <a:solidFill>
                <a:srgbClr val="0047A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42975" y="704850"/>
            <a:ext cx="2101158" cy="200025"/>
            <a:chOff x="0" y="0"/>
            <a:chExt cx="2801544" cy="266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01540" cy="266700"/>
            </a:xfrm>
            <a:custGeom>
              <a:avLst/>
              <a:gdLst/>
              <a:ahLst/>
              <a:cxnLst/>
              <a:rect r="r" b="b" t="t" l="l"/>
              <a:pathLst>
                <a:path h="266700" w="2801540">
                  <a:moveTo>
                    <a:pt x="0" y="0"/>
                  </a:moveTo>
                  <a:lnTo>
                    <a:pt x="2801540" y="0"/>
                  </a:lnTo>
                  <a:lnTo>
                    <a:pt x="2801540" y="266700"/>
                  </a:lnTo>
                  <a:lnTo>
                    <a:pt x="0" y="266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680" r="0" b="-15468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801544" cy="276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spc="189">
                  <a:solidFill>
                    <a:srgbClr val="0047AB"/>
                  </a:solidFill>
                  <a:latin typeface="Arial"/>
                  <a:ea typeface="Arial"/>
                  <a:cs typeface="Arial"/>
                  <a:sym typeface="Arial"/>
                </a:rPr>
                <a:t>ELSEWHERE THIS WEEK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87403" y="1530353"/>
            <a:ext cx="7994018" cy="50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Same week. Different company. Different trigger.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7403" y="2282828"/>
            <a:ext cx="8582663" cy="1255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8"/>
              </a:lnSpc>
            </a:pPr>
            <a:r>
              <a:rPr lang="en-US" sz="4050" spc="-81">
                <a:solidFill>
                  <a:srgbClr val="0E1320"/>
                </a:solidFill>
                <a:latin typeface="Arial"/>
                <a:ea typeface="Arial"/>
                <a:cs typeface="Arial"/>
                <a:sym typeface="Arial"/>
              </a:rPr>
              <a:t>OpenAI published a </a:t>
            </a:r>
            <a:r>
              <a:rPr lang="en-US" sz="4050" spc="-81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22-page governance document </a:t>
            </a:r>
            <a:r>
              <a:rPr lang="en-US" sz="4050" spc="-81">
                <a:solidFill>
                  <a:srgbClr val="0E132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7403" y="3856234"/>
            <a:ext cx="430842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Three regulations in </a:t>
            </a:r>
            <a:r>
              <a:rPr lang="en-US" sz="1950" b="true">
                <a:solidFill>
                  <a:srgbClr val="0E1320"/>
                </a:solidFill>
                <a:latin typeface="Arial Bold"/>
                <a:ea typeface="Arial Bold"/>
                <a:cs typeface="Arial Bold"/>
                <a:sym typeface="Arial Bold"/>
              </a:rPr>
              <a:t>48 hours </a:t>
            </a:r>
            <a:r>
              <a:rPr lang="en-US" sz="19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forced it.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62000" y="4549969"/>
            <a:ext cx="8763000" cy="923925"/>
            <a:chOff x="0" y="0"/>
            <a:chExt cx="11684000" cy="12319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840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116840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1455400" y="0"/>
                  </a:lnTo>
                  <a:cubicBezTo>
                    <a:pt x="11581638" y="0"/>
                    <a:pt x="11684000" y="102362"/>
                    <a:pt x="11684000" y="228600"/>
                  </a:cubicBezTo>
                  <a:lnTo>
                    <a:pt x="11684000" y="1003300"/>
                  </a:lnTo>
                  <a:cubicBezTo>
                    <a:pt x="11684000" y="1129538"/>
                    <a:pt x="11581638" y="1231900"/>
                    <a:pt x="11455400" y="1231900"/>
                  </a:cubicBezTo>
                  <a:lnTo>
                    <a:pt x="228600" y="1231900"/>
                  </a:lnTo>
                  <a:cubicBezTo>
                    <a:pt x="102362" y="1231900"/>
                    <a:pt x="0" y="1129538"/>
                    <a:pt x="0" y="1003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2000" y="5459616"/>
            <a:ext cx="8763000" cy="14288"/>
            <a:chOff x="0" y="0"/>
            <a:chExt cx="1168400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684000" cy="19050"/>
            </a:xfrm>
            <a:custGeom>
              <a:avLst/>
              <a:gdLst/>
              <a:ahLst/>
              <a:cxnLst/>
              <a:rect r="r" b="b" t="t" l="l"/>
              <a:pathLst>
                <a:path h="1905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62000" y="4549969"/>
            <a:ext cx="8763000" cy="14288"/>
            <a:chOff x="0" y="0"/>
            <a:chExt cx="11684000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4000" cy="19050"/>
            </a:xfrm>
            <a:custGeom>
              <a:avLst/>
              <a:gdLst/>
              <a:ahLst/>
              <a:cxnLst/>
              <a:rect r="r" b="b" t="t" l="l"/>
              <a:pathLst>
                <a:path h="1905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" y="4549969"/>
            <a:ext cx="57150" cy="923925"/>
            <a:chOff x="0" y="0"/>
            <a:chExt cx="76200" cy="12319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10712" y="4549969"/>
            <a:ext cx="14288" cy="923925"/>
            <a:chOff x="0" y="0"/>
            <a:chExt cx="19050" cy="12319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" cy="1231900"/>
            </a:xfrm>
            <a:custGeom>
              <a:avLst/>
              <a:gdLst/>
              <a:ahLst/>
              <a:cxnLst/>
              <a:rect r="r" b="b" t="t" l="l"/>
              <a:pathLst>
                <a:path h="12319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66800" y="4883344"/>
            <a:ext cx="438150" cy="257175"/>
            <a:chOff x="0" y="0"/>
            <a:chExt cx="584200" cy="3429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4200" cy="342900"/>
            </a:xfrm>
            <a:custGeom>
              <a:avLst/>
              <a:gdLst/>
              <a:ahLst/>
              <a:cxnLst/>
              <a:rect r="r" b="b" t="t" l="l"/>
              <a:pathLst>
                <a:path h="342900" w="5842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lnTo>
                    <a:pt x="412750" y="0"/>
                  </a:lnTo>
                  <a:cubicBezTo>
                    <a:pt x="507492" y="0"/>
                    <a:pt x="584200" y="76708"/>
                    <a:pt x="584200" y="171450"/>
                  </a:cubicBezTo>
                  <a:cubicBezTo>
                    <a:pt x="584200" y="266192"/>
                    <a:pt x="507492" y="342900"/>
                    <a:pt x="412750" y="342900"/>
                  </a:cubicBezTo>
                  <a:lnTo>
                    <a:pt x="171450" y="342900"/>
                  </a:lnTo>
                  <a:cubicBezTo>
                    <a:pt x="76708" y="342900"/>
                    <a:pt x="0" y="266192"/>
                    <a:pt x="0" y="171450"/>
                  </a:cubicBezTo>
                  <a:close/>
                </a:path>
              </a:pathLst>
            </a:custGeom>
            <a:solidFill>
              <a:srgbClr val="0047AB">
                <a:alpha val="392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68403" y="4946847"/>
            <a:ext cx="234953" cy="1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b="true" sz="1050" spc="63">
                <a:solidFill>
                  <a:srgbClr val="0047AB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39903" y="4780159"/>
            <a:ext cx="7272928" cy="28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E1320"/>
                </a:solidFill>
                <a:latin typeface="Arial Bold"/>
                <a:ea typeface="Arial Bold"/>
                <a:cs typeface="Arial Bold"/>
                <a:sym typeface="Arial Bold"/>
              </a:rPr>
              <a:t>California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39903" y="5080197"/>
            <a:ext cx="7272928" cy="18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Transparency in Frontier AI Act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034462" y="4897641"/>
            <a:ext cx="228600" cy="228600"/>
            <a:chOff x="0" y="0"/>
            <a:chExt cx="304800" cy="3048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62000" y="5626294"/>
            <a:ext cx="8763000" cy="923925"/>
            <a:chOff x="0" y="0"/>
            <a:chExt cx="11684000" cy="12319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6840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116840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1455400" y="0"/>
                  </a:lnTo>
                  <a:cubicBezTo>
                    <a:pt x="11581638" y="0"/>
                    <a:pt x="11684000" y="102362"/>
                    <a:pt x="11684000" y="228600"/>
                  </a:cubicBezTo>
                  <a:lnTo>
                    <a:pt x="11684000" y="1003300"/>
                  </a:lnTo>
                  <a:cubicBezTo>
                    <a:pt x="11684000" y="1129538"/>
                    <a:pt x="11581638" y="1231900"/>
                    <a:pt x="11455400" y="1231900"/>
                  </a:cubicBezTo>
                  <a:lnTo>
                    <a:pt x="228600" y="1231900"/>
                  </a:lnTo>
                  <a:cubicBezTo>
                    <a:pt x="102362" y="1231900"/>
                    <a:pt x="0" y="1129538"/>
                    <a:pt x="0" y="1003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62000" y="6535941"/>
            <a:ext cx="8763000" cy="14288"/>
            <a:chOff x="0" y="0"/>
            <a:chExt cx="116840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684000" cy="19050"/>
            </a:xfrm>
            <a:custGeom>
              <a:avLst/>
              <a:gdLst/>
              <a:ahLst/>
              <a:cxnLst/>
              <a:rect r="r" b="b" t="t" l="l"/>
              <a:pathLst>
                <a:path h="1905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62000" y="5626294"/>
            <a:ext cx="8763000" cy="14288"/>
            <a:chOff x="0" y="0"/>
            <a:chExt cx="11684000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684000" cy="19050"/>
            </a:xfrm>
            <a:custGeom>
              <a:avLst/>
              <a:gdLst/>
              <a:ahLst/>
              <a:cxnLst/>
              <a:rect r="r" b="b" t="t" l="l"/>
              <a:pathLst>
                <a:path h="1905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62000" y="5626294"/>
            <a:ext cx="57150" cy="923925"/>
            <a:chOff x="0" y="0"/>
            <a:chExt cx="76200" cy="12319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2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510712" y="5626294"/>
            <a:ext cx="14288" cy="923925"/>
            <a:chOff x="0" y="0"/>
            <a:chExt cx="19050" cy="12319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050" cy="1231900"/>
            </a:xfrm>
            <a:custGeom>
              <a:avLst/>
              <a:gdLst/>
              <a:ahLst/>
              <a:cxnLst/>
              <a:rect r="r" b="b" t="t" l="l"/>
              <a:pathLst>
                <a:path h="12319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66800" y="5959669"/>
            <a:ext cx="438150" cy="257175"/>
            <a:chOff x="0" y="0"/>
            <a:chExt cx="584200" cy="3429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4200" cy="342900"/>
            </a:xfrm>
            <a:custGeom>
              <a:avLst/>
              <a:gdLst/>
              <a:ahLst/>
              <a:cxnLst/>
              <a:rect r="r" b="b" t="t" l="l"/>
              <a:pathLst>
                <a:path h="342900" w="5842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lnTo>
                    <a:pt x="412750" y="0"/>
                  </a:lnTo>
                  <a:cubicBezTo>
                    <a:pt x="507492" y="0"/>
                    <a:pt x="584200" y="76708"/>
                    <a:pt x="584200" y="171450"/>
                  </a:cubicBezTo>
                  <a:cubicBezTo>
                    <a:pt x="584200" y="266192"/>
                    <a:pt x="507492" y="342900"/>
                    <a:pt x="412750" y="342900"/>
                  </a:cubicBezTo>
                  <a:lnTo>
                    <a:pt x="171450" y="342900"/>
                  </a:lnTo>
                  <a:cubicBezTo>
                    <a:pt x="76708" y="342900"/>
                    <a:pt x="0" y="266192"/>
                    <a:pt x="0" y="171450"/>
                  </a:cubicBezTo>
                  <a:close/>
                </a:path>
              </a:pathLst>
            </a:custGeom>
            <a:solidFill>
              <a:srgbClr val="0047AB">
                <a:alpha val="392"/>
              </a:srgbClr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168403" y="6023172"/>
            <a:ext cx="234953" cy="1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b="true" sz="1050" spc="63">
                <a:solidFill>
                  <a:srgbClr val="0047AB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739903" y="5856484"/>
            <a:ext cx="7272928" cy="28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E1320"/>
                </a:solidFill>
                <a:latin typeface="Arial Bold"/>
                <a:ea typeface="Arial Bold"/>
                <a:cs typeface="Arial Bold"/>
                <a:sym typeface="Arial Bold"/>
              </a:rPr>
              <a:t>European Union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39903" y="6156522"/>
            <a:ext cx="7272928" cy="18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AI Act · Code of Practice for General Purpose AI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034462" y="5973966"/>
            <a:ext cx="228600" cy="228600"/>
            <a:chOff x="0" y="0"/>
            <a:chExt cx="304800" cy="3048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62000" y="6702619"/>
            <a:ext cx="8763000" cy="923925"/>
            <a:chOff x="0" y="0"/>
            <a:chExt cx="11684000" cy="12319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6840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116840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1455400" y="0"/>
                  </a:lnTo>
                  <a:cubicBezTo>
                    <a:pt x="11581638" y="0"/>
                    <a:pt x="11684000" y="102362"/>
                    <a:pt x="11684000" y="228600"/>
                  </a:cubicBezTo>
                  <a:lnTo>
                    <a:pt x="11684000" y="1003300"/>
                  </a:lnTo>
                  <a:cubicBezTo>
                    <a:pt x="11684000" y="1129538"/>
                    <a:pt x="11581638" y="1231900"/>
                    <a:pt x="11455400" y="1231900"/>
                  </a:cubicBezTo>
                  <a:lnTo>
                    <a:pt x="228600" y="1231900"/>
                  </a:lnTo>
                  <a:cubicBezTo>
                    <a:pt x="102362" y="1231900"/>
                    <a:pt x="0" y="1129538"/>
                    <a:pt x="0" y="1003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62000" y="7612266"/>
            <a:ext cx="8763000" cy="14288"/>
            <a:chOff x="0" y="0"/>
            <a:chExt cx="11684000" cy="190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684000" cy="19050"/>
            </a:xfrm>
            <a:custGeom>
              <a:avLst/>
              <a:gdLst/>
              <a:ahLst/>
              <a:cxnLst/>
              <a:rect r="r" b="b" t="t" l="l"/>
              <a:pathLst>
                <a:path h="1905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2000" y="6702619"/>
            <a:ext cx="8763000" cy="14288"/>
            <a:chOff x="0" y="0"/>
            <a:chExt cx="11684000" cy="190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684000" cy="19050"/>
            </a:xfrm>
            <a:custGeom>
              <a:avLst/>
              <a:gdLst/>
              <a:ahLst/>
              <a:cxnLst/>
              <a:rect r="r" b="b" t="t" l="l"/>
              <a:pathLst>
                <a:path h="1905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62000" y="6702619"/>
            <a:ext cx="57150" cy="923925"/>
            <a:chOff x="0" y="0"/>
            <a:chExt cx="76200" cy="12319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510712" y="6702619"/>
            <a:ext cx="14288" cy="923925"/>
            <a:chOff x="0" y="0"/>
            <a:chExt cx="19050" cy="12319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050" cy="1231900"/>
            </a:xfrm>
            <a:custGeom>
              <a:avLst/>
              <a:gdLst/>
              <a:ahLst/>
              <a:cxnLst/>
              <a:rect r="r" b="b" t="t" l="l"/>
              <a:pathLst>
                <a:path h="12319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66800" y="7035994"/>
            <a:ext cx="438150" cy="257175"/>
            <a:chOff x="0" y="0"/>
            <a:chExt cx="584200" cy="3429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84200" cy="342900"/>
            </a:xfrm>
            <a:custGeom>
              <a:avLst/>
              <a:gdLst/>
              <a:ahLst/>
              <a:cxnLst/>
              <a:rect r="r" b="b" t="t" l="l"/>
              <a:pathLst>
                <a:path h="342900" w="5842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lnTo>
                    <a:pt x="412750" y="0"/>
                  </a:lnTo>
                  <a:cubicBezTo>
                    <a:pt x="507492" y="0"/>
                    <a:pt x="584200" y="76708"/>
                    <a:pt x="584200" y="171450"/>
                  </a:cubicBezTo>
                  <a:cubicBezTo>
                    <a:pt x="584200" y="266192"/>
                    <a:pt x="507492" y="342900"/>
                    <a:pt x="412750" y="342900"/>
                  </a:cubicBezTo>
                  <a:lnTo>
                    <a:pt x="171450" y="342900"/>
                  </a:lnTo>
                  <a:cubicBezTo>
                    <a:pt x="76708" y="342900"/>
                    <a:pt x="0" y="266192"/>
                    <a:pt x="0" y="171450"/>
                  </a:cubicBezTo>
                  <a:close/>
                </a:path>
              </a:pathLst>
            </a:custGeom>
            <a:solidFill>
              <a:srgbClr val="0047AB">
                <a:alpha val="392"/>
              </a:srgbClr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168403" y="7099497"/>
            <a:ext cx="234953" cy="1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b="true" sz="1050" spc="63">
                <a:solidFill>
                  <a:srgbClr val="0047AB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739903" y="6932809"/>
            <a:ext cx="7272928" cy="28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E1320"/>
                </a:solidFill>
                <a:latin typeface="Arial Bold"/>
                <a:ea typeface="Arial Bold"/>
                <a:cs typeface="Arial Bold"/>
                <a:sym typeface="Arial Bold"/>
              </a:rPr>
              <a:t>Illinois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739903" y="7232847"/>
            <a:ext cx="7272928" cy="18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Independent AI Audit Mandate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034462" y="7050291"/>
            <a:ext cx="228600" cy="228600"/>
            <a:chOff x="0" y="0"/>
            <a:chExt cx="304800" cy="304800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991600" y="9486900"/>
            <a:ext cx="266700" cy="266700"/>
            <a:chOff x="0" y="0"/>
            <a:chExt cx="355600" cy="355600"/>
          </a:xfrm>
        </p:grpSpPr>
        <p:sp>
          <p:nvSpPr>
            <p:cNvPr name="Freeform 64" id="64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163050" y="9486900"/>
            <a:ext cx="266700" cy="266700"/>
            <a:chOff x="0" y="0"/>
            <a:chExt cx="355600" cy="355600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334500" y="9486900"/>
            <a:ext cx="266700" cy="266700"/>
            <a:chOff x="0" y="0"/>
            <a:chExt cx="355600" cy="355600"/>
          </a:xfrm>
        </p:grpSpPr>
        <p:sp>
          <p:nvSpPr>
            <p:cNvPr name="Freeform 68" id="68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787403" y="9526591"/>
            <a:ext cx="684266" cy="16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spc="156">
                <a:solidFill>
                  <a:srgbClr val="6B7686"/>
                </a:solidFill>
                <a:latin typeface="Courier New"/>
                <a:ea typeface="Courier New"/>
                <a:cs typeface="Courier New"/>
                <a:sym typeface="Courier New"/>
              </a:rPr>
              <a:t>03/ 06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8098041" y="652462"/>
            <a:ext cx="1426959" cy="266700"/>
            <a:chOff x="0" y="0"/>
            <a:chExt cx="1902612" cy="355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902587" cy="355600"/>
            </a:xfrm>
            <a:custGeom>
              <a:avLst/>
              <a:gdLst/>
              <a:ahLst/>
              <a:cxnLst/>
              <a:rect r="r" b="b" t="t" l="l"/>
              <a:pathLst>
                <a:path h="355600" w="1902587">
                  <a:moveTo>
                    <a:pt x="0" y="0"/>
                  </a:moveTo>
                  <a:lnTo>
                    <a:pt x="1902587" y="0"/>
                  </a:lnTo>
                  <a:lnTo>
                    <a:pt x="1902587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6800" r="0" b="-9680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287000" cy="10287000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0287000" cy="2609402"/>
            <a:chOff x="0" y="0"/>
            <a:chExt cx="13716000" cy="3479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0" cy="3479165"/>
            </a:xfrm>
            <a:custGeom>
              <a:avLst/>
              <a:gdLst/>
              <a:ahLst/>
              <a:cxnLst/>
              <a:rect r="r" b="b" t="t" l="l"/>
              <a:pathLst>
                <a:path h="3479165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479165"/>
                  </a:lnTo>
                  <a:lnTo>
                    <a:pt x="0" y="3479165"/>
                  </a:lnTo>
                  <a:close/>
                </a:path>
              </a:pathLst>
            </a:custGeom>
            <a:solidFill>
              <a:srgbClr val="02020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7238" y="528638"/>
            <a:ext cx="1967732" cy="361950"/>
            <a:chOff x="0" y="0"/>
            <a:chExt cx="2623642" cy="482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3693" cy="482600"/>
            </a:xfrm>
            <a:custGeom>
              <a:avLst/>
              <a:gdLst/>
              <a:ahLst/>
              <a:cxnLst/>
              <a:rect r="r" b="b" t="t" l="l"/>
              <a:pathLst>
                <a:path h="482600" w="2623693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lnTo>
                    <a:pt x="2382393" y="0"/>
                  </a:lnTo>
                  <a:cubicBezTo>
                    <a:pt x="2515616" y="0"/>
                    <a:pt x="2623693" y="108077"/>
                    <a:pt x="2623693" y="241300"/>
                  </a:cubicBezTo>
                  <a:cubicBezTo>
                    <a:pt x="2623693" y="374523"/>
                    <a:pt x="2515616" y="482600"/>
                    <a:pt x="2382393" y="482600"/>
                  </a:cubicBezTo>
                  <a:lnTo>
                    <a:pt x="241300" y="482600"/>
                  </a:ln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968378" y="644528"/>
            <a:ext cx="1621660" cy="1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spc="18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TWO APPROACHES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7403" y="1044578"/>
            <a:ext cx="8975093" cy="121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3"/>
              </a:lnSpc>
            </a:pPr>
            <a:r>
              <a:rPr lang="en-US" sz="4050" spc="-8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designed it in. </a:t>
            </a:r>
            <a:r>
              <a:rPr lang="en-US" sz="4050" spc="-81">
                <a:solidFill>
                  <a:srgbClr val="8FB4FF"/>
                </a:solidFill>
                <a:latin typeface="Arial"/>
                <a:ea typeface="Arial"/>
                <a:cs typeface="Arial"/>
                <a:sym typeface="Arial"/>
              </a:rPr>
              <a:t>One had to write it down.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2609402"/>
            <a:ext cx="5143500" cy="7620000"/>
            <a:chOff x="0" y="0"/>
            <a:chExt cx="6858000" cy="1016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8000" cy="10160000"/>
            </a:xfrm>
            <a:custGeom>
              <a:avLst/>
              <a:gdLst/>
              <a:ahLst/>
              <a:cxnLst/>
              <a:rect r="r" b="b" t="t" l="l"/>
              <a:pathLst>
                <a:path h="10160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0160000"/>
                  </a:lnTo>
                  <a:lnTo>
                    <a:pt x="0" y="10160000"/>
                  </a:lnTo>
                  <a:close/>
                </a:path>
              </a:pathLst>
            </a:custGeom>
            <a:solidFill>
              <a:srgbClr val="0A0E2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01653" y="3120581"/>
            <a:ext cx="4265933" cy="14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b="true" sz="975" spc="176">
                <a:solidFill>
                  <a:srgbClr val="8FB4FF"/>
                </a:solidFill>
                <a:latin typeface="Arial Bold"/>
                <a:ea typeface="Arial Bold"/>
                <a:cs typeface="Arial Bold"/>
                <a:sym typeface="Arial Bold"/>
              </a:rPr>
              <a:t>ANTHROPIC · GLASSWING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1653" y="3496818"/>
            <a:ext cx="4265933" cy="3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Designed in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76250" y="4219127"/>
            <a:ext cx="209550" cy="209550"/>
            <a:chOff x="0" y="0"/>
            <a:chExt cx="279400" cy="2794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279400"/>
                  </a:ln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44553" y="4130231"/>
            <a:ext cx="3178550" cy="35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1575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  <a:sym typeface="Arial"/>
              </a:rPr>
              <a:t>Governance built into deployment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76250" y="4670603"/>
            <a:ext cx="209550" cy="209550"/>
            <a:chOff x="0" y="0"/>
            <a:chExt cx="279400" cy="2794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279400"/>
                  </a:ln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44553" y="4581696"/>
            <a:ext cx="3854948" cy="35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1575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  <a:sym typeface="Arial"/>
              </a:rPr>
              <a:t>Access requires meeting security criteria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76250" y="5122069"/>
            <a:ext cx="209550" cy="209550"/>
            <a:chOff x="0" y="0"/>
            <a:chExt cx="279400" cy="27940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279400"/>
                  </a:ln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44553" y="5033172"/>
            <a:ext cx="2849585" cy="35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1575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  <a:sym typeface="Arial"/>
              </a:rPr>
              <a:t>150 orgs · 15 countries · vetted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143500" y="2609402"/>
            <a:ext cx="5143500" cy="7620000"/>
            <a:chOff x="0" y="0"/>
            <a:chExt cx="6858000" cy="1016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58000" cy="10160000"/>
            </a:xfrm>
            <a:custGeom>
              <a:avLst/>
              <a:gdLst/>
              <a:ahLst/>
              <a:cxnLst/>
              <a:rect r="r" b="b" t="t" l="l"/>
              <a:pathLst>
                <a:path h="10160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0160000"/>
                  </a:lnTo>
                  <a:lnTo>
                    <a:pt x="0" y="1016000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645153" y="3120581"/>
            <a:ext cx="4265933" cy="14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b="true" sz="975" spc="176">
                <a:solidFill>
                  <a:srgbClr val="FFFFFF">
                    <a:alpha val="84706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OPENAI · FGF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45153" y="3496818"/>
            <a:ext cx="4265933" cy="3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Written down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619750" y="4219127"/>
            <a:ext cx="209550" cy="209550"/>
            <a:chOff x="0" y="0"/>
            <a:chExt cx="279400" cy="2794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279400"/>
                  </a:ln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988053" y="4130231"/>
            <a:ext cx="3609680" cy="35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1575">
                <a:solidFill>
                  <a:srgbClr val="FFFFFF">
                    <a:alpha val="91765"/>
                  </a:srgbClr>
                </a:solidFill>
                <a:latin typeface="Arial"/>
                <a:ea typeface="Arial"/>
                <a:cs typeface="Arial"/>
                <a:sym typeface="Arial"/>
              </a:rPr>
              <a:t>Governance published after regulation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619750" y="4670603"/>
            <a:ext cx="209550" cy="209550"/>
            <a:chOff x="0" y="0"/>
            <a:chExt cx="279400" cy="2794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279400"/>
                  </a:ln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5988053" y="4581696"/>
            <a:ext cx="2475557" cy="35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1575">
                <a:solidFill>
                  <a:srgbClr val="FFFFFF">
                    <a:alpha val="91765"/>
                  </a:srgbClr>
                </a:solidFill>
                <a:latin typeface="Arial"/>
                <a:ea typeface="Arial"/>
                <a:cs typeface="Arial"/>
                <a:sym typeface="Arial"/>
              </a:rPr>
              <a:t>Document required by law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619750" y="5122069"/>
            <a:ext cx="209550" cy="209550"/>
            <a:chOff x="0" y="0"/>
            <a:chExt cx="279400" cy="2794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279400"/>
                  </a:ln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5988053" y="5033172"/>
            <a:ext cx="2622861" cy="35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1575">
                <a:solidFill>
                  <a:srgbClr val="FFFFFF">
                    <a:alpha val="91765"/>
                  </a:srgbClr>
                </a:solidFill>
                <a:latin typeface="Arial"/>
                <a:ea typeface="Arial"/>
                <a:cs typeface="Arial"/>
                <a:sym typeface="Arial"/>
              </a:rPr>
              <a:t>Public disclosure · auditable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163050" y="9677400"/>
            <a:ext cx="266700" cy="266700"/>
            <a:chOff x="0" y="0"/>
            <a:chExt cx="355600" cy="3556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334500" y="9677400"/>
            <a:ext cx="266700" cy="266700"/>
            <a:chOff x="0" y="0"/>
            <a:chExt cx="355600" cy="3556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505950" y="9677400"/>
            <a:ext cx="266700" cy="266700"/>
            <a:chOff x="0" y="0"/>
            <a:chExt cx="355600" cy="3556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87403" y="9717091"/>
            <a:ext cx="684190" cy="16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spc="156">
                <a:solidFill>
                  <a:srgbClr val="FFFFFF">
                    <a:alpha val="69804"/>
                  </a:srgbClr>
                </a:solidFill>
                <a:latin typeface="Courier New"/>
                <a:ea typeface="Courier New"/>
                <a:cs typeface="Courier New"/>
                <a:sym typeface="Courier New"/>
              </a:rPr>
              <a:t>04 / 06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170516" y="652462"/>
            <a:ext cx="1354484" cy="266700"/>
            <a:chOff x="0" y="0"/>
            <a:chExt cx="1805978" cy="35560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1805940" cy="355600"/>
            </a:xfrm>
            <a:custGeom>
              <a:avLst/>
              <a:gdLst/>
              <a:ahLst/>
              <a:cxnLst/>
              <a:rect r="r" b="b" t="t" l="l"/>
              <a:pathLst>
                <a:path h="355600" w="1805940">
                  <a:moveTo>
                    <a:pt x="0" y="0"/>
                  </a:moveTo>
                  <a:lnTo>
                    <a:pt x="1805940" y="0"/>
                  </a:lnTo>
                  <a:lnTo>
                    <a:pt x="180594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" t="0" r="-4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287000" cy="10287000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7238" y="604838"/>
            <a:ext cx="1118216" cy="361950"/>
            <a:chOff x="0" y="0"/>
            <a:chExt cx="1490955" cy="482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0980" cy="482600"/>
            </a:xfrm>
            <a:custGeom>
              <a:avLst/>
              <a:gdLst/>
              <a:ahLst/>
              <a:cxnLst/>
              <a:rect r="r" b="b" t="t" l="l"/>
              <a:pathLst>
                <a:path h="482600" w="149098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lnTo>
                    <a:pt x="1249680" y="0"/>
                  </a:lnTo>
                  <a:cubicBezTo>
                    <a:pt x="1382903" y="0"/>
                    <a:pt x="1490980" y="108077"/>
                    <a:pt x="1490980" y="241300"/>
                  </a:cubicBezTo>
                  <a:cubicBezTo>
                    <a:pt x="1490980" y="374523"/>
                    <a:pt x="1382903" y="482600"/>
                    <a:pt x="1249680" y="482600"/>
                  </a:cubicBezTo>
                  <a:lnTo>
                    <a:pt x="241300" y="482600"/>
                  </a:ln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0047AB">
                <a:alpha val="392"/>
              </a:srgbClr>
            </a:solidFill>
            <a:ln w="9525" cap="sq">
              <a:solidFill>
                <a:srgbClr val="0047A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42975" y="704850"/>
            <a:ext cx="822941" cy="200025"/>
            <a:chOff x="0" y="0"/>
            <a:chExt cx="1097255" cy="266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60" cy="266700"/>
            </a:xfrm>
            <a:custGeom>
              <a:avLst/>
              <a:gdLst/>
              <a:ahLst/>
              <a:cxnLst/>
              <a:rect r="r" b="b" t="t" l="l"/>
              <a:pathLst>
                <a:path h="266700" w="1097260">
                  <a:moveTo>
                    <a:pt x="0" y="0"/>
                  </a:moveTo>
                  <a:lnTo>
                    <a:pt x="1097260" y="0"/>
                  </a:lnTo>
                  <a:lnTo>
                    <a:pt x="1097260" y="266700"/>
                  </a:lnTo>
                  <a:lnTo>
                    <a:pt x="0" y="266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65" r="0" b="-3016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97255" cy="276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spc="189">
                  <a:solidFill>
                    <a:srgbClr val="0047AB"/>
                  </a:solidFill>
                  <a:latin typeface="Arial"/>
                  <a:ea typeface="Arial"/>
                  <a:cs typeface="Arial"/>
                  <a:sym typeface="Arial"/>
                </a:rPr>
                <a:t>THE GAP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87403" y="1549403"/>
            <a:ext cx="8582663" cy="2240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7"/>
              </a:lnSpc>
            </a:pPr>
            <a:r>
              <a:rPr lang="en-US" sz="3600" spc="-72">
                <a:solidFill>
                  <a:srgbClr val="0E1320"/>
                </a:solidFill>
                <a:latin typeface="Arial"/>
                <a:ea typeface="Arial"/>
                <a:cs typeface="Arial"/>
                <a:sym typeface="Arial"/>
              </a:rPr>
              <a:t>Your vendor now has a formal governance document. </a:t>
            </a:r>
            <a:r>
              <a:rPr lang="en-US" sz="3600" spc="-72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Mythos is running inside critical infrastructure with defined controls.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7403" y="4145261"/>
            <a:ext cx="8975093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Most enterprise AI deployments have neither.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52475" y="4967583"/>
            <a:ext cx="8782050" cy="3009900"/>
            <a:chOff x="0" y="0"/>
            <a:chExt cx="11709400" cy="401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9400" cy="4013200"/>
            </a:xfrm>
            <a:custGeom>
              <a:avLst/>
              <a:gdLst/>
              <a:ahLst/>
              <a:cxnLst/>
              <a:rect r="r" b="b" t="t" l="l"/>
              <a:pathLst>
                <a:path h="4013200" w="11709400">
                  <a:moveTo>
                    <a:pt x="0" y="306705"/>
                  </a:moveTo>
                  <a:cubicBezTo>
                    <a:pt x="0" y="137287"/>
                    <a:pt x="137287" y="0"/>
                    <a:pt x="306705" y="0"/>
                  </a:cubicBezTo>
                  <a:lnTo>
                    <a:pt x="11402695" y="0"/>
                  </a:lnTo>
                  <a:cubicBezTo>
                    <a:pt x="11572113" y="0"/>
                    <a:pt x="11709400" y="137287"/>
                    <a:pt x="11709400" y="306705"/>
                  </a:cubicBezTo>
                  <a:lnTo>
                    <a:pt x="11709400" y="3706495"/>
                  </a:lnTo>
                  <a:cubicBezTo>
                    <a:pt x="11709400" y="3875913"/>
                    <a:pt x="11572113" y="4013200"/>
                    <a:pt x="11402695" y="4013200"/>
                  </a:cubicBezTo>
                  <a:lnTo>
                    <a:pt x="306705" y="4013200"/>
                  </a:lnTo>
                  <a:cubicBezTo>
                    <a:pt x="137287" y="4013200"/>
                    <a:pt x="0" y="3875913"/>
                    <a:pt x="0" y="3706495"/>
                  </a:cubicBezTo>
                  <a:close/>
                </a:path>
              </a:pathLst>
            </a:custGeom>
            <a:solidFill>
              <a:srgbClr val="F7F8FA"/>
            </a:solidFill>
            <a:ln w="19050" cap="sq">
              <a:solidFill>
                <a:srgbClr val="0047A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62038" y="5277145"/>
            <a:ext cx="8162925" cy="714375"/>
            <a:chOff x="0" y="0"/>
            <a:chExt cx="10883900" cy="952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83900" cy="952500"/>
            </a:xfrm>
            <a:custGeom>
              <a:avLst/>
              <a:gdLst/>
              <a:ahLst/>
              <a:cxnLst/>
              <a:rect r="r" b="b" t="t" l="l"/>
              <a:pathLst>
                <a:path h="952500" w="10883900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10703687" y="0"/>
                  </a:lnTo>
                  <a:cubicBezTo>
                    <a:pt x="10803255" y="0"/>
                    <a:pt x="10883900" y="80645"/>
                    <a:pt x="10883900" y="180213"/>
                  </a:cubicBezTo>
                  <a:lnTo>
                    <a:pt x="10883900" y="772287"/>
                  </a:lnTo>
                  <a:cubicBezTo>
                    <a:pt x="10883900" y="871855"/>
                    <a:pt x="10803255" y="952500"/>
                    <a:pt x="10703687" y="952500"/>
                  </a:cubicBezTo>
                  <a:lnTo>
                    <a:pt x="180213" y="952500"/>
                  </a:lnTo>
                  <a:cubicBezTo>
                    <a:pt x="80645" y="952500"/>
                    <a:pt x="0" y="871855"/>
                    <a:pt x="0" y="772287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6EC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11278" y="5521623"/>
            <a:ext cx="2768489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0E1320"/>
                </a:solidFill>
                <a:latin typeface="Arial"/>
                <a:ea typeface="Arial"/>
                <a:cs typeface="Arial"/>
                <a:sym typeface="Arial"/>
              </a:rPr>
              <a:t>What your vendor documents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011868" y="5462883"/>
            <a:ext cx="989257" cy="342900"/>
            <a:chOff x="0" y="0"/>
            <a:chExt cx="1319009" cy="457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9022" cy="457200"/>
            </a:xfrm>
            <a:custGeom>
              <a:avLst/>
              <a:gdLst/>
              <a:ahLst/>
              <a:cxnLst/>
              <a:rect r="r" b="b" t="t" l="l"/>
              <a:pathLst>
                <a:path h="457200" w="1319022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90422" y="0"/>
                  </a:lnTo>
                  <a:cubicBezTo>
                    <a:pt x="1216660" y="0"/>
                    <a:pt x="1319022" y="102362"/>
                    <a:pt x="1319022" y="228600"/>
                  </a:cubicBezTo>
                  <a:cubicBezTo>
                    <a:pt x="1319022" y="354838"/>
                    <a:pt x="1216660" y="457200"/>
                    <a:pt x="1090422" y="457200"/>
                  </a:cubicBezTo>
                  <a:lnTo>
                    <a:pt x="228600" y="457200"/>
                  </a:ln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0047AB">
                <a:alpha val="39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164268" y="5548608"/>
            <a:ext cx="171450" cy="171450"/>
            <a:chOff x="0" y="0"/>
            <a:chExt cx="228600" cy="22860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430968" y="5510508"/>
            <a:ext cx="49395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047AB"/>
                </a:solidFill>
                <a:latin typeface="Arial Bold"/>
                <a:ea typeface="Arial Bold"/>
                <a:cs typeface="Arial Bold"/>
                <a:sym typeface="Arial Bold"/>
              </a:rPr>
              <a:t>done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2038" y="6115345"/>
            <a:ext cx="8162925" cy="714375"/>
            <a:chOff x="0" y="0"/>
            <a:chExt cx="10883900" cy="952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83900" cy="952500"/>
            </a:xfrm>
            <a:custGeom>
              <a:avLst/>
              <a:gdLst/>
              <a:ahLst/>
              <a:cxnLst/>
              <a:rect r="r" b="b" t="t" l="l"/>
              <a:pathLst>
                <a:path h="952500" w="10883900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10703687" y="0"/>
                  </a:lnTo>
                  <a:cubicBezTo>
                    <a:pt x="10803255" y="0"/>
                    <a:pt x="10883900" y="80645"/>
                    <a:pt x="10883900" y="180213"/>
                  </a:cubicBezTo>
                  <a:lnTo>
                    <a:pt x="10883900" y="772287"/>
                  </a:lnTo>
                  <a:cubicBezTo>
                    <a:pt x="10883900" y="871855"/>
                    <a:pt x="10803255" y="952500"/>
                    <a:pt x="10703687" y="952500"/>
                  </a:cubicBezTo>
                  <a:lnTo>
                    <a:pt x="180213" y="952500"/>
                  </a:lnTo>
                  <a:cubicBezTo>
                    <a:pt x="80645" y="952500"/>
                    <a:pt x="0" y="871855"/>
                    <a:pt x="0" y="772287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6EC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311278" y="6359823"/>
            <a:ext cx="2816238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0E1320"/>
                </a:solidFill>
                <a:latin typeface="Arial"/>
                <a:ea typeface="Arial"/>
                <a:cs typeface="Arial"/>
                <a:sym typeface="Arial"/>
              </a:rPr>
              <a:t>What Glasswing partners built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011868" y="6301083"/>
            <a:ext cx="989257" cy="342900"/>
            <a:chOff x="0" y="0"/>
            <a:chExt cx="1319009" cy="457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19022" cy="457200"/>
            </a:xfrm>
            <a:custGeom>
              <a:avLst/>
              <a:gdLst/>
              <a:ahLst/>
              <a:cxnLst/>
              <a:rect r="r" b="b" t="t" l="l"/>
              <a:pathLst>
                <a:path h="457200" w="1319022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90422" y="0"/>
                  </a:lnTo>
                  <a:cubicBezTo>
                    <a:pt x="1216660" y="0"/>
                    <a:pt x="1319022" y="102362"/>
                    <a:pt x="1319022" y="228600"/>
                  </a:cubicBezTo>
                  <a:cubicBezTo>
                    <a:pt x="1319022" y="354838"/>
                    <a:pt x="1216660" y="457200"/>
                    <a:pt x="1090422" y="457200"/>
                  </a:cubicBezTo>
                  <a:lnTo>
                    <a:pt x="228600" y="457200"/>
                  </a:ln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0047AB">
                <a:alpha val="39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164268" y="6386808"/>
            <a:ext cx="171450" cy="171450"/>
            <a:chOff x="0" y="0"/>
            <a:chExt cx="228600" cy="2286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430968" y="6348708"/>
            <a:ext cx="49395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047AB"/>
                </a:solidFill>
                <a:latin typeface="Arial Bold"/>
                <a:ea typeface="Arial Bold"/>
                <a:cs typeface="Arial Bold"/>
                <a:sym typeface="Arial Bold"/>
              </a:rPr>
              <a:t>done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62038" y="6953545"/>
            <a:ext cx="8162925" cy="714375"/>
            <a:chOff x="0" y="0"/>
            <a:chExt cx="10883900" cy="952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883900" cy="952500"/>
            </a:xfrm>
            <a:custGeom>
              <a:avLst/>
              <a:gdLst/>
              <a:ahLst/>
              <a:cxnLst/>
              <a:rect r="r" b="b" t="t" l="l"/>
              <a:pathLst>
                <a:path h="952500" w="10883900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10703687" y="0"/>
                  </a:lnTo>
                  <a:cubicBezTo>
                    <a:pt x="10803255" y="0"/>
                    <a:pt x="10883900" y="80645"/>
                    <a:pt x="10883900" y="180213"/>
                  </a:cubicBezTo>
                  <a:lnTo>
                    <a:pt x="10883900" y="772287"/>
                  </a:lnTo>
                  <a:cubicBezTo>
                    <a:pt x="10883900" y="871855"/>
                    <a:pt x="10803255" y="952500"/>
                    <a:pt x="10703687" y="952500"/>
                  </a:cubicBezTo>
                  <a:lnTo>
                    <a:pt x="180213" y="952500"/>
                  </a:lnTo>
                  <a:cubicBezTo>
                    <a:pt x="80645" y="952500"/>
                    <a:pt x="0" y="871855"/>
                    <a:pt x="0" y="772287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6EC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311278" y="7198023"/>
            <a:ext cx="2518048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0E1320"/>
                </a:solidFill>
                <a:latin typeface="Arial"/>
                <a:ea typeface="Arial"/>
                <a:cs typeface="Arial"/>
                <a:sym typeface="Arial"/>
              </a:rPr>
              <a:t>What your deployment has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336461" y="7139283"/>
            <a:ext cx="664664" cy="342900"/>
            <a:chOff x="0" y="0"/>
            <a:chExt cx="886219" cy="457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86206" cy="457200"/>
            </a:xfrm>
            <a:custGeom>
              <a:avLst/>
              <a:gdLst/>
              <a:ahLst/>
              <a:cxnLst/>
              <a:rect r="r" b="b" t="t" l="l"/>
              <a:pathLst>
                <a:path h="457200" w="886206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57606" y="0"/>
                  </a:lnTo>
                  <a:cubicBezTo>
                    <a:pt x="783844" y="0"/>
                    <a:pt x="886206" y="102362"/>
                    <a:pt x="886206" y="228600"/>
                  </a:cubicBezTo>
                  <a:cubicBezTo>
                    <a:pt x="886206" y="354838"/>
                    <a:pt x="783844" y="457200"/>
                    <a:pt x="657606" y="457200"/>
                  </a:cubicBezTo>
                  <a:lnTo>
                    <a:pt x="228600" y="457200"/>
                  </a:ln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E8852B">
                <a:alpha val="1176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488861" y="7225008"/>
            <a:ext cx="171450" cy="171450"/>
            <a:chOff x="0" y="0"/>
            <a:chExt cx="228600" cy="2286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8755561" y="7186908"/>
            <a:ext cx="1693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E8852B"/>
                </a:solidFill>
                <a:latin typeface="Arial Bold"/>
                <a:ea typeface="Arial Bold"/>
                <a:cs typeface="Arial Bold"/>
                <a:sym typeface="Arial Bold"/>
              </a:rPr>
              <a:t>?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991600" y="9486900"/>
            <a:ext cx="266700" cy="266700"/>
            <a:chOff x="0" y="0"/>
            <a:chExt cx="355600" cy="35560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163050" y="9486900"/>
            <a:ext cx="266700" cy="266700"/>
            <a:chOff x="0" y="0"/>
            <a:chExt cx="355600" cy="35560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334500" y="9486900"/>
            <a:ext cx="266700" cy="266700"/>
            <a:chOff x="0" y="0"/>
            <a:chExt cx="355600" cy="35560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787403" y="9526591"/>
            <a:ext cx="684266" cy="16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spc="156">
                <a:solidFill>
                  <a:srgbClr val="6B7686"/>
                </a:solidFill>
                <a:latin typeface="Courier New"/>
                <a:ea typeface="Courier New"/>
                <a:cs typeface="Courier New"/>
                <a:sym typeface="Courier New"/>
              </a:rPr>
              <a:t>05/ 06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098041" y="652462"/>
            <a:ext cx="1426959" cy="266700"/>
            <a:chOff x="0" y="0"/>
            <a:chExt cx="1902612" cy="355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02587" cy="355600"/>
            </a:xfrm>
            <a:custGeom>
              <a:avLst/>
              <a:gdLst/>
              <a:ahLst/>
              <a:cxnLst/>
              <a:rect r="r" b="b" t="t" l="l"/>
              <a:pathLst>
                <a:path h="355600" w="1902587">
                  <a:moveTo>
                    <a:pt x="0" y="0"/>
                  </a:moveTo>
                  <a:lnTo>
                    <a:pt x="1902587" y="0"/>
                  </a:lnTo>
                  <a:lnTo>
                    <a:pt x="1902587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6800" r="0" b="-9680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287000" cy="10287000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47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71500" y="-342900"/>
            <a:ext cx="12344400" cy="12344400"/>
            <a:chOff x="0" y="0"/>
            <a:chExt cx="16459200" cy="164592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6459200" cy="16459200"/>
            </a:xfrm>
            <a:custGeom>
              <a:avLst/>
              <a:gdLst/>
              <a:ahLst/>
              <a:cxnLst/>
              <a:rect r="r" b="b" t="t" l="l"/>
              <a:pathLst>
                <a:path h="164592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6459200"/>
                  </a:lnTo>
                  <a:lnTo>
                    <a:pt x="0" y="1645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70516" y="609600"/>
            <a:ext cx="1354484" cy="266700"/>
            <a:chOff x="0" y="0"/>
            <a:chExt cx="1805978" cy="3556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805940" cy="355600"/>
            </a:xfrm>
            <a:custGeom>
              <a:avLst/>
              <a:gdLst/>
              <a:ahLst/>
              <a:cxnLst/>
              <a:rect r="r" b="b" t="t" l="l"/>
              <a:pathLst>
                <a:path h="355600" w="1805940">
                  <a:moveTo>
                    <a:pt x="0" y="0"/>
                  </a:moveTo>
                  <a:lnTo>
                    <a:pt x="1805940" y="0"/>
                  </a:lnTo>
                  <a:lnTo>
                    <a:pt x="180594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t="0" r="-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7403" y="2763764"/>
            <a:ext cx="8975093" cy="875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81"/>
              </a:lnSpc>
            </a:pPr>
            <a:r>
              <a:rPr lang="en-US" sz="5850" spc="-14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AI is already running.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7403" y="3870893"/>
            <a:ext cx="8975093" cy="75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1"/>
              </a:lnSpc>
            </a:pPr>
            <a:r>
              <a:rPr lang="en-US" sz="4800" spc="-96">
                <a:solidFill>
                  <a:srgbClr val="8FB4FF"/>
                </a:solidFill>
                <a:latin typeface="Arial"/>
                <a:ea typeface="Arial"/>
                <a:cs typeface="Arial"/>
                <a:sym typeface="Arial"/>
              </a:rPr>
              <a:t>What governs it?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62000" y="5147367"/>
            <a:ext cx="5334000" cy="9525"/>
            <a:chOff x="0" y="0"/>
            <a:chExt cx="7112000" cy="12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12000" cy="12700"/>
            </a:xfrm>
            <a:custGeom>
              <a:avLst/>
              <a:gdLst/>
              <a:ahLst/>
              <a:cxnLst/>
              <a:rect r="r" b="b" t="t" l="l"/>
              <a:pathLst>
                <a:path h="127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87403" y="5372795"/>
            <a:ext cx="7601588" cy="48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100">
                <a:solidFill>
                  <a:srgbClr val="FFFFFF">
                    <a:alpha val="85882"/>
                  </a:srgbClr>
                </a:solidFill>
                <a:latin typeface="Arial"/>
                <a:ea typeface="Arial"/>
                <a:cs typeface="Arial"/>
                <a:sym typeface="Arial"/>
              </a:rPr>
              <a:t>This is the work we do with enterprise teams.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7403" y="6169028"/>
            <a:ext cx="8975093" cy="3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you ready for this?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62000" y="6958012"/>
            <a:ext cx="2352751" cy="600075"/>
            <a:chOff x="0" y="0"/>
            <a:chExt cx="3137002" cy="800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37027" cy="800100"/>
            </a:xfrm>
            <a:custGeom>
              <a:avLst/>
              <a:gdLst/>
              <a:ahLst/>
              <a:cxnLst/>
              <a:rect r="r" b="b" t="t" l="l"/>
              <a:pathLst>
                <a:path h="800100" w="3137027">
                  <a:moveTo>
                    <a:pt x="0" y="400050"/>
                  </a:moveTo>
                  <a:cubicBezTo>
                    <a:pt x="0" y="179070"/>
                    <a:pt x="179070" y="0"/>
                    <a:pt x="400050" y="0"/>
                  </a:cubicBezTo>
                  <a:lnTo>
                    <a:pt x="2736977" y="0"/>
                  </a:lnTo>
                  <a:cubicBezTo>
                    <a:pt x="2957957" y="0"/>
                    <a:pt x="3137027" y="179070"/>
                    <a:pt x="3137027" y="400050"/>
                  </a:cubicBezTo>
                  <a:cubicBezTo>
                    <a:pt x="3137027" y="621030"/>
                    <a:pt x="2957830" y="800100"/>
                    <a:pt x="2736977" y="800100"/>
                  </a:cubicBezTo>
                  <a:lnTo>
                    <a:pt x="400050" y="800100"/>
                  </a:lnTo>
                  <a:cubicBezTo>
                    <a:pt x="179070" y="800100"/>
                    <a:pt x="0" y="621030"/>
                    <a:pt x="0" y="4000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92203" y="7135816"/>
            <a:ext cx="1444695" cy="26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newtuple.com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600401" y="7153275"/>
            <a:ext cx="209550" cy="209550"/>
            <a:chOff x="0" y="0"/>
            <a:chExt cx="279400" cy="2794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279400"/>
                  </a:ln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87403" y="9526591"/>
            <a:ext cx="684266" cy="16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spc="156">
                <a:solidFill>
                  <a:srgbClr val="FFFFFF">
                    <a:alpha val="49804"/>
                  </a:srgbClr>
                </a:solidFill>
                <a:latin typeface="Courier New"/>
                <a:ea typeface="Courier New"/>
                <a:cs typeface="Courier New"/>
                <a:sym typeface="Courier New"/>
              </a:rPr>
              <a:t>06/ 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DAHLfmVU5HE</dc:identifier>
  <dcterms:modified xsi:type="dcterms:W3CDTF">2011-08-01T06:04:30Z</dcterms:modified>
  <cp:revision>1</cp:revision>
  <dc:title>AI-Governance-Moment.pptx</dc:title>
</cp:coreProperties>
</file>