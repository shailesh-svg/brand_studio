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10696575" cx="7562850"/>
  <p:notesSz cx="1069657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uIFRSjh5cjvzsXcBab7flf+T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8a63689b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e8a63689bf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e8a63689bf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502041" y="0"/>
            <a:ext cx="76200" cy="106965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981825" y="533400"/>
            <a:ext cx="9600" cy="9667800"/>
          </a:xfrm>
          <a:prstGeom prst="rect">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 name="Google Shape;19;p1"/>
          <p:cNvPicPr preferRelativeResize="0"/>
          <p:nvPr/>
        </p:nvPicPr>
        <p:blipFill rotWithShape="1">
          <a:blip r:embed="rId3">
            <a:alphaModFix/>
          </a:blip>
          <a:srcRect b="0" l="0" r="0" t="0"/>
          <a:stretch/>
        </p:blipFill>
        <p:spPr>
          <a:xfrm>
            <a:off x="571500" y="985250"/>
            <a:ext cx="1856402" cy="346980"/>
          </a:xfrm>
          <a:prstGeom prst="rect">
            <a:avLst/>
          </a:prstGeom>
          <a:noFill/>
          <a:ln>
            <a:noFill/>
          </a:ln>
        </p:spPr>
      </p:pic>
      <p:sp>
        <p:nvSpPr>
          <p:cNvPr id="20" name="Google Shape;20;p1"/>
          <p:cNvSpPr/>
          <p:nvPr/>
        </p:nvSpPr>
        <p:spPr>
          <a:xfrm>
            <a:off x="571500" y="2838450"/>
            <a:ext cx="6612446" cy="1619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PROPOSAL</a:t>
            </a:r>
            <a:endParaRPr b="0" i="0" sz="825" u="none" cap="none" strike="noStrike">
              <a:solidFill>
                <a:schemeClr val="dk1"/>
              </a:solidFill>
              <a:latin typeface="Calibri"/>
              <a:ea typeface="Calibri"/>
              <a:cs typeface="Calibri"/>
              <a:sym typeface="Calibri"/>
            </a:endParaRPr>
          </a:p>
        </p:txBody>
      </p:sp>
      <p:sp>
        <p:nvSpPr>
          <p:cNvPr id="21" name="Google Shape;21;p1"/>
          <p:cNvSpPr/>
          <p:nvPr/>
        </p:nvSpPr>
        <p:spPr>
          <a:xfrm>
            <a:off x="571500" y="3128963"/>
            <a:ext cx="5254806" cy="1158180"/>
          </a:xfrm>
          <a:prstGeom prst="rect">
            <a:avLst/>
          </a:prstGeom>
          <a:noFill/>
          <a:ln>
            <a:noFill/>
          </a:ln>
        </p:spPr>
        <p:txBody>
          <a:bodyPr anchorCtr="0" anchor="t" bIns="0" lIns="0" spcFirstLastPara="1" rIns="0" wrap="square" tIns="0">
            <a:normAutofit/>
          </a:bodyPr>
          <a:lstStyle/>
          <a:p>
            <a:pPr indent="0" lvl="0" marL="0" marR="0" rtl="0" algn="l">
              <a:lnSpc>
                <a:spcPct val="105000"/>
              </a:lnSpc>
              <a:spcBef>
                <a:spcPts val="0"/>
              </a:spcBef>
              <a:spcAft>
                <a:spcPts val="0"/>
              </a:spcAft>
              <a:buClr>
                <a:srgbClr val="0047AB"/>
              </a:buClr>
              <a:buSzPts val="3900"/>
              <a:buFont typeface="Arial"/>
              <a:buNone/>
            </a:pPr>
            <a:r>
              <a:rPr b="0" i="0" lang="en-US" sz="3900" u="none" cap="none" strike="noStrike">
                <a:solidFill>
                  <a:srgbClr val="0047AB"/>
                </a:solidFill>
                <a:latin typeface="Arial"/>
                <a:ea typeface="Arial"/>
                <a:cs typeface="Arial"/>
                <a:sym typeface="Arial"/>
              </a:rPr>
              <a:t>Pension Contribution Processing Automation</a:t>
            </a:r>
            <a:endParaRPr b="0" i="0" sz="3900" u="none" cap="none" strike="noStrike">
              <a:solidFill>
                <a:schemeClr val="dk1"/>
              </a:solidFill>
              <a:latin typeface="Calibri"/>
              <a:ea typeface="Calibri"/>
              <a:cs typeface="Calibri"/>
              <a:sym typeface="Calibri"/>
            </a:endParaRPr>
          </a:p>
        </p:txBody>
      </p:sp>
      <p:sp>
        <p:nvSpPr>
          <p:cNvPr id="22" name="Google Shape;22;p1"/>
          <p:cNvSpPr/>
          <p:nvPr/>
        </p:nvSpPr>
        <p:spPr>
          <a:xfrm>
            <a:off x="571500" y="4567824"/>
            <a:ext cx="6082800" cy="75810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6B7686"/>
              </a:buClr>
              <a:buSzPts val="2700"/>
              <a:buFont typeface="Arial"/>
              <a:buNone/>
            </a:pPr>
            <a:r>
              <a:rPr b="0" i="0" lang="en-US" sz="2700" u="none" cap="none" strike="noStrike">
                <a:solidFill>
                  <a:srgbClr val="6B7686"/>
                </a:solidFill>
                <a:latin typeface="Arial"/>
                <a:ea typeface="Arial"/>
                <a:cs typeface="Arial"/>
                <a:sym typeface="Arial"/>
              </a:rPr>
              <a:t>Microsoft Power Automate + AI Agent Validation Layer</a:t>
            </a:r>
            <a:endParaRPr b="0" i="0" sz="2700" u="none" cap="none" strike="noStrike">
              <a:solidFill>
                <a:schemeClr val="dk1"/>
              </a:solidFill>
              <a:latin typeface="Calibri"/>
              <a:ea typeface="Calibri"/>
              <a:cs typeface="Calibri"/>
              <a:sym typeface="Calibri"/>
            </a:endParaRPr>
          </a:p>
        </p:txBody>
      </p:sp>
      <p:sp>
        <p:nvSpPr>
          <p:cNvPr id="23" name="Google Shape;23;p1"/>
          <p:cNvSpPr/>
          <p:nvPr/>
        </p:nvSpPr>
        <p:spPr>
          <a:xfrm>
            <a:off x="571500" y="5606575"/>
            <a:ext cx="6178500" cy="502200"/>
          </a:xfrm>
          <a:prstGeom prst="rect">
            <a:avLst/>
          </a:prstGeom>
          <a:noFill/>
          <a:ln>
            <a:noFill/>
          </a:ln>
        </p:spPr>
        <p:txBody>
          <a:bodyPr anchorCtr="0" anchor="t" bIns="25400" lIns="25400" spcFirstLastPara="1" rIns="25400" wrap="square" tIns="25400">
            <a:normAutofit/>
          </a:bodyPr>
          <a:lstStyle/>
          <a:p>
            <a:pPr indent="0" lvl="0" marL="0" marR="0" rtl="0" algn="l">
              <a:lnSpc>
                <a:spcPct val="155000"/>
              </a:lnSpc>
              <a:spcBef>
                <a:spcPts val="0"/>
              </a:spcBef>
              <a:spcAft>
                <a:spcPts val="0"/>
              </a:spcAft>
              <a:buClr>
                <a:srgbClr val="374151"/>
              </a:buClr>
              <a:buSzPts val="1050"/>
              <a:buFont typeface="Arial"/>
              <a:buNone/>
            </a:pPr>
            <a:r>
              <a:rPr b="0" i="0" lang="en-US" sz="1050" u="none" cap="none" strike="noStrike">
                <a:solidFill>
                  <a:srgbClr val="374151"/>
                </a:solidFill>
                <a:latin typeface="Arial"/>
                <a:ea typeface="Arial"/>
                <a:cs typeface="Arial"/>
                <a:sym typeface="Arial"/>
              </a:rPr>
              <a:t>A practical automation layer that reduces manual load across employer file intake, validation, historical comparison, and pension administration system posting, without rebuilding the existing portal.</a:t>
            </a:r>
            <a:endParaRPr b="0" i="0" sz="1050" u="none" cap="none" strike="noStrike">
              <a:solidFill>
                <a:schemeClr val="dk1"/>
              </a:solidFill>
              <a:latin typeface="Calibri"/>
              <a:ea typeface="Calibri"/>
              <a:cs typeface="Calibri"/>
              <a:sym typeface="Calibri"/>
            </a:endParaRPr>
          </a:p>
        </p:txBody>
      </p:sp>
      <p:sp>
        <p:nvSpPr>
          <p:cNvPr id="24" name="Google Shape;24;p1"/>
          <p:cNvSpPr/>
          <p:nvPr/>
        </p:nvSpPr>
        <p:spPr>
          <a:xfrm>
            <a:off x="571500" y="9131275"/>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586891" y="9407500"/>
            <a:ext cx="15240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PREPARED FOR</a:t>
            </a:r>
            <a:endParaRPr b="0" i="0" sz="713" u="none" cap="none" strike="noStrike">
              <a:solidFill>
                <a:schemeClr val="dk1"/>
              </a:solidFill>
              <a:latin typeface="Calibri"/>
              <a:ea typeface="Calibri"/>
              <a:cs typeface="Calibri"/>
              <a:sym typeface="Calibri"/>
            </a:endParaRPr>
          </a:p>
        </p:txBody>
      </p:sp>
      <p:sp>
        <p:nvSpPr>
          <p:cNvPr id="26" name="Google Shape;26;p1"/>
          <p:cNvSpPr/>
          <p:nvPr/>
        </p:nvSpPr>
        <p:spPr>
          <a:xfrm>
            <a:off x="586891" y="9574188"/>
            <a:ext cx="1524000" cy="3696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E1320"/>
              </a:buClr>
              <a:buSzPts val="900"/>
              <a:buFont typeface="Arial"/>
              <a:buNone/>
            </a:pPr>
            <a:r>
              <a:rPr lang="en-US" sz="900">
                <a:solidFill>
                  <a:srgbClr val="0E1320"/>
                </a:solidFill>
              </a:rPr>
              <a:t>Reflections Global</a:t>
            </a:r>
            <a:endParaRPr b="0" i="0" sz="900" u="none" cap="none" strike="noStrike">
              <a:solidFill>
                <a:schemeClr val="dk1"/>
              </a:solidFill>
              <a:latin typeface="Calibri"/>
              <a:ea typeface="Calibri"/>
              <a:cs typeface="Calibri"/>
              <a:sym typeface="Calibri"/>
            </a:endParaRPr>
          </a:p>
        </p:txBody>
      </p:sp>
      <p:sp>
        <p:nvSpPr>
          <p:cNvPr id="27" name="Google Shape;27;p1"/>
          <p:cNvSpPr/>
          <p:nvPr/>
        </p:nvSpPr>
        <p:spPr>
          <a:xfrm>
            <a:off x="2737890" y="9407500"/>
            <a:ext cx="15240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PREPARED BY</a:t>
            </a:r>
            <a:endParaRPr b="0" i="0" sz="713" u="none" cap="none" strike="noStrike">
              <a:solidFill>
                <a:schemeClr val="dk1"/>
              </a:solidFill>
              <a:latin typeface="Calibri"/>
              <a:ea typeface="Calibri"/>
              <a:cs typeface="Calibri"/>
              <a:sym typeface="Calibri"/>
            </a:endParaRPr>
          </a:p>
        </p:txBody>
      </p:sp>
      <p:sp>
        <p:nvSpPr>
          <p:cNvPr id="28" name="Google Shape;28;p1"/>
          <p:cNvSpPr/>
          <p:nvPr/>
        </p:nvSpPr>
        <p:spPr>
          <a:xfrm>
            <a:off x="2768681" y="9583725"/>
            <a:ext cx="1856400" cy="20970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0E1320"/>
              </a:buClr>
              <a:buSzPts val="900"/>
              <a:buFont typeface="Arial"/>
              <a:buNone/>
            </a:pPr>
            <a:r>
              <a:rPr lang="en-US" sz="900">
                <a:solidFill>
                  <a:srgbClr val="0E1320"/>
                </a:solidFill>
              </a:rPr>
              <a:t>Ratish Nair, CBO</a:t>
            </a:r>
            <a:endParaRPr b="0" i="0" sz="900" u="none" cap="none" strike="noStrike">
              <a:solidFill>
                <a:schemeClr val="dk1"/>
              </a:solidFill>
              <a:latin typeface="Calibri"/>
              <a:ea typeface="Calibri"/>
              <a:cs typeface="Calibri"/>
              <a:sym typeface="Calibri"/>
            </a:endParaRPr>
          </a:p>
        </p:txBody>
      </p:sp>
      <p:sp>
        <p:nvSpPr>
          <p:cNvPr id="29" name="Google Shape;29;p1"/>
          <p:cNvSpPr/>
          <p:nvPr/>
        </p:nvSpPr>
        <p:spPr>
          <a:xfrm>
            <a:off x="4963553" y="9407500"/>
            <a:ext cx="15240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DATE</a:t>
            </a:r>
            <a:endParaRPr b="0" i="0" sz="713" u="none" cap="none" strike="noStrike">
              <a:solidFill>
                <a:schemeClr val="dk1"/>
              </a:solidFill>
              <a:latin typeface="Calibri"/>
              <a:ea typeface="Calibri"/>
              <a:cs typeface="Calibri"/>
              <a:sym typeface="Calibri"/>
            </a:endParaRPr>
          </a:p>
        </p:txBody>
      </p:sp>
      <p:sp>
        <p:nvSpPr>
          <p:cNvPr id="30" name="Google Shape;30;p1"/>
          <p:cNvSpPr/>
          <p:nvPr/>
        </p:nvSpPr>
        <p:spPr>
          <a:xfrm>
            <a:off x="4963553" y="9574188"/>
            <a:ext cx="1524000" cy="2037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E1320"/>
              </a:buClr>
              <a:buSzPts val="900"/>
              <a:buFont typeface="Arial"/>
              <a:buNone/>
            </a:pPr>
            <a:r>
              <a:rPr b="0" i="0" lang="en-US" sz="900" u="none" cap="none" strike="noStrike">
                <a:solidFill>
                  <a:srgbClr val="0E1320"/>
                </a:solidFill>
                <a:latin typeface="Arial"/>
                <a:ea typeface="Arial"/>
                <a:cs typeface="Arial"/>
                <a:sym typeface="Arial"/>
              </a:rPr>
              <a:t>05 June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2"/>
          <p:cNvSpPr/>
          <p:nvPr/>
        </p:nvSpPr>
        <p:spPr>
          <a:xfrm>
            <a:off x="-15" y="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
          <p:cNvPicPr preferRelativeResize="0"/>
          <p:nvPr/>
        </p:nvPicPr>
        <p:blipFill rotWithShape="1">
          <a:blip r:embed="rId3">
            <a:alphaModFix/>
          </a:blip>
          <a:srcRect b="0" l="0" r="0" t="0"/>
          <a:stretch/>
        </p:blipFill>
        <p:spPr>
          <a:xfrm>
            <a:off x="571500" y="671273"/>
            <a:ext cx="815357" cy="152400"/>
          </a:xfrm>
          <a:prstGeom prst="rect">
            <a:avLst/>
          </a:prstGeom>
          <a:noFill/>
          <a:ln>
            <a:noFill/>
          </a:ln>
        </p:spPr>
      </p:pic>
      <p:sp>
        <p:nvSpPr>
          <p:cNvPr id="38" name="Google Shape;38;p2"/>
          <p:cNvSpPr/>
          <p:nvPr/>
        </p:nvSpPr>
        <p:spPr>
          <a:xfrm>
            <a:off x="3486522" y="690323"/>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39" name="Google Shape;39;p2"/>
          <p:cNvSpPr/>
          <p:nvPr/>
        </p:nvSpPr>
        <p:spPr>
          <a:xfrm>
            <a:off x="571500" y="1673448"/>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579899" y="1305843"/>
            <a:ext cx="11283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Contents</a:t>
            </a:r>
            <a:endParaRPr b="0" i="0" sz="1950" u="none" cap="none" strike="noStrike">
              <a:solidFill>
                <a:schemeClr val="dk1"/>
              </a:solidFill>
              <a:latin typeface="Calibri"/>
              <a:ea typeface="Calibri"/>
              <a:cs typeface="Calibri"/>
              <a:sym typeface="Calibri"/>
            </a:endParaRPr>
          </a:p>
        </p:txBody>
      </p:sp>
      <p:sp>
        <p:nvSpPr>
          <p:cNvPr id="41" name="Google Shape;41;p2"/>
          <p:cNvSpPr/>
          <p:nvPr/>
        </p:nvSpPr>
        <p:spPr>
          <a:xfrm>
            <a:off x="5829002" y="1439193"/>
            <a:ext cx="1238400" cy="1482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6B7686"/>
              </a:buClr>
              <a:buSzPts val="788"/>
              <a:buFont typeface="Arial"/>
              <a:buNone/>
            </a:pPr>
            <a:r>
              <a:t/>
            </a:r>
            <a:endParaRPr b="0" i="0" sz="788" u="none" cap="none" strike="noStrike">
              <a:solidFill>
                <a:schemeClr val="dk1"/>
              </a:solidFill>
              <a:latin typeface="Calibri"/>
              <a:ea typeface="Calibri"/>
              <a:cs typeface="Calibri"/>
              <a:sym typeface="Calibri"/>
            </a:endParaRPr>
          </a:p>
        </p:txBody>
      </p:sp>
      <p:sp>
        <p:nvSpPr>
          <p:cNvPr id="42" name="Google Shape;42;p2"/>
          <p:cNvSpPr/>
          <p:nvPr/>
        </p:nvSpPr>
        <p:spPr>
          <a:xfrm>
            <a:off x="571500" y="25306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33936" y="2083023"/>
            <a:ext cx="8472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Introduction</a:t>
            </a:r>
            <a:endParaRPr b="0" i="0" sz="1050" u="none" cap="none" strike="noStrike">
              <a:solidFill>
                <a:schemeClr val="dk1"/>
              </a:solidFill>
              <a:latin typeface="Calibri"/>
              <a:ea typeface="Calibri"/>
              <a:cs typeface="Calibri"/>
              <a:sym typeface="Calibri"/>
            </a:endParaRPr>
          </a:p>
        </p:txBody>
      </p:sp>
      <p:sp>
        <p:nvSpPr>
          <p:cNvPr id="44" name="Google Shape;44;p2"/>
          <p:cNvSpPr/>
          <p:nvPr/>
        </p:nvSpPr>
        <p:spPr>
          <a:xfrm>
            <a:off x="633936" y="22735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Context, current state, and the shape of the proposed engagement</a:t>
            </a:r>
            <a:endParaRPr b="0" i="0" sz="825" u="none" cap="none" strike="noStrike">
              <a:solidFill>
                <a:schemeClr val="dk1"/>
              </a:solidFill>
              <a:latin typeface="Calibri"/>
              <a:ea typeface="Calibri"/>
              <a:cs typeface="Calibri"/>
              <a:sym typeface="Calibri"/>
            </a:endParaRPr>
          </a:p>
        </p:txBody>
      </p:sp>
      <p:sp>
        <p:nvSpPr>
          <p:cNvPr id="45" name="Google Shape;45;p2"/>
          <p:cNvSpPr/>
          <p:nvPr/>
        </p:nvSpPr>
        <p:spPr>
          <a:xfrm>
            <a:off x="6836643" y="21115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03</a:t>
            </a:r>
            <a:endParaRPr b="0" i="0" sz="825" u="none" cap="none" strike="noStrike">
              <a:solidFill>
                <a:schemeClr val="dk1"/>
              </a:solidFill>
              <a:latin typeface="Calibri"/>
              <a:ea typeface="Calibri"/>
              <a:cs typeface="Calibri"/>
              <a:sym typeface="Calibri"/>
            </a:endParaRPr>
          </a:p>
        </p:txBody>
      </p:sp>
      <p:sp>
        <p:nvSpPr>
          <p:cNvPr id="46" name="Google Shape;46;p2"/>
          <p:cNvSpPr/>
          <p:nvPr/>
        </p:nvSpPr>
        <p:spPr>
          <a:xfrm>
            <a:off x="571500" y="31212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33936" y="2673573"/>
            <a:ext cx="7530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Objectives</a:t>
            </a:r>
            <a:endParaRPr b="0" i="0" sz="1050" u="none" cap="none" strike="noStrike">
              <a:solidFill>
                <a:schemeClr val="dk1"/>
              </a:solidFill>
              <a:latin typeface="Calibri"/>
              <a:ea typeface="Calibri"/>
              <a:cs typeface="Calibri"/>
              <a:sym typeface="Calibri"/>
            </a:endParaRPr>
          </a:p>
        </p:txBody>
      </p:sp>
      <p:sp>
        <p:nvSpPr>
          <p:cNvPr id="48" name="Google Shape;48;p2"/>
          <p:cNvSpPr/>
          <p:nvPr/>
        </p:nvSpPr>
        <p:spPr>
          <a:xfrm>
            <a:off x="633936" y="28640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Outcomes the build will deliver across the 12-week MVP</a:t>
            </a:r>
            <a:endParaRPr b="0" i="0" sz="825" u="none" cap="none" strike="noStrike">
              <a:solidFill>
                <a:schemeClr val="dk1"/>
              </a:solidFill>
              <a:latin typeface="Calibri"/>
              <a:ea typeface="Calibri"/>
              <a:cs typeface="Calibri"/>
              <a:sym typeface="Calibri"/>
            </a:endParaRPr>
          </a:p>
        </p:txBody>
      </p:sp>
      <p:sp>
        <p:nvSpPr>
          <p:cNvPr id="49" name="Google Shape;49;p2"/>
          <p:cNvSpPr/>
          <p:nvPr/>
        </p:nvSpPr>
        <p:spPr>
          <a:xfrm>
            <a:off x="6836643" y="27021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03</a:t>
            </a:r>
            <a:endParaRPr b="0" i="0" sz="825" u="none" cap="none" strike="noStrike">
              <a:solidFill>
                <a:schemeClr val="dk1"/>
              </a:solidFill>
              <a:latin typeface="Calibri"/>
              <a:ea typeface="Calibri"/>
              <a:cs typeface="Calibri"/>
              <a:sym typeface="Calibri"/>
            </a:endParaRPr>
          </a:p>
        </p:txBody>
      </p:sp>
      <p:sp>
        <p:nvSpPr>
          <p:cNvPr id="50" name="Google Shape;50;p2"/>
          <p:cNvSpPr/>
          <p:nvPr/>
        </p:nvSpPr>
        <p:spPr>
          <a:xfrm>
            <a:off x="571500" y="37117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633936" y="3264123"/>
            <a:ext cx="17739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Proposed Solution &amp; Flows</a:t>
            </a:r>
            <a:endParaRPr b="0" i="0" sz="1050" u="none" cap="none" strike="noStrike">
              <a:solidFill>
                <a:schemeClr val="dk1"/>
              </a:solidFill>
              <a:latin typeface="Calibri"/>
              <a:ea typeface="Calibri"/>
              <a:cs typeface="Calibri"/>
              <a:sym typeface="Calibri"/>
            </a:endParaRPr>
          </a:p>
        </p:txBody>
      </p:sp>
      <p:sp>
        <p:nvSpPr>
          <p:cNvPr id="52" name="Google Shape;52;p2"/>
          <p:cNvSpPr/>
          <p:nvPr/>
        </p:nvSpPr>
        <p:spPr>
          <a:xfrm>
            <a:off x="633936" y="34546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Two operating flows, mailbox-led and portal-led, sharing one validation layer</a:t>
            </a:r>
            <a:endParaRPr b="0" i="0" sz="825" u="none" cap="none" strike="noStrike">
              <a:solidFill>
                <a:schemeClr val="dk1"/>
              </a:solidFill>
              <a:latin typeface="Calibri"/>
              <a:ea typeface="Calibri"/>
              <a:cs typeface="Calibri"/>
              <a:sym typeface="Calibri"/>
            </a:endParaRPr>
          </a:p>
        </p:txBody>
      </p:sp>
      <p:sp>
        <p:nvSpPr>
          <p:cNvPr id="53" name="Google Shape;53;p2"/>
          <p:cNvSpPr/>
          <p:nvPr/>
        </p:nvSpPr>
        <p:spPr>
          <a:xfrm>
            <a:off x="6836643" y="32926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04</a:t>
            </a:r>
            <a:endParaRPr b="0" i="0" sz="825" u="none" cap="none" strike="noStrike">
              <a:solidFill>
                <a:schemeClr val="dk1"/>
              </a:solidFill>
              <a:latin typeface="Calibri"/>
              <a:ea typeface="Calibri"/>
              <a:cs typeface="Calibri"/>
              <a:sym typeface="Calibri"/>
            </a:endParaRPr>
          </a:p>
        </p:txBody>
      </p:sp>
      <p:sp>
        <p:nvSpPr>
          <p:cNvPr id="54" name="Google Shape;54;p2"/>
          <p:cNvSpPr/>
          <p:nvPr/>
        </p:nvSpPr>
        <p:spPr>
          <a:xfrm>
            <a:off x="571500" y="43023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33936" y="3854673"/>
            <a:ext cx="18573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Recommended Architecture</a:t>
            </a:r>
            <a:endParaRPr b="0" i="0" sz="1050" u="none" cap="none" strike="noStrike">
              <a:solidFill>
                <a:schemeClr val="dk1"/>
              </a:solidFill>
              <a:latin typeface="Calibri"/>
              <a:ea typeface="Calibri"/>
              <a:cs typeface="Calibri"/>
              <a:sym typeface="Calibri"/>
            </a:endParaRPr>
          </a:p>
        </p:txBody>
      </p:sp>
      <p:sp>
        <p:nvSpPr>
          <p:cNvPr id="56" name="Google Shape;56;p2"/>
          <p:cNvSpPr/>
          <p:nvPr/>
        </p:nvSpPr>
        <p:spPr>
          <a:xfrm>
            <a:off x="633936" y="40451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Orchestration, agent/API layer, validation services, and audit</a:t>
            </a:r>
            <a:endParaRPr b="0" i="0" sz="825" u="none" cap="none" strike="noStrike">
              <a:solidFill>
                <a:schemeClr val="dk1"/>
              </a:solidFill>
              <a:latin typeface="Calibri"/>
              <a:ea typeface="Calibri"/>
              <a:cs typeface="Calibri"/>
              <a:sym typeface="Calibri"/>
            </a:endParaRPr>
          </a:p>
        </p:txBody>
      </p:sp>
      <p:sp>
        <p:nvSpPr>
          <p:cNvPr id="57" name="Google Shape;57;p2"/>
          <p:cNvSpPr/>
          <p:nvPr/>
        </p:nvSpPr>
        <p:spPr>
          <a:xfrm>
            <a:off x="6836643" y="38832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05</a:t>
            </a:r>
            <a:endParaRPr b="0" i="0" sz="825" u="none" cap="none" strike="noStrike">
              <a:solidFill>
                <a:schemeClr val="dk1"/>
              </a:solidFill>
              <a:latin typeface="Calibri"/>
              <a:ea typeface="Calibri"/>
              <a:cs typeface="Calibri"/>
              <a:sym typeface="Calibri"/>
            </a:endParaRPr>
          </a:p>
        </p:txBody>
      </p:sp>
      <p:sp>
        <p:nvSpPr>
          <p:cNvPr id="58" name="Google Shape;58;p2"/>
          <p:cNvSpPr/>
          <p:nvPr/>
        </p:nvSpPr>
        <p:spPr>
          <a:xfrm>
            <a:off x="571500" y="48928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33936" y="4445223"/>
            <a:ext cx="4806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Scope</a:t>
            </a:r>
            <a:endParaRPr b="0" i="0" sz="1050" u="none" cap="none" strike="noStrike">
              <a:solidFill>
                <a:schemeClr val="dk1"/>
              </a:solidFill>
              <a:latin typeface="Calibri"/>
              <a:ea typeface="Calibri"/>
              <a:cs typeface="Calibri"/>
              <a:sym typeface="Calibri"/>
            </a:endParaRPr>
          </a:p>
        </p:txBody>
      </p:sp>
      <p:sp>
        <p:nvSpPr>
          <p:cNvPr id="60" name="Google Shape;60;p2"/>
          <p:cNvSpPr/>
          <p:nvPr/>
        </p:nvSpPr>
        <p:spPr>
          <a:xfrm>
            <a:off x="633936" y="46357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What is included in the 12-week MVP and what sits outside it</a:t>
            </a:r>
            <a:endParaRPr b="0" i="0" sz="825" u="none" cap="none" strike="noStrike">
              <a:solidFill>
                <a:schemeClr val="dk1"/>
              </a:solidFill>
              <a:latin typeface="Calibri"/>
              <a:ea typeface="Calibri"/>
              <a:cs typeface="Calibri"/>
              <a:sym typeface="Calibri"/>
            </a:endParaRPr>
          </a:p>
        </p:txBody>
      </p:sp>
      <p:sp>
        <p:nvSpPr>
          <p:cNvPr id="61" name="Google Shape;61;p2"/>
          <p:cNvSpPr/>
          <p:nvPr/>
        </p:nvSpPr>
        <p:spPr>
          <a:xfrm>
            <a:off x="6836643" y="44737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06</a:t>
            </a:r>
            <a:endParaRPr b="0" i="0" sz="825" u="none" cap="none" strike="noStrike">
              <a:solidFill>
                <a:schemeClr val="dk1"/>
              </a:solidFill>
              <a:latin typeface="Calibri"/>
              <a:ea typeface="Calibri"/>
              <a:cs typeface="Calibri"/>
              <a:sym typeface="Calibri"/>
            </a:endParaRPr>
          </a:p>
        </p:txBody>
      </p:sp>
      <p:sp>
        <p:nvSpPr>
          <p:cNvPr id="62" name="Google Shape;62;p2"/>
          <p:cNvSpPr/>
          <p:nvPr/>
        </p:nvSpPr>
        <p:spPr>
          <a:xfrm>
            <a:off x="571500" y="54834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33936" y="5035773"/>
            <a:ext cx="9114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Delivery Plan</a:t>
            </a:r>
            <a:endParaRPr b="0" i="0" sz="1050" u="none" cap="none" strike="noStrike">
              <a:solidFill>
                <a:schemeClr val="dk1"/>
              </a:solidFill>
              <a:latin typeface="Calibri"/>
              <a:ea typeface="Calibri"/>
              <a:cs typeface="Calibri"/>
              <a:sym typeface="Calibri"/>
            </a:endParaRPr>
          </a:p>
        </p:txBody>
      </p:sp>
      <p:sp>
        <p:nvSpPr>
          <p:cNvPr id="64" name="Google Shape;64;p2"/>
          <p:cNvSpPr/>
          <p:nvPr/>
        </p:nvSpPr>
        <p:spPr>
          <a:xfrm>
            <a:off x="633936" y="52262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Indicative 12-week Gantt across discovery, build, UAT, and handover</a:t>
            </a:r>
            <a:endParaRPr b="0" i="0" sz="825" u="none" cap="none" strike="noStrike">
              <a:solidFill>
                <a:schemeClr val="dk1"/>
              </a:solidFill>
              <a:latin typeface="Calibri"/>
              <a:ea typeface="Calibri"/>
              <a:cs typeface="Calibri"/>
              <a:sym typeface="Calibri"/>
            </a:endParaRPr>
          </a:p>
        </p:txBody>
      </p:sp>
      <p:sp>
        <p:nvSpPr>
          <p:cNvPr id="65" name="Google Shape;65;p2"/>
          <p:cNvSpPr/>
          <p:nvPr/>
        </p:nvSpPr>
        <p:spPr>
          <a:xfrm>
            <a:off x="6836643" y="50643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07</a:t>
            </a:r>
            <a:endParaRPr b="0" i="0" sz="825" u="none" cap="none" strike="noStrike">
              <a:solidFill>
                <a:schemeClr val="dk1"/>
              </a:solidFill>
              <a:latin typeface="Calibri"/>
              <a:ea typeface="Calibri"/>
              <a:cs typeface="Calibri"/>
              <a:sym typeface="Calibri"/>
            </a:endParaRPr>
          </a:p>
        </p:txBody>
      </p:sp>
      <p:sp>
        <p:nvSpPr>
          <p:cNvPr id="66" name="Google Shape;66;p2"/>
          <p:cNvSpPr/>
          <p:nvPr/>
        </p:nvSpPr>
        <p:spPr>
          <a:xfrm>
            <a:off x="571500" y="60739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33936" y="5626323"/>
            <a:ext cx="9873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UAT Summary</a:t>
            </a:r>
            <a:endParaRPr b="0" i="0" sz="1050" u="none" cap="none" strike="noStrike">
              <a:solidFill>
                <a:schemeClr val="dk1"/>
              </a:solidFill>
              <a:latin typeface="Calibri"/>
              <a:ea typeface="Calibri"/>
              <a:cs typeface="Calibri"/>
              <a:sym typeface="Calibri"/>
            </a:endParaRPr>
          </a:p>
        </p:txBody>
      </p:sp>
      <p:sp>
        <p:nvSpPr>
          <p:cNvPr id="68" name="Google Shape;68;p2"/>
          <p:cNvSpPr/>
          <p:nvPr/>
        </p:nvSpPr>
        <p:spPr>
          <a:xfrm>
            <a:off x="633936" y="58168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Short, rolling validation cycles aligned to milestone outcomes</a:t>
            </a:r>
            <a:endParaRPr b="0" i="0" sz="825" u="none" cap="none" strike="noStrike">
              <a:solidFill>
                <a:schemeClr val="dk1"/>
              </a:solidFill>
              <a:latin typeface="Calibri"/>
              <a:ea typeface="Calibri"/>
              <a:cs typeface="Calibri"/>
              <a:sym typeface="Calibri"/>
            </a:endParaRPr>
          </a:p>
        </p:txBody>
      </p:sp>
      <p:sp>
        <p:nvSpPr>
          <p:cNvPr id="69" name="Google Shape;69;p2"/>
          <p:cNvSpPr/>
          <p:nvPr/>
        </p:nvSpPr>
        <p:spPr>
          <a:xfrm>
            <a:off x="6836643" y="56548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08</a:t>
            </a:r>
            <a:endParaRPr b="0" i="0" sz="825" u="none" cap="none" strike="noStrike">
              <a:solidFill>
                <a:schemeClr val="dk1"/>
              </a:solidFill>
              <a:latin typeface="Calibri"/>
              <a:ea typeface="Calibri"/>
              <a:cs typeface="Calibri"/>
              <a:sym typeface="Calibri"/>
            </a:endParaRPr>
          </a:p>
        </p:txBody>
      </p:sp>
      <p:sp>
        <p:nvSpPr>
          <p:cNvPr id="70" name="Google Shape;70;p2"/>
          <p:cNvSpPr/>
          <p:nvPr/>
        </p:nvSpPr>
        <p:spPr>
          <a:xfrm>
            <a:off x="571500" y="66645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33936" y="6216873"/>
            <a:ext cx="15969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Our Delivery Advantage</a:t>
            </a:r>
            <a:endParaRPr b="0" i="0" sz="1050" u="none" cap="none" strike="noStrike">
              <a:solidFill>
                <a:schemeClr val="dk1"/>
              </a:solidFill>
              <a:latin typeface="Calibri"/>
              <a:ea typeface="Calibri"/>
              <a:cs typeface="Calibri"/>
              <a:sym typeface="Calibri"/>
            </a:endParaRPr>
          </a:p>
        </p:txBody>
      </p:sp>
      <p:sp>
        <p:nvSpPr>
          <p:cNvPr id="72" name="Google Shape;72;p2"/>
          <p:cNvSpPr/>
          <p:nvPr/>
        </p:nvSpPr>
        <p:spPr>
          <a:xfrm>
            <a:off x="633936" y="64073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Why this team, this design, and this delivery model</a:t>
            </a:r>
            <a:endParaRPr b="0" i="0" sz="825" u="none" cap="none" strike="noStrike">
              <a:solidFill>
                <a:schemeClr val="dk1"/>
              </a:solidFill>
              <a:latin typeface="Calibri"/>
              <a:ea typeface="Calibri"/>
              <a:cs typeface="Calibri"/>
              <a:sym typeface="Calibri"/>
            </a:endParaRPr>
          </a:p>
        </p:txBody>
      </p:sp>
      <p:sp>
        <p:nvSpPr>
          <p:cNvPr id="73" name="Google Shape;73;p2"/>
          <p:cNvSpPr/>
          <p:nvPr/>
        </p:nvSpPr>
        <p:spPr>
          <a:xfrm>
            <a:off x="6836643" y="62454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0</a:t>
            </a:r>
            <a:r>
              <a:rPr b="1" lang="en-US" sz="825">
                <a:solidFill>
                  <a:srgbClr val="6B7686"/>
                </a:solidFill>
              </a:rPr>
              <a:t>9</a:t>
            </a:r>
            <a:endParaRPr b="0" i="0" sz="825" u="none" cap="none" strike="noStrike">
              <a:solidFill>
                <a:schemeClr val="dk1"/>
              </a:solidFill>
              <a:latin typeface="Calibri"/>
              <a:ea typeface="Calibri"/>
              <a:cs typeface="Calibri"/>
              <a:sym typeface="Calibri"/>
            </a:endParaRPr>
          </a:p>
        </p:txBody>
      </p:sp>
      <p:sp>
        <p:nvSpPr>
          <p:cNvPr id="74" name="Google Shape;74;p2"/>
          <p:cNvSpPr/>
          <p:nvPr/>
        </p:nvSpPr>
        <p:spPr>
          <a:xfrm>
            <a:off x="571500" y="72550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33936" y="6807423"/>
            <a:ext cx="12708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Commercial Model</a:t>
            </a:r>
            <a:endParaRPr b="0" i="0" sz="1050" u="none" cap="none" strike="noStrike">
              <a:solidFill>
                <a:schemeClr val="dk1"/>
              </a:solidFill>
              <a:latin typeface="Calibri"/>
              <a:ea typeface="Calibri"/>
              <a:cs typeface="Calibri"/>
              <a:sym typeface="Calibri"/>
            </a:endParaRPr>
          </a:p>
        </p:txBody>
      </p:sp>
      <p:sp>
        <p:nvSpPr>
          <p:cNvPr id="76" name="Google Shape;76;p2"/>
          <p:cNvSpPr/>
          <p:nvPr/>
        </p:nvSpPr>
        <p:spPr>
          <a:xfrm>
            <a:off x="633936" y="69979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Two budgetary options, focused build vs. build, manage &amp; operate</a:t>
            </a:r>
            <a:endParaRPr b="0" i="0" sz="825" u="none" cap="none" strike="noStrike">
              <a:solidFill>
                <a:schemeClr val="dk1"/>
              </a:solidFill>
              <a:latin typeface="Calibri"/>
              <a:ea typeface="Calibri"/>
              <a:cs typeface="Calibri"/>
              <a:sym typeface="Calibri"/>
            </a:endParaRPr>
          </a:p>
        </p:txBody>
      </p:sp>
      <p:sp>
        <p:nvSpPr>
          <p:cNvPr id="77" name="Google Shape;77;p2"/>
          <p:cNvSpPr/>
          <p:nvPr/>
        </p:nvSpPr>
        <p:spPr>
          <a:xfrm>
            <a:off x="6836643" y="68359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lang="en-US" sz="825">
                <a:solidFill>
                  <a:srgbClr val="6B7686"/>
                </a:solidFill>
              </a:rPr>
              <a:t>10</a:t>
            </a:r>
            <a:endParaRPr b="0" i="0" sz="825" u="none" cap="none" strike="noStrike">
              <a:solidFill>
                <a:schemeClr val="dk1"/>
              </a:solidFill>
              <a:latin typeface="Calibri"/>
              <a:ea typeface="Calibri"/>
              <a:cs typeface="Calibri"/>
              <a:sym typeface="Calibri"/>
            </a:endParaRPr>
          </a:p>
        </p:txBody>
      </p:sp>
      <p:sp>
        <p:nvSpPr>
          <p:cNvPr id="78" name="Google Shape;78;p2"/>
          <p:cNvSpPr/>
          <p:nvPr/>
        </p:nvSpPr>
        <p:spPr>
          <a:xfrm>
            <a:off x="571500" y="78456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33936" y="7397973"/>
            <a:ext cx="25497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Assumptions, Exclusions &amp; Open Items</a:t>
            </a:r>
            <a:endParaRPr b="0" i="0" sz="1050" u="none" cap="none" strike="noStrike">
              <a:solidFill>
                <a:schemeClr val="dk1"/>
              </a:solidFill>
              <a:latin typeface="Calibri"/>
              <a:ea typeface="Calibri"/>
              <a:cs typeface="Calibri"/>
              <a:sym typeface="Calibri"/>
            </a:endParaRPr>
          </a:p>
        </p:txBody>
      </p:sp>
      <p:sp>
        <p:nvSpPr>
          <p:cNvPr id="80" name="Google Shape;80;p2"/>
          <p:cNvSpPr/>
          <p:nvPr/>
        </p:nvSpPr>
        <p:spPr>
          <a:xfrm>
            <a:off x="633936" y="75884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Conditions the estimate is based on and items to close before signature</a:t>
            </a:r>
            <a:endParaRPr b="0" i="0" sz="825" u="none" cap="none" strike="noStrike">
              <a:solidFill>
                <a:schemeClr val="dk1"/>
              </a:solidFill>
              <a:latin typeface="Calibri"/>
              <a:ea typeface="Calibri"/>
              <a:cs typeface="Calibri"/>
              <a:sym typeface="Calibri"/>
            </a:endParaRPr>
          </a:p>
        </p:txBody>
      </p:sp>
      <p:sp>
        <p:nvSpPr>
          <p:cNvPr id="81" name="Google Shape;81;p2"/>
          <p:cNvSpPr/>
          <p:nvPr/>
        </p:nvSpPr>
        <p:spPr>
          <a:xfrm>
            <a:off x="6836643" y="74265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lang="en-US" sz="825">
                <a:solidFill>
                  <a:srgbClr val="6B7686"/>
                </a:solidFill>
              </a:rPr>
              <a:t>11</a:t>
            </a:r>
            <a:endParaRPr b="0" i="0" sz="825" u="none" cap="none" strike="noStrike">
              <a:solidFill>
                <a:schemeClr val="dk1"/>
              </a:solidFill>
              <a:latin typeface="Calibri"/>
              <a:ea typeface="Calibri"/>
              <a:cs typeface="Calibri"/>
              <a:sym typeface="Calibri"/>
            </a:endParaRPr>
          </a:p>
        </p:txBody>
      </p:sp>
      <p:sp>
        <p:nvSpPr>
          <p:cNvPr id="82" name="Google Shape;82;p2"/>
          <p:cNvSpPr/>
          <p:nvPr/>
        </p:nvSpPr>
        <p:spPr>
          <a:xfrm>
            <a:off x="633936" y="7988523"/>
            <a:ext cx="14610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Arial"/>
              <a:buNone/>
            </a:pPr>
            <a:r>
              <a:rPr b="0" i="0" lang="en-US" sz="1050" u="none" cap="none" strike="noStrike">
                <a:solidFill>
                  <a:srgbClr val="0E1320"/>
                </a:solidFill>
                <a:latin typeface="Arial"/>
                <a:ea typeface="Arial"/>
                <a:cs typeface="Arial"/>
                <a:sym typeface="Arial"/>
              </a:rPr>
              <a:t>Signature of Approval</a:t>
            </a:r>
            <a:endParaRPr b="0" i="0" sz="1050" u="none" cap="none" strike="noStrike">
              <a:solidFill>
                <a:schemeClr val="dk1"/>
              </a:solidFill>
              <a:latin typeface="Calibri"/>
              <a:ea typeface="Calibri"/>
              <a:cs typeface="Calibri"/>
              <a:sym typeface="Calibri"/>
            </a:endParaRPr>
          </a:p>
        </p:txBody>
      </p:sp>
      <p:sp>
        <p:nvSpPr>
          <p:cNvPr id="83" name="Google Shape;83;p2"/>
          <p:cNvSpPr/>
          <p:nvPr/>
        </p:nvSpPr>
        <p:spPr>
          <a:xfrm>
            <a:off x="633936" y="81790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0" i="0" lang="en-US" sz="825" u="none" cap="none" strike="noStrike">
                <a:solidFill>
                  <a:srgbClr val="6B7686"/>
                </a:solidFill>
                <a:latin typeface="Arial"/>
                <a:ea typeface="Arial"/>
                <a:cs typeface="Arial"/>
                <a:sym typeface="Arial"/>
              </a:rPr>
              <a:t>Sign-off block for client and Newtuple</a:t>
            </a:r>
            <a:endParaRPr b="0" i="0" sz="825" u="none" cap="none" strike="noStrike">
              <a:solidFill>
                <a:schemeClr val="dk1"/>
              </a:solidFill>
              <a:latin typeface="Calibri"/>
              <a:ea typeface="Calibri"/>
              <a:cs typeface="Calibri"/>
              <a:sym typeface="Calibri"/>
            </a:endParaRPr>
          </a:p>
        </p:txBody>
      </p:sp>
      <p:sp>
        <p:nvSpPr>
          <p:cNvPr id="84" name="Google Shape;84;p2"/>
          <p:cNvSpPr/>
          <p:nvPr/>
        </p:nvSpPr>
        <p:spPr>
          <a:xfrm>
            <a:off x="6836643" y="80170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lang="en-US" sz="825">
                <a:solidFill>
                  <a:srgbClr val="6B7686"/>
                </a:solidFill>
              </a:rPr>
              <a:t>12</a:t>
            </a:r>
            <a:endParaRPr b="0" i="0" sz="825" u="none" cap="none" strike="noStrike">
              <a:solidFill>
                <a:schemeClr val="dk1"/>
              </a:solidFill>
              <a:latin typeface="Calibri"/>
              <a:ea typeface="Calibri"/>
              <a:cs typeface="Calibri"/>
              <a:sym typeface="Calibri"/>
            </a:endParaRPr>
          </a:p>
        </p:txBody>
      </p:sp>
      <p:sp>
        <p:nvSpPr>
          <p:cNvPr id="85" name="Google Shape;85;p2"/>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02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88" name="Google Shape;88;p2"/>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3"/>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3"/>
          <p:cNvPicPr preferRelativeResize="0"/>
          <p:nvPr/>
        </p:nvPicPr>
        <p:blipFill rotWithShape="1">
          <a:blip r:embed="rId3">
            <a:alphaModFix/>
          </a:blip>
          <a:srcRect b="0" l="0" r="0" t="0"/>
          <a:stretch/>
        </p:blipFill>
        <p:spPr>
          <a:xfrm>
            <a:off x="571500" y="532756"/>
            <a:ext cx="815357" cy="152400"/>
          </a:xfrm>
          <a:prstGeom prst="rect">
            <a:avLst/>
          </a:prstGeom>
          <a:noFill/>
          <a:ln>
            <a:noFill/>
          </a:ln>
        </p:spPr>
      </p:pic>
      <p:sp>
        <p:nvSpPr>
          <p:cNvPr id="96" name="Google Shape;96;p3"/>
          <p:cNvSpPr/>
          <p:nvPr/>
        </p:nvSpPr>
        <p:spPr>
          <a:xfrm>
            <a:off x="3486522" y="551806"/>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97" name="Google Shape;97;p3"/>
          <p:cNvSpPr/>
          <p:nvPr/>
        </p:nvSpPr>
        <p:spPr>
          <a:xfrm>
            <a:off x="571500" y="1550322"/>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71500" y="1311305"/>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01</a:t>
            </a:r>
            <a:endParaRPr b="0" i="0" sz="825" u="none" cap="none" strike="noStrike">
              <a:solidFill>
                <a:schemeClr val="dk1"/>
              </a:solidFill>
              <a:latin typeface="Calibri"/>
              <a:ea typeface="Calibri"/>
              <a:cs typeface="Calibri"/>
              <a:sym typeface="Calibri"/>
            </a:endParaRPr>
          </a:p>
        </p:txBody>
      </p:sp>
      <p:sp>
        <p:nvSpPr>
          <p:cNvPr id="99" name="Google Shape;99;p3"/>
          <p:cNvSpPr/>
          <p:nvPr/>
        </p:nvSpPr>
        <p:spPr>
          <a:xfrm>
            <a:off x="916558" y="1182717"/>
            <a:ext cx="14781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Introduction</a:t>
            </a:r>
            <a:endParaRPr b="0" i="0" sz="1950" u="none" cap="none" strike="noStrike">
              <a:solidFill>
                <a:schemeClr val="dk1"/>
              </a:solidFill>
              <a:latin typeface="Calibri"/>
              <a:ea typeface="Calibri"/>
              <a:cs typeface="Calibri"/>
              <a:sym typeface="Calibri"/>
            </a:endParaRPr>
          </a:p>
        </p:txBody>
      </p:sp>
      <p:sp>
        <p:nvSpPr>
          <p:cNvPr id="100" name="Google Shape;100;p3"/>
          <p:cNvSpPr/>
          <p:nvPr/>
        </p:nvSpPr>
        <p:spPr>
          <a:xfrm>
            <a:off x="571500" y="1750350"/>
            <a:ext cx="6419700" cy="627600"/>
          </a:xfrm>
          <a:prstGeom prst="rect">
            <a:avLst/>
          </a:prstGeom>
          <a:noFill/>
          <a:ln>
            <a:noFill/>
          </a:ln>
        </p:spPr>
        <p:txBody>
          <a:bodyPr anchorCtr="0" anchor="t" bIns="25400" lIns="25400" spcFirstLastPara="1" rIns="25400" wrap="square" tIns="25400">
            <a:normAutofit/>
          </a:bodyPr>
          <a:lstStyle/>
          <a:p>
            <a:pPr indent="0" lvl="0" marL="0" marR="0" rtl="0" algn="just">
              <a:lnSpc>
                <a:spcPct val="165000"/>
              </a:lnSpc>
              <a:spcBef>
                <a:spcPts val="0"/>
              </a:spcBef>
              <a:spcAft>
                <a:spcPts val="0"/>
              </a:spcAft>
              <a:buClr>
                <a:srgbClr val="374151"/>
              </a:buClr>
              <a:buSzPts val="938"/>
              <a:buFont typeface="Arial"/>
              <a:buNone/>
            </a:pPr>
            <a:r>
              <a:rPr b="0" i="0" lang="en-US" sz="938" u="none" cap="none" strike="noStrike">
                <a:solidFill>
                  <a:srgbClr val="374151"/>
                </a:solidFill>
                <a:latin typeface="Arial"/>
                <a:ea typeface="Arial"/>
                <a:cs typeface="Arial"/>
                <a:sym typeface="Arial"/>
              </a:rPr>
              <a:t>Newtuple proposes a practical automation layer for pension contribution processing. The solution uses </a:t>
            </a:r>
            <a:r>
              <a:rPr b="1" i="0" lang="en-US" sz="938" u="none" cap="none" strike="noStrike">
                <a:solidFill>
                  <a:srgbClr val="0E1320"/>
                </a:solidFill>
                <a:latin typeface="Arial"/>
                <a:ea typeface="Arial"/>
                <a:cs typeface="Arial"/>
                <a:sym typeface="Arial"/>
              </a:rPr>
              <a:t>Microsoft Power Automate </a:t>
            </a:r>
            <a:r>
              <a:rPr b="0" i="0" lang="en-US" sz="938" u="none" cap="none" strike="noStrike">
                <a:solidFill>
                  <a:srgbClr val="374151"/>
                </a:solidFill>
                <a:latin typeface="Arial"/>
                <a:ea typeface="Arial"/>
                <a:cs typeface="Arial"/>
                <a:sym typeface="Arial"/>
              </a:rPr>
              <a:t>where it fits best, mailbox monitoring, attachment handling, notifications, and a controlled </a:t>
            </a:r>
            <a:r>
              <a:rPr b="1" i="0" lang="en-US" sz="938" u="none" cap="none" strike="noStrike">
                <a:solidFill>
                  <a:srgbClr val="0E1320"/>
                </a:solidFill>
                <a:latin typeface="Arial"/>
                <a:ea typeface="Arial"/>
                <a:cs typeface="Arial"/>
                <a:sym typeface="Arial"/>
              </a:rPr>
              <a:t>AI agent and validation API </a:t>
            </a:r>
            <a:r>
              <a:rPr b="0" i="0" lang="en-US" sz="938" u="none" cap="none" strike="noStrike">
                <a:solidFill>
                  <a:srgbClr val="374151"/>
                </a:solidFill>
                <a:latin typeface="Arial"/>
                <a:ea typeface="Arial"/>
                <a:cs typeface="Arial"/>
                <a:sym typeface="Arial"/>
              </a:rPr>
              <a:t>where interpretation, comparison, and auditability need stronger ownership.</a:t>
            </a:r>
            <a:endParaRPr b="0" i="0" sz="938" u="none" cap="none" strike="noStrike">
              <a:solidFill>
                <a:schemeClr val="dk1"/>
              </a:solidFill>
              <a:latin typeface="Calibri"/>
              <a:ea typeface="Calibri"/>
              <a:cs typeface="Calibri"/>
              <a:sym typeface="Calibri"/>
            </a:endParaRPr>
          </a:p>
        </p:txBody>
      </p:sp>
      <p:sp>
        <p:nvSpPr>
          <p:cNvPr id="101" name="Google Shape;101;p3"/>
          <p:cNvSpPr/>
          <p:nvPr/>
        </p:nvSpPr>
        <p:spPr>
          <a:xfrm>
            <a:off x="571500" y="2492112"/>
            <a:ext cx="6419700" cy="5637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The client receives monthly contribution files from multiple employers. These files contain employee contributions, new joiners, exits, retirements, and other membership changes. Today, the work depends on manual review of emails, attachments, prior submissions, validation rules, employer comments, and final upload into the pension administration system.</a:t>
            </a:r>
            <a:endParaRPr b="0" i="0" sz="863" u="none" cap="none" strike="noStrike">
              <a:solidFill>
                <a:schemeClr val="dk1"/>
              </a:solidFill>
              <a:latin typeface="Calibri"/>
              <a:ea typeface="Calibri"/>
              <a:cs typeface="Calibri"/>
              <a:sym typeface="Calibri"/>
            </a:endParaRPr>
          </a:p>
        </p:txBody>
      </p:sp>
      <p:sp>
        <p:nvSpPr>
          <p:cNvPr id="102" name="Google Shape;102;p3"/>
          <p:cNvSpPr/>
          <p:nvPr/>
        </p:nvSpPr>
        <p:spPr>
          <a:xfrm>
            <a:off x="571500" y="3170249"/>
            <a:ext cx="6419700" cy="5637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The proposed engagement focuses on removing this manual load without creating a large workflow platform. The design keeps the existing employer portal intact, introduces an API-accessible agent and validation service, and uses Power Automate for mailbox orchestration and process routing.</a:t>
            </a:r>
            <a:endParaRPr b="0" i="0" sz="863" u="none" cap="none" strike="noStrike">
              <a:solidFill>
                <a:schemeClr val="dk1"/>
              </a:solidFill>
              <a:latin typeface="Calibri"/>
              <a:ea typeface="Calibri"/>
              <a:cs typeface="Calibri"/>
              <a:sym typeface="Calibri"/>
            </a:endParaRPr>
          </a:p>
        </p:txBody>
      </p:sp>
      <p:sp>
        <p:nvSpPr>
          <p:cNvPr id="103" name="Google Shape;103;p3"/>
          <p:cNvSpPr/>
          <p:nvPr/>
        </p:nvSpPr>
        <p:spPr>
          <a:xfrm>
            <a:off x="571500" y="3848375"/>
            <a:ext cx="6496200" cy="6018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571500" y="3848378"/>
            <a:ext cx="28500" cy="6018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771525" y="3981728"/>
            <a:ext cx="6229800" cy="3732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This proposal is prepared as a </a:t>
            </a:r>
            <a:r>
              <a:rPr b="1" i="0" lang="en-US" sz="825" u="none" cap="none" strike="noStrike">
                <a:solidFill>
                  <a:srgbClr val="0E1320"/>
                </a:solidFill>
                <a:latin typeface="Arial"/>
                <a:ea typeface="Arial"/>
                <a:cs typeface="Arial"/>
                <a:sym typeface="Arial"/>
              </a:rPr>
              <a:t>budgetary estimate </a:t>
            </a:r>
            <a:r>
              <a:rPr b="0" i="0" lang="en-US" sz="825" u="none" cap="none" strike="noStrike">
                <a:solidFill>
                  <a:srgbClr val="374151"/>
                </a:solidFill>
                <a:latin typeface="Arial"/>
                <a:ea typeface="Arial"/>
                <a:cs typeface="Arial"/>
                <a:sym typeface="Arial"/>
              </a:rPr>
              <a:t>. The final scope, licensing, API behaviour, rule library, and commercial terms should be confirmed during discovery. Estimates carry a ±30% variance until then.</a:t>
            </a:r>
            <a:endParaRPr b="0" i="0" sz="825" u="none" cap="none" strike="noStrike">
              <a:solidFill>
                <a:schemeClr val="dk1"/>
              </a:solidFill>
              <a:latin typeface="Calibri"/>
              <a:ea typeface="Calibri"/>
              <a:cs typeface="Calibri"/>
              <a:sym typeface="Calibri"/>
            </a:endParaRPr>
          </a:p>
        </p:txBody>
      </p:sp>
      <p:sp>
        <p:nvSpPr>
          <p:cNvPr id="106" name="Google Shape;106;p3"/>
          <p:cNvSpPr/>
          <p:nvPr/>
        </p:nvSpPr>
        <p:spPr>
          <a:xfrm>
            <a:off x="571500" y="5084544"/>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571500" y="4845526"/>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02</a:t>
            </a:r>
            <a:endParaRPr b="0" i="0" sz="825" u="none" cap="none" strike="noStrike">
              <a:solidFill>
                <a:schemeClr val="dk1"/>
              </a:solidFill>
              <a:latin typeface="Calibri"/>
              <a:ea typeface="Calibri"/>
              <a:cs typeface="Calibri"/>
              <a:sym typeface="Calibri"/>
            </a:endParaRPr>
          </a:p>
        </p:txBody>
      </p:sp>
      <p:sp>
        <p:nvSpPr>
          <p:cNvPr id="108" name="Google Shape;108;p3"/>
          <p:cNvSpPr/>
          <p:nvPr/>
        </p:nvSpPr>
        <p:spPr>
          <a:xfrm>
            <a:off x="916558" y="4716938"/>
            <a:ext cx="13080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Objectives</a:t>
            </a:r>
            <a:endParaRPr b="0" i="0" sz="1950" u="none" cap="none" strike="noStrike">
              <a:solidFill>
                <a:schemeClr val="dk1"/>
              </a:solidFill>
              <a:latin typeface="Calibri"/>
              <a:ea typeface="Calibri"/>
              <a:cs typeface="Calibri"/>
              <a:sym typeface="Calibri"/>
            </a:endParaRPr>
          </a:p>
        </p:txBody>
      </p:sp>
      <p:sp>
        <p:nvSpPr>
          <p:cNvPr id="109" name="Google Shape;109;p3"/>
          <p:cNvSpPr/>
          <p:nvPr/>
        </p:nvSpPr>
        <p:spPr>
          <a:xfrm>
            <a:off x="5054947" y="4850288"/>
            <a:ext cx="20127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Outcomes the 12-week MVP will deliver</a:t>
            </a:r>
            <a:endParaRPr b="0" i="0" sz="788" u="none" cap="none" strike="noStrike">
              <a:solidFill>
                <a:schemeClr val="dk1"/>
              </a:solidFill>
              <a:latin typeface="Calibri"/>
              <a:ea typeface="Calibri"/>
              <a:cs typeface="Calibri"/>
              <a:sym typeface="Calibri"/>
            </a:endParaRPr>
          </a:p>
        </p:txBody>
      </p:sp>
      <p:sp>
        <p:nvSpPr>
          <p:cNvPr id="110" name="Google Shape;110;p3"/>
          <p:cNvSpPr/>
          <p:nvPr/>
        </p:nvSpPr>
        <p:spPr>
          <a:xfrm>
            <a:off x="469900" y="5284569"/>
            <a:ext cx="3321000" cy="19641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Automate intake of employer contribution files from designated Microsoft 365 mailboxes.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Capture attachments, email context, and employer instructions as part of the submission record.</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Use AI-powered interpretation of employer email commentary for Flow 1, as part of committed scope.</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Retrieve previous-month files from Azure or AWS storage as agreed during discovery.</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Validate files against configurable technical and business rules.</a:t>
            </a:r>
            <a:endParaRPr b="0" i="0" sz="863" u="none" cap="none" strike="noStrike">
              <a:solidFill>
                <a:schemeClr val="dk1"/>
              </a:solidFill>
              <a:latin typeface="Calibri"/>
              <a:ea typeface="Calibri"/>
              <a:cs typeface="Calibri"/>
              <a:sym typeface="Calibri"/>
            </a:endParaRPr>
          </a:p>
        </p:txBody>
      </p:sp>
      <p:sp>
        <p:nvSpPr>
          <p:cNvPr id="111" name="Google Shape;111;p3"/>
          <p:cNvSpPr/>
          <p:nvPr/>
        </p:nvSpPr>
        <p:spPr>
          <a:xfrm>
            <a:off x="3746500" y="5284569"/>
            <a:ext cx="3321000" cy="17943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Compare current submissions with historical files and identify variances.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Return errors to employers by email for mailbox-led submissions.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Return errors to the existing portal for portal-led submissions.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Post validated records to the pension administration system API, where API access is available.</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Maintain a complete audit trail across receipt, validation, communication, resubmission, and upload.</a:t>
            </a:r>
            <a:endParaRPr b="0" i="0" sz="863" u="none" cap="none" strike="noStrike">
              <a:solidFill>
                <a:schemeClr val="dk1"/>
              </a:solidFill>
              <a:latin typeface="Calibri"/>
              <a:ea typeface="Calibri"/>
              <a:cs typeface="Calibri"/>
              <a:sym typeface="Calibri"/>
            </a:endParaRPr>
          </a:p>
        </p:txBody>
      </p:sp>
      <p:sp>
        <p:nvSpPr>
          <p:cNvPr id="112" name="Google Shape;112;p3"/>
          <p:cNvSpPr/>
          <p:nvPr/>
        </p:nvSpPr>
        <p:spPr>
          <a:xfrm>
            <a:off x="571500" y="7768313"/>
            <a:ext cx="6419700" cy="1398900"/>
          </a:xfrm>
          <a:prstGeom prst="roundRect">
            <a:avLst>
              <a:gd fmla="val 4085"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81025" y="7747232"/>
            <a:ext cx="3200400" cy="1380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3771900" y="7747232"/>
            <a:ext cx="9600" cy="13800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733425" y="7880582"/>
            <a:ext cx="29727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975"/>
              <a:buFont typeface="Arial"/>
              <a:buNone/>
            </a:pPr>
            <a:r>
              <a:rPr b="1" i="0" lang="en-US" sz="975" u="none" cap="none" strike="noStrike">
                <a:solidFill>
                  <a:srgbClr val="6B7686"/>
                </a:solidFill>
                <a:latin typeface="Arial"/>
                <a:ea typeface="Arial"/>
                <a:cs typeface="Arial"/>
                <a:sym typeface="Arial"/>
              </a:rPr>
              <a:t>TODAY</a:t>
            </a:r>
            <a:endParaRPr b="0" i="0" sz="975" u="none" cap="none" strike="noStrike">
              <a:solidFill>
                <a:schemeClr val="dk1"/>
              </a:solidFill>
              <a:latin typeface="Calibri"/>
              <a:ea typeface="Calibri"/>
              <a:cs typeface="Calibri"/>
              <a:sym typeface="Calibri"/>
            </a:endParaRPr>
          </a:p>
        </p:txBody>
      </p:sp>
      <p:sp>
        <p:nvSpPr>
          <p:cNvPr id="116" name="Google Shape;116;p3"/>
          <p:cNvSpPr/>
          <p:nvPr/>
        </p:nvSpPr>
        <p:spPr>
          <a:xfrm>
            <a:off x="631825" y="8104419"/>
            <a:ext cx="3063900" cy="927300"/>
          </a:xfrm>
          <a:prstGeom prst="rect">
            <a:avLst/>
          </a:prstGeom>
          <a:noFill/>
          <a:ln>
            <a:noFill/>
          </a:ln>
        </p:spPr>
        <p:txBody>
          <a:bodyPr anchorCtr="0" anchor="t" bIns="25400" lIns="25400" spcFirstLastPara="1" rIns="25400" wrap="square" tIns="25400">
            <a:normAutofit/>
          </a:bodyPr>
          <a:lstStyle/>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Manual review of emails, attachments, and employer commentary</a:t>
            </a:r>
            <a:endParaRPr b="0" i="0" sz="788" u="none" cap="none" strike="noStrike">
              <a:solidFill>
                <a:schemeClr val="dk1"/>
              </a:solidFill>
              <a:latin typeface="Calibri"/>
              <a:ea typeface="Calibri"/>
              <a:cs typeface="Calibri"/>
              <a:sym typeface="Calibri"/>
            </a:endParaRPr>
          </a:p>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Cross-checking with prior-month files by hand</a:t>
            </a:r>
            <a:endParaRPr b="0" i="0" sz="788" u="none" cap="none" strike="noStrike">
              <a:solidFill>
                <a:schemeClr val="dk1"/>
              </a:solidFill>
              <a:latin typeface="Calibri"/>
              <a:ea typeface="Calibri"/>
              <a:cs typeface="Calibri"/>
              <a:sym typeface="Calibri"/>
            </a:endParaRPr>
          </a:p>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Errors caught late, sometimes after PAS upload</a:t>
            </a:r>
            <a:endParaRPr b="0" i="0" sz="788" u="none" cap="none" strike="noStrike">
              <a:solidFill>
                <a:schemeClr val="dk1"/>
              </a:solidFill>
              <a:latin typeface="Calibri"/>
              <a:ea typeface="Calibri"/>
              <a:cs typeface="Calibri"/>
              <a:sym typeface="Calibri"/>
            </a:endParaRPr>
          </a:p>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No central audit trail across receipt to upload</a:t>
            </a:r>
            <a:endParaRPr b="0" i="0" sz="788" u="none" cap="none" strike="noStrike">
              <a:solidFill>
                <a:schemeClr val="dk1"/>
              </a:solidFill>
              <a:latin typeface="Calibri"/>
              <a:ea typeface="Calibri"/>
              <a:cs typeface="Calibri"/>
              <a:sym typeface="Calibri"/>
            </a:endParaRPr>
          </a:p>
        </p:txBody>
      </p:sp>
      <p:sp>
        <p:nvSpPr>
          <p:cNvPr id="117" name="Google Shape;117;p3"/>
          <p:cNvSpPr/>
          <p:nvPr/>
        </p:nvSpPr>
        <p:spPr>
          <a:xfrm>
            <a:off x="3781425" y="7747232"/>
            <a:ext cx="3200400" cy="13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3933825" y="7880582"/>
            <a:ext cx="29826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Arial"/>
              <a:buNone/>
            </a:pPr>
            <a:r>
              <a:rPr b="1" i="0" lang="en-US" sz="975" u="none" cap="none" strike="noStrike">
                <a:solidFill>
                  <a:srgbClr val="0047AB"/>
                </a:solidFill>
                <a:latin typeface="Arial"/>
                <a:ea typeface="Arial"/>
                <a:cs typeface="Arial"/>
                <a:sym typeface="Arial"/>
              </a:rPr>
              <a:t>AFTER MVP</a:t>
            </a:r>
            <a:endParaRPr b="0" i="0" sz="975" u="none" cap="none" strike="noStrike">
              <a:solidFill>
                <a:schemeClr val="dk1"/>
              </a:solidFill>
              <a:latin typeface="Calibri"/>
              <a:ea typeface="Calibri"/>
              <a:cs typeface="Calibri"/>
              <a:sym typeface="Calibri"/>
            </a:endParaRPr>
          </a:p>
        </p:txBody>
      </p:sp>
      <p:sp>
        <p:nvSpPr>
          <p:cNvPr id="119" name="Google Shape;119;p3"/>
          <p:cNvSpPr/>
          <p:nvPr/>
        </p:nvSpPr>
        <p:spPr>
          <a:xfrm>
            <a:off x="3832225" y="8104419"/>
            <a:ext cx="3073500" cy="927300"/>
          </a:xfrm>
          <a:prstGeom prst="rect">
            <a:avLst/>
          </a:prstGeom>
          <a:noFill/>
          <a:ln>
            <a:noFill/>
          </a:ln>
        </p:spPr>
        <p:txBody>
          <a:bodyPr anchorCtr="0" anchor="t" bIns="25400" lIns="25400" spcFirstLastPara="1" rIns="25400" wrap="square" tIns="25400">
            <a:normAutofit/>
          </a:bodyPr>
          <a:lstStyle/>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Mailbox + portal submissions handled through one validation layer</a:t>
            </a:r>
            <a:endParaRPr b="0" i="0" sz="788" u="none" cap="none" strike="noStrike">
              <a:solidFill>
                <a:schemeClr val="dk1"/>
              </a:solidFill>
              <a:latin typeface="Calibri"/>
              <a:ea typeface="Calibri"/>
              <a:cs typeface="Calibri"/>
              <a:sym typeface="Calibri"/>
            </a:endParaRPr>
          </a:p>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Historical comparison and variance detection automated</a:t>
            </a:r>
            <a:endParaRPr b="0" i="0" sz="788" u="none" cap="none" strike="noStrike">
              <a:solidFill>
                <a:schemeClr val="dk1"/>
              </a:solidFill>
              <a:latin typeface="Calibri"/>
              <a:ea typeface="Calibri"/>
              <a:cs typeface="Calibri"/>
              <a:sym typeface="Calibri"/>
            </a:endParaRPr>
          </a:p>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Errors returned to the right channel before PAS posting</a:t>
            </a:r>
            <a:endParaRPr b="0" i="0" sz="788" u="none" cap="none" strike="noStrike">
              <a:solidFill>
                <a:schemeClr val="dk1"/>
              </a:solidFill>
              <a:latin typeface="Calibri"/>
              <a:ea typeface="Calibri"/>
              <a:cs typeface="Calibri"/>
              <a:sym typeface="Calibri"/>
            </a:endParaRPr>
          </a:p>
          <a:p>
            <a:pPr indent="-278638" lvl="0" marL="457200" marR="0" rtl="0" algn="l">
              <a:lnSpc>
                <a:spcPct val="155000"/>
              </a:lnSpc>
              <a:spcBef>
                <a:spcPts val="0"/>
              </a:spcBef>
              <a:spcAft>
                <a:spcPts val="0"/>
              </a:spcAft>
              <a:buClr>
                <a:srgbClr val="374151"/>
              </a:buClr>
              <a:buSzPts val="788"/>
              <a:buFont typeface="Arial"/>
              <a:buChar char="●"/>
            </a:pPr>
            <a:r>
              <a:rPr b="0" i="0" lang="en-US" sz="788" u="none" cap="none" strike="noStrike">
                <a:solidFill>
                  <a:srgbClr val="374151"/>
                </a:solidFill>
                <a:latin typeface="Arial"/>
                <a:ea typeface="Arial"/>
                <a:cs typeface="Arial"/>
                <a:sym typeface="Arial"/>
              </a:rPr>
              <a:t>Full audit ledger across every submission and decision</a:t>
            </a:r>
            <a:endParaRPr b="0" i="0" sz="788" u="none" cap="none" strike="noStrike">
              <a:solidFill>
                <a:schemeClr val="dk1"/>
              </a:solidFill>
              <a:latin typeface="Calibri"/>
              <a:ea typeface="Calibri"/>
              <a:cs typeface="Calibri"/>
              <a:sym typeface="Calibri"/>
            </a:endParaRPr>
          </a:p>
        </p:txBody>
      </p:sp>
      <p:sp>
        <p:nvSpPr>
          <p:cNvPr id="120" name="Google Shape;120;p3"/>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03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123" name="Google Shape;123;p3"/>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4"/>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4"/>
          <p:cNvPicPr preferRelativeResize="0"/>
          <p:nvPr/>
        </p:nvPicPr>
        <p:blipFill rotWithShape="1">
          <a:blip r:embed="rId3">
            <a:alphaModFix/>
          </a:blip>
          <a:srcRect b="0" l="0" r="0" t="0"/>
          <a:stretch/>
        </p:blipFill>
        <p:spPr>
          <a:xfrm>
            <a:off x="509937" y="640491"/>
            <a:ext cx="815357" cy="152400"/>
          </a:xfrm>
          <a:prstGeom prst="rect">
            <a:avLst/>
          </a:prstGeom>
          <a:noFill/>
          <a:ln>
            <a:noFill/>
          </a:ln>
        </p:spPr>
      </p:pic>
      <p:sp>
        <p:nvSpPr>
          <p:cNvPr id="131" name="Google Shape;131;p4"/>
          <p:cNvSpPr/>
          <p:nvPr/>
        </p:nvSpPr>
        <p:spPr>
          <a:xfrm>
            <a:off x="3424959" y="659541"/>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132" name="Google Shape;132;p4"/>
          <p:cNvSpPr/>
          <p:nvPr/>
        </p:nvSpPr>
        <p:spPr>
          <a:xfrm>
            <a:off x="509937" y="1704230"/>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509937" y="1465213"/>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a:t>
            </a:r>
            <a:r>
              <a:rPr b="1" lang="en-US" sz="825">
                <a:solidFill>
                  <a:srgbClr val="0047AB"/>
                </a:solidFill>
              </a:rPr>
              <a:t>2</a:t>
            </a:r>
            <a:endParaRPr b="0" i="0" sz="825" u="none" cap="none" strike="noStrike">
              <a:solidFill>
                <a:schemeClr val="dk1"/>
              </a:solidFill>
              <a:latin typeface="Calibri"/>
              <a:ea typeface="Calibri"/>
              <a:cs typeface="Calibri"/>
              <a:sym typeface="Calibri"/>
            </a:endParaRPr>
          </a:p>
        </p:txBody>
      </p:sp>
      <p:sp>
        <p:nvSpPr>
          <p:cNvPr id="134" name="Google Shape;134;p4"/>
          <p:cNvSpPr/>
          <p:nvPr/>
        </p:nvSpPr>
        <p:spPr>
          <a:xfrm>
            <a:off x="854995" y="1336625"/>
            <a:ext cx="31836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Proposed Solution &amp; Flows</a:t>
            </a:r>
            <a:endParaRPr b="0" i="0" sz="1950" u="none" cap="none" strike="noStrike">
              <a:solidFill>
                <a:schemeClr val="dk1"/>
              </a:solidFill>
              <a:latin typeface="Calibri"/>
              <a:ea typeface="Calibri"/>
              <a:cs typeface="Calibri"/>
              <a:sym typeface="Calibri"/>
            </a:endParaRPr>
          </a:p>
        </p:txBody>
      </p:sp>
      <p:sp>
        <p:nvSpPr>
          <p:cNvPr id="135" name="Google Shape;135;p4"/>
          <p:cNvSpPr/>
          <p:nvPr/>
        </p:nvSpPr>
        <p:spPr>
          <a:xfrm>
            <a:off x="509937" y="1904255"/>
            <a:ext cx="6612300" cy="431100"/>
          </a:xfrm>
          <a:prstGeom prst="rect">
            <a:avLst/>
          </a:prstGeom>
          <a:noFill/>
          <a:ln>
            <a:noFill/>
          </a:ln>
        </p:spPr>
        <p:txBody>
          <a:bodyPr anchorCtr="0" anchor="t" bIns="25400" lIns="25400" spcFirstLastPara="1" rIns="25400" wrap="square" tIns="25400">
            <a:normAutofit/>
          </a:bodyPr>
          <a:lstStyle/>
          <a:p>
            <a:pPr indent="0" lvl="0" marL="0" marR="0" rtl="0" algn="l">
              <a:lnSpc>
                <a:spcPct val="165000"/>
              </a:lnSpc>
              <a:spcBef>
                <a:spcPts val="0"/>
              </a:spcBef>
              <a:spcAft>
                <a:spcPts val="0"/>
              </a:spcAft>
              <a:buClr>
                <a:srgbClr val="374151"/>
              </a:buClr>
              <a:buSzPts val="938"/>
              <a:buFont typeface="Arial"/>
              <a:buNone/>
            </a:pPr>
            <a:r>
              <a:rPr b="0" i="0" lang="en-US" sz="938" u="none" cap="none" strike="noStrike">
                <a:solidFill>
                  <a:srgbClr val="374151"/>
                </a:solidFill>
                <a:latin typeface="Arial"/>
                <a:ea typeface="Arial"/>
                <a:cs typeface="Arial"/>
                <a:sym typeface="Arial"/>
              </a:rPr>
              <a:t>The solution is organized around two operating flows. Both share the same validation and audit layer, but differ in how submissions arrive and how errors are returned to the employer.</a:t>
            </a:r>
            <a:endParaRPr b="0" i="0" sz="938" u="none" cap="none" strike="noStrike">
              <a:solidFill>
                <a:schemeClr val="dk1"/>
              </a:solidFill>
              <a:latin typeface="Calibri"/>
              <a:ea typeface="Calibri"/>
              <a:cs typeface="Calibri"/>
              <a:sym typeface="Calibri"/>
            </a:endParaRPr>
          </a:p>
        </p:txBody>
      </p:sp>
      <p:sp>
        <p:nvSpPr>
          <p:cNvPr id="136" name="Google Shape;136;p4"/>
          <p:cNvSpPr/>
          <p:nvPr/>
        </p:nvSpPr>
        <p:spPr>
          <a:xfrm>
            <a:off x="509937" y="2487662"/>
            <a:ext cx="6419700" cy="2867100"/>
          </a:xfrm>
          <a:prstGeom prst="roundRect">
            <a:avLst>
              <a:gd fmla="val 2658"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19462" y="2497187"/>
            <a:ext cx="6400800" cy="4809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519462" y="2968674"/>
            <a:ext cx="64008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690912" y="2630537"/>
            <a:ext cx="628500" cy="204900"/>
          </a:xfrm>
          <a:prstGeom prst="roundRect">
            <a:avLst>
              <a:gd fmla="val 13953"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786162" y="2667459"/>
            <a:ext cx="5142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713"/>
              <a:buFont typeface="Arial"/>
              <a:buNone/>
            </a:pPr>
            <a:r>
              <a:rPr b="1" i="0" lang="en-US" sz="713" u="none" cap="none" strike="noStrike">
                <a:solidFill>
                  <a:srgbClr val="FFFFFF"/>
                </a:solidFill>
                <a:latin typeface="Arial"/>
                <a:ea typeface="Arial"/>
                <a:cs typeface="Arial"/>
                <a:sym typeface="Arial"/>
              </a:rPr>
              <a:t>FLOW 1</a:t>
            </a:r>
            <a:endParaRPr b="0" i="0" sz="713" u="none" cap="none" strike="noStrike">
              <a:solidFill>
                <a:schemeClr val="dk1"/>
              </a:solidFill>
              <a:latin typeface="Calibri"/>
              <a:ea typeface="Calibri"/>
              <a:cs typeface="Calibri"/>
              <a:sym typeface="Calibri"/>
            </a:endParaRPr>
          </a:p>
        </p:txBody>
      </p:sp>
      <p:sp>
        <p:nvSpPr>
          <p:cNvPr id="141" name="Google Shape;141;p4"/>
          <p:cNvSpPr/>
          <p:nvPr/>
        </p:nvSpPr>
        <p:spPr>
          <a:xfrm>
            <a:off x="1433639" y="2640062"/>
            <a:ext cx="2103900" cy="223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00"/>
              <a:buFont typeface="Arial"/>
              <a:buNone/>
            </a:pPr>
            <a:r>
              <a:rPr b="1" i="0" lang="en-US" sz="1200" u="none" cap="none" strike="noStrike">
                <a:solidFill>
                  <a:srgbClr val="0E1320"/>
                </a:solidFill>
                <a:latin typeface="Arial"/>
                <a:ea typeface="Arial"/>
                <a:cs typeface="Arial"/>
                <a:sym typeface="Arial"/>
              </a:rPr>
              <a:t>Mailbox, validation, PAS API</a:t>
            </a:r>
            <a:endParaRPr b="0" i="0" sz="1200" u="none" cap="none" strike="noStrike">
              <a:solidFill>
                <a:schemeClr val="dk1"/>
              </a:solidFill>
              <a:latin typeface="Calibri"/>
              <a:ea typeface="Calibri"/>
              <a:cs typeface="Calibri"/>
              <a:sym typeface="Calibri"/>
            </a:endParaRPr>
          </a:p>
        </p:txBody>
      </p:sp>
      <p:sp>
        <p:nvSpPr>
          <p:cNvPr id="142" name="Google Shape;142;p4"/>
          <p:cNvSpPr/>
          <p:nvPr/>
        </p:nvSpPr>
        <p:spPr>
          <a:xfrm>
            <a:off x="4365478" y="2678162"/>
            <a:ext cx="2459400" cy="1476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0" i="0" lang="en-US" sz="750" u="none" cap="none" strike="noStrike">
                <a:solidFill>
                  <a:srgbClr val="6B7686"/>
                </a:solidFill>
                <a:latin typeface="Arial"/>
                <a:ea typeface="Arial"/>
                <a:cs typeface="Arial"/>
                <a:sym typeface="Arial"/>
              </a:rPr>
              <a:t>Designed for </a:t>
            </a:r>
            <a:r>
              <a:rPr b="0" i="0" lang="en-US" sz="750" u="none" cap="none" strike="noStrike">
                <a:solidFill>
                  <a:srgbClr val="6B7686"/>
                </a:solidFill>
                <a:latin typeface="Arial"/>
                <a:ea typeface="Arial"/>
                <a:cs typeface="Arial"/>
                <a:sym typeface="Arial"/>
              </a:rPr>
              <a:t>employers</a:t>
            </a:r>
            <a:r>
              <a:rPr b="0" i="0" lang="en-US" sz="750" u="none" cap="none" strike="noStrike">
                <a:solidFill>
                  <a:srgbClr val="6B7686"/>
                </a:solidFill>
                <a:latin typeface="Arial"/>
                <a:ea typeface="Arial"/>
                <a:cs typeface="Arial"/>
                <a:sym typeface="Arial"/>
              </a:rPr>
              <a:t> who submit by email today</a:t>
            </a:r>
            <a:endParaRPr b="0" i="0" sz="750" u="none" cap="none" strike="noStrike">
              <a:solidFill>
                <a:schemeClr val="dk1"/>
              </a:solidFill>
              <a:latin typeface="Calibri"/>
              <a:ea typeface="Calibri"/>
              <a:cs typeface="Calibri"/>
              <a:sym typeface="Calibri"/>
            </a:endParaRPr>
          </a:p>
        </p:txBody>
      </p:sp>
      <p:sp>
        <p:nvSpPr>
          <p:cNvPr id="143" name="Google Shape;143;p4"/>
          <p:cNvSpPr/>
          <p:nvPr/>
        </p:nvSpPr>
        <p:spPr>
          <a:xfrm>
            <a:off x="690912" y="3144887"/>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ENTRY</a:t>
            </a:r>
            <a:endParaRPr b="0" i="0" sz="713" u="none" cap="none" strike="noStrike">
              <a:solidFill>
                <a:schemeClr val="dk1"/>
              </a:solidFill>
              <a:latin typeface="Calibri"/>
              <a:ea typeface="Calibri"/>
              <a:cs typeface="Calibri"/>
              <a:sym typeface="Calibri"/>
            </a:endParaRPr>
          </a:p>
        </p:txBody>
      </p:sp>
      <p:sp>
        <p:nvSpPr>
          <p:cNvPr id="144" name="Google Shape;144;p4"/>
          <p:cNvSpPr/>
          <p:nvPr/>
        </p:nvSpPr>
        <p:spPr>
          <a:xfrm>
            <a:off x="1872012" y="3111549"/>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Arial"/>
              <a:buNone/>
            </a:pPr>
            <a:r>
              <a:rPr b="1" i="0" lang="en-US" sz="863" u="none" cap="none" strike="noStrike">
                <a:solidFill>
                  <a:srgbClr val="0E1320"/>
                </a:solidFill>
                <a:latin typeface="Arial"/>
                <a:ea typeface="Arial"/>
                <a:cs typeface="Arial"/>
                <a:sym typeface="Arial"/>
              </a:rPr>
              <a:t>Employer mailbox </a:t>
            </a:r>
            <a:r>
              <a:rPr b="0" i="0" lang="en-US" sz="863" u="none" cap="none" strike="noStrike">
                <a:solidFill>
                  <a:srgbClr val="374151"/>
                </a:solidFill>
                <a:latin typeface="Arial"/>
                <a:ea typeface="Arial"/>
                <a:cs typeface="Arial"/>
                <a:sym typeface="Arial"/>
              </a:rPr>
              <a:t>on Microsoft 365. Submissions arrive as email with attached contribution files.</a:t>
            </a:r>
            <a:endParaRPr b="0" i="0" sz="863" u="none" cap="none" strike="noStrike">
              <a:solidFill>
                <a:schemeClr val="dk1"/>
              </a:solidFill>
              <a:latin typeface="Calibri"/>
              <a:ea typeface="Calibri"/>
              <a:cs typeface="Calibri"/>
              <a:sym typeface="Calibri"/>
            </a:endParaRPr>
          </a:p>
        </p:txBody>
      </p:sp>
      <p:sp>
        <p:nvSpPr>
          <p:cNvPr id="145" name="Google Shape;145;p4"/>
          <p:cNvSpPr/>
          <p:nvPr/>
        </p:nvSpPr>
        <p:spPr>
          <a:xfrm>
            <a:off x="690912" y="3433018"/>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PATH</a:t>
            </a:r>
            <a:endParaRPr b="0" i="0" sz="713" u="none" cap="none" strike="noStrike">
              <a:solidFill>
                <a:schemeClr val="dk1"/>
              </a:solidFill>
              <a:latin typeface="Calibri"/>
              <a:ea typeface="Calibri"/>
              <a:cs typeface="Calibri"/>
              <a:sym typeface="Calibri"/>
            </a:endParaRPr>
          </a:p>
        </p:txBody>
      </p:sp>
      <p:sp>
        <p:nvSpPr>
          <p:cNvPr id="146" name="Google Shape;146;p4"/>
          <p:cNvSpPr/>
          <p:nvPr/>
        </p:nvSpPr>
        <p:spPr>
          <a:xfrm>
            <a:off x="1872012" y="3371105"/>
            <a:ext cx="5346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1957737" y="3418730"/>
            <a:ext cx="4392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Mailbox</a:t>
            </a:r>
            <a:endParaRPr b="0" i="0" sz="750" u="none" cap="none" strike="noStrike">
              <a:solidFill>
                <a:schemeClr val="dk1"/>
              </a:solidFill>
              <a:latin typeface="Calibri"/>
              <a:ea typeface="Calibri"/>
              <a:cs typeface="Calibri"/>
              <a:sym typeface="Calibri"/>
            </a:endParaRPr>
          </a:p>
        </p:txBody>
      </p:sp>
      <p:sp>
        <p:nvSpPr>
          <p:cNvPr id="148" name="Google Shape;148;p4"/>
          <p:cNvSpPr/>
          <p:nvPr/>
        </p:nvSpPr>
        <p:spPr>
          <a:xfrm>
            <a:off x="2463753"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49" name="Google Shape;149;p4"/>
          <p:cNvSpPr/>
          <p:nvPr/>
        </p:nvSpPr>
        <p:spPr>
          <a:xfrm>
            <a:off x="2565328" y="3371105"/>
            <a:ext cx="9369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2651053" y="3418730"/>
            <a:ext cx="8415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Power Automate</a:t>
            </a:r>
            <a:endParaRPr b="0" i="0" sz="750" u="none" cap="none" strike="noStrike">
              <a:solidFill>
                <a:schemeClr val="dk1"/>
              </a:solidFill>
              <a:latin typeface="Calibri"/>
              <a:ea typeface="Calibri"/>
              <a:cs typeface="Calibri"/>
              <a:sym typeface="Calibri"/>
            </a:endParaRPr>
          </a:p>
        </p:txBody>
      </p:sp>
      <p:sp>
        <p:nvSpPr>
          <p:cNvPr id="151" name="Google Shape;151;p4"/>
          <p:cNvSpPr/>
          <p:nvPr/>
        </p:nvSpPr>
        <p:spPr>
          <a:xfrm>
            <a:off x="3559276"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52" name="Google Shape;152;p4"/>
          <p:cNvSpPr/>
          <p:nvPr/>
        </p:nvSpPr>
        <p:spPr>
          <a:xfrm>
            <a:off x="3660852" y="3371105"/>
            <a:ext cx="8304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3746577" y="3418730"/>
            <a:ext cx="7350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AI email agent</a:t>
            </a:r>
            <a:endParaRPr b="0" i="0" sz="750" u="none" cap="none" strike="noStrike">
              <a:solidFill>
                <a:schemeClr val="dk1"/>
              </a:solidFill>
              <a:latin typeface="Calibri"/>
              <a:ea typeface="Calibri"/>
              <a:cs typeface="Calibri"/>
              <a:sym typeface="Calibri"/>
            </a:endParaRPr>
          </a:p>
        </p:txBody>
      </p:sp>
      <p:sp>
        <p:nvSpPr>
          <p:cNvPr id="154" name="Google Shape;154;p4"/>
          <p:cNvSpPr/>
          <p:nvPr/>
        </p:nvSpPr>
        <p:spPr>
          <a:xfrm>
            <a:off x="4548388"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55" name="Google Shape;155;p4"/>
          <p:cNvSpPr/>
          <p:nvPr/>
        </p:nvSpPr>
        <p:spPr>
          <a:xfrm>
            <a:off x="4649963" y="3371105"/>
            <a:ext cx="872700" cy="228600"/>
          </a:xfrm>
          <a:prstGeom prst="roundRect">
            <a:avLst>
              <a:gd fmla="val 12500" name="adj"/>
            </a:avLst>
          </a:prstGeom>
          <a:solidFill>
            <a:srgbClr val="0047AB"/>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4724986" y="3408027"/>
            <a:ext cx="777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Validation core</a:t>
            </a:r>
            <a:endParaRPr b="0" i="0" sz="750" u="none" cap="none" strike="noStrike">
              <a:solidFill>
                <a:schemeClr val="dk1"/>
              </a:solidFill>
              <a:latin typeface="Calibri"/>
              <a:ea typeface="Calibri"/>
              <a:cs typeface="Calibri"/>
              <a:sym typeface="Calibri"/>
            </a:endParaRPr>
          </a:p>
        </p:txBody>
      </p:sp>
      <p:sp>
        <p:nvSpPr>
          <p:cNvPr id="157" name="Google Shape;157;p4"/>
          <p:cNvSpPr/>
          <p:nvPr/>
        </p:nvSpPr>
        <p:spPr>
          <a:xfrm>
            <a:off x="5579841"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58" name="Google Shape;158;p4"/>
          <p:cNvSpPr/>
          <p:nvPr/>
        </p:nvSpPr>
        <p:spPr>
          <a:xfrm>
            <a:off x="1872012" y="3637805"/>
            <a:ext cx="11865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1957737" y="3685430"/>
            <a:ext cx="10911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Historical comparison</a:t>
            </a:r>
            <a:endParaRPr b="0" i="0" sz="750" u="none" cap="none" strike="noStrike">
              <a:solidFill>
                <a:schemeClr val="dk1"/>
              </a:solidFill>
              <a:latin typeface="Calibri"/>
              <a:ea typeface="Calibri"/>
              <a:cs typeface="Calibri"/>
              <a:sym typeface="Calibri"/>
            </a:endParaRPr>
          </a:p>
        </p:txBody>
      </p:sp>
      <p:sp>
        <p:nvSpPr>
          <p:cNvPr id="160" name="Google Shape;160;p4"/>
          <p:cNvSpPr/>
          <p:nvPr/>
        </p:nvSpPr>
        <p:spPr>
          <a:xfrm>
            <a:off x="3115545" y="36854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61" name="Google Shape;161;p4"/>
          <p:cNvSpPr/>
          <p:nvPr/>
        </p:nvSpPr>
        <p:spPr>
          <a:xfrm>
            <a:off x="3217121" y="3637805"/>
            <a:ext cx="543300" cy="228600"/>
          </a:xfrm>
          <a:prstGeom prst="roundRect">
            <a:avLst>
              <a:gd fmla="val 12500" name="adj"/>
            </a:avLst>
          </a:prstGeom>
          <a:solidFill>
            <a:srgbClr val="0047AB"/>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3281441" y="3674727"/>
            <a:ext cx="4482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PAS API</a:t>
            </a:r>
            <a:endParaRPr b="0" i="0" sz="750" u="none" cap="none" strike="noStrike">
              <a:solidFill>
                <a:schemeClr val="dk1"/>
              </a:solidFill>
              <a:latin typeface="Calibri"/>
              <a:ea typeface="Calibri"/>
              <a:cs typeface="Calibri"/>
              <a:sym typeface="Calibri"/>
            </a:endParaRPr>
          </a:p>
        </p:txBody>
      </p:sp>
      <p:sp>
        <p:nvSpPr>
          <p:cNvPr id="163" name="Google Shape;163;p4"/>
          <p:cNvSpPr/>
          <p:nvPr/>
        </p:nvSpPr>
        <p:spPr>
          <a:xfrm>
            <a:off x="690912" y="3994993"/>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RESPONSE</a:t>
            </a:r>
            <a:endParaRPr b="0" i="0" sz="713" u="none" cap="none" strike="noStrike">
              <a:solidFill>
                <a:schemeClr val="dk1"/>
              </a:solidFill>
              <a:latin typeface="Calibri"/>
              <a:ea typeface="Calibri"/>
              <a:cs typeface="Calibri"/>
              <a:sym typeface="Calibri"/>
            </a:endParaRPr>
          </a:p>
        </p:txBody>
      </p:sp>
      <p:sp>
        <p:nvSpPr>
          <p:cNvPr id="164" name="Google Shape;164;p4"/>
          <p:cNvSpPr/>
          <p:nvPr/>
        </p:nvSpPr>
        <p:spPr>
          <a:xfrm>
            <a:off x="1872012" y="3961655"/>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Errors and status updates returned to employers by email.</a:t>
            </a:r>
            <a:endParaRPr b="0" i="0" sz="863" u="none" cap="none" strike="noStrike">
              <a:solidFill>
                <a:schemeClr val="dk1"/>
              </a:solidFill>
              <a:latin typeface="Calibri"/>
              <a:ea typeface="Calibri"/>
              <a:cs typeface="Calibri"/>
              <a:sym typeface="Calibri"/>
            </a:endParaRPr>
          </a:p>
        </p:txBody>
      </p:sp>
      <p:sp>
        <p:nvSpPr>
          <p:cNvPr id="165" name="Google Shape;165;p4"/>
          <p:cNvSpPr/>
          <p:nvPr/>
        </p:nvSpPr>
        <p:spPr>
          <a:xfrm>
            <a:off x="690912" y="4254549"/>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FRS COVERED</a:t>
            </a:r>
            <a:endParaRPr b="0" i="0" sz="713" u="none" cap="none" strike="noStrike">
              <a:solidFill>
                <a:schemeClr val="dk1"/>
              </a:solidFill>
              <a:latin typeface="Calibri"/>
              <a:ea typeface="Calibri"/>
              <a:cs typeface="Calibri"/>
              <a:sym typeface="Calibri"/>
            </a:endParaRPr>
          </a:p>
        </p:txBody>
      </p:sp>
      <p:sp>
        <p:nvSpPr>
          <p:cNvPr id="166" name="Google Shape;166;p4"/>
          <p:cNvSpPr/>
          <p:nvPr/>
        </p:nvSpPr>
        <p:spPr>
          <a:xfrm>
            <a:off x="1872012" y="4221212"/>
            <a:ext cx="5023200" cy="3666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Arial"/>
              <a:buNone/>
            </a:pPr>
            <a:r>
              <a:rPr b="1" i="0" lang="en-US" sz="863" u="none" cap="none" strike="noStrike">
                <a:solidFill>
                  <a:srgbClr val="0E1320"/>
                </a:solidFill>
                <a:latin typeface="Arial"/>
                <a:ea typeface="Arial"/>
                <a:cs typeface="Arial"/>
                <a:sym typeface="Arial"/>
              </a:rPr>
              <a:t>FR-001 · FR-002 · FR-003 · FR-004 · FR-005 · FR-006 · FR-007 · FR-008 · FR-010 · FR-011</a:t>
            </a:r>
            <a:endParaRPr b="0" i="0" sz="863" u="none" cap="none" strike="noStrike">
              <a:solidFill>
                <a:schemeClr val="dk1"/>
              </a:solidFill>
              <a:latin typeface="Calibri"/>
              <a:ea typeface="Calibri"/>
              <a:cs typeface="Calibri"/>
              <a:sym typeface="Calibri"/>
            </a:endParaRPr>
          </a:p>
        </p:txBody>
      </p:sp>
      <p:sp>
        <p:nvSpPr>
          <p:cNvPr id="167" name="Google Shape;167;p4"/>
          <p:cNvSpPr/>
          <p:nvPr/>
        </p:nvSpPr>
        <p:spPr>
          <a:xfrm>
            <a:off x="690900" y="4702225"/>
            <a:ext cx="6134100" cy="4809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690912" y="4702224"/>
            <a:ext cx="19200" cy="4905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824262" y="4797474"/>
            <a:ext cx="5991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FR-003 includes AI-powered interpretation of employer email commentary and natural-language instructions, in committed scope for Flow 1.</a:t>
            </a:r>
            <a:endParaRPr b="0" i="0" sz="788" u="none" cap="none" strike="noStrike">
              <a:solidFill>
                <a:schemeClr val="dk1"/>
              </a:solidFill>
              <a:latin typeface="Calibri"/>
              <a:ea typeface="Calibri"/>
              <a:cs typeface="Calibri"/>
              <a:sym typeface="Calibri"/>
            </a:endParaRPr>
          </a:p>
        </p:txBody>
      </p:sp>
      <p:sp>
        <p:nvSpPr>
          <p:cNvPr id="170" name="Google Shape;170;p4"/>
          <p:cNvSpPr/>
          <p:nvPr/>
        </p:nvSpPr>
        <p:spPr>
          <a:xfrm>
            <a:off x="509937" y="5526137"/>
            <a:ext cx="6419700" cy="2436000"/>
          </a:xfrm>
          <a:prstGeom prst="roundRect">
            <a:avLst>
              <a:gd fmla="val 3128"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519462" y="5535662"/>
            <a:ext cx="6400800" cy="4809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519462" y="6007149"/>
            <a:ext cx="64008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690912" y="5669012"/>
            <a:ext cx="646500" cy="204900"/>
          </a:xfrm>
          <a:prstGeom prst="roundRect">
            <a:avLst>
              <a:gd fmla="val 13953" name="adj"/>
            </a:avLst>
          </a:prstGeom>
          <a:solidFill>
            <a:srgbClr val="2E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796864" y="5695232"/>
            <a:ext cx="5322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713"/>
              <a:buFont typeface="Arial"/>
              <a:buNone/>
            </a:pPr>
            <a:r>
              <a:rPr b="1" i="0" lang="en-US" sz="713" u="none" cap="none" strike="noStrike">
                <a:solidFill>
                  <a:srgbClr val="FFFFFF"/>
                </a:solidFill>
                <a:latin typeface="Arial"/>
                <a:ea typeface="Arial"/>
                <a:cs typeface="Arial"/>
                <a:sym typeface="Arial"/>
              </a:rPr>
              <a:t>FLOW 2</a:t>
            </a:r>
            <a:endParaRPr b="0" i="0" sz="713" u="none" cap="none" strike="noStrike">
              <a:solidFill>
                <a:schemeClr val="dk1"/>
              </a:solidFill>
              <a:latin typeface="Calibri"/>
              <a:ea typeface="Calibri"/>
              <a:cs typeface="Calibri"/>
              <a:sym typeface="Calibri"/>
            </a:endParaRPr>
          </a:p>
        </p:txBody>
      </p:sp>
      <p:sp>
        <p:nvSpPr>
          <p:cNvPr id="175" name="Google Shape;175;p4"/>
          <p:cNvSpPr/>
          <p:nvPr/>
        </p:nvSpPr>
        <p:spPr>
          <a:xfrm>
            <a:off x="1451573" y="5678537"/>
            <a:ext cx="2424300" cy="223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00"/>
              <a:buFont typeface="Arial"/>
              <a:buNone/>
            </a:pPr>
            <a:r>
              <a:rPr b="1" i="0" lang="en-US" sz="1200" u="none" cap="none" strike="noStrike">
                <a:solidFill>
                  <a:srgbClr val="0E1320"/>
                </a:solidFill>
                <a:latin typeface="Arial"/>
                <a:ea typeface="Arial"/>
                <a:cs typeface="Arial"/>
                <a:sym typeface="Arial"/>
              </a:rPr>
              <a:t>Existing portal, validation, portal</a:t>
            </a:r>
            <a:endParaRPr b="0" i="0" sz="1200" u="none" cap="none" strike="noStrike">
              <a:solidFill>
                <a:schemeClr val="dk1"/>
              </a:solidFill>
              <a:latin typeface="Calibri"/>
              <a:ea typeface="Calibri"/>
              <a:cs typeface="Calibri"/>
              <a:sym typeface="Calibri"/>
            </a:endParaRPr>
          </a:p>
        </p:txBody>
      </p:sp>
      <p:sp>
        <p:nvSpPr>
          <p:cNvPr id="176" name="Google Shape;176;p4"/>
          <p:cNvSpPr/>
          <p:nvPr/>
        </p:nvSpPr>
        <p:spPr>
          <a:xfrm>
            <a:off x="4487071" y="5716637"/>
            <a:ext cx="2337900" cy="1476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0" i="0" lang="en-US" sz="750" u="none" cap="none" strike="noStrike">
                <a:solidFill>
                  <a:srgbClr val="6B7686"/>
                </a:solidFill>
                <a:latin typeface="Arial"/>
                <a:ea typeface="Arial"/>
                <a:cs typeface="Arial"/>
                <a:sym typeface="Arial"/>
              </a:rPr>
              <a:t>Designed for employers using the existing portal</a:t>
            </a:r>
            <a:endParaRPr b="0" i="0" sz="750" u="none" cap="none" strike="noStrike">
              <a:solidFill>
                <a:schemeClr val="dk1"/>
              </a:solidFill>
              <a:latin typeface="Calibri"/>
              <a:ea typeface="Calibri"/>
              <a:cs typeface="Calibri"/>
              <a:sym typeface="Calibri"/>
            </a:endParaRPr>
          </a:p>
        </p:txBody>
      </p:sp>
      <p:sp>
        <p:nvSpPr>
          <p:cNvPr id="177" name="Google Shape;177;p4"/>
          <p:cNvSpPr/>
          <p:nvPr/>
        </p:nvSpPr>
        <p:spPr>
          <a:xfrm>
            <a:off x="690912" y="6183362"/>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ENTRY</a:t>
            </a:r>
            <a:endParaRPr b="0" i="0" sz="713" u="none" cap="none" strike="noStrike">
              <a:solidFill>
                <a:schemeClr val="dk1"/>
              </a:solidFill>
              <a:latin typeface="Calibri"/>
              <a:ea typeface="Calibri"/>
              <a:cs typeface="Calibri"/>
              <a:sym typeface="Calibri"/>
            </a:endParaRPr>
          </a:p>
        </p:txBody>
      </p:sp>
      <p:sp>
        <p:nvSpPr>
          <p:cNvPr id="178" name="Google Shape;178;p4"/>
          <p:cNvSpPr/>
          <p:nvPr/>
        </p:nvSpPr>
        <p:spPr>
          <a:xfrm>
            <a:off x="1872012" y="6150024"/>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Arial"/>
              <a:buNone/>
            </a:pPr>
            <a:r>
              <a:rPr b="1" i="0" lang="en-US" sz="863" u="none" cap="none" strike="noStrike">
                <a:solidFill>
                  <a:srgbClr val="0E1320"/>
                </a:solidFill>
                <a:latin typeface="Arial"/>
                <a:ea typeface="Arial"/>
                <a:cs typeface="Arial"/>
                <a:sym typeface="Arial"/>
              </a:rPr>
              <a:t>Existing client portal</a:t>
            </a:r>
            <a:r>
              <a:rPr b="0" i="0" lang="en-US" sz="863" u="none" cap="none" strike="noStrike">
                <a:solidFill>
                  <a:srgbClr val="374151"/>
                </a:solidFill>
                <a:latin typeface="Arial"/>
                <a:ea typeface="Arial"/>
                <a:cs typeface="Arial"/>
                <a:sym typeface="Arial"/>
              </a:rPr>
              <a:t>, untouched. Newtuple exposes an API the portal can call for validation.</a:t>
            </a:r>
            <a:endParaRPr b="0" i="0" sz="863" u="none" cap="none" strike="noStrike">
              <a:solidFill>
                <a:schemeClr val="dk1"/>
              </a:solidFill>
              <a:latin typeface="Calibri"/>
              <a:ea typeface="Calibri"/>
              <a:cs typeface="Calibri"/>
              <a:sym typeface="Calibri"/>
            </a:endParaRPr>
          </a:p>
        </p:txBody>
      </p:sp>
      <p:sp>
        <p:nvSpPr>
          <p:cNvPr id="179" name="Google Shape;179;p4"/>
          <p:cNvSpPr/>
          <p:nvPr/>
        </p:nvSpPr>
        <p:spPr>
          <a:xfrm>
            <a:off x="690912" y="6471493"/>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PATH</a:t>
            </a:r>
            <a:endParaRPr b="0" i="0" sz="713" u="none" cap="none" strike="noStrike">
              <a:solidFill>
                <a:schemeClr val="dk1"/>
              </a:solidFill>
              <a:latin typeface="Calibri"/>
              <a:ea typeface="Calibri"/>
              <a:cs typeface="Calibri"/>
              <a:sym typeface="Calibri"/>
            </a:endParaRPr>
          </a:p>
        </p:txBody>
      </p:sp>
      <p:sp>
        <p:nvSpPr>
          <p:cNvPr id="180" name="Google Shape;180;p4"/>
          <p:cNvSpPr/>
          <p:nvPr/>
        </p:nvSpPr>
        <p:spPr>
          <a:xfrm>
            <a:off x="1872012" y="6409580"/>
            <a:ext cx="8355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a:off x="1957737" y="6457205"/>
            <a:ext cx="7404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Existing portal</a:t>
            </a:r>
            <a:endParaRPr b="0" i="0" sz="750" u="none" cap="none" strike="noStrike">
              <a:solidFill>
                <a:schemeClr val="dk1"/>
              </a:solidFill>
              <a:latin typeface="Calibri"/>
              <a:ea typeface="Calibri"/>
              <a:cs typeface="Calibri"/>
              <a:sym typeface="Calibri"/>
            </a:endParaRPr>
          </a:p>
        </p:txBody>
      </p:sp>
      <p:sp>
        <p:nvSpPr>
          <p:cNvPr id="182" name="Google Shape;182;p4"/>
          <p:cNvSpPr/>
          <p:nvPr/>
        </p:nvSpPr>
        <p:spPr>
          <a:xfrm>
            <a:off x="2764683" y="6457205"/>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83" name="Google Shape;183;p4"/>
          <p:cNvSpPr/>
          <p:nvPr/>
        </p:nvSpPr>
        <p:spPr>
          <a:xfrm>
            <a:off x="2866258" y="6409580"/>
            <a:ext cx="872700" cy="228600"/>
          </a:xfrm>
          <a:prstGeom prst="roundRect">
            <a:avLst>
              <a:gd fmla="val 12500" name="adj"/>
            </a:avLst>
          </a:prstGeom>
          <a:solidFill>
            <a:srgbClr val="0047AB"/>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a:off x="2951983" y="6457205"/>
            <a:ext cx="777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Validation core</a:t>
            </a:r>
            <a:endParaRPr b="0" i="0" sz="750" u="none" cap="none" strike="noStrike">
              <a:solidFill>
                <a:schemeClr val="dk1"/>
              </a:solidFill>
              <a:latin typeface="Calibri"/>
              <a:ea typeface="Calibri"/>
              <a:cs typeface="Calibri"/>
              <a:sym typeface="Calibri"/>
            </a:endParaRPr>
          </a:p>
        </p:txBody>
      </p:sp>
      <p:sp>
        <p:nvSpPr>
          <p:cNvPr id="185" name="Google Shape;185;p4"/>
          <p:cNvSpPr/>
          <p:nvPr/>
        </p:nvSpPr>
        <p:spPr>
          <a:xfrm>
            <a:off x="3796136" y="6457205"/>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86" name="Google Shape;186;p4"/>
          <p:cNvSpPr/>
          <p:nvPr/>
        </p:nvSpPr>
        <p:spPr>
          <a:xfrm>
            <a:off x="3897712" y="6409580"/>
            <a:ext cx="11865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3983437" y="6457205"/>
            <a:ext cx="10911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Historical comparison</a:t>
            </a:r>
            <a:endParaRPr b="0" i="0" sz="750" u="none" cap="none" strike="noStrike">
              <a:solidFill>
                <a:schemeClr val="dk1"/>
              </a:solidFill>
              <a:latin typeface="Calibri"/>
              <a:ea typeface="Calibri"/>
              <a:cs typeface="Calibri"/>
              <a:sym typeface="Calibri"/>
            </a:endParaRPr>
          </a:p>
        </p:txBody>
      </p:sp>
      <p:sp>
        <p:nvSpPr>
          <p:cNvPr id="188" name="Google Shape;188;p4"/>
          <p:cNvSpPr/>
          <p:nvPr/>
        </p:nvSpPr>
        <p:spPr>
          <a:xfrm>
            <a:off x="5141245" y="6457205"/>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Arial"/>
              <a:buNone/>
            </a:pPr>
            <a:r>
              <a:rPr b="0" i="0" lang="en-US" sz="1050" u="none" cap="none" strike="noStrike">
                <a:solidFill>
                  <a:srgbClr val="9AA4B2"/>
                </a:solidFill>
                <a:latin typeface="Arial"/>
                <a:ea typeface="Arial"/>
                <a:cs typeface="Arial"/>
                <a:sym typeface="Arial"/>
              </a:rPr>
              <a:t>›</a:t>
            </a:r>
            <a:endParaRPr b="0" i="0" sz="1050" u="none" cap="none" strike="noStrike">
              <a:solidFill>
                <a:schemeClr val="dk1"/>
              </a:solidFill>
              <a:latin typeface="Calibri"/>
              <a:ea typeface="Calibri"/>
              <a:cs typeface="Calibri"/>
              <a:sym typeface="Calibri"/>
            </a:endParaRPr>
          </a:p>
        </p:txBody>
      </p:sp>
      <p:sp>
        <p:nvSpPr>
          <p:cNvPr id="189" name="Google Shape;189;p4"/>
          <p:cNvSpPr/>
          <p:nvPr/>
        </p:nvSpPr>
        <p:spPr>
          <a:xfrm>
            <a:off x="5242820" y="6409580"/>
            <a:ext cx="9018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a:off x="5328545" y="6457205"/>
            <a:ext cx="8067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Portal response</a:t>
            </a:r>
            <a:endParaRPr b="0" i="0" sz="750" u="none" cap="none" strike="noStrike">
              <a:solidFill>
                <a:schemeClr val="dk1"/>
              </a:solidFill>
              <a:latin typeface="Calibri"/>
              <a:ea typeface="Calibri"/>
              <a:cs typeface="Calibri"/>
              <a:sym typeface="Calibri"/>
            </a:endParaRPr>
          </a:p>
        </p:txBody>
      </p:sp>
      <p:sp>
        <p:nvSpPr>
          <p:cNvPr id="191" name="Google Shape;191;p4"/>
          <p:cNvSpPr/>
          <p:nvPr/>
        </p:nvSpPr>
        <p:spPr>
          <a:xfrm>
            <a:off x="690912" y="6766768"/>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RESPONSE</a:t>
            </a:r>
            <a:endParaRPr b="0" i="0" sz="713" u="none" cap="none" strike="noStrike">
              <a:solidFill>
                <a:schemeClr val="dk1"/>
              </a:solidFill>
              <a:latin typeface="Calibri"/>
              <a:ea typeface="Calibri"/>
              <a:cs typeface="Calibri"/>
              <a:sym typeface="Calibri"/>
            </a:endParaRPr>
          </a:p>
        </p:txBody>
      </p:sp>
      <p:sp>
        <p:nvSpPr>
          <p:cNvPr id="192" name="Google Shape;192;p4"/>
          <p:cNvSpPr/>
          <p:nvPr/>
        </p:nvSpPr>
        <p:spPr>
          <a:xfrm>
            <a:off x="1872012" y="6733430"/>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Errors and validation results returned synchronously or asynchronously to the existing portal.</a:t>
            </a:r>
            <a:endParaRPr b="0" i="0" sz="863" u="none" cap="none" strike="noStrike">
              <a:solidFill>
                <a:schemeClr val="dk1"/>
              </a:solidFill>
              <a:latin typeface="Calibri"/>
              <a:ea typeface="Calibri"/>
              <a:cs typeface="Calibri"/>
              <a:sym typeface="Calibri"/>
            </a:endParaRPr>
          </a:p>
        </p:txBody>
      </p:sp>
      <p:sp>
        <p:nvSpPr>
          <p:cNvPr id="193" name="Google Shape;193;p4"/>
          <p:cNvSpPr/>
          <p:nvPr/>
        </p:nvSpPr>
        <p:spPr>
          <a:xfrm>
            <a:off x="690912" y="7026324"/>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FRS COVERED</a:t>
            </a:r>
            <a:endParaRPr b="0" i="0" sz="713" u="none" cap="none" strike="noStrike">
              <a:solidFill>
                <a:schemeClr val="dk1"/>
              </a:solidFill>
              <a:latin typeface="Calibri"/>
              <a:ea typeface="Calibri"/>
              <a:cs typeface="Calibri"/>
              <a:sym typeface="Calibri"/>
            </a:endParaRPr>
          </a:p>
        </p:txBody>
      </p:sp>
      <p:sp>
        <p:nvSpPr>
          <p:cNvPr id="194" name="Google Shape;194;p4"/>
          <p:cNvSpPr/>
          <p:nvPr/>
        </p:nvSpPr>
        <p:spPr>
          <a:xfrm>
            <a:off x="1872012" y="6992987"/>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Arial"/>
              <a:buNone/>
            </a:pPr>
            <a:r>
              <a:rPr b="1" i="0" lang="en-US" sz="863" u="none" cap="none" strike="noStrike">
                <a:solidFill>
                  <a:srgbClr val="0E1320"/>
                </a:solidFill>
                <a:latin typeface="Arial"/>
                <a:ea typeface="Arial"/>
                <a:cs typeface="Arial"/>
                <a:sym typeface="Arial"/>
              </a:rPr>
              <a:t>Existing portal · FR-004 · FR-005 · FR-006 · FR-007A · FR-011</a:t>
            </a:r>
            <a:endParaRPr b="0" i="0" sz="863" u="none" cap="none" strike="noStrike">
              <a:solidFill>
                <a:schemeClr val="dk1"/>
              </a:solidFill>
              <a:latin typeface="Calibri"/>
              <a:ea typeface="Calibri"/>
              <a:cs typeface="Calibri"/>
              <a:sym typeface="Calibri"/>
            </a:endParaRPr>
          </a:p>
        </p:txBody>
      </p:sp>
      <p:sp>
        <p:nvSpPr>
          <p:cNvPr id="195" name="Google Shape;195;p4"/>
          <p:cNvSpPr/>
          <p:nvPr/>
        </p:nvSpPr>
        <p:spPr>
          <a:xfrm>
            <a:off x="690900" y="7309699"/>
            <a:ext cx="6134100" cy="462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690912" y="7309693"/>
            <a:ext cx="19200" cy="4905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a:off x="824262" y="7404943"/>
            <a:ext cx="5991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The portal remains outside Newtuple build scope. Newtuple provides an API for validation invocation and response handling, no portal rebuild, no UX disruption.</a:t>
            </a:r>
            <a:endParaRPr b="0" i="0" sz="788" u="none" cap="none" strike="noStrike">
              <a:solidFill>
                <a:schemeClr val="dk1"/>
              </a:solidFill>
              <a:latin typeface="Calibri"/>
              <a:ea typeface="Calibri"/>
              <a:cs typeface="Calibri"/>
              <a:sym typeface="Calibri"/>
            </a:endParaRPr>
          </a:p>
        </p:txBody>
      </p:sp>
      <p:sp>
        <p:nvSpPr>
          <p:cNvPr id="198" name="Google Shape;198;p4"/>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04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201" name="Google Shape;201;p4"/>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5"/>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5"/>
          <p:cNvPicPr preferRelativeResize="0"/>
          <p:nvPr/>
        </p:nvPicPr>
        <p:blipFill rotWithShape="1">
          <a:blip r:embed="rId3">
            <a:alphaModFix/>
          </a:blip>
          <a:srcRect b="0" l="0" r="0" t="0"/>
          <a:stretch/>
        </p:blipFill>
        <p:spPr>
          <a:xfrm>
            <a:off x="479155" y="532756"/>
            <a:ext cx="815357" cy="152400"/>
          </a:xfrm>
          <a:prstGeom prst="rect">
            <a:avLst/>
          </a:prstGeom>
          <a:noFill/>
          <a:ln>
            <a:noFill/>
          </a:ln>
        </p:spPr>
      </p:pic>
      <p:sp>
        <p:nvSpPr>
          <p:cNvPr id="209" name="Google Shape;209;p5"/>
          <p:cNvSpPr/>
          <p:nvPr/>
        </p:nvSpPr>
        <p:spPr>
          <a:xfrm>
            <a:off x="3394177" y="551806"/>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210" name="Google Shape;210;p5"/>
          <p:cNvSpPr/>
          <p:nvPr/>
        </p:nvSpPr>
        <p:spPr>
          <a:xfrm>
            <a:off x="479155" y="1473368"/>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479155" y="1234351"/>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a:t>
            </a:r>
            <a:r>
              <a:rPr b="1" lang="en-US" sz="825">
                <a:solidFill>
                  <a:srgbClr val="0047AB"/>
                </a:solidFill>
              </a:rPr>
              <a:t>3</a:t>
            </a:r>
            <a:endParaRPr b="0" i="0" sz="825" u="none" cap="none" strike="noStrike">
              <a:solidFill>
                <a:schemeClr val="dk1"/>
              </a:solidFill>
              <a:latin typeface="Calibri"/>
              <a:ea typeface="Calibri"/>
              <a:cs typeface="Calibri"/>
              <a:sym typeface="Calibri"/>
            </a:endParaRPr>
          </a:p>
        </p:txBody>
      </p:sp>
      <p:sp>
        <p:nvSpPr>
          <p:cNvPr id="212" name="Google Shape;212;p5"/>
          <p:cNvSpPr/>
          <p:nvPr/>
        </p:nvSpPr>
        <p:spPr>
          <a:xfrm>
            <a:off x="824213" y="1105763"/>
            <a:ext cx="33456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Recommended Architecture</a:t>
            </a:r>
            <a:endParaRPr b="0" i="0" sz="1950" u="none" cap="none" strike="noStrike">
              <a:solidFill>
                <a:schemeClr val="dk1"/>
              </a:solidFill>
              <a:latin typeface="Calibri"/>
              <a:ea typeface="Calibri"/>
              <a:cs typeface="Calibri"/>
              <a:sym typeface="Calibri"/>
            </a:endParaRPr>
          </a:p>
        </p:txBody>
      </p:sp>
      <p:sp>
        <p:nvSpPr>
          <p:cNvPr id="213" name="Google Shape;213;p5"/>
          <p:cNvSpPr/>
          <p:nvPr/>
        </p:nvSpPr>
        <p:spPr>
          <a:xfrm>
            <a:off x="5263979" y="1239113"/>
            <a:ext cx="17112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Indicative, confirmed in discovery</a:t>
            </a:r>
            <a:endParaRPr b="0" i="0" sz="788" u="none" cap="none" strike="noStrike">
              <a:solidFill>
                <a:schemeClr val="dk1"/>
              </a:solidFill>
              <a:latin typeface="Calibri"/>
              <a:ea typeface="Calibri"/>
              <a:cs typeface="Calibri"/>
              <a:sym typeface="Calibri"/>
            </a:endParaRPr>
          </a:p>
        </p:txBody>
      </p:sp>
      <p:sp>
        <p:nvSpPr>
          <p:cNvPr id="214" name="Google Shape;214;p5"/>
          <p:cNvSpPr/>
          <p:nvPr/>
        </p:nvSpPr>
        <p:spPr>
          <a:xfrm>
            <a:off x="479155" y="1673393"/>
            <a:ext cx="6612300" cy="3885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The architecture separates orchestration, agent interpretation, validation logic, and audit tracking. This keeps Power Automate flows readable while placing business-critical logic in a controlled service layer.</a:t>
            </a:r>
            <a:endParaRPr b="0" i="0" sz="863" u="none" cap="none" strike="noStrike">
              <a:solidFill>
                <a:schemeClr val="dk1"/>
              </a:solidFill>
              <a:latin typeface="Calibri"/>
              <a:ea typeface="Calibri"/>
              <a:cs typeface="Calibri"/>
              <a:sym typeface="Calibri"/>
            </a:endParaRPr>
          </a:p>
        </p:txBody>
      </p:sp>
      <p:sp>
        <p:nvSpPr>
          <p:cNvPr id="215" name="Google Shape;215;p5"/>
          <p:cNvSpPr/>
          <p:nvPr/>
        </p:nvSpPr>
        <p:spPr>
          <a:xfrm>
            <a:off x="479155" y="2176284"/>
            <a:ext cx="6419700" cy="4470000"/>
          </a:xfrm>
          <a:prstGeom prst="roundRect">
            <a:avLst>
              <a:gd fmla="val 127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698230" y="2395359"/>
            <a:ext cx="19095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Arial"/>
              <a:buNone/>
            </a:pPr>
            <a:r>
              <a:rPr b="1" i="0" lang="en-US" sz="975" u="none" cap="none" strike="noStrike">
                <a:solidFill>
                  <a:srgbClr val="0047AB"/>
                </a:solidFill>
                <a:latin typeface="Arial"/>
                <a:ea typeface="Arial"/>
                <a:cs typeface="Arial"/>
                <a:sym typeface="Arial"/>
              </a:rPr>
              <a:t>MINIMAL ARCHITECTURE</a:t>
            </a:r>
            <a:endParaRPr b="0" i="0" sz="975" u="none" cap="none" strike="noStrike">
              <a:solidFill>
                <a:schemeClr val="dk1"/>
              </a:solidFill>
              <a:latin typeface="Calibri"/>
              <a:ea typeface="Calibri"/>
              <a:cs typeface="Calibri"/>
              <a:sym typeface="Calibri"/>
            </a:endParaRPr>
          </a:p>
        </p:txBody>
      </p:sp>
      <p:sp>
        <p:nvSpPr>
          <p:cNvPr id="217" name="Google Shape;217;p5"/>
          <p:cNvSpPr/>
          <p:nvPr/>
        </p:nvSpPr>
        <p:spPr>
          <a:xfrm>
            <a:off x="4246739" y="2428696"/>
            <a:ext cx="25095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50"/>
              <a:buFont typeface="Arial"/>
              <a:buNone/>
            </a:pPr>
            <a:r>
              <a:rPr b="0" i="0" lang="en-US" sz="750" u="none" cap="none" strike="noStrike">
                <a:solidFill>
                  <a:srgbClr val="6B7686"/>
                </a:solidFill>
                <a:latin typeface="Arial"/>
                <a:ea typeface="Arial"/>
                <a:cs typeface="Arial"/>
                <a:sym typeface="Arial"/>
              </a:rPr>
              <a:t>Two input channels · one validation core · audit-first</a:t>
            </a:r>
            <a:endParaRPr b="0" i="0" sz="750" u="none" cap="none" strike="noStrike">
              <a:solidFill>
                <a:schemeClr val="dk1"/>
              </a:solidFill>
              <a:latin typeface="Calibri"/>
              <a:ea typeface="Calibri"/>
              <a:cs typeface="Calibri"/>
              <a:sym typeface="Calibri"/>
            </a:endParaRPr>
          </a:p>
        </p:txBody>
      </p:sp>
      <p:pic>
        <p:nvPicPr>
          <p:cNvPr descr="preencoded.png" id="218" name="Google Shape;218;p5"/>
          <p:cNvPicPr preferRelativeResize="0"/>
          <p:nvPr/>
        </p:nvPicPr>
        <p:blipFill rotWithShape="1">
          <a:blip r:embed="rId4">
            <a:alphaModFix/>
          </a:blip>
          <a:srcRect b="0" l="0" r="0" t="0"/>
          <a:stretch/>
        </p:blipFill>
        <p:spPr>
          <a:xfrm>
            <a:off x="698230" y="2676346"/>
            <a:ext cx="5981700" cy="3226966"/>
          </a:xfrm>
          <a:prstGeom prst="rect">
            <a:avLst/>
          </a:prstGeom>
          <a:noFill/>
          <a:ln>
            <a:noFill/>
          </a:ln>
        </p:spPr>
      </p:pic>
      <p:sp>
        <p:nvSpPr>
          <p:cNvPr id="219" name="Google Shape;219;p5"/>
          <p:cNvSpPr/>
          <p:nvPr/>
        </p:nvSpPr>
        <p:spPr>
          <a:xfrm>
            <a:off x="698230" y="6081906"/>
            <a:ext cx="171600" cy="192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926830" y="6036662"/>
            <a:ext cx="1977000" cy="142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B5563"/>
              </a:buClr>
              <a:buSzPts val="750"/>
              <a:buFont typeface="Arial"/>
              <a:buNone/>
            </a:pPr>
            <a:r>
              <a:rPr b="0" i="0" lang="en-US" sz="750" u="none" cap="none" strike="noStrike">
                <a:solidFill>
                  <a:srgbClr val="4B5563"/>
                </a:solidFill>
                <a:latin typeface="Arial"/>
                <a:ea typeface="Arial"/>
                <a:cs typeface="Arial"/>
                <a:sym typeface="Arial"/>
              </a:rPr>
              <a:t>Cobalt, Newtuple-built service / decision path</a:t>
            </a:r>
            <a:endParaRPr b="0" i="0" sz="750" u="none" cap="none" strike="noStrike">
              <a:solidFill>
                <a:schemeClr val="dk1"/>
              </a:solidFill>
              <a:latin typeface="Calibri"/>
              <a:ea typeface="Calibri"/>
              <a:cs typeface="Calibri"/>
              <a:sym typeface="Calibri"/>
            </a:endParaRPr>
          </a:p>
        </p:txBody>
      </p:sp>
      <p:sp>
        <p:nvSpPr>
          <p:cNvPr id="221" name="Google Shape;221;p5"/>
          <p:cNvSpPr/>
          <p:nvPr/>
        </p:nvSpPr>
        <p:spPr>
          <a:xfrm>
            <a:off x="2998964" y="6081906"/>
            <a:ext cx="171600" cy="19200"/>
          </a:xfrm>
          <a:prstGeom prst="rect">
            <a:avLst/>
          </a:prstGeom>
          <a:solidFill>
            <a:srgbClr val="9AA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3227564" y="6036662"/>
            <a:ext cx="1652100" cy="142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B5563"/>
              </a:buClr>
              <a:buSzPts val="750"/>
              <a:buFont typeface="Arial"/>
              <a:buNone/>
            </a:pPr>
            <a:r>
              <a:rPr b="0" i="0" lang="en-US" sz="750" u="none" cap="none" strike="noStrike">
                <a:solidFill>
                  <a:srgbClr val="4B5563"/>
                </a:solidFill>
                <a:latin typeface="Arial"/>
                <a:ea typeface="Arial"/>
                <a:cs typeface="Arial"/>
                <a:sym typeface="Arial"/>
              </a:rPr>
              <a:t>Gray, orchestration &amp; data movement</a:t>
            </a:r>
            <a:endParaRPr b="0" i="0" sz="750" u="none" cap="none" strike="noStrike">
              <a:solidFill>
                <a:schemeClr val="dk1"/>
              </a:solidFill>
              <a:latin typeface="Calibri"/>
              <a:ea typeface="Calibri"/>
              <a:cs typeface="Calibri"/>
              <a:sym typeface="Calibri"/>
            </a:endParaRPr>
          </a:p>
        </p:txBody>
      </p:sp>
      <p:sp>
        <p:nvSpPr>
          <p:cNvPr id="223" name="Google Shape;223;p5"/>
          <p:cNvSpPr/>
          <p:nvPr/>
        </p:nvSpPr>
        <p:spPr>
          <a:xfrm>
            <a:off x="698230" y="6362893"/>
            <a:ext cx="171600" cy="192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926830" y="6317650"/>
            <a:ext cx="1675500" cy="142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B5563"/>
              </a:buClr>
              <a:buSzPts val="750"/>
              <a:buFont typeface="Arial"/>
              <a:buNone/>
            </a:pPr>
            <a:r>
              <a:rPr b="0" i="0" lang="en-US" sz="750" u="none" cap="none" strike="noStrike">
                <a:solidFill>
                  <a:srgbClr val="4B5563"/>
                </a:solidFill>
                <a:latin typeface="Arial"/>
                <a:ea typeface="Arial"/>
                <a:cs typeface="Arial"/>
                <a:sym typeface="Arial"/>
              </a:rPr>
              <a:t>Dashed, response / feedback channel</a:t>
            </a:r>
            <a:endParaRPr b="0" i="0" sz="750" u="none" cap="none" strike="noStrike">
              <a:solidFill>
                <a:schemeClr val="dk1"/>
              </a:solidFill>
              <a:latin typeface="Calibri"/>
              <a:ea typeface="Calibri"/>
              <a:cs typeface="Calibri"/>
              <a:sym typeface="Calibri"/>
            </a:endParaRPr>
          </a:p>
        </p:txBody>
      </p:sp>
      <p:sp>
        <p:nvSpPr>
          <p:cNvPr id="225" name="Google Shape;225;p5"/>
          <p:cNvSpPr/>
          <p:nvPr/>
        </p:nvSpPr>
        <p:spPr>
          <a:xfrm>
            <a:off x="479155" y="6836762"/>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Arial"/>
              <a:buNone/>
            </a:pPr>
            <a:r>
              <a:rPr b="1" i="0" lang="en-US" sz="1275" u="none" cap="none" strike="noStrike">
                <a:solidFill>
                  <a:srgbClr val="0E1320"/>
                </a:solidFill>
                <a:latin typeface="Arial"/>
                <a:ea typeface="Arial"/>
                <a:cs typeface="Arial"/>
                <a:sym typeface="Arial"/>
              </a:rPr>
              <a:t>Recommended components</a:t>
            </a:r>
            <a:endParaRPr b="0" i="0" sz="1275" u="none" cap="none" strike="noStrike">
              <a:solidFill>
                <a:schemeClr val="dk1"/>
              </a:solidFill>
              <a:latin typeface="Calibri"/>
              <a:ea typeface="Calibri"/>
              <a:cs typeface="Calibri"/>
              <a:sym typeface="Calibri"/>
            </a:endParaRPr>
          </a:p>
        </p:txBody>
      </p:sp>
      <p:sp>
        <p:nvSpPr>
          <p:cNvPr id="226" name="Google Shape;226;p5"/>
          <p:cNvSpPr/>
          <p:nvPr/>
        </p:nvSpPr>
        <p:spPr>
          <a:xfrm>
            <a:off x="479155" y="7184425"/>
            <a:ext cx="17145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479155" y="7463031"/>
            <a:ext cx="17145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574405" y="7251100"/>
            <a:ext cx="1600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LAYER</a:t>
            </a:r>
            <a:endParaRPr b="0" i="0" sz="788" u="none" cap="none" strike="noStrike">
              <a:solidFill>
                <a:schemeClr val="dk1"/>
              </a:solidFill>
              <a:latin typeface="Calibri"/>
              <a:ea typeface="Calibri"/>
              <a:cs typeface="Calibri"/>
              <a:sym typeface="Calibri"/>
            </a:endParaRPr>
          </a:p>
        </p:txBody>
      </p:sp>
      <p:sp>
        <p:nvSpPr>
          <p:cNvPr id="229" name="Google Shape;229;p5"/>
          <p:cNvSpPr/>
          <p:nvPr/>
        </p:nvSpPr>
        <p:spPr>
          <a:xfrm>
            <a:off x="2193655" y="7184425"/>
            <a:ext cx="47052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2193655" y="7463031"/>
            <a:ext cx="47052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2288905" y="7251100"/>
            <a:ext cx="46560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RECOMMENDATION</a:t>
            </a:r>
            <a:endParaRPr b="0" i="0" sz="788" u="none" cap="none" strike="noStrike">
              <a:solidFill>
                <a:schemeClr val="dk1"/>
              </a:solidFill>
              <a:latin typeface="Calibri"/>
              <a:ea typeface="Calibri"/>
              <a:cs typeface="Calibri"/>
              <a:sym typeface="Calibri"/>
            </a:endParaRPr>
          </a:p>
        </p:txBody>
      </p:sp>
      <p:sp>
        <p:nvSpPr>
          <p:cNvPr id="232" name="Google Shape;232;p5"/>
          <p:cNvSpPr/>
          <p:nvPr/>
        </p:nvSpPr>
        <p:spPr>
          <a:xfrm>
            <a:off x="479155" y="7920231"/>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574405" y="7539231"/>
            <a:ext cx="1600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Orchestration</a:t>
            </a:r>
            <a:endParaRPr b="0" i="0" sz="825" u="none" cap="none" strike="noStrike">
              <a:solidFill>
                <a:schemeClr val="dk1"/>
              </a:solidFill>
              <a:latin typeface="Calibri"/>
              <a:ea typeface="Calibri"/>
              <a:cs typeface="Calibri"/>
              <a:sym typeface="Calibri"/>
            </a:endParaRPr>
          </a:p>
        </p:txBody>
      </p:sp>
      <p:sp>
        <p:nvSpPr>
          <p:cNvPr id="234" name="Google Shape;234;p5"/>
          <p:cNvSpPr/>
          <p:nvPr/>
        </p:nvSpPr>
        <p:spPr>
          <a:xfrm>
            <a:off x="2193655" y="7920231"/>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2288905" y="7539231"/>
            <a:ext cx="46560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Microsoft Power Automate. Client E5 license is noted, but Premium or Process licensing may still be required for premium connectors.</a:t>
            </a:r>
            <a:endParaRPr b="0" i="0" sz="825" u="none" cap="none" strike="noStrike">
              <a:solidFill>
                <a:schemeClr val="dk1"/>
              </a:solidFill>
              <a:latin typeface="Calibri"/>
              <a:ea typeface="Calibri"/>
              <a:cs typeface="Calibri"/>
              <a:sym typeface="Calibri"/>
            </a:endParaRPr>
          </a:p>
        </p:txBody>
      </p:sp>
      <p:sp>
        <p:nvSpPr>
          <p:cNvPr id="236" name="Google Shape;236;p5"/>
          <p:cNvSpPr/>
          <p:nvPr/>
        </p:nvSpPr>
        <p:spPr>
          <a:xfrm>
            <a:off x="479155" y="8377431"/>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574405" y="7996431"/>
            <a:ext cx="1600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Agent &amp; API layer</a:t>
            </a:r>
            <a:endParaRPr b="0" i="0" sz="825" u="none" cap="none" strike="noStrike">
              <a:solidFill>
                <a:schemeClr val="dk1"/>
              </a:solidFill>
              <a:latin typeface="Calibri"/>
              <a:ea typeface="Calibri"/>
              <a:cs typeface="Calibri"/>
              <a:sym typeface="Calibri"/>
            </a:endParaRPr>
          </a:p>
        </p:txBody>
      </p:sp>
      <p:sp>
        <p:nvSpPr>
          <p:cNvPr id="238" name="Google Shape;238;p5"/>
          <p:cNvSpPr/>
          <p:nvPr/>
        </p:nvSpPr>
        <p:spPr>
          <a:xfrm>
            <a:off x="2193655" y="8377431"/>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2288905" y="7996431"/>
            <a:ext cx="46560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lang="en-US" sz="825">
                <a:solidFill>
                  <a:srgbClr val="374151"/>
                </a:solidFill>
              </a:rPr>
              <a:t>RESTful web API </a:t>
            </a:r>
            <a:r>
              <a:rPr b="0" i="0" lang="en-US" sz="825" u="none" cap="none" strike="noStrike">
                <a:solidFill>
                  <a:srgbClr val="374151"/>
                </a:solidFill>
                <a:latin typeface="Arial"/>
                <a:ea typeface="Arial"/>
                <a:cs typeface="Arial"/>
                <a:sym typeface="Arial"/>
              </a:rPr>
              <a:t>to invoke the agent and validation process synchronously or asynchronously.</a:t>
            </a:r>
            <a:endParaRPr b="0" i="0" sz="825" u="none" cap="none" strike="noStrike">
              <a:solidFill>
                <a:schemeClr val="dk1"/>
              </a:solidFill>
              <a:latin typeface="Calibri"/>
              <a:ea typeface="Calibri"/>
              <a:cs typeface="Calibri"/>
              <a:sym typeface="Calibri"/>
            </a:endParaRPr>
          </a:p>
        </p:txBody>
      </p:sp>
      <p:sp>
        <p:nvSpPr>
          <p:cNvPr id="240" name="Google Shape;240;p5"/>
          <p:cNvSpPr/>
          <p:nvPr/>
        </p:nvSpPr>
        <p:spPr>
          <a:xfrm>
            <a:off x="479155" y="8834631"/>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574405" y="8453631"/>
            <a:ext cx="1600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AI interpretation</a:t>
            </a:r>
            <a:endParaRPr b="0" i="0" sz="825" u="none" cap="none" strike="noStrike">
              <a:solidFill>
                <a:schemeClr val="dk1"/>
              </a:solidFill>
              <a:latin typeface="Calibri"/>
              <a:ea typeface="Calibri"/>
              <a:cs typeface="Calibri"/>
              <a:sym typeface="Calibri"/>
            </a:endParaRPr>
          </a:p>
        </p:txBody>
      </p:sp>
      <p:sp>
        <p:nvSpPr>
          <p:cNvPr id="242" name="Google Shape;242;p5"/>
          <p:cNvSpPr/>
          <p:nvPr/>
        </p:nvSpPr>
        <p:spPr>
          <a:xfrm>
            <a:off x="2193655" y="8834631"/>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2288905" y="8453631"/>
            <a:ext cx="46560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Agent-based processing of employer email commentary and natural-language instructions (Flow 1 only).</a:t>
            </a:r>
            <a:endParaRPr b="0" i="0" sz="825" u="none" cap="none" strike="noStrike">
              <a:solidFill>
                <a:schemeClr val="dk1"/>
              </a:solidFill>
              <a:latin typeface="Calibri"/>
              <a:ea typeface="Calibri"/>
              <a:cs typeface="Calibri"/>
              <a:sym typeface="Calibri"/>
            </a:endParaRPr>
          </a:p>
        </p:txBody>
      </p:sp>
      <p:sp>
        <p:nvSpPr>
          <p:cNvPr id="244" name="Google Shape;244;p5"/>
          <p:cNvSpPr/>
          <p:nvPr/>
        </p:nvSpPr>
        <p:spPr>
          <a:xfrm>
            <a:off x="479155" y="9134668"/>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574405" y="8910831"/>
            <a:ext cx="16002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Validation engine</a:t>
            </a:r>
            <a:endParaRPr b="0" i="0" sz="825" u="none" cap="none" strike="noStrike">
              <a:solidFill>
                <a:schemeClr val="dk1"/>
              </a:solidFill>
              <a:latin typeface="Calibri"/>
              <a:ea typeface="Calibri"/>
              <a:cs typeface="Calibri"/>
              <a:sym typeface="Calibri"/>
            </a:endParaRPr>
          </a:p>
        </p:txBody>
      </p:sp>
      <p:sp>
        <p:nvSpPr>
          <p:cNvPr id="246" name="Google Shape;246;p5"/>
          <p:cNvSpPr/>
          <p:nvPr/>
        </p:nvSpPr>
        <p:spPr>
          <a:xfrm>
            <a:off x="2193655" y="9134668"/>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2288905" y="8910831"/>
            <a:ext cx="46560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Configurable technical and business rule execution with comparison to previous submissions.</a:t>
            </a:r>
            <a:endParaRPr b="0" i="0" sz="825" u="none" cap="none" strike="noStrike">
              <a:solidFill>
                <a:schemeClr val="dk1"/>
              </a:solidFill>
              <a:latin typeface="Calibri"/>
              <a:ea typeface="Calibri"/>
              <a:cs typeface="Calibri"/>
              <a:sym typeface="Calibri"/>
            </a:endParaRPr>
          </a:p>
        </p:txBody>
      </p:sp>
      <p:sp>
        <p:nvSpPr>
          <p:cNvPr id="248" name="Google Shape;248;p5"/>
          <p:cNvSpPr/>
          <p:nvPr/>
        </p:nvSpPr>
        <p:spPr>
          <a:xfrm>
            <a:off x="479155" y="9434706"/>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574405" y="9210868"/>
            <a:ext cx="16002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Storage &amp; history</a:t>
            </a:r>
            <a:endParaRPr b="0" i="0" sz="825" u="none" cap="none" strike="noStrike">
              <a:solidFill>
                <a:schemeClr val="dk1"/>
              </a:solidFill>
              <a:latin typeface="Calibri"/>
              <a:ea typeface="Calibri"/>
              <a:cs typeface="Calibri"/>
              <a:sym typeface="Calibri"/>
            </a:endParaRPr>
          </a:p>
        </p:txBody>
      </p:sp>
      <p:sp>
        <p:nvSpPr>
          <p:cNvPr id="250" name="Google Shape;250;p5"/>
          <p:cNvSpPr/>
          <p:nvPr/>
        </p:nvSpPr>
        <p:spPr>
          <a:xfrm>
            <a:off x="2193655" y="9434706"/>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2288905" y="9210868"/>
            <a:ext cx="46560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Historical files retrieved from the agreed cloud storage location during processing.</a:t>
            </a:r>
            <a:endParaRPr b="0" i="0" sz="825" u="none" cap="none" strike="noStrike">
              <a:solidFill>
                <a:schemeClr val="dk1"/>
              </a:solidFill>
              <a:latin typeface="Calibri"/>
              <a:ea typeface="Calibri"/>
              <a:cs typeface="Calibri"/>
              <a:sym typeface="Calibri"/>
            </a:endParaRPr>
          </a:p>
        </p:txBody>
      </p:sp>
      <p:sp>
        <p:nvSpPr>
          <p:cNvPr id="252" name="Google Shape;252;p5"/>
          <p:cNvSpPr/>
          <p:nvPr/>
        </p:nvSpPr>
        <p:spPr>
          <a:xfrm>
            <a:off x="574405" y="9510906"/>
            <a:ext cx="1600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PAS integration</a:t>
            </a:r>
            <a:endParaRPr b="0" i="0" sz="825" u="none" cap="none" strike="noStrike">
              <a:solidFill>
                <a:schemeClr val="dk1"/>
              </a:solidFill>
              <a:latin typeface="Calibri"/>
              <a:ea typeface="Calibri"/>
              <a:cs typeface="Calibri"/>
              <a:sym typeface="Calibri"/>
            </a:endParaRPr>
          </a:p>
        </p:txBody>
      </p:sp>
      <p:sp>
        <p:nvSpPr>
          <p:cNvPr id="253" name="Google Shape;253;p5"/>
          <p:cNvSpPr/>
          <p:nvPr/>
        </p:nvSpPr>
        <p:spPr>
          <a:xfrm>
            <a:off x="2288905" y="9510906"/>
            <a:ext cx="46560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Validated data posted to the PAS API, subject to API access, contract, and authentication confirmation.</a:t>
            </a:r>
            <a:endParaRPr b="0" i="0" sz="825" u="none" cap="none" strike="noStrike">
              <a:solidFill>
                <a:schemeClr val="dk1"/>
              </a:solidFill>
              <a:latin typeface="Calibri"/>
              <a:ea typeface="Calibri"/>
              <a:cs typeface="Calibri"/>
              <a:sym typeface="Calibri"/>
            </a:endParaRPr>
          </a:p>
        </p:txBody>
      </p:sp>
      <p:sp>
        <p:nvSpPr>
          <p:cNvPr id="254" name="Google Shape;254;p5"/>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05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257" name="Google Shape;257;p5"/>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g3e8a63689bf_0_40"/>
          <p:cNvSpPr/>
          <p:nvPr/>
        </p:nvSpPr>
        <p:spPr>
          <a:xfrm>
            <a:off x="0" y="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p:txBody>
      </p:sp>
      <p:pic>
        <p:nvPicPr>
          <p:cNvPr descr="preencoded.png" id="264" name="Google Shape;264;g3e8a63689bf_0_40"/>
          <p:cNvPicPr preferRelativeResize="0"/>
          <p:nvPr/>
        </p:nvPicPr>
        <p:blipFill rotWithShape="1">
          <a:blip r:embed="rId3">
            <a:alphaModFix/>
          </a:blip>
          <a:srcRect b="0" l="0" r="0" t="0"/>
          <a:stretch/>
        </p:blipFill>
        <p:spPr>
          <a:xfrm>
            <a:off x="510289" y="607420"/>
            <a:ext cx="815357" cy="152400"/>
          </a:xfrm>
          <a:prstGeom prst="rect">
            <a:avLst/>
          </a:prstGeom>
          <a:noFill/>
          <a:ln>
            <a:noFill/>
          </a:ln>
        </p:spPr>
      </p:pic>
      <p:sp>
        <p:nvSpPr>
          <p:cNvPr id="265" name="Google Shape;265;g3e8a63689bf_0_40"/>
          <p:cNvSpPr/>
          <p:nvPr/>
        </p:nvSpPr>
        <p:spPr>
          <a:xfrm>
            <a:off x="3425311" y="626470"/>
            <a:ext cx="3609900" cy="1524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266" name="Google Shape;266;g3e8a63689bf_0_40"/>
          <p:cNvSpPr/>
          <p:nvPr/>
        </p:nvSpPr>
        <p:spPr>
          <a:xfrm>
            <a:off x="510289" y="1684876"/>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e8a63689bf_0_40"/>
          <p:cNvSpPr/>
          <p:nvPr/>
        </p:nvSpPr>
        <p:spPr>
          <a:xfrm>
            <a:off x="510289" y="1445859"/>
            <a:ext cx="268800" cy="153300"/>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a:t>
            </a:r>
            <a:r>
              <a:rPr b="1" lang="en-US" sz="825">
                <a:solidFill>
                  <a:srgbClr val="0047AB"/>
                </a:solidFill>
              </a:rPr>
              <a:t>4</a:t>
            </a:r>
            <a:endParaRPr b="0" i="0" sz="825" u="none" cap="none" strike="noStrike">
              <a:solidFill>
                <a:schemeClr val="dk1"/>
              </a:solidFill>
              <a:latin typeface="Calibri"/>
              <a:ea typeface="Calibri"/>
              <a:cs typeface="Calibri"/>
              <a:sym typeface="Calibri"/>
            </a:endParaRPr>
          </a:p>
        </p:txBody>
      </p:sp>
      <p:sp>
        <p:nvSpPr>
          <p:cNvPr id="268" name="Google Shape;268;g3e8a63689bf_0_40"/>
          <p:cNvSpPr/>
          <p:nvPr/>
        </p:nvSpPr>
        <p:spPr>
          <a:xfrm>
            <a:off x="855347" y="1317271"/>
            <a:ext cx="2689800" cy="310500"/>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Technical Architecture</a:t>
            </a:r>
            <a:endParaRPr b="0" i="0" sz="1950" u="none" cap="none" strike="noStrike">
              <a:solidFill>
                <a:schemeClr val="dk1"/>
              </a:solidFill>
              <a:latin typeface="Calibri"/>
              <a:ea typeface="Calibri"/>
              <a:cs typeface="Calibri"/>
              <a:sym typeface="Calibri"/>
            </a:endParaRPr>
          </a:p>
        </p:txBody>
      </p:sp>
      <p:sp>
        <p:nvSpPr>
          <p:cNvPr id="269" name="Google Shape;269;g3e8a63689bf_0_40"/>
          <p:cNvSpPr/>
          <p:nvPr/>
        </p:nvSpPr>
        <p:spPr>
          <a:xfrm>
            <a:off x="5792274" y="1450621"/>
            <a:ext cx="1214100" cy="148200"/>
          </a:xfrm>
          <a:prstGeom prst="rect">
            <a:avLst/>
          </a:prstGeom>
          <a:noFill/>
          <a:ln>
            <a:noFill/>
          </a:ln>
        </p:spPr>
        <p:txBody>
          <a:bodyPr anchorCtr="0" anchor="t" bIns="25400" lIns="25400" spcFirstLastPara="1" rIns="25400" wrap="square" tIns="25400">
            <a:noAutofit/>
          </a:bodyPr>
          <a:lstStyle/>
          <a:p>
            <a:pPr indent="0" lvl="0" marL="0" marR="0" rtl="0" algn="r">
              <a:lnSpc>
                <a:spcPct val="11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System view, indicative</a:t>
            </a:r>
            <a:endParaRPr b="0" i="0" sz="788" u="none" cap="none" strike="noStrike">
              <a:solidFill>
                <a:schemeClr val="dk1"/>
              </a:solidFill>
              <a:latin typeface="Calibri"/>
              <a:ea typeface="Calibri"/>
              <a:cs typeface="Calibri"/>
              <a:sym typeface="Calibri"/>
            </a:endParaRPr>
          </a:p>
        </p:txBody>
      </p:sp>
      <p:sp>
        <p:nvSpPr>
          <p:cNvPr id="270" name="Google Shape;270;g3e8a63689bf_0_40"/>
          <p:cNvSpPr/>
          <p:nvPr/>
        </p:nvSpPr>
        <p:spPr>
          <a:xfrm>
            <a:off x="510300" y="1808387"/>
            <a:ext cx="6525000" cy="5346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This view shows how the logical flow is realised across Microsoft 365, the Power Automate integration layer, the custom application on Azure, and the downstream pension administration platform. All cross-component access is over HTTPS, with audit logging at every hop.</a:t>
            </a:r>
            <a:endParaRPr b="0" i="0" sz="863" u="none" cap="none" strike="noStrike">
              <a:solidFill>
                <a:schemeClr val="dk1"/>
              </a:solidFill>
              <a:latin typeface="Calibri"/>
              <a:ea typeface="Calibri"/>
              <a:cs typeface="Calibri"/>
              <a:sym typeface="Calibri"/>
            </a:endParaRPr>
          </a:p>
        </p:txBody>
      </p:sp>
      <p:sp>
        <p:nvSpPr>
          <p:cNvPr id="271" name="Google Shape;271;g3e8a63689bf_0_40"/>
          <p:cNvSpPr/>
          <p:nvPr/>
        </p:nvSpPr>
        <p:spPr>
          <a:xfrm>
            <a:off x="510289" y="2563037"/>
            <a:ext cx="6419700" cy="3663000"/>
          </a:xfrm>
          <a:prstGeom prst="roundRect">
            <a:avLst>
              <a:gd fmla="val 156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g3e8a63689bf_0_40"/>
          <p:cNvPicPr preferRelativeResize="0"/>
          <p:nvPr/>
        </p:nvPicPr>
        <p:blipFill rotWithShape="1">
          <a:blip r:embed="rId4">
            <a:alphaModFix/>
          </a:blip>
          <a:srcRect b="0" l="0" r="0" t="0"/>
          <a:stretch/>
        </p:blipFill>
        <p:spPr>
          <a:xfrm>
            <a:off x="615075" y="2667800"/>
            <a:ext cx="6314976" cy="3453574"/>
          </a:xfrm>
          <a:prstGeom prst="rect">
            <a:avLst/>
          </a:prstGeom>
          <a:noFill/>
          <a:ln>
            <a:noFill/>
          </a:ln>
        </p:spPr>
      </p:pic>
      <p:sp>
        <p:nvSpPr>
          <p:cNvPr id="273" name="Google Shape;273;g3e8a63689bf_0_40"/>
          <p:cNvSpPr/>
          <p:nvPr/>
        </p:nvSpPr>
        <p:spPr>
          <a:xfrm>
            <a:off x="510300" y="6397601"/>
            <a:ext cx="2063700" cy="1111800"/>
          </a:xfrm>
          <a:prstGeom prst="roundRect">
            <a:avLst>
              <a:gd fmla="val 5854"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e8a63689bf_0_40"/>
          <p:cNvSpPr/>
          <p:nvPr/>
        </p:nvSpPr>
        <p:spPr>
          <a:xfrm>
            <a:off x="634114" y="6502368"/>
            <a:ext cx="18924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047AB"/>
              </a:buClr>
              <a:buSzPts val="675"/>
              <a:buFont typeface="Arial"/>
              <a:buNone/>
            </a:pPr>
            <a:r>
              <a:rPr b="1" i="0" lang="en-US" sz="675" u="none" cap="none" strike="noStrike">
                <a:solidFill>
                  <a:srgbClr val="0047AB"/>
                </a:solidFill>
                <a:latin typeface="Arial"/>
                <a:ea typeface="Arial"/>
                <a:cs typeface="Arial"/>
                <a:sym typeface="Arial"/>
              </a:rPr>
              <a:t>INTEGRATION LAYER</a:t>
            </a:r>
            <a:endParaRPr b="0" i="0" sz="675" u="none" cap="none" strike="noStrike">
              <a:solidFill>
                <a:schemeClr val="dk1"/>
              </a:solidFill>
              <a:latin typeface="Calibri"/>
              <a:ea typeface="Calibri"/>
              <a:cs typeface="Calibri"/>
              <a:sym typeface="Calibri"/>
            </a:endParaRPr>
          </a:p>
        </p:txBody>
      </p:sp>
      <p:sp>
        <p:nvSpPr>
          <p:cNvPr id="275" name="Google Shape;275;g3e8a63689bf_0_40"/>
          <p:cNvSpPr/>
          <p:nvPr/>
        </p:nvSpPr>
        <p:spPr>
          <a:xfrm>
            <a:off x="634114" y="6720741"/>
            <a:ext cx="1892400" cy="6477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Microsoft 365 mailbox monitored by Power Automate. Triggers orchestrate intake, call APIs, and emit status notifications back to employers.</a:t>
            </a:r>
            <a:endParaRPr b="0" i="0" sz="750" u="none" cap="none" strike="noStrike">
              <a:solidFill>
                <a:schemeClr val="dk1"/>
              </a:solidFill>
              <a:latin typeface="Calibri"/>
              <a:ea typeface="Calibri"/>
              <a:cs typeface="Calibri"/>
              <a:sym typeface="Calibri"/>
            </a:endParaRPr>
          </a:p>
        </p:txBody>
      </p:sp>
      <p:sp>
        <p:nvSpPr>
          <p:cNvPr id="276" name="Google Shape;276;g3e8a63689bf_0_40"/>
          <p:cNvSpPr/>
          <p:nvPr/>
        </p:nvSpPr>
        <p:spPr>
          <a:xfrm>
            <a:off x="2688325" y="6397601"/>
            <a:ext cx="2063700" cy="1111800"/>
          </a:xfrm>
          <a:prstGeom prst="roundRect">
            <a:avLst>
              <a:gd fmla="val 5854"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e8a63689bf_0_40"/>
          <p:cNvSpPr/>
          <p:nvPr/>
        </p:nvSpPr>
        <p:spPr>
          <a:xfrm>
            <a:off x="2812139" y="6502368"/>
            <a:ext cx="18924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047AB"/>
              </a:buClr>
              <a:buSzPts val="675"/>
              <a:buFont typeface="Arial"/>
              <a:buNone/>
            </a:pPr>
            <a:r>
              <a:rPr b="1" i="0" lang="en-US" sz="675" u="none" cap="none" strike="noStrike">
                <a:solidFill>
                  <a:srgbClr val="0047AB"/>
                </a:solidFill>
                <a:latin typeface="Arial"/>
                <a:ea typeface="Arial"/>
                <a:cs typeface="Arial"/>
                <a:sym typeface="Arial"/>
              </a:rPr>
              <a:t>SYSTEM OF RECORD</a:t>
            </a:r>
            <a:endParaRPr b="0" i="0" sz="675" u="none" cap="none" strike="noStrike">
              <a:solidFill>
                <a:schemeClr val="dk1"/>
              </a:solidFill>
              <a:latin typeface="Calibri"/>
              <a:ea typeface="Calibri"/>
              <a:cs typeface="Calibri"/>
              <a:sym typeface="Calibri"/>
            </a:endParaRPr>
          </a:p>
        </p:txBody>
      </p:sp>
      <p:sp>
        <p:nvSpPr>
          <p:cNvPr id="278" name="Google Shape;278;g3e8a63689bf_0_40"/>
          <p:cNvSpPr/>
          <p:nvPr/>
        </p:nvSpPr>
        <p:spPr>
          <a:xfrm>
            <a:off x="2812139" y="6690136"/>
            <a:ext cx="1892400" cy="6477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FastAPI backend with business logic and validation. PostgreSQL holds submissions, employers, audit trail, errors, and file versions. React dashboard for operations.</a:t>
            </a:r>
            <a:endParaRPr b="0" i="0" sz="750" u="none" cap="none" strike="noStrike">
              <a:solidFill>
                <a:schemeClr val="dk1"/>
              </a:solidFill>
              <a:latin typeface="Calibri"/>
              <a:ea typeface="Calibri"/>
              <a:cs typeface="Calibri"/>
              <a:sym typeface="Calibri"/>
            </a:endParaRPr>
          </a:p>
        </p:txBody>
      </p:sp>
      <p:sp>
        <p:nvSpPr>
          <p:cNvPr id="279" name="Google Shape;279;g3e8a63689bf_0_40"/>
          <p:cNvSpPr/>
          <p:nvPr/>
        </p:nvSpPr>
        <p:spPr>
          <a:xfrm>
            <a:off x="4866350" y="6397601"/>
            <a:ext cx="2063700" cy="1111800"/>
          </a:xfrm>
          <a:prstGeom prst="roundRect">
            <a:avLst>
              <a:gd fmla="val 5854"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e8a63689bf_0_40"/>
          <p:cNvSpPr/>
          <p:nvPr/>
        </p:nvSpPr>
        <p:spPr>
          <a:xfrm>
            <a:off x="4990164" y="6502368"/>
            <a:ext cx="18924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047AB"/>
              </a:buClr>
              <a:buSzPts val="675"/>
              <a:buFont typeface="Arial"/>
              <a:buNone/>
            </a:pPr>
            <a:r>
              <a:rPr b="1" i="0" lang="en-US" sz="675" u="none" cap="none" strike="noStrike">
                <a:solidFill>
                  <a:srgbClr val="0047AB"/>
                </a:solidFill>
                <a:latin typeface="Arial"/>
                <a:ea typeface="Arial"/>
                <a:cs typeface="Arial"/>
                <a:sym typeface="Arial"/>
              </a:rPr>
              <a:t>STORAGE &amp; DOWNSTREAM</a:t>
            </a:r>
            <a:endParaRPr b="0" i="0" sz="675" u="none" cap="none" strike="noStrike">
              <a:solidFill>
                <a:schemeClr val="dk1"/>
              </a:solidFill>
              <a:latin typeface="Calibri"/>
              <a:ea typeface="Calibri"/>
              <a:cs typeface="Calibri"/>
              <a:sym typeface="Calibri"/>
            </a:endParaRPr>
          </a:p>
        </p:txBody>
      </p:sp>
      <p:sp>
        <p:nvSpPr>
          <p:cNvPr id="281" name="Google Shape;281;g3e8a63689bf_0_40"/>
          <p:cNvSpPr/>
          <p:nvPr/>
        </p:nvSpPr>
        <p:spPr>
          <a:xfrm>
            <a:off x="4990164" y="6705439"/>
            <a:ext cx="1892400" cy="6477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750"/>
              <a:buFont typeface="Arial"/>
              <a:buNone/>
            </a:pPr>
            <a:r>
              <a:rPr b="0" i="0" lang="en-US" sz="750" u="none" cap="none" strike="noStrike">
                <a:solidFill>
                  <a:srgbClr val="374151"/>
                </a:solidFill>
                <a:latin typeface="Arial"/>
                <a:ea typeface="Arial"/>
                <a:cs typeface="Arial"/>
                <a:sym typeface="Arial"/>
              </a:rPr>
              <a:t>Azure Blob or SharePoint as the contribution file repository. Upload to the pension administration platform via API or SFTP, subject to integration availability.</a:t>
            </a:r>
            <a:endParaRPr b="0" i="0" sz="750" u="none" cap="none" strike="noStrike">
              <a:solidFill>
                <a:schemeClr val="dk1"/>
              </a:solidFill>
              <a:latin typeface="Calibri"/>
              <a:ea typeface="Calibri"/>
              <a:cs typeface="Calibri"/>
              <a:sym typeface="Calibri"/>
            </a:endParaRPr>
          </a:p>
        </p:txBody>
      </p:sp>
      <p:sp>
        <p:nvSpPr>
          <p:cNvPr id="282" name="Google Shape;282;g3e8a63689bf_0_40"/>
          <p:cNvSpPr/>
          <p:nvPr/>
        </p:nvSpPr>
        <p:spPr>
          <a:xfrm>
            <a:off x="510289" y="7946659"/>
            <a:ext cx="6612300" cy="2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1320"/>
              </a:buClr>
              <a:buSzPts val="1275"/>
              <a:buFont typeface="Arial"/>
              <a:buNone/>
            </a:pPr>
            <a:r>
              <a:rPr b="1" i="0" lang="en-US" sz="1275" u="none" cap="none" strike="noStrike">
                <a:solidFill>
                  <a:srgbClr val="0E1320"/>
                </a:solidFill>
                <a:latin typeface="Arial"/>
                <a:ea typeface="Arial"/>
                <a:cs typeface="Arial"/>
                <a:sym typeface="Arial"/>
              </a:rPr>
              <a:t>Security &amp; Operating Controls</a:t>
            </a:r>
            <a:endParaRPr b="0" i="0" sz="1275" u="none" cap="none" strike="noStrike">
              <a:solidFill>
                <a:schemeClr val="dk1"/>
              </a:solidFill>
              <a:latin typeface="Calibri"/>
              <a:ea typeface="Calibri"/>
              <a:cs typeface="Calibri"/>
              <a:sym typeface="Calibri"/>
            </a:endParaRPr>
          </a:p>
        </p:txBody>
      </p:sp>
      <p:sp>
        <p:nvSpPr>
          <p:cNvPr id="283" name="Google Shape;283;g3e8a63689bf_0_40"/>
          <p:cNvSpPr/>
          <p:nvPr/>
        </p:nvSpPr>
        <p:spPr>
          <a:xfrm>
            <a:off x="555570" y="8294321"/>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Arial"/>
              <a:buChar char="●"/>
            </a:pPr>
            <a:r>
              <a:rPr b="1" i="0" lang="en-US" sz="788" u="none" cap="none" strike="noStrike">
                <a:solidFill>
                  <a:srgbClr val="374151"/>
                </a:solidFill>
                <a:latin typeface="Arial"/>
                <a:ea typeface="Arial"/>
                <a:cs typeface="Arial"/>
                <a:sym typeface="Arial"/>
              </a:rPr>
              <a:t>Authentication </a:t>
            </a:r>
            <a:r>
              <a:rPr b="0" i="0" lang="en-US" sz="788" u="none" cap="none" strike="noStrike">
                <a:solidFill>
                  <a:srgbClr val="374151"/>
                </a:solidFill>
                <a:latin typeface="Arial"/>
                <a:ea typeface="Arial"/>
                <a:cs typeface="Arial"/>
                <a:sym typeface="Arial"/>
              </a:rPr>
              <a:t>, role-based access across dashboard, validation API, and PAS endpoints.</a:t>
            </a:r>
            <a:endParaRPr b="0" i="0" sz="788" u="none" cap="none" strike="noStrike">
              <a:solidFill>
                <a:schemeClr val="dk1"/>
              </a:solidFill>
              <a:latin typeface="Calibri"/>
              <a:ea typeface="Calibri"/>
              <a:cs typeface="Calibri"/>
              <a:sym typeface="Calibri"/>
            </a:endParaRPr>
          </a:p>
        </p:txBody>
      </p:sp>
      <p:sp>
        <p:nvSpPr>
          <p:cNvPr id="284" name="Google Shape;284;g3e8a63689bf_0_40"/>
          <p:cNvSpPr/>
          <p:nvPr/>
        </p:nvSpPr>
        <p:spPr>
          <a:xfrm>
            <a:off x="555570" y="8642430"/>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Arial"/>
              <a:buChar char="●"/>
            </a:pPr>
            <a:r>
              <a:rPr b="1" i="0" lang="en-US" sz="788" u="none" cap="none" strike="noStrike">
                <a:solidFill>
                  <a:srgbClr val="374151"/>
                </a:solidFill>
                <a:latin typeface="Arial"/>
                <a:ea typeface="Arial"/>
                <a:cs typeface="Arial"/>
                <a:sym typeface="Arial"/>
              </a:rPr>
              <a:t>Transport security </a:t>
            </a:r>
            <a:r>
              <a:rPr b="0" i="0" lang="en-US" sz="788" u="none" cap="none" strike="noStrike">
                <a:solidFill>
                  <a:srgbClr val="374151"/>
                </a:solidFill>
                <a:latin typeface="Arial"/>
                <a:ea typeface="Arial"/>
                <a:cs typeface="Arial"/>
                <a:sym typeface="Arial"/>
              </a:rPr>
              <a:t>, HTTPS everywhere including internal API calls.</a:t>
            </a:r>
            <a:endParaRPr b="0" i="0" sz="788" u="none" cap="none" strike="noStrike">
              <a:solidFill>
                <a:schemeClr val="dk1"/>
              </a:solidFill>
              <a:latin typeface="Calibri"/>
              <a:ea typeface="Calibri"/>
              <a:cs typeface="Calibri"/>
              <a:sym typeface="Calibri"/>
            </a:endParaRPr>
          </a:p>
        </p:txBody>
      </p:sp>
      <p:sp>
        <p:nvSpPr>
          <p:cNvPr id="285" name="Google Shape;285;g3e8a63689bf_0_40"/>
          <p:cNvSpPr/>
          <p:nvPr/>
        </p:nvSpPr>
        <p:spPr>
          <a:xfrm>
            <a:off x="555570" y="8990539"/>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Arial"/>
              <a:buChar char="●"/>
            </a:pPr>
            <a:r>
              <a:rPr b="1" i="0" lang="en-US" sz="788" u="none" cap="none" strike="noStrike">
                <a:solidFill>
                  <a:srgbClr val="374151"/>
                </a:solidFill>
                <a:latin typeface="Arial"/>
                <a:ea typeface="Arial"/>
                <a:cs typeface="Arial"/>
                <a:sym typeface="Arial"/>
              </a:rPr>
              <a:t>Audit logging </a:t>
            </a:r>
            <a:r>
              <a:rPr b="0" i="0" lang="en-US" sz="788" u="none" cap="none" strike="noStrike">
                <a:solidFill>
                  <a:srgbClr val="374151"/>
                </a:solidFill>
                <a:latin typeface="Arial"/>
                <a:ea typeface="Arial"/>
                <a:cs typeface="Arial"/>
                <a:sym typeface="Arial"/>
              </a:rPr>
              <a:t>, every submission, decision, error, notification, and upload recorded with timestamp and actor.</a:t>
            </a:r>
            <a:endParaRPr b="0" i="0" sz="788" u="none" cap="none" strike="noStrike">
              <a:solidFill>
                <a:schemeClr val="dk1"/>
              </a:solidFill>
              <a:latin typeface="Calibri"/>
              <a:ea typeface="Calibri"/>
              <a:cs typeface="Calibri"/>
              <a:sym typeface="Calibri"/>
            </a:endParaRPr>
          </a:p>
        </p:txBody>
      </p:sp>
      <p:sp>
        <p:nvSpPr>
          <p:cNvPr id="286" name="Google Shape;286;g3e8a63689bf_0_40"/>
          <p:cNvSpPr/>
          <p:nvPr/>
        </p:nvSpPr>
        <p:spPr>
          <a:xfrm>
            <a:off x="3958339" y="8294321"/>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Arial"/>
              <a:buChar char="●"/>
            </a:pPr>
            <a:r>
              <a:rPr b="1" i="0" lang="en-US" sz="788" u="none" cap="none" strike="noStrike">
                <a:solidFill>
                  <a:srgbClr val="374151"/>
                </a:solidFill>
                <a:latin typeface="Arial"/>
                <a:ea typeface="Arial"/>
                <a:cs typeface="Arial"/>
                <a:sym typeface="Arial"/>
              </a:rPr>
              <a:t>Secret management </a:t>
            </a:r>
            <a:r>
              <a:rPr b="0" i="0" lang="en-US" sz="788" u="none" cap="none" strike="noStrike">
                <a:solidFill>
                  <a:srgbClr val="374151"/>
                </a:solidFill>
                <a:latin typeface="Arial"/>
                <a:ea typeface="Arial"/>
                <a:cs typeface="Arial"/>
                <a:sym typeface="Arial"/>
              </a:rPr>
              <a:t>, credentials held in environment variables or a managed vault, never in source.</a:t>
            </a:r>
            <a:endParaRPr b="0" i="0" sz="788" u="none" cap="none" strike="noStrike">
              <a:solidFill>
                <a:schemeClr val="dk1"/>
              </a:solidFill>
              <a:latin typeface="Calibri"/>
              <a:ea typeface="Calibri"/>
              <a:cs typeface="Calibri"/>
              <a:sym typeface="Calibri"/>
            </a:endParaRPr>
          </a:p>
        </p:txBody>
      </p:sp>
      <p:sp>
        <p:nvSpPr>
          <p:cNvPr id="287" name="Google Shape;287;g3e8a63689bf_0_40"/>
          <p:cNvSpPr/>
          <p:nvPr/>
        </p:nvSpPr>
        <p:spPr>
          <a:xfrm>
            <a:off x="3958339" y="8642430"/>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Arial"/>
              <a:buChar char="●"/>
            </a:pPr>
            <a:r>
              <a:rPr b="1" i="0" lang="en-US" sz="788" u="none" cap="none" strike="noStrike">
                <a:solidFill>
                  <a:srgbClr val="374151"/>
                </a:solidFill>
                <a:latin typeface="Arial"/>
                <a:ea typeface="Arial"/>
                <a:cs typeface="Arial"/>
                <a:sym typeface="Arial"/>
              </a:rPr>
              <a:t>Hosting </a:t>
            </a:r>
            <a:r>
              <a:rPr b="0" i="0" lang="en-US" sz="788" u="none" cap="none" strike="noStrike">
                <a:solidFill>
                  <a:srgbClr val="374151"/>
                </a:solidFill>
                <a:latin typeface="Arial"/>
                <a:ea typeface="Arial"/>
                <a:cs typeface="Arial"/>
                <a:sym typeface="Arial"/>
              </a:rPr>
              <a:t>, custom application runs on an Azure VM with Nginx fronting the dashboard and API endpoints.</a:t>
            </a:r>
            <a:endParaRPr b="0" i="0" sz="788" u="none" cap="none" strike="noStrike">
              <a:solidFill>
                <a:schemeClr val="dk1"/>
              </a:solidFill>
              <a:latin typeface="Calibri"/>
              <a:ea typeface="Calibri"/>
              <a:cs typeface="Calibri"/>
              <a:sym typeface="Calibri"/>
            </a:endParaRPr>
          </a:p>
        </p:txBody>
      </p:sp>
      <p:sp>
        <p:nvSpPr>
          <p:cNvPr id="288" name="Google Shape;288;g3e8a63689bf_0_40"/>
          <p:cNvSpPr/>
          <p:nvPr/>
        </p:nvSpPr>
        <p:spPr>
          <a:xfrm>
            <a:off x="3958339" y="8990539"/>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Arial"/>
              <a:buChar char="●"/>
            </a:pPr>
            <a:r>
              <a:rPr b="1" i="0" lang="en-US" sz="788" u="none" cap="none" strike="noStrike">
                <a:solidFill>
                  <a:srgbClr val="374151"/>
                </a:solidFill>
                <a:latin typeface="Arial"/>
                <a:ea typeface="Arial"/>
                <a:cs typeface="Arial"/>
                <a:sym typeface="Arial"/>
              </a:rPr>
              <a:t>Conditional integration </a:t>
            </a:r>
            <a:r>
              <a:rPr b="0" i="0" lang="en-US" sz="788" u="none" cap="none" strike="noStrike">
                <a:solidFill>
                  <a:srgbClr val="374151"/>
                </a:solidFill>
                <a:latin typeface="Arial"/>
                <a:ea typeface="Arial"/>
                <a:cs typeface="Arial"/>
                <a:sym typeface="Arial"/>
              </a:rPr>
              <a:t>, PAS posting depends on confirmed API or SFTP availability during discovery.</a:t>
            </a:r>
            <a:endParaRPr b="0" i="0" sz="788" u="none" cap="none" strike="noStrike">
              <a:solidFill>
                <a:schemeClr val="dk1"/>
              </a:solidFill>
              <a:latin typeface="Calibri"/>
              <a:ea typeface="Calibri"/>
              <a:cs typeface="Calibri"/>
              <a:sym typeface="Calibri"/>
            </a:endParaRPr>
          </a:p>
        </p:txBody>
      </p:sp>
      <p:sp>
        <p:nvSpPr>
          <p:cNvPr id="289" name="Google Shape;289;g3e8a63689bf_0_40"/>
          <p:cNvSpPr/>
          <p:nvPr/>
        </p:nvSpPr>
        <p:spPr>
          <a:xfrm>
            <a:off x="0" y="10234613"/>
            <a:ext cx="7563000" cy="462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e8a63689bf_0_40"/>
          <p:cNvSpPr/>
          <p:nvPr/>
        </p:nvSpPr>
        <p:spPr>
          <a:xfrm>
            <a:off x="0" y="10234613"/>
            <a:ext cx="7563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e8a63689bf_0_40"/>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
        <p:nvSpPr>
          <p:cNvPr id="292" name="Google Shape;292;g3e8a63689bf_0_40"/>
          <p:cNvSpPr/>
          <p:nvPr/>
        </p:nvSpPr>
        <p:spPr>
          <a:xfrm>
            <a:off x="6540847" y="10377488"/>
            <a:ext cx="526800" cy="1476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06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6"/>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6"/>
          <p:cNvPicPr preferRelativeResize="0"/>
          <p:nvPr/>
        </p:nvPicPr>
        <p:blipFill rotWithShape="1">
          <a:blip r:embed="rId3">
            <a:alphaModFix/>
          </a:blip>
          <a:srcRect b="0" l="0" r="0" t="0"/>
          <a:stretch/>
        </p:blipFill>
        <p:spPr>
          <a:xfrm>
            <a:off x="571500" y="653328"/>
            <a:ext cx="815357" cy="152400"/>
          </a:xfrm>
          <a:prstGeom prst="rect">
            <a:avLst/>
          </a:prstGeom>
          <a:noFill/>
          <a:ln>
            <a:noFill/>
          </a:ln>
        </p:spPr>
      </p:pic>
      <p:sp>
        <p:nvSpPr>
          <p:cNvPr id="300" name="Google Shape;300;p6"/>
          <p:cNvSpPr/>
          <p:nvPr/>
        </p:nvSpPr>
        <p:spPr>
          <a:xfrm>
            <a:off x="3486522" y="672378"/>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301" name="Google Shape;301;p6"/>
          <p:cNvSpPr/>
          <p:nvPr/>
        </p:nvSpPr>
        <p:spPr>
          <a:xfrm>
            <a:off x="571500" y="1746086"/>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571500" y="1507069"/>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05</a:t>
            </a:r>
            <a:endParaRPr b="0" i="0" sz="825" u="none" cap="none" strike="noStrike">
              <a:solidFill>
                <a:schemeClr val="dk1"/>
              </a:solidFill>
              <a:latin typeface="Calibri"/>
              <a:ea typeface="Calibri"/>
              <a:cs typeface="Calibri"/>
              <a:sym typeface="Calibri"/>
            </a:endParaRPr>
          </a:p>
        </p:txBody>
      </p:sp>
      <p:sp>
        <p:nvSpPr>
          <p:cNvPr id="303" name="Google Shape;303;p6"/>
          <p:cNvSpPr/>
          <p:nvPr/>
        </p:nvSpPr>
        <p:spPr>
          <a:xfrm>
            <a:off x="916558" y="1378481"/>
            <a:ext cx="8148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Scope</a:t>
            </a:r>
            <a:endParaRPr b="0" i="0" sz="1950" u="none" cap="none" strike="noStrike">
              <a:solidFill>
                <a:schemeClr val="dk1"/>
              </a:solidFill>
              <a:latin typeface="Calibri"/>
              <a:ea typeface="Calibri"/>
              <a:cs typeface="Calibri"/>
              <a:sym typeface="Calibri"/>
            </a:endParaRPr>
          </a:p>
        </p:txBody>
      </p:sp>
      <p:sp>
        <p:nvSpPr>
          <p:cNvPr id="304" name="Google Shape;304;p6"/>
          <p:cNvSpPr/>
          <p:nvPr/>
        </p:nvSpPr>
        <p:spPr>
          <a:xfrm>
            <a:off x="6316414" y="1511831"/>
            <a:ext cx="7512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12-week MVP</a:t>
            </a:r>
            <a:endParaRPr b="0" i="0" sz="788" u="none" cap="none" strike="noStrike">
              <a:solidFill>
                <a:schemeClr val="dk1"/>
              </a:solidFill>
              <a:latin typeface="Calibri"/>
              <a:ea typeface="Calibri"/>
              <a:cs typeface="Calibri"/>
              <a:sym typeface="Calibri"/>
            </a:endParaRPr>
          </a:p>
        </p:txBody>
      </p:sp>
      <p:sp>
        <p:nvSpPr>
          <p:cNvPr id="305" name="Google Shape;305;p6"/>
          <p:cNvSpPr/>
          <p:nvPr/>
        </p:nvSpPr>
        <p:spPr>
          <a:xfrm>
            <a:off x="571500" y="1946111"/>
            <a:ext cx="6419700" cy="3560100"/>
          </a:xfrm>
          <a:prstGeom prst="roundRect">
            <a:avLst>
              <a:gd fmla="val 1605"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581025" y="1955636"/>
            <a:ext cx="6400800" cy="3573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581025" y="2303299"/>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714375" y="2050886"/>
            <a:ext cx="650700" cy="157200"/>
          </a:xfrm>
          <a:prstGeom prst="roundRect">
            <a:avLst>
              <a:gd fmla="val 18182" name="adj"/>
            </a:avLst>
          </a:prstGeom>
          <a:solidFill>
            <a:srgbClr val="E6F6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781050" y="2079461"/>
            <a:ext cx="593400" cy="138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A971"/>
              </a:buClr>
              <a:buSzPts val="675"/>
              <a:buFont typeface="Arial"/>
              <a:buNone/>
            </a:pPr>
            <a:r>
              <a:rPr b="1" i="0" lang="en-US" sz="675" u="none" cap="none" strike="noStrike">
                <a:solidFill>
                  <a:srgbClr val="1FA971"/>
                </a:solidFill>
                <a:latin typeface="Arial"/>
                <a:ea typeface="Arial"/>
                <a:cs typeface="Arial"/>
                <a:sym typeface="Arial"/>
              </a:rPr>
              <a:t>IN SCOPE</a:t>
            </a:r>
            <a:endParaRPr b="0" i="0" sz="675" u="none" cap="none" strike="noStrike">
              <a:solidFill>
                <a:schemeClr val="dk1"/>
              </a:solidFill>
              <a:latin typeface="Calibri"/>
              <a:ea typeface="Calibri"/>
              <a:cs typeface="Calibri"/>
              <a:sym typeface="Calibri"/>
            </a:endParaRPr>
          </a:p>
        </p:txBody>
      </p:sp>
      <p:sp>
        <p:nvSpPr>
          <p:cNvPr id="310" name="Google Shape;310;p6"/>
          <p:cNvSpPr/>
          <p:nvPr/>
        </p:nvSpPr>
        <p:spPr>
          <a:xfrm>
            <a:off x="1460227" y="2060411"/>
            <a:ext cx="2320500" cy="17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900"/>
              <a:buFont typeface="Arial"/>
              <a:buNone/>
            </a:pPr>
            <a:r>
              <a:rPr b="1" i="0" lang="en-US" sz="900" u="none" cap="none" strike="noStrike">
                <a:solidFill>
                  <a:srgbClr val="0E1320"/>
                </a:solidFill>
                <a:latin typeface="Arial"/>
                <a:ea typeface="Arial"/>
                <a:cs typeface="Arial"/>
                <a:sym typeface="Arial"/>
              </a:rPr>
              <a:t>Capabilities delivered as part of the MVP</a:t>
            </a:r>
            <a:endParaRPr b="0" i="0" sz="900" u="none" cap="none" strike="noStrike">
              <a:solidFill>
                <a:schemeClr val="dk1"/>
              </a:solidFill>
              <a:latin typeface="Calibri"/>
              <a:ea typeface="Calibri"/>
              <a:cs typeface="Calibri"/>
              <a:sym typeface="Calibri"/>
            </a:endParaRPr>
          </a:p>
        </p:txBody>
      </p:sp>
      <p:sp>
        <p:nvSpPr>
          <p:cNvPr id="311" name="Google Shape;311;p6"/>
          <p:cNvSpPr/>
          <p:nvPr/>
        </p:nvSpPr>
        <p:spPr>
          <a:xfrm>
            <a:off x="581025" y="2312824"/>
            <a:ext cx="20955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a:off x="581025" y="2591430"/>
            <a:ext cx="20955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676275" y="2379499"/>
            <a:ext cx="1981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SCOPE AREA</a:t>
            </a:r>
            <a:endParaRPr b="0" i="0" sz="788" u="none" cap="none" strike="noStrike">
              <a:solidFill>
                <a:schemeClr val="dk1"/>
              </a:solidFill>
              <a:latin typeface="Calibri"/>
              <a:ea typeface="Calibri"/>
              <a:cs typeface="Calibri"/>
              <a:sym typeface="Calibri"/>
            </a:endParaRPr>
          </a:p>
        </p:txBody>
      </p:sp>
      <p:sp>
        <p:nvSpPr>
          <p:cNvPr id="314" name="Google Shape;314;p6"/>
          <p:cNvSpPr/>
          <p:nvPr/>
        </p:nvSpPr>
        <p:spPr>
          <a:xfrm>
            <a:off x="2676525" y="2312824"/>
            <a:ext cx="43053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
          <p:cNvSpPr/>
          <p:nvPr/>
        </p:nvSpPr>
        <p:spPr>
          <a:xfrm>
            <a:off x="2676525" y="2591430"/>
            <a:ext cx="43053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6"/>
          <p:cNvSpPr/>
          <p:nvPr/>
        </p:nvSpPr>
        <p:spPr>
          <a:xfrm>
            <a:off x="2771775" y="2379499"/>
            <a:ext cx="42441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INCLUDED CAPABILITIES</a:t>
            </a:r>
            <a:endParaRPr b="0" i="0" sz="788" u="none" cap="none" strike="noStrike">
              <a:solidFill>
                <a:schemeClr val="dk1"/>
              </a:solidFill>
              <a:latin typeface="Calibri"/>
              <a:ea typeface="Calibri"/>
              <a:cs typeface="Calibri"/>
              <a:sym typeface="Calibri"/>
            </a:endParaRPr>
          </a:p>
        </p:txBody>
      </p:sp>
      <p:sp>
        <p:nvSpPr>
          <p:cNvPr id="317" name="Google Shape;317;p6"/>
          <p:cNvSpPr/>
          <p:nvPr/>
        </p:nvSpPr>
        <p:spPr>
          <a:xfrm>
            <a:off x="581025" y="3048630"/>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676275" y="2667630"/>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Email processing</a:t>
            </a:r>
            <a:endParaRPr b="0" i="0" sz="825" u="none" cap="none" strike="noStrike">
              <a:solidFill>
                <a:schemeClr val="dk1"/>
              </a:solidFill>
              <a:latin typeface="Calibri"/>
              <a:ea typeface="Calibri"/>
              <a:cs typeface="Calibri"/>
              <a:sym typeface="Calibri"/>
            </a:endParaRPr>
          </a:p>
        </p:txBody>
      </p:sp>
      <p:sp>
        <p:nvSpPr>
          <p:cNvPr id="319" name="Google Shape;319;p6"/>
          <p:cNvSpPr/>
          <p:nvPr/>
        </p:nvSpPr>
        <p:spPr>
          <a:xfrm>
            <a:off x="2676525" y="3048630"/>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2771775" y="2667630"/>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Mailbox monitoring, submission detection, attachment extraction, email context capture, and AI interpretation of employer comments.</a:t>
            </a:r>
            <a:endParaRPr b="0" i="0" sz="825" u="none" cap="none" strike="noStrike">
              <a:solidFill>
                <a:schemeClr val="dk1"/>
              </a:solidFill>
              <a:latin typeface="Calibri"/>
              <a:ea typeface="Calibri"/>
              <a:cs typeface="Calibri"/>
              <a:sym typeface="Calibri"/>
            </a:endParaRPr>
          </a:p>
        </p:txBody>
      </p:sp>
      <p:sp>
        <p:nvSpPr>
          <p:cNvPr id="321" name="Google Shape;321;p6"/>
          <p:cNvSpPr/>
          <p:nvPr/>
        </p:nvSpPr>
        <p:spPr>
          <a:xfrm>
            <a:off x="581025" y="3505830"/>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676275" y="3124830"/>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File management</a:t>
            </a:r>
            <a:endParaRPr b="0" i="0" sz="825" u="none" cap="none" strike="noStrike">
              <a:solidFill>
                <a:schemeClr val="dk1"/>
              </a:solidFill>
              <a:latin typeface="Calibri"/>
              <a:ea typeface="Calibri"/>
              <a:cs typeface="Calibri"/>
              <a:sym typeface="Calibri"/>
            </a:endParaRPr>
          </a:p>
        </p:txBody>
      </p:sp>
      <p:sp>
        <p:nvSpPr>
          <p:cNvPr id="323" name="Google Shape;323;p6"/>
          <p:cNvSpPr/>
          <p:nvPr/>
        </p:nvSpPr>
        <p:spPr>
          <a:xfrm>
            <a:off x="2676525" y="3505830"/>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
          <p:cNvSpPr/>
          <p:nvPr/>
        </p:nvSpPr>
        <p:spPr>
          <a:xfrm>
            <a:off x="2771775" y="3124830"/>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Central file registration, historical file retrieval, current-to-prior association, version tracking, and resubmission handling.</a:t>
            </a:r>
            <a:endParaRPr b="0" i="0" sz="825" u="none" cap="none" strike="noStrike">
              <a:solidFill>
                <a:schemeClr val="dk1"/>
              </a:solidFill>
              <a:latin typeface="Calibri"/>
              <a:ea typeface="Calibri"/>
              <a:cs typeface="Calibri"/>
              <a:sym typeface="Calibri"/>
            </a:endParaRPr>
          </a:p>
        </p:txBody>
      </p:sp>
      <p:sp>
        <p:nvSpPr>
          <p:cNvPr id="325" name="Google Shape;325;p6"/>
          <p:cNvSpPr/>
          <p:nvPr/>
        </p:nvSpPr>
        <p:spPr>
          <a:xfrm>
            <a:off x="581025" y="4120193"/>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6"/>
          <p:cNvSpPr/>
          <p:nvPr/>
        </p:nvSpPr>
        <p:spPr>
          <a:xfrm>
            <a:off x="676275" y="3582030"/>
            <a:ext cx="1981200" cy="5097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Validation engine</a:t>
            </a:r>
            <a:endParaRPr b="0" i="0" sz="825" u="none" cap="none" strike="noStrike">
              <a:solidFill>
                <a:schemeClr val="dk1"/>
              </a:solidFill>
              <a:latin typeface="Calibri"/>
              <a:ea typeface="Calibri"/>
              <a:cs typeface="Calibri"/>
              <a:sym typeface="Calibri"/>
            </a:endParaRPr>
          </a:p>
        </p:txBody>
      </p:sp>
      <p:sp>
        <p:nvSpPr>
          <p:cNvPr id="327" name="Google Shape;327;p6"/>
          <p:cNvSpPr/>
          <p:nvPr/>
        </p:nvSpPr>
        <p:spPr>
          <a:xfrm>
            <a:off x="2676525" y="4120193"/>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p:nvPr/>
        </p:nvSpPr>
        <p:spPr>
          <a:xfrm>
            <a:off x="2771775" y="3582030"/>
            <a:ext cx="4244100" cy="5097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Format checks, mandatory field checks, data type validation, duplicate detection, contribution amount checks, employee status checks, reconciliation, and configurable business rules.</a:t>
            </a:r>
            <a:endParaRPr b="0" i="0" sz="825" u="none" cap="none" strike="noStrike">
              <a:solidFill>
                <a:schemeClr val="dk1"/>
              </a:solidFill>
              <a:latin typeface="Calibri"/>
              <a:ea typeface="Calibri"/>
              <a:cs typeface="Calibri"/>
              <a:sym typeface="Calibri"/>
            </a:endParaRPr>
          </a:p>
        </p:txBody>
      </p:sp>
      <p:sp>
        <p:nvSpPr>
          <p:cNvPr id="329" name="Google Shape;329;p6"/>
          <p:cNvSpPr/>
          <p:nvPr/>
        </p:nvSpPr>
        <p:spPr>
          <a:xfrm>
            <a:off x="581025" y="4577393"/>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676275" y="4196393"/>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Error management</a:t>
            </a:r>
            <a:endParaRPr b="0" i="0" sz="825" u="none" cap="none" strike="noStrike">
              <a:solidFill>
                <a:schemeClr val="dk1"/>
              </a:solidFill>
              <a:latin typeface="Calibri"/>
              <a:ea typeface="Calibri"/>
              <a:cs typeface="Calibri"/>
              <a:sym typeface="Calibri"/>
            </a:endParaRPr>
          </a:p>
        </p:txBody>
      </p:sp>
      <p:sp>
        <p:nvSpPr>
          <p:cNvPr id="331" name="Google Shape;331;p6"/>
          <p:cNvSpPr/>
          <p:nvPr/>
        </p:nvSpPr>
        <p:spPr>
          <a:xfrm>
            <a:off x="2676525" y="4577393"/>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2771775" y="4196393"/>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Validation report generation, error and warning categorization, automated employer notification for Flow 1, portal-facing error response for Flow 2.</a:t>
            </a:r>
            <a:endParaRPr b="0" i="0" sz="825" u="none" cap="none" strike="noStrike">
              <a:solidFill>
                <a:schemeClr val="dk1"/>
              </a:solidFill>
              <a:latin typeface="Calibri"/>
              <a:ea typeface="Calibri"/>
              <a:cs typeface="Calibri"/>
              <a:sym typeface="Calibri"/>
            </a:endParaRPr>
          </a:p>
        </p:txBody>
      </p:sp>
      <p:sp>
        <p:nvSpPr>
          <p:cNvPr id="333" name="Google Shape;333;p6"/>
          <p:cNvSpPr/>
          <p:nvPr/>
        </p:nvSpPr>
        <p:spPr>
          <a:xfrm>
            <a:off x="581025" y="5034593"/>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6"/>
          <p:cNvSpPr/>
          <p:nvPr/>
        </p:nvSpPr>
        <p:spPr>
          <a:xfrm>
            <a:off x="676275" y="4653593"/>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Existing portal integration</a:t>
            </a:r>
            <a:endParaRPr b="0" i="0" sz="825" u="none" cap="none" strike="noStrike">
              <a:solidFill>
                <a:schemeClr val="dk1"/>
              </a:solidFill>
              <a:latin typeface="Calibri"/>
              <a:ea typeface="Calibri"/>
              <a:cs typeface="Calibri"/>
              <a:sym typeface="Calibri"/>
            </a:endParaRPr>
          </a:p>
        </p:txBody>
      </p:sp>
      <p:sp>
        <p:nvSpPr>
          <p:cNvPr id="335" name="Google Shape;335;p6"/>
          <p:cNvSpPr/>
          <p:nvPr/>
        </p:nvSpPr>
        <p:spPr>
          <a:xfrm>
            <a:off x="2676525" y="5034593"/>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
          <p:cNvSpPr/>
          <p:nvPr/>
        </p:nvSpPr>
        <p:spPr>
          <a:xfrm>
            <a:off x="2771775" y="4653593"/>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API support for the existing portal to call validation services and receive synchronous or asynchronous results.</a:t>
            </a:r>
            <a:endParaRPr b="0" i="0" sz="825" u="none" cap="none" strike="noStrike">
              <a:solidFill>
                <a:schemeClr val="dk1"/>
              </a:solidFill>
              <a:latin typeface="Calibri"/>
              <a:ea typeface="Calibri"/>
              <a:cs typeface="Calibri"/>
              <a:sym typeface="Calibri"/>
            </a:endParaRPr>
          </a:p>
        </p:txBody>
      </p:sp>
      <p:sp>
        <p:nvSpPr>
          <p:cNvPr id="337" name="Google Shape;337;p6"/>
          <p:cNvSpPr/>
          <p:nvPr/>
        </p:nvSpPr>
        <p:spPr>
          <a:xfrm>
            <a:off x="676275" y="5110793"/>
            <a:ext cx="1981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PAS integration</a:t>
            </a:r>
            <a:endParaRPr b="0" i="0" sz="825" u="none" cap="none" strike="noStrike">
              <a:solidFill>
                <a:schemeClr val="dk1"/>
              </a:solidFill>
              <a:latin typeface="Calibri"/>
              <a:ea typeface="Calibri"/>
              <a:cs typeface="Calibri"/>
              <a:sym typeface="Calibri"/>
            </a:endParaRPr>
          </a:p>
        </p:txBody>
      </p:sp>
      <p:sp>
        <p:nvSpPr>
          <p:cNvPr id="338" name="Google Shape;338;p6"/>
          <p:cNvSpPr/>
          <p:nvPr/>
        </p:nvSpPr>
        <p:spPr>
          <a:xfrm>
            <a:off x="2771775" y="5110793"/>
            <a:ext cx="42441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Validated record posting to the PAS API, upload status capture, and audit logging, subject to API readiness.</a:t>
            </a:r>
            <a:endParaRPr b="0" i="0" sz="825" u="none" cap="none" strike="noStrike">
              <a:solidFill>
                <a:schemeClr val="dk1"/>
              </a:solidFill>
              <a:latin typeface="Calibri"/>
              <a:ea typeface="Calibri"/>
              <a:cs typeface="Calibri"/>
              <a:sym typeface="Calibri"/>
            </a:endParaRPr>
          </a:p>
        </p:txBody>
      </p:sp>
      <p:sp>
        <p:nvSpPr>
          <p:cNvPr id="339" name="Google Shape;339;p6"/>
          <p:cNvSpPr/>
          <p:nvPr/>
        </p:nvSpPr>
        <p:spPr>
          <a:xfrm>
            <a:off x="571500" y="6041048"/>
            <a:ext cx="6419700" cy="2096100"/>
          </a:xfrm>
          <a:prstGeom prst="roundRect">
            <a:avLst>
              <a:gd fmla="val 2726"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6"/>
          <p:cNvSpPr/>
          <p:nvPr/>
        </p:nvSpPr>
        <p:spPr>
          <a:xfrm>
            <a:off x="581025" y="6050573"/>
            <a:ext cx="6400800" cy="3573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
          <p:cNvSpPr/>
          <p:nvPr/>
        </p:nvSpPr>
        <p:spPr>
          <a:xfrm>
            <a:off x="581025" y="6398236"/>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6"/>
          <p:cNvSpPr/>
          <p:nvPr/>
        </p:nvSpPr>
        <p:spPr>
          <a:xfrm>
            <a:off x="714375" y="6145823"/>
            <a:ext cx="941100" cy="157200"/>
          </a:xfrm>
          <a:prstGeom prst="roundRect">
            <a:avLst>
              <a:gd fmla="val 18182"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6"/>
          <p:cNvSpPr/>
          <p:nvPr/>
        </p:nvSpPr>
        <p:spPr>
          <a:xfrm>
            <a:off x="781050" y="6174398"/>
            <a:ext cx="883800" cy="138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B5563"/>
              </a:buClr>
              <a:buSzPts val="675"/>
              <a:buFont typeface="Arial"/>
              <a:buNone/>
            </a:pPr>
            <a:r>
              <a:rPr b="1" i="0" lang="en-US" sz="675" u="none" cap="none" strike="noStrike">
                <a:solidFill>
                  <a:srgbClr val="4B5563"/>
                </a:solidFill>
                <a:latin typeface="Arial"/>
                <a:ea typeface="Arial"/>
                <a:cs typeface="Arial"/>
                <a:sym typeface="Arial"/>
              </a:rPr>
              <a:t>OUT OF SCOPE</a:t>
            </a:r>
            <a:endParaRPr b="0" i="0" sz="675" u="none" cap="none" strike="noStrike">
              <a:solidFill>
                <a:schemeClr val="dk1"/>
              </a:solidFill>
              <a:latin typeface="Calibri"/>
              <a:ea typeface="Calibri"/>
              <a:cs typeface="Calibri"/>
              <a:sym typeface="Calibri"/>
            </a:endParaRPr>
          </a:p>
        </p:txBody>
      </p:sp>
      <p:sp>
        <p:nvSpPr>
          <p:cNvPr id="344" name="Google Shape;344;p6"/>
          <p:cNvSpPr/>
          <p:nvPr/>
        </p:nvSpPr>
        <p:spPr>
          <a:xfrm>
            <a:off x="1750665" y="6155348"/>
            <a:ext cx="1901100" cy="17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900"/>
              <a:buFont typeface="Arial"/>
              <a:buNone/>
            </a:pPr>
            <a:r>
              <a:rPr b="1" i="0" lang="en-US" sz="900" u="none" cap="none" strike="noStrike">
                <a:solidFill>
                  <a:srgbClr val="0E1320"/>
                </a:solidFill>
                <a:latin typeface="Arial"/>
                <a:ea typeface="Arial"/>
                <a:cs typeface="Arial"/>
                <a:sym typeface="Arial"/>
              </a:rPr>
              <a:t>Not included in the 12-week MVP</a:t>
            </a:r>
            <a:endParaRPr b="0" i="0" sz="900" u="none" cap="none" strike="noStrike">
              <a:solidFill>
                <a:schemeClr val="dk1"/>
              </a:solidFill>
              <a:latin typeface="Calibri"/>
              <a:ea typeface="Calibri"/>
              <a:cs typeface="Calibri"/>
              <a:sym typeface="Calibri"/>
            </a:endParaRPr>
          </a:p>
        </p:txBody>
      </p:sp>
      <p:sp>
        <p:nvSpPr>
          <p:cNvPr id="345" name="Google Shape;345;p6"/>
          <p:cNvSpPr/>
          <p:nvPr/>
        </p:nvSpPr>
        <p:spPr>
          <a:xfrm>
            <a:off x="612775" y="6522061"/>
            <a:ext cx="3178200" cy="8313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Building or redesigning the existing employer portal.</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Replacing the core pension administration system.</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Third-party security audit, certification, or formal compliance attestation.</a:t>
            </a:r>
            <a:endParaRPr b="0" i="0" sz="863" u="none" cap="none" strike="noStrike">
              <a:solidFill>
                <a:schemeClr val="dk1"/>
              </a:solidFill>
              <a:latin typeface="Calibri"/>
              <a:ea typeface="Calibri"/>
              <a:cs typeface="Calibri"/>
              <a:sym typeface="Calibri"/>
            </a:endParaRPr>
          </a:p>
        </p:txBody>
      </p:sp>
      <p:sp>
        <p:nvSpPr>
          <p:cNvPr id="346" name="Google Shape;346;p6"/>
          <p:cNvSpPr/>
          <p:nvPr/>
        </p:nvSpPr>
        <p:spPr>
          <a:xfrm>
            <a:off x="3746500" y="6511358"/>
            <a:ext cx="3178200" cy="15102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Historical migration beyond data required for validation, testing, and comparison.</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Guaranteed PAS upload automation until PAS API contract, authentication, and payload requirements are confirmed.</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Advanced analytics, employer scorecards, and compliance dashboards unless added as a separate work package.</a:t>
            </a:r>
            <a:endParaRPr b="0" i="0" sz="863" u="none" cap="none" strike="noStrike">
              <a:solidFill>
                <a:schemeClr val="dk1"/>
              </a:solidFill>
              <a:latin typeface="Calibri"/>
              <a:ea typeface="Calibri"/>
              <a:cs typeface="Calibri"/>
              <a:sym typeface="Calibri"/>
            </a:endParaRPr>
          </a:p>
        </p:txBody>
      </p:sp>
      <p:sp>
        <p:nvSpPr>
          <p:cNvPr id="347" name="Google Shape;347;p6"/>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6"/>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a:t>
            </a:r>
            <a:r>
              <a:rPr b="1" lang="en-US" sz="713">
                <a:solidFill>
                  <a:srgbClr val="6B7686"/>
                </a:solidFill>
              </a:rPr>
              <a:t>7</a:t>
            </a:r>
            <a:r>
              <a:rPr b="1" i="0" lang="en-US" sz="713" u="none" cap="none" strike="noStrike">
                <a:solidFill>
                  <a:srgbClr val="6B7686"/>
                </a:solidFill>
                <a:latin typeface="Arial"/>
                <a:ea typeface="Arial"/>
                <a:cs typeface="Arial"/>
                <a:sym typeface="Arial"/>
              </a:rPr>
              <a:t>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350" name="Google Shape;350;p6"/>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7"/>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7" name="Google Shape;357;p7"/>
          <p:cNvPicPr preferRelativeResize="0"/>
          <p:nvPr/>
        </p:nvPicPr>
        <p:blipFill rotWithShape="1">
          <a:blip r:embed="rId3">
            <a:alphaModFix/>
          </a:blip>
          <a:srcRect b="0" l="0" r="0" t="0"/>
          <a:stretch/>
        </p:blipFill>
        <p:spPr>
          <a:xfrm>
            <a:off x="571500" y="717445"/>
            <a:ext cx="815357" cy="152400"/>
          </a:xfrm>
          <a:prstGeom prst="rect">
            <a:avLst/>
          </a:prstGeom>
          <a:noFill/>
          <a:ln>
            <a:noFill/>
          </a:ln>
        </p:spPr>
      </p:pic>
      <p:sp>
        <p:nvSpPr>
          <p:cNvPr id="358" name="Google Shape;358;p7"/>
          <p:cNvSpPr/>
          <p:nvPr/>
        </p:nvSpPr>
        <p:spPr>
          <a:xfrm>
            <a:off x="3486522" y="736495"/>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359" name="Google Shape;359;p7"/>
          <p:cNvSpPr/>
          <p:nvPr/>
        </p:nvSpPr>
        <p:spPr>
          <a:xfrm>
            <a:off x="494546" y="1842747"/>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494546" y="1603730"/>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06</a:t>
            </a:r>
            <a:endParaRPr b="0" i="0" sz="825" u="none" cap="none" strike="noStrike">
              <a:solidFill>
                <a:schemeClr val="dk1"/>
              </a:solidFill>
              <a:latin typeface="Calibri"/>
              <a:ea typeface="Calibri"/>
              <a:cs typeface="Calibri"/>
              <a:sym typeface="Calibri"/>
            </a:endParaRPr>
          </a:p>
        </p:txBody>
      </p:sp>
      <p:sp>
        <p:nvSpPr>
          <p:cNvPr id="361" name="Google Shape;361;p7"/>
          <p:cNvSpPr/>
          <p:nvPr/>
        </p:nvSpPr>
        <p:spPr>
          <a:xfrm>
            <a:off x="839604" y="1475142"/>
            <a:ext cx="15951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Delivery Plan</a:t>
            </a:r>
            <a:endParaRPr b="0" i="0" sz="1950" u="none" cap="none" strike="noStrike">
              <a:solidFill>
                <a:schemeClr val="dk1"/>
              </a:solidFill>
              <a:latin typeface="Calibri"/>
              <a:ea typeface="Calibri"/>
              <a:cs typeface="Calibri"/>
              <a:sym typeface="Calibri"/>
            </a:endParaRPr>
          </a:p>
        </p:txBody>
      </p:sp>
      <p:sp>
        <p:nvSpPr>
          <p:cNvPr id="362" name="Google Shape;362;p7"/>
          <p:cNvSpPr/>
          <p:nvPr/>
        </p:nvSpPr>
        <p:spPr>
          <a:xfrm>
            <a:off x="5732626" y="1608492"/>
            <a:ext cx="12579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Indicative 12-week build</a:t>
            </a:r>
            <a:endParaRPr b="0" i="0" sz="788" u="none" cap="none" strike="noStrike">
              <a:solidFill>
                <a:schemeClr val="dk1"/>
              </a:solidFill>
              <a:latin typeface="Calibri"/>
              <a:ea typeface="Calibri"/>
              <a:cs typeface="Calibri"/>
              <a:sym typeface="Calibri"/>
            </a:endParaRPr>
          </a:p>
        </p:txBody>
      </p:sp>
      <p:sp>
        <p:nvSpPr>
          <p:cNvPr id="363" name="Google Shape;363;p7"/>
          <p:cNvSpPr/>
          <p:nvPr/>
        </p:nvSpPr>
        <p:spPr>
          <a:xfrm>
            <a:off x="494546" y="2042772"/>
            <a:ext cx="6612300" cy="3885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The delivery plan is shown as an indicative 12-week build. The sequence may shift after discovery, particularly if licensing, PAS API access, historical storage access, or validation rule confirmation takes longer than expected.</a:t>
            </a:r>
            <a:endParaRPr b="0" i="0" sz="863" u="none" cap="none" strike="noStrike">
              <a:solidFill>
                <a:schemeClr val="dk1"/>
              </a:solidFill>
              <a:latin typeface="Calibri"/>
              <a:ea typeface="Calibri"/>
              <a:cs typeface="Calibri"/>
              <a:sym typeface="Calibri"/>
            </a:endParaRPr>
          </a:p>
        </p:txBody>
      </p:sp>
      <p:sp>
        <p:nvSpPr>
          <p:cNvPr id="364" name="Google Shape;364;p7"/>
          <p:cNvSpPr/>
          <p:nvPr/>
        </p:nvSpPr>
        <p:spPr>
          <a:xfrm>
            <a:off x="494546" y="2545663"/>
            <a:ext cx="6419700" cy="3890700"/>
          </a:xfrm>
          <a:prstGeom prst="roundRect">
            <a:avLst>
              <a:gd fmla="val 14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504071" y="2555188"/>
            <a:ext cx="6400800" cy="2904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7"/>
          <p:cNvSpPr/>
          <p:nvPr/>
        </p:nvSpPr>
        <p:spPr>
          <a:xfrm>
            <a:off x="504071" y="2836175"/>
            <a:ext cx="64008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7"/>
          <p:cNvSpPr/>
          <p:nvPr/>
        </p:nvSpPr>
        <p:spPr>
          <a:xfrm>
            <a:off x="580271" y="2640913"/>
            <a:ext cx="20193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74151"/>
              </a:buClr>
              <a:buSzPts val="713"/>
              <a:buFont typeface="Arial"/>
              <a:buNone/>
            </a:pPr>
            <a:r>
              <a:rPr b="1" i="0" lang="en-US" sz="713" u="none" cap="none" strike="noStrike">
                <a:solidFill>
                  <a:srgbClr val="374151"/>
                </a:solidFill>
                <a:latin typeface="Arial"/>
                <a:ea typeface="Arial"/>
                <a:cs typeface="Arial"/>
                <a:sym typeface="Arial"/>
              </a:rPr>
              <a:t>WORKSTREAM</a:t>
            </a:r>
            <a:endParaRPr b="0" i="0" sz="713" u="none" cap="none" strike="noStrike">
              <a:solidFill>
                <a:schemeClr val="dk1"/>
              </a:solidFill>
              <a:latin typeface="Calibri"/>
              <a:ea typeface="Calibri"/>
              <a:cs typeface="Calibri"/>
              <a:sym typeface="Calibri"/>
            </a:endParaRPr>
          </a:p>
        </p:txBody>
      </p:sp>
      <p:sp>
        <p:nvSpPr>
          <p:cNvPr id="368" name="Google Shape;368;p7"/>
          <p:cNvSpPr/>
          <p:nvPr/>
        </p:nvSpPr>
        <p:spPr>
          <a:xfrm>
            <a:off x="2637671"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W1</a:t>
            </a:r>
            <a:endParaRPr b="0" i="0" sz="713" u="none" cap="none" strike="noStrike">
              <a:solidFill>
                <a:schemeClr val="dk1"/>
              </a:solidFill>
              <a:latin typeface="Calibri"/>
              <a:ea typeface="Calibri"/>
              <a:cs typeface="Calibri"/>
              <a:sym typeface="Calibri"/>
            </a:endParaRPr>
          </a:p>
        </p:txBody>
      </p:sp>
      <p:sp>
        <p:nvSpPr>
          <p:cNvPr id="369" name="Google Shape;369;p7"/>
          <p:cNvSpPr/>
          <p:nvPr/>
        </p:nvSpPr>
        <p:spPr>
          <a:xfrm>
            <a:off x="2989129"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W2</a:t>
            </a:r>
            <a:endParaRPr b="0" i="0" sz="713" u="none" cap="none" strike="noStrike">
              <a:solidFill>
                <a:schemeClr val="dk1"/>
              </a:solidFill>
              <a:latin typeface="Calibri"/>
              <a:ea typeface="Calibri"/>
              <a:cs typeface="Calibri"/>
              <a:sym typeface="Calibri"/>
            </a:endParaRPr>
          </a:p>
        </p:txBody>
      </p:sp>
      <p:sp>
        <p:nvSpPr>
          <p:cNvPr id="370" name="Google Shape;370;p7"/>
          <p:cNvSpPr/>
          <p:nvPr/>
        </p:nvSpPr>
        <p:spPr>
          <a:xfrm>
            <a:off x="3340661"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W3</a:t>
            </a:r>
            <a:endParaRPr b="0" i="0" sz="713" u="none" cap="none" strike="noStrike">
              <a:solidFill>
                <a:schemeClr val="dk1"/>
              </a:solidFill>
              <a:latin typeface="Calibri"/>
              <a:ea typeface="Calibri"/>
              <a:cs typeface="Calibri"/>
              <a:sym typeface="Calibri"/>
            </a:endParaRPr>
          </a:p>
        </p:txBody>
      </p:sp>
      <p:sp>
        <p:nvSpPr>
          <p:cNvPr id="371" name="Google Shape;371;p7"/>
          <p:cNvSpPr/>
          <p:nvPr/>
        </p:nvSpPr>
        <p:spPr>
          <a:xfrm>
            <a:off x="3692193"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W4</a:t>
            </a:r>
            <a:endParaRPr b="0" i="0" sz="713" u="none" cap="none" strike="noStrike">
              <a:solidFill>
                <a:schemeClr val="dk1"/>
              </a:solidFill>
              <a:latin typeface="Calibri"/>
              <a:ea typeface="Calibri"/>
              <a:cs typeface="Calibri"/>
              <a:sym typeface="Calibri"/>
            </a:endParaRPr>
          </a:p>
        </p:txBody>
      </p:sp>
      <p:sp>
        <p:nvSpPr>
          <p:cNvPr id="372" name="Google Shape;372;p7"/>
          <p:cNvSpPr/>
          <p:nvPr/>
        </p:nvSpPr>
        <p:spPr>
          <a:xfrm>
            <a:off x="4043725"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W5</a:t>
            </a:r>
            <a:endParaRPr b="0" i="0" sz="713" u="none" cap="none" strike="noStrike">
              <a:solidFill>
                <a:schemeClr val="dk1"/>
              </a:solidFill>
              <a:latin typeface="Calibri"/>
              <a:ea typeface="Calibri"/>
              <a:cs typeface="Calibri"/>
              <a:sym typeface="Calibri"/>
            </a:endParaRPr>
          </a:p>
        </p:txBody>
      </p:sp>
      <p:sp>
        <p:nvSpPr>
          <p:cNvPr id="373" name="Google Shape;373;p7"/>
          <p:cNvSpPr/>
          <p:nvPr/>
        </p:nvSpPr>
        <p:spPr>
          <a:xfrm>
            <a:off x="4395257"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W6</a:t>
            </a:r>
            <a:endParaRPr b="0" i="0" sz="713" u="none" cap="none" strike="noStrike">
              <a:solidFill>
                <a:schemeClr val="dk1"/>
              </a:solidFill>
              <a:latin typeface="Calibri"/>
              <a:ea typeface="Calibri"/>
              <a:cs typeface="Calibri"/>
              <a:sym typeface="Calibri"/>
            </a:endParaRPr>
          </a:p>
        </p:txBody>
      </p:sp>
      <p:sp>
        <p:nvSpPr>
          <p:cNvPr id="374" name="Google Shape;374;p7"/>
          <p:cNvSpPr/>
          <p:nvPr/>
        </p:nvSpPr>
        <p:spPr>
          <a:xfrm>
            <a:off x="4746789"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W7</a:t>
            </a:r>
            <a:endParaRPr b="0" i="0" sz="713" u="none" cap="none" strike="noStrike">
              <a:solidFill>
                <a:schemeClr val="dk1"/>
              </a:solidFill>
              <a:latin typeface="Calibri"/>
              <a:ea typeface="Calibri"/>
              <a:cs typeface="Calibri"/>
              <a:sym typeface="Calibri"/>
            </a:endParaRPr>
          </a:p>
        </p:txBody>
      </p:sp>
      <p:sp>
        <p:nvSpPr>
          <p:cNvPr id="375" name="Google Shape;375;p7"/>
          <p:cNvSpPr/>
          <p:nvPr/>
        </p:nvSpPr>
        <p:spPr>
          <a:xfrm>
            <a:off x="5098321"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W8</a:t>
            </a:r>
            <a:endParaRPr b="0" i="0" sz="713" u="none" cap="none" strike="noStrike">
              <a:solidFill>
                <a:schemeClr val="dk1"/>
              </a:solidFill>
              <a:latin typeface="Calibri"/>
              <a:ea typeface="Calibri"/>
              <a:cs typeface="Calibri"/>
              <a:sym typeface="Calibri"/>
            </a:endParaRPr>
          </a:p>
        </p:txBody>
      </p:sp>
      <p:sp>
        <p:nvSpPr>
          <p:cNvPr id="376" name="Google Shape;376;p7"/>
          <p:cNvSpPr/>
          <p:nvPr/>
        </p:nvSpPr>
        <p:spPr>
          <a:xfrm>
            <a:off x="5449853"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W9</a:t>
            </a:r>
            <a:endParaRPr b="0" i="0" sz="713" u="none" cap="none" strike="noStrike">
              <a:solidFill>
                <a:schemeClr val="dk1"/>
              </a:solidFill>
              <a:latin typeface="Calibri"/>
              <a:ea typeface="Calibri"/>
              <a:cs typeface="Calibri"/>
              <a:sym typeface="Calibri"/>
            </a:endParaRPr>
          </a:p>
        </p:txBody>
      </p:sp>
      <p:sp>
        <p:nvSpPr>
          <p:cNvPr id="377" name="Google Shape;377;p7"/>
          <p:cNvSpPr/>
          <p:nvPr/>
        </p:nvSpPr>
        <p:spPr>
          <a:xfrm>
            <a:off x="5801310" y="2640913"/>
            <a:ext cx="3129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W10</a:t>
            </a:r>
            <a:endParaRPr b="0" i="0" sz="713" u="none" cap="none" strike="noStrike">
              <a:solidFill>
                <a:schemeClr val="dk1"/>
              </a:solidFill>
              <a:latin typeface="Calibri"/>
              <a:ea typeface="Calibri"/>
              <a:cs typeface="Calibri"/>
              <a:sym typeface="Calibri"/>
            </a:endParaRPr>
          </a:p>
        </p:txBody>
      </p:sp>
      <p:sp>
        <p:nvSpPr>
          <p:cNvPr id="378" name="Google Shape;378;p7"/>
          <p:cNvSpPr/>
          <p:nvPr/>
        </p:nvSpPr>
        <p:spPr>
          <a:xfrm>
            <a:off x="6190496" y="2640913"/>
            <a:ext cx="2910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W11</a:t>
            </a:r>
            <a:endParaRPr b="0" i="0" sz="713" u="none" cap="none" strike="noStrike">
              <a:solidFill>
                <a:schemeClr val="dk1"/>
              </a:solidFill>
              <a:latin typeface="Calibri"/>
              <a:ea typeface="Calibri"/>
              <a:cs typeface="Calibri"/>
              <a:sym typeface="Calibri"/>
            </a:endParaRPr>
          </a:p>
        </p:txBody>
      </p:sp>
      <p:sp>
        <p:nvSpPr>
          <p:cNvPr id="379" name="Google Shape;379;p7"/>
          <p:cNvSpPr/>
          <p:nvPr/>
        </p:nvSpPr>
        <p:spPr>
          <a:xfrm>
            <a:off x="6557729" y="2640913"/>
            <a:ext cx="3090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Arial"/>
              <a:buNone/>
            </a:pPr>
            <a:r>
              <a:rPr b="1" i="0" lang="en-US" sz="713" u="none" cap="none" strike="noStrike">
                <a:solidFill>
                  <a:srgbClr val="4B5563"/>
                </a:solidFill>
                <a:latin typeface="Arial"/>
                <a:ea typeface="Arial"/>
                <a:cs typeface="Arial"/>
                <a:sym typeface="Arial"/>
              </a:rPr>
              <a:t>W12</a:t>
            </a:r>
            <a:endParaRPr b="0" i="0" sz="713" u="none" cap="none" strike="noStrike">
              <a:solidFill>
                <a:schemeClr val="dk1"/>
              </a:solidFill>
              <a:latin typeface="Calibri"/>
              <a:ea typeface="Calibri"/>
              <a:cs typeface="Calibri"/>
              <a:sym typeface="Calibri"/>
            </a:endParaRPr>
          </a:p>
        </p:txBody>
      </p:sp>
      <p:sp>
        <p:nvSpPr>
          <p:cNvPr id="380" name="Google Shape;380;p7"/>
          <p:cNvSpPr/>
          <p:nvPr/>
        </p:nvSpPr>
        <p:spPr>
          <a:xfrm>
            <a:off x="504071" y="3480006"/>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7"/>
          <p:cNvSpPr/>
          <p:nvPr/>
        </p:nvSpPr>
        <p:spPr>
          <a:xfrm>
            <a:off x="504071" y="2845700"/>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7"/>
          <p:cNvSpPr/>
          <p:nvPr/>
        </p:nvSpPr>
        <p:spPr>
          <a:xfrm>
            <a:off x="2590046" y="2845700"/>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7"/>
          <p:cNvSpPr/>
          <p:nvPr/>
        </p:nvSpPr>
        <p:spPr>
          <a:xfrm>
            <a:off x="637421" y="2960000"/>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Discovery, access &amp; rule confirmation</a:t>
            </a:r>
            <a:endParaRPr b="0" i="0" sz="825" u="none" cap="none" strike="noStrike">
              <a:solidFill>
                <a:schemeClr val="dk1"/>
              </a:solidFill>
              <a:latin typeface="Calibri"/>
              <a:ea typeface="Calibri"/>
              <a:cs typeface="Calibri"/>
              <a:sym typeface="Calibri"/>
            </a:endParaRPr>
          </a:p>
        </p:txBody>
      </p:sp>
      <p:sp>
        <p:nvSpPr>
          <p:cNvPr id="384" name="Google Shape;384;p7"/>
          <p:cNvSpPr/>
          <p:nvPr/>
        </p:nvSpPr>
        <p:spPr>
          <a:xfrm>
            <a:off x="637421" y="3260931"/>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W1 → W2</a:t>
            </a:r>
            <a:endParaRPr b="0" i="0" sz="713" u="none" cap="none" strike="noStrike">
              <a:solidFill>
                <a:schemeClr val="dk1"/>
              </a:solidFill>
              <a:latin typeface="Calibri"/>
              <a:ea typeface="Calibri"/>
              <a:cs typeface="Calibri"/>
              <a:sym typeface="Calibri"/>
            </a:endParaRPr>
          </a:p>
        </p:txBody>
      </p:sp>
      <p:sp>
        <p:nvSpPr>
          <p:cNvPr id="385" name="Google Shape;385;p7"/>
          <p:cNvSpPr/>
          <p:nvPr/>
        </p:nvSpPr>
        <p:spPr>
          <a:xfrm>
            <a:off x="2599571" y="2845700"/>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7"/>
          <p:cNvSpPr/>
          <p:nvPr/>
        </p:nvSpPr>
        <p:spPr>
          <a:xfrm>
            <a:off x="2599571" y="2969525"/>
            <a:ext cx="717300" cy="190500"/>
          </a:xfrm>
          <a:prstGeom prst="roundRect">
            <a:avLst>
              <a:gd fmla="val 15000"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7"/>
          <p:cNvSpPr/>
          <p:nvPr/>
        </p:nvSpPr>
        <p:spPr>
          <a:xfrm>
            <a:off x="2675771" y="2969525"/>
            <a:ext cx="6411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Arial"/>
              <a:buNone/>
            </a:pPr>
            <a:r>
              <a:rPr b="1" i="0" lang="en-US" sz="675" u="none" cap="none" strike="noStrike">
                <a:solidFill>
                  <a:srgbClr val="FFFFFF"/>
                </a:solidFill>
                <a:latin typeface="Arial"/>
                <a:ea typeface="Arial"/>
                <a:cs typeface="Arial"/>
                <a:sym typeface="Arial"/>
              </a:rPr>
              <a:t>Discovery</a:t>
            </a:r>
            <a:endParaRPr b="0" i="0" sz="675" u="none" cap="none" strike="noStrike">
              <a:solidFill>
                <a:schemeClr val="dk1"/>
              </a:solidFill>
              <a:latin typeface="Calibri"/>
              <a:ea typeface="Calibri"/>
              <a:cs typeface="Calibri"/>
              <a:sym typeface="Calibri"/>
            </a:endParaRPr>
          </a:p>
        </p:txBody>
      </p:sp>
      <p:sp>
        <p:nvSpPr>
          <p:cNvPr id="388" name="Google Shape;388;p7"/>
          <p:cNvSpPr/>
          <p:nvPr/>
        </p:nvSpPr>
        <p:spPr>
          <a:xfrm rot="2700000">
            <a:off x="3254831" y="3017162"/>
            <a:ext cx="123885" cy="123885"/>
          </a:xfrm>
          <a:prstGeom prst="rect">
            <a:avLst/>
          </a:prstGeom>
          <a:solidFill>
            <a:srgbClr val="F2B705"/>
          </a:solidFill>
          <a:ln cap="flat" cmpd="sng" w="14275">
            <a:solidFill>
              <a:srgbClr val="FFFFFF"/>
            </a:solidFill>
            <a:prstDash val="solid"/>
            <a:round/>
            <a:headEnd len="sm" w="sm" type="none"/>
            <a:tailEnd len="sm" w="sm" type="none"/>
          </a:ln>
          <a:effectLst>
            <a:outerShdw blurRad="101600" rotWithShape="0" algn="bl" dir="16200000" dist="50800">
              <a:srgbClr val="F2B705"/>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504071" y="4123836"/>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7"/>
          <p:cNvSpPr/>
          <p:nvPr/>
        </p:nvSpPr>
        <p:spPr>
          <a:xfrm>
            <a:off x="504071" y="3489531"/>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7"/>
          <p:cNvSpPr/>
          <p:nvPr/>
        </p:nvSpPr>
        <p:spPr>
          <a:xfrm>
            <a:off x="2590046" y="3489531"/>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7"/>
          <p:cNvSpPr/>
          <p:nvPr/>
        </p:nvSpPr>
        <p:spPr>
          <a:xfrm>
            <a:off x="637421" y="3603831"/>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Flow 1, Mailbox intake &amp; AI interpretation</a:t>
            </a:r>
            <a:endParaRPr b="0" i="0" sz="825" u="none" cap="none" strike="noStrike">
              <a:solidFill>
                <a:schemeClr val="dk1"/>
              </a:solidFill>
              <a:latin typeface="Calibri"/>
              <a:ea typeface="Calibri"/>
              <a:cs typeface="Calibri"/>
              <a:sym typeface="Calibri"/>
            </a:endParaRPr>
          </a:p>
        </p:txBody>
      </p:sp>
      <p:sp>
        <p:nvSpPr>
          <p:cNvPr id="393" name="Google Shape;393;p7"/>
          <p:cNvSpPr/>
          <p:nvPr/>
        </p:nvSpPr>
        <p:spPr>
          <a:xfrm>
            <a:off x="637421" y="3904761"/>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W2 → W6</a:t>
            </a:r>
            <a:endParaRPr b="0" i="0" sz="713" u="none" cap="none" strike="noStrike">
              <a:solidFill>
                <a:schemeClr val="dk1"/>
              </a:solidFill>
              <a:latin typeface="Calibri"/>
              <a:ea typeface="Calibri"/>
              <a:cs typeface="Calibri"/>
              <a:sym typeface="Calibri"/>
            </a:endParaRPr>
          </a:p>
        </p:txBody>
      </p:sp>
      <p:sp>
        <p:nvSpPr>
          <p:cNvPr id="394" name="Google Shape;394;p7"/>
          <p:cNvSpPr/>
          <p:nvPr/>
        </p:nvSpPr>
        <p:spPr>
          <a:xfrm>
            <a:off x="2599571" y="3489531"/>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7"/>
          <p:cNvSpPr/>
          <p:nvPr/>
        </p:nvSpPr>
        <p:spPr>
          <a:xfrm>
            <a:off x="2958172" y="3613356"/>
            <a:ext cx="1793400" cy="190500"/>
          </a:xfrm>
          <a:prstGeom prst="roundRect">
            <a:avLst>
              <a:gd fmla="val 15000"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7"/>
          <p:cNvSpPr/>
          <p:nvPr/>
        </p:nvSpPr>
        <p:spPr>
          <a:xfrm>
            <a:off x="3034372" y="3613356"/>
            <a:ext cx="17172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Arial"/>
              <a:buNone/>
            </a:pPr>
            <a:r>
              <a:rPr b="1" i="0" lang="en-US" sz="675" u="none" cap="none" strike="noStrike">
                <a:solidFill>
                  <a:srgbClr val="FFFFFF"/>
                </a:solidFill>
                <a:latin typeface="Arial"/>
                <a:ea typeface="Arial"/>
                <a:cs typeface="Arial"/>
                <a:sym typeface="Arial"/>
              </a:rPr>
              <a:t>Mailbox · attachments · email agent</a:t>
            </a:r>
            <a:endParaRPr b="0" i="0" sz="675" u="none" cap="none" strike="noStrike">
              <a:solidFill>
                <a:schemeClr val="dk1"/>
              </a:solidFill>
              <a:latin typeface="Calibri"/>
              <a:ea typeface="Calibri"/>
              <a:cs typeface="Calibri"/>
              <a:sym typeface="Calibri"/>
            </a:endParaRPr>
          </a:p>
        </p:txBody>
      </p:sp>
      <p:sp>
        <p:nvSpPr>
          <p:cNvPr id="397" name="Google Shape;397;p7"/>
          <p:cNvSpPr/>
          <p:nvPr/>
        </p:nvSpPr>
        <p:spPr>
          <a:xfrm>
            <a:off x="504071" y="4767667"/>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7"/>
          <p:cNvSpPr/>
          <p:nvPr/>
        </p:nvSpPr>
        <p:spPr>
          <a:xfrm>
            <a:off x="504071" y="4133361"/>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7"/>
          <p:cNvSpPr/>
          <p:nvPr/>
        </p:nvSpPr>
        <p:spPr>
          <a:xfrm>
            <a:off x="2590046" y="4133361"/>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7"/>
          <p:cNvSpPr/>
          <p:nvPr/>
        </p:nvSpPr>
        <p:spPr>
          <a:xfrm>
            <a:off x="637421" y="4247661"/>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Validation engine &amp; historical comparison</a:t>
            </a:r>
            <a:endParaRPr b="0" i="0" sz="825" u="none" cap="none" strike="noStrike">
              <a:solidFill>
                <a:schemeClr val="dk1"/>
              </a:solidFill>
              <a:latin typeface="Calibri"/>
              <a:ea typeface="Calibri"/>
              <a:cs typeface="Calibri"/>
              <a:sym typeface="Calibri"/>
            </a:endParaRPr>
          </a:p>
        </p:txBody>
      </p:sp>
      <p:sp>
        <p:nvSpPr>
          <p:cNvPr id="401" name="Google Shape;401;p7"/>
          <p:cNvSpPr/>
          <p:nvPr/>
        </p:nvSpPr>
        <p:spPr>
          <a:xfrm>
            <a:off x="637421" y="4548592"/>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W3 → W8</a:t>
            </a:r>
            <a:endParaRPr b="0" i="0" sz="713" u="none" cap="none" strike="noStrike">
              <a:solidFill>
                <a:schemeClr val="dk1"/>
              </a:solidFill>
              <a:latin typeface="Calibri"/>
              <a:ea typeface="Calibri"/>
              <a:cs typeface="Calibri"/>
              <a:sym typeface="Calibri"/>
            </a:endParaRPr>
          </a:p>
        </p:txBody>
      </p:sp>
      <p:sp>
        <p:nvSpPr>
          <p:cNvPr id="402" name="Google Shape;402;p7"/>
          <p:cNvSpPr/>
          <p:nvPr/>
        </p:nvSpPr>
        <p:spPr>
          <a:xfrm>
            <a:off x="2599571" y="4133361"/>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7"/>
          <p:cNvSpPr/>
          <p:nvPr/>
        </p:nvSpPr>
        <p:spPr>
          <a:xfrm>
            <a:off x="3316774" y="4257186"/>
            <a:ext cx="2152800" cy="190500"/>
          </a:xfrm>
          <a:prstGeom prst="roundRect">
            <a:avLst>
              <a:gd fmla="val 15000"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7"/>
          <p:cNvSpPr/>
          <p:nvPr/>
        </p:nvSpPr>
        <p:spPr>
          <a:xfrm>
            <a:off x="3392974" y="4257186"/>
            <a:ext cx="20766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Arial"/>
              <a:buNone/>
            </a:pPr>
            <a:r>
              <a:rPr b="1" i="0" lang="en-US" sz="675" u="none" cap="none" strike="noStrike">
                <a:solidFill>
                  <a:srgbClr val="FFFFFF"/>
                </a:solidFill>
                <a:latin typeface="Arial"/>
                <a:ea typeface="Arial"/>
                <a:cs typeface="Arial"/>
                <a:sym typeface="Arial"/>
              </a:rPr>
              <a:t>Rules · history · variance · reports</a:t>
            </a:r>
            <a:endParaRPr b="0" i="0" sz="675" u="none" cap="none" strike="noStrike">
              <a:solidFill>
                <a:schemeClr val="dk1"/>
              </a:solidFill>
              <a:latin typeface="Calibri"/>
              <a:ea typeface="Calibri"/>
              <a:cs typeface="Calibri"/>
              <a:sym typeface="Calibri"/>
            </a:endParaRPr>
          </a:p>
        </p:txBody>
      </p:sp>
      <p:sp>
        <p:nvSpPr>
          <p:cNvPr id="405" name="Google Shape;405;p7"/>
          <p:cNvSpPr/>
          <p:nvPr/>
        </p:nvSpPr>
        <p:spPr>
          <a:xfrm>
            <a:off x="504071" y="5411497"/>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7"/>
          <p:cNvSpPr/>
          <p:nvPr/>
        </p:nvSpPr>
        <p:spPr>
          <a:xfrm>
            <a:off x="504071" y="4777192"/>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7"/>
          <p:cNvSpPr/>
          <p:nvPr/>
        </p:nvSpPr>
        <p:spPr>
          <a:xfrm>
            <a:off x="2590046" y="4777192"/>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7"/>
          <p:cNvSpPr/>
          <p:nvPr/>
        </p:nvSpPr>
        <p:spPr>
          <a:xfrm>
            <a:off x="637421" y="4891492"/>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Flow 2, Existing portal API integration</a:t>
            </a:r>
            <a:endParaRPr b="0" i="0" sz="825" u="none" cap="none" strike="noStrike">
              <a:solidFill>
                <a:schemeClr val="dk1"/>
              </a:solidFill>
              <a:latin typeface="Calibri"/>
              <a:ea typeface="Calibri"/>
              <a:cs typeface="Calibri"/>
              <a:sym typeface="Calibri"/>
            </a:endParaRPr>
          </a:p>
        </p:txBody>
      </p:sp>
      <p:sp>
        <p:nvSpPr>
          <p:cNvPr id="409" name="Google Shape;409;p7"/>
          <p:cNvSpPr/>
          <p:nvPr/>
        </p:nvSpPr>
        <p:spPr>
          <a:xfrm>
            <a:off x="637421" y="5192422"/>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W5 → W8</a:t>
            </a:r>
            <a:endParaRPr b="0" i="0" sz="713" u="none" cap="none" strike="noStrike">
              <a:solidFill>
                <a:schemeClr val="dk1"/>
              </a:solidFill>
              <a:latin typeface="Calibri"/>
              <a:ea typeface="Calibri"/>
              <a:cs typeface="Calibri"/>
              <a:sym typeface="Calibri"/>
            </a:endParaRPr>
          </a:p>
        </p:txBody>
      </p:sp>
      <p:sp>
        <p:nvSpPr>
          <p:cNvPr id="410" name="Google Shape;410;p7"/>
          <p:cNvSpPr/>
          <p:nvPr/>
        </p:nvSpPr>
        <p:spPr>
          <a:xfrm>
            <a:off x="2599571" y="4777192"/>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7"/>
          <p:cNvSpPr/>
          <p:nvPr/>
        </p:nvSpPr>
        <p:spPr>
          <a:xfrm>
            <a:off x="4034497" y="4901017"/>
            <a:ext cx="1076400" cy="190500"/>
          </a:xfrm>
          <a:prstGeom prst="roundRect">
            <a:avLst>
              <a:gd fmla="val 15000" name="adj"/>
            </a:avLst>
          </a:prstGeom>
          <a:solidFill>
            <a:srgbClr val="2E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7"/>
          <p:cNvSpPr/>
          <p:nvPr/>
        </p:nvSpPr>
        <p:spPr>
          <a:xfrm>
            <a:off x="4110697" y="4901017"/>
            <a:ext cx="10002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Arial"/>
              <a:buNone/>
            </a:pPr>
            <a:r>
              <a:rPr b="1" i="0" lang="en-US" sz="675" u="none" cap="none" strike="noStrike">
                <a:solidFill>
                  <a:srgbClr val="FFFFFF"/>
                </a:solidFill>
                <a:latin typeface="Arial"/>
                <a:ea typeface="Arial"/>
                <a:cs typeface="Arial"/>
                <a:sym typeface="Arial"/>
              </a:rPr>
              <a:t>Portal API contract</a:t>
            </a:r>
            <a:endParaRPr b="0" i="0" sz="675" u="none" cap="none" strike="noStrike">
              <a:solidFill>
                <a:schemeClr val="dk1"/>
              </a:solidFill>
              <a:latin typeface="Calibri"/>
              <a:ea typeface="Calibri"/>
              <a:cs typeface="Calibri"/>
              <a:sym typeface="Calibri"/>
            </a:endParaRPr>
          </a:p>
        </p:txBody>
      </p:sp>
      <p:sp>
        <p:nvSpPr>
          <p:cNvPr id="413" name="Google Shape;413;p7"/>
          <p:cNvSpPr/>
          <p:nvPr/>
        </p:nvSpPr>
        <p:spPr>
          <a:xfrm>
            <a:off x="504071" y="5919150"/>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
          <p:cNvSpPr/>
          <p:nvPr/>
        </p:nvSpPr>
        <p:spPr>
          <a:xfrm>
            <a:off x="504071" y="5421022"/>
            <a:ext cx="2095500" cy="49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7"/>
          <p:cNvSpPr/>
          <p:nvPr/>
        </p:nvSpPr>
        <p:spPr>
          <a:xfrm>
            <a:off x="2590046" y="5421022"/>
            <a:ext cx="9600" cy="4980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7"/>
          <p:cNvSpPr/>
          <p:nvPr/>
        </p:nvSpPr>
        <p:spPr>
          <a:xfrm>
            <a:off x="637421" y="5535322"/>
            <a:ext cx="1895400" cy="1743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PAS API posting &amp; status tracking</a:t>
            </a:r>
            <a:endParaRPr b="0" i="0" sz="825" u="none" cap="none" strike="noStrike">
              <a:solidFill>
                <a:schemeClr val="dk1"/>
              </a:solidFill>
              <a:latin typeface="Calibri"/>
              <a:ea typeface="Calibri"/>
              <a:cs typeface="Calibri"/>
              <a:sym typeface="Calibri"/>
            </a:endParaRPr>
          </a:p>
        </p:txBody>
      </p:sp>
      <p:sp>
        <p:nvSpPr>
          <p:cNvPr id="417" name="Google Shape;417;p7"/>
          <p:cNvSpPr/>
          <p:nvPr/>
        </p:nvSpPr>
        <p:spPr>
          <a:xfrm>
            <a:off x="637421" y="5700075"/>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W7 → W10</a:t>
            </a:r>
            <a:endParaRPr b="0" i="0" sz="713" u="none" cap="none" strike="noStrike">
              <a:solidFill>
                <a:schemeClr val="dk1"/>
              </a:solidFill>
              <a:latin typeface="Calibri"/>
              <a:ea typeface="Calibri"/>
              <a:cs typeface="Calibri"/>
              <a:sym typeface="Calibri"/>
            </a:endParaRPr>
          </a:p>
        </p:txBody>
      </p:sp>
      <p:sp>
        <p:nvSpPr>
          <p:cNvPr id="418" name="Google Shape;418;p7"/>
          <p:cNvSpPr/>
          <p:nvPr/>
        </p:nvSpPr>
        <p:spPr>
          <a:xfrm>
            <a:off x="2599571" y="5421022"/>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7"/>
          <p:cNvSpPr/>
          <p:nvPr/>
        </p:nvSpPr>
        <p:spPr>
          <a:xfrm>
            <a:off x="4752221" y="5544847"/>
            <a:ext cx="1076400" cy="190500"/>
          </a:xfrm>
          <a:prstGeom prst="roundRect">
            <a:avLst>
              <a:gd fmla="val 15000" name="adj"/>
            </a:avLst>
          </a:prstGeom>
          <a:solidFill>
            <a:srgbClr val="2E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a:off x="4828421" y="5544847"/>
            <a:ext cx="10002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Arial"/>
              <a:buNone/>
            </a:pPr>
            <a:r>
              <a:rPr b="1" i="0" lang="en-US" sz="675" u="none" cap="none" strike="noStrike">
                <a:solidFill>
                  <a:srgbClr val="FFFFFF"/>
                </a:solidFill>
                <a:latin typeface="Arial"/>
                <a:ea typeface="Arial"/>
                <a:cs typeface="Arial"/>
                <a:sym typeface="Arial"/>
              </a:rPr>
              <a:t>PAS handoff · retries</a:t>
            </a:r>
            <a:endParaRPr b="0" i="0" sz="675" u="none" cap="none" strike="noStrike">
              <a:solidFill>
                <a:schemeClr val="dk1"/>
              </a:solidFill>
              <a:latin typeface="Calibri"/>
              <a:ea typeface="Calibri"/>
              <a:cs typeface="Calibri"/>
              <a:sym typeface="Calibri"/>
            </a:endParaRPr>
          </a:p>
        </p:txBody>
      </p:sp>
      <p:sp>
        <p:nvSpPr>
          <p:cNvPr id="421" name="Google Shape;421;p7"/>
          <p:cNvSpPr/>
          <p:nvPr/>
        </p:nvSpPr>
        <p:spPr>
          <a:xfrm>
            <a:off x="504071" y="5928675"/>
            <a:ext cx="2095500" cy="49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7"/>
          <p:cNvSpPr/>
          <p:nvPr/>
        </p:nvSpPr>
        <p:spPr>
          <a:xfrm>
            <a:off x="2590046" y="5928675"/>
            <a:ext cx="9600" cy="4980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
          <p:cNvSpPr/>
          <p:nvPr/>
        </p:nvSpPr>
        <p:spPr>
          <a:xfrm>
            <a:off x="637421" y="6042975"/>
            <a:ext cx="1895400" cy="1743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UAT, hardening &amp; handover</a:t>
            </a:r>
            <a:endParaRPr b="0" i="0" sz="825" u="none" cap="none" strike="noStrike">
              <a:solidFill>
                <a:schemeClr val="dk1"/>
              </a:solidFill>
              <a:latin typeface="Calibri"/>
              <a:ea typeface="Calibri"/>
              <a:cs typeface="Calibri"/>
              <a:sym typeface="Calibri"/>
            </a:endParaRPr>
          </a:p>
        </p:txBody>
      </p:sp>
      <p:sp>
        <p:nvSpPr>
          <p:cNvPr id="424" name="Google Shape;424;p7"/>
          <p:cNvSpPr/>
          <p:nvPr/>
        </p:nvSpPr>
        <p:spPr>
          <a:xfrm>
            <a:off x="637421" y="6207728"/>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W9 → W12</a:t>
            </a:r>
            <a:endParaRPr b="0" i="0" sz="713" u="none" cap="none" strike="noStrike">
              <a:solidFill>
                <a:schemeClr val="dk1"/>
              </a:solidFill>
              <a:latin typeface="Calibri"/>
              <a:ea typeface="Calibri"/>
              <a:cs typeface="Calibri"/>
              <a:sym typeface="Calibri"/>
            </a:endParaRPr>
          </a:p>
        </p:txBody>
      </p:sp>
      <p:sp>
        <p:nvSpPr>
          <p:cNvPr id="425" name="Google Shape;425;p7"/>
          <p:cNvSpPr/>
          <p:nvPr/>
        </p:nvSpPr>
        <p:spPr>
          <a:xfrm>
            <a:off x="2599571" y="5928675"/>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
          <p:cNvSpPr/>
          <p:nvPr/>
        </p:nvSpPr>
        <p:spPr>
          <a:xfrm>
            <a:off x="5469424" y="6052500"/>
            <a:ext cx="1434900" cy="190500"/>
          </a:xfrm>
          <a:prstGeom prst="roundRect">
            <a:avLst>
              <a:gd fmla="val 15000" name="adj"/>
            </a:avLst>
          </a:prstGeom>
          <a:solidFill>
            <a:srgbClr val="0047AB">
              <a:alpha val="10196"/>
            </a:srgbClr>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
          <p:cNvSpPr/>
          <p:nvPr/>
        </p:nvSpPr>
        <p:spPr>
          <a:xfrm>
            <a:off x="5555149" y="6062025"/>
            <a:ext cx="1339800" cy="2097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0047AB"/>
              </a:buClr>
              <a:buSzPts val="675"/>
              <a:buFont typeface="Arial"/>
              <a:buNone/>
            </a:pPr>
            <a:r>
              <a:rPr b="1" i="0" lang="en-US" sz="675" u="none" cap="none" strike="noStrike">
                <a:solidFill>
                  <a:srgbClr val="0047AB"/>
                </a:solidFill>
                <a:latin typeface="Arial"/>
                <a:ea typeface="Arial"/>
                <a:cs typeface="Arial"/>
                <a:sym typeface="Arial"/>
              </a:rPr>
              <a:t>UAT · defects · handover</a:t>
            </a:r>
            <a:endParaRPr b="0" i="0" sz="675" u="none" cap="none" strike="noStrike">
              <a:solidFill>
                <a:schemeClr val="dk1"/>
              </a:solidFill>
              <a:latin typeface="Calibri"/>
              <a:ea typeface="Calibri"/>
              <a:cs typeface="Calibri"/>
              <a:sym typeface="Calibri"/>
            </a:endParaRPr>
          </a:p>
        </p:txBody>
      </p:sp>
      <p:sp>
        <p:nvSpPr>
          <p:cNvPr id="428" name="Google Shape;428;p7"/>
          <p:cNvSpPr/>
          <p:nvPr/>
        </p:nvSpPr>
        <p:spPr>
          <a:xfrm rot="2700000">
            <a:off x="6821348" y="6100137"/>
            <a:ext cx="123885" cy="123885"/>
          </a:xfrm>
          <a:prstGeom prst="rect">
            <a:avLst/>
          </a:prstGeom>
          <a:solidFill>
            <a:srgbClr val="F2B705"/>
          </a:solidFill>
          <a:ln cap="flat" cmpd="sng" w="14275">
            <a:solidFill>
              <a:srgbClr val="FFFFFF"/>
            </a:solidFill>
            <a:prstDash val="solid"/>
            <a:round/>
            <a:headEnd len="sm" w="sm" type="none"/>
            <a:tailEnd len="sm" w="sm" type="none"/>
          </a:ln>
          <a:effectLst>
            <a:outerShdw blurRad="101600" rotWithShape="0" algn="bl" dir="16200000" dist="50800">
              <a:srgbClr val="F2B705"/>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p:nvPr/>
        </p:nvSpPr>
        <p:spPr>
          <a:xfrm>
            <a:off x="494546" y="6982223"/>
            <a:ext cx="2063700" cy="951600"/>
          </a:xfrm>
          <a:prstGeom prst="roundRect">
            <a:avLst>
              <a:gd fmla="val 6007"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
          <p:cNvSpPr/>
          <p:nvPr/>
        </p:nvSpPr>
        <p:spPr>
          <a:xfrm>
            <a:off x="656471" y="7125098"/>
            <a:ext cx="18162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Arial"/>
              <a:buNone/>
            </a:pPr>
            <a:r>
              <a:rPr b="1" i="0" lang="en-US" sz="975" u="none" cap="none" strike="noStrike">
                <a:solidFill>
                  <a:srgbClr val="0047AB"/>
                </a:solidFill>
                <a:latin typeface="Arial"/>
                <a:ea typeface="Arial"/>
                <a:cs typeface="Arial"/>
                <a:sym typeface="Arial"/>
              </a:rPr>
              <a:t>MILESTONE 1 · WEEK 2</a:t>
            </a:r>
            <a:endParaRPr b="0" i="0" sz="975" u="none" cap="none" strike="noStrike">
              <a:solidFill>
                <a:schemeClr val="dk1"/>
              </a:solidFill>
              <a:latin typeface="Calibri"/>
              <a:ea typeface="Calibri"/>
              <a:cs typeface="Calibri"/>
              <a:sym typeface="Calibri"/>
            </a:endParaRPr>
          </a:p>
        </p:txBody>
      </p:sp>
      <p:sp>
        <p:nvSpPr>
          <p:cNvPr id="431" name="Google Shape;431;p7"/>
          <p:cNvSpPr/>
          <p:nvPr/>
        </p:nvSpPr>
        <p:spPr>
          <a:xfrm>
            <a:off x="656471" y="7310835"/>
            <a:ext cx="1816200" cy="5181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Discovery sign-off, requirements, licenses, PAS API contract, storage access, and validation rules confirmed.</a:t>
            </a:r>
            <a:endParaRPr b="0" i="0" sz="788" u="none" cap="none" strike="noStrike">
              <a:solidFill>
                <a:schemeClr val="dk1"/>
              </a:solidFill>
              <a:latin typeface="Calibri"/>
              <a:ea typeface="Calibri"/>
              <a:cs typeface="Calibri"/>
              <a:sym typeface="Calibri"/>
            </a:endParaRPr>
          </a:p>
        </p:txBody>
      </p:sp>
      <p:sp>
        <p:nvSpPr>
          <p:cNvPr id="432" name="Google Shape;432;p7"/>
          <p:cNvSpPr/>
          <p:nvPr/>
        </p:nvSpPr>
        <p:spPr>
          <a:xfrm>
            <a:off x="2672571" y="6982223"/>
            <a:ext cx="2063700" cy="951600"/>
          </a:xfrm>
          <a:prstGeom prst="roundRect">
            <a:avLst>
              <a:gd fmla="val 6007"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
          <p:cNvSpPr/>
          <p:nvPr/>
        </p:nvSpPr>
        <p:spPr>
          <a:xfrm>
            <a:off x="2834496" y="7125098"/>
            <a:ext cx="18162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Arial"/>
              <a:buNone/>
            </a:pPr>
            <a:r>
              <a:rPr b="1" i="0" lang="en-US" sz="975" u="none" cap="none" strike="noStrike">
                <a:solidFill>
                  <a:srgbClr val="0047AB"/>
                </a:solidFill>
                <a:latin typeface="Arial"/>
                <a:ea typeface="Arial"/>
                <a:cs typeface="Arial"/>
                <a:sym typeface="Arial"/>
              </a:rPr>
              <a:t>MILESTONE 2 · WEEK 8</a:t>
            </a:r>
            <a:endParaRPr b="0" i="0" sz="975" u="none" cap="none" strike="noStrike">
              <a:solidFill>
                <a:schemeClr val="dk1"/>
              </a:solidFill>
              <a:latin typeface="Calibri"/>
              <a:ea typeface="Calibri"/>
              <a:cs typeface="Calibri"/>
              <a:sym typeface="Calibri"/>
            </a:endParaRPr>
          </a:p>
        </p:txBody>
      </p:sp>
      <p:sp>
        <p:nvSpPr>
          <p:cNvPr id="434" name="Google Shape;434;p7"/>
          <p:cNvSpPr/>
          <p:nvPr/>
        </p:nvSpPr>
        <p:spPr>
          <a:xfrm>
            <a:off x="2834496" y="7310835"/>
            <a:ext cx="1816200" cy="5181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Validation core stable, Flow 1 &amp; Flow 2 both running against a working rules engine and historical comparison.</a:t>
            </a:r>
            <a:endParaRPr b="0" i="0" sz="788" u="none" cap="none" strike="noStrike">
              <a:solidFill>
                <a:schemeClr val="dk1"/>
              </a:solidFill>
              <a:latin typeface="Calibri"/>
              <a:ea typeface="Calibri"/>
              <a:cs typeface="Calibri"/>
              <a:sym typeface="Calibri"/>
            </a:endParaRPr>
          </a:p>
        </p:txBody>
      </p:sp>
      <p:sp>
        <p:nvSpPr>
          <p:cNvPr id="435" name="Google Shape;435;p7"/>
          <p:cNvSpPr/>
          <p:nvPr/>
        </p:nvSpPr>
        <p:spPr>
          <a:xfrm>
            <a:off x="4850596" y="6982223"/>
            <a:ext cx="2063700" cy="951600"/>
          </a:xfrm>
          <a:prstGeom prst="roundRect">
            <a:avLst>
              <a:gd fmla="val 6007"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7"/>
          <p:cNvSpPr/>
          <p:nvPr/>
        </p:nvSpPr>
        <p:spPr>
          <a:xfrm>
            <a:off x="5002996" y="7115573"/>
            <a:ext cx="18351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975"/>
              <a:buFont typeface="Arial"/>
              <a:buNone/>
            </a:pPr>
            <a:r>
              <a:rPr b="1" i="0" lang="en-US" sz="975" u="none" cap="none" strike="noStrike">
                <a:solidFill>
                  <a:srgbClr val="FFFFFF"/>
                </a:solidFill>
                <a:latin typeface="Arial"/>
                <a:ea typeface="Arial"/>
                <a:cs typeface="Arial"/>
                <a:sym typeface="Arial"/>
              </a:rPr>
              <a:t>GO-LIVE · WEEK 12</a:t>
            </a:r>
            <a:endParaRPr b="0" i="0" sz="975" u="none" cap="none" strike="noStrike">
              <a:solidFill>
                <a:schemeClr val="dk1"/>
              </a:solidFill>
              <a:latin typeface="Calibri"/>
              <a:ea typeface="Calibri"/>
              <a:cs typeface="Calibri"/>
              <a:sym typeface="Calibri"/>
            </a:endParaRPr>
          </a:p>
        </p:txBody>
      </p:sp>
      <p:sp>
        <p:nvSpPr>
          <p:cNvPr id="437" name="Google Shape;437;p7"/>
          <p:cNvSpPr/>
          <p:nvPr/>
        </p:nvSpPr>
        <p:spPr>
          <a:xfrm>
            <a:off x="5002996" y="7301310"/>
            <a:ext cx="1835100" cy="5181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FFFFFF"/>
              </a:buClr>
              <a:buSzPts val="788"/>
              <a:buFont typeface="Arial"/>
              <a:buNone/>
            </a:pPr>
            <a:r>
              <a:rPr b="0" i="0" lang="en-US" sz="788" u="none" cap="none" strike="noStrike">
                <a:solidFill>
                  <a:srgbClr val="FFFFFF"/>
                </a:solidFill>
                <a:latin typeface="Arial"/>
                <a:ea typeface="Arial"/>
                <a:cs typeface="Arial"/>
                <a:sym typeface="Arial"/>
              </a:rPr>
              <a:t>MVP ready for controlled production use, with UAT signed off and a handover document delivered.</a:t>
            </a:r>
            <a:endParaRPr b="0" i="0" sz="788" u="none" cap="none" strike="noStrike">
              <a:solidFill>
                <a:schemeClr val="dk1"/>
              </a:solidFill>
              <a:latin typeface="Calibri"/>
              <a:ea typeface="Calibri"/>
              <a:cs typeface="Calibri"/>
              <a:sym typeface="Calibri"/>
            </a:endParaRPr>
          </a:p>
        </p:txBody>
      </p:sp>
      <p:sp>
        <p:nvSpPr>
          <p:cNvPr id="438" name="Google Shape;438;p7"/>
          <p:cNvSpPr/>
          <p:nvPr/>
        </p:nvSpPr>
        <p:spPr>
          <a:xfrm>
            <a:off x="494546" y="8162281"/>
            <a:ext cx="6612300" cy="1980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Plan prioritises a working end-to-end flow early, then adds validation depth, portal integration, PAS posting, and audit hardening.</a:t>
            </a:r>
            <a:endParaRPr b="0" i="0" sz="788" u="none" cap="none" strike="noStrike">
              <a:solidFill>
                <a:schemeClr val="dk1"/>
              </a:solidFill>
              <a:latin typeface="Calibri"/>
              <a:ea typeface="Calibri"/>
              <a:cs typeface="Calibri"/>
              <a:sym typeface="Calibri"/>
            </a:endParaRPr>
          </a:p>
        </p:txBody>
      </p:sp>
      <p:sp>
        <p:nvSpPr>
          <p:cNvPr id="439" name="Google Shape;439;p7"/>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7"/>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a:t>
            </a:r>
            <a:r>
              <a:rPr b="1" lang="en-US" sz="713">
                <a:solidFill>
                  <a:srgbClr val="6B7686"/>
                </a:solidFill>
              </a:rPr>
              <a:t>8</a:t>
            </a:r>
            <a:r>
              <a:rPr b="1" i="0" lang="en-US" sz="713" u="none" cap="none" strike="noStrike">
                <a:solidFill>
                  <a:srgbClr val="6B7686"/>
                </a:solidFill>
                <a:latin typeface="Arial"/>
                <a:ea typeface="Arial"/>
                <a:cs typeface="Arial"/>
                <a:sym typeface="Arial"/>
              </a:rPr>
              <a:t>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442" name="Google Shape;442;p7"/>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8"/>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9" name="Google Shape;449;p8"/>
          <p:cNvPicPr preferRelativeResize="0"/>
          <p:nvPr/>
        </p:nvPicPr>
        <p:blipFill rotWithShape="1">
          <a:blip r:embed="rId3">
            <a:alphaModFix/>
          </a:blip>
          <a:srcRect b="0" l="0" r="0" t="0"/>
          <a:stretch/>
        </p:blipFill>
        <p:spPr>
          <a:xfrm>
            <a:off x="571500" y="394239"/>
            <a:ext cx="815357" cy="152400"/>
          </a:xfrm>
          <a:prstGeom prst="rect">
            <a:avLst/>
          </a:prstGeom>
          <a:noFill/>
          <a:ln>
            <a:noFill/>
          </a:ln>
        </p:spPr>
      </p:pic>
      <p:sp>
        <p:nvSpPr>
          <p:cNvPr id="450" name="Google Shape;450;p8"/>
          <p:cNvSpPr/>
          <p:nvPr/>
        </p:nvSpPr>
        <p:spPr>
          <a:xfrm>
            <a:off x="3486522" y="413289"/>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451" name="Google Shape;451;p8"/>
          <p:cNvSpPr/>
          <p:nvPr/>
        </p:nvSpPr>
        <p:spPr>
          <a:xfrm>
            <a:off x="571500" y="1611885"/>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8"/>
          <p:cNvSpPr/>
          <p:nvPr/>
        </p:nvSpPr>
        <p:spPr>
          <a:xfrm>
            <a:off x="571500" y="1372868"/>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07</a:t>
            </a:r>
            <a:endParaRPr b="0" i="0" sz="825" u="none" cap="none" strike="noStrike">
              <a:solidFill>
                <a:schemeClr val="dk1"/>
              </a:solidFill>
              <a:latin typeface="Calibri"/>
              <a:ea typeface="Calibri"/>
              <a:cs typeface="Calibri"/>
              <a:sym typeface="Calibri"/>
            </a:endParaRPr>
          </a:p>
        </p:txBody>
      </p:sp>
      <p:sp>
        <p:nvSpPr>
          <p:cNvPr id="453" name="Google Shape;453;p8"/>
          <p:cNvSpPr/>
          <p:nvPr/>
        </p:nvSpPr>
        <p:spPr>
          <a:xfrm>
            <a:off x="916558" y="1244280"/>
            <a:ext cx="17409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UAT Summary</a:t>
            </a:r>
            <a:endParaRPr b="0" i="0" sz="1950" u="none" cap="none" strike="noStrike">
              <a:solidFill>
                <a:schemeClr val="dk1"/>
              </a:solidFill>
              <a:latin typeface="Calibri"/>
              <a:ea typeface="Calibri"/>
              <a:cs typeface="Calibri"/>
              <a:sym typeface="Calibri"/>
            </a:endParaRPr>
          </a:p>
        </p:txBody>
      </p:sp>
      <p:sp>
        <p:nvSpPr>
          <p:cNvPr id="454" name="Google Shape;454;p8"/>
          <p:cNvSpPr/>
          <p:nvPr/>
        </p:nvSpPr>
        <p:spPr>
          <a:xfrm>
            <a:off x="571500" y="1811910"/>
            <a:ext cx="6612300" cy="3885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UAT runs in short cycles across the engagement rather than waiting until the end. This is important because validation behaviour depends on real employer files, historical comparisons, and client-specific business rules.</a:t>
            </a:r>
            <a:endParaRPr b="0" i="0" sz="863" u="none" cap="none" strike="noStrike">
              <a:solidFill>
                <a:schemeClr val="dk1"/>
              </a:solidFill>
              <a:latin typeface="Calibri"/>
              <a:ea typeface="Calibri"/>
              <a:cs typeface="Calibri"/>
              <a:sym typeface="Calibri"/>
            </a:endParaRPr>
          </a:p>
        </p:txBody>
      </p:sp>
      <p:sp>
        <p:nvSpPr>
          <p:cNvPr id="455" name="Google Shape;455;p8"/>
          <p:cNvSpPr/>
          <p:nvPr/>
        </p:nvSpPr>
        <p:spPr>
          <a:xfrm>
            <a:off x="571500" y="2314801"/>
            <a:ext cx="9525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8"/>
          <p:cNvSpPr/>
          <p:nvPr/>
        </p:nvSpPr>
        <p:spPr>
          <a:xfrm>
            <a:off x="571500" y="2593407"/>
            <a:ext cx="9525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8"/>
          <p:cNvSpPr/>
          <p:nvPr/>
        </p:nvSpPr>
        <p:spPr>
          <a:xfrm>
            <a:off x="666750" y="2381476"/>
            <a:ext cx="838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CYCLE</a:t>
            </a:r>
            <a:endParaRPr b="0" i="0" sz="788" u="none" cap="none" strike="noStrike">
              <a:solidFill>
                <a:schemeClr val="dk1"/>
              </a:solidFill>
              <a:latin typeface="Calibri"/>
              <a:ea typeface="Calibri"/>
              <a:cs typeface="Calibri"/>
              <a:sym typeface="Calibri"/>
            </a:endParaRPr>
          </a:p>
        </p:txBody>
      </p:sp>
      <p:sp>
        <p:nvSpPr>
          <p:cNvPr id="458" name="Google Shape;458;p8"/>
          <p:cNvSpPr/>
          <p:nvPr/>
        </p:nvSpPr>
        <p:spPr>
          <a:xfrm>
            <a:off x="1524000" y="2314801"/>
            <a:ext cx="15240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8"/>
          <p:cNvSpPr/>
          <p:nvPr/>
        </p:nvSpPr>
        <p:spPr>
          <a:xfrm>
            <a:off x="1524000" y="2593407"/>
            <a:ext cx="15240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8"/>
          <p:cNvSpPr/>
          <p:nvPr/>
        </p:nvSpPr>
        <p:spPr>
          <a:xfrm>
            <a:off x="1619250" y="2381476"/>
            <a:ext cx="14097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TIMING</a:t>
            </a:r>
            <a:endParaRPr b="0" i="0" sz="788" u="none" cap="none" strike="noStrike">
              <a:solidFill>
                <a:schemeClr val="dk1"/>
              </a:solidFill>
              <a:latin typeface="Calibri"/>
              <a:ea typeface="Calibri"/>
              <a:cs typeface="Calibri"/>
              <a:sym typeface="Calibri"/>
            </a:endParaRPr>
          </a:p>
        </p:txBody>
      </p:sp>
      <p:sp>
        <p:nvSpPr>
          <p:cNvPr id="461" name="Google Shape;461;p8"/>
          <p:cNvSpPr/>
          <p:nvPr/>
        </p:nvSpPr>
        <p:spPr>
          <a:xfrm>
            <a:off x="3048000" y="2314801"/>
            <a:ext cx="39432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8"/>
          <p:cNvSpPr/>
          <p:nvPr/>
        </p:nvSpPr>
        <p:spPr>
          <a:xfrm>
            <a:off x="3048000" y="2593407"/>
            <a:ext cx="39432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
          <p:cNvSpPr/>
          <p:nvPr/>
        </p:nvSpPr>
        <p:spPr>
          <a:xfrm>
            <a:off x="3143250" y="2381476"/>
            <a:ext cx="3871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FOCUS</a:t>
            </a:r>
            <a:endParaRPr b="0" i="0" sz="788" u="none" cap="none" strike="noStrike">
              <a:solidFill>
                <a:schemeClr val="dk1"/>
              </a:solidFill>
              <a:latin typeface="Calibri"/>
              <a:ea typeface="Calibri"/>
              <a:cs typeface="Calibri"/>
              <a:sym typeface="Calibri"/>
            </a:endParaRPr>
          </a:p>
        </p:txBody>
      </p:sp>
      <p:sp>
        <p:nvSpPr>
          <p:cNvPr id="464" name="Google Shape;464;p8"/>
          <p:cNvSpPr/>
          <p:nvPr/>
        </p:nvSpPr>
        <p:spPr>
          <a:xfrm>
            <a:off x="571500" y="3050607"/>
            <a:ext cx="952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8"/>
          <p:cNvSpPr/>
          <p:nvPr/>
        </p:nvSpPr>
        <p:spPr>
          <a:xfrm>
            <a:off x="666750" y="2669607"/>
            <a:ext cx="838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Cycle 1</a:t>
            </a:r>
            <a:endParaRPr b="0" i="0" sz="825" u="none" cap="none" strike="noStrike">
              <a:solidFill>
                <a:schemeClr val="dk1"/>
              </a:solidFill>
              <a:latin typeface="Calibri"/>
              <a:ea typeface="Calibri"/>
              <a:cs typeface="Calibri"/>
              <a:sym typeface="Calibri"/>
            </a:endParaRPr>
          </a:p>
        </p:txBody>
      </p:sp>
      <p:sp>
        <p:nvSpPr>
          <p:cNvPr id="466" name="Google Shape;466;p8"/>
          <p:cNvSpPr/>
          <p:nvPr/>
        </p:nvSpPr>
        <p:spPr>
          <a:xfrm>
            <a:off x="1524000" y="3050607"/>
            <a:ext cx="1524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
          <p:cNvSpPr/>
          <p:nvPr/>
        </p:nvSpPr>
        <p:spPr>
          <a:xfrm>
            <a:off x="1619250" y="2669607"/>
            <a:ext cx="1409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End of Week 5</a:t>
            </a:r>
            <a:endParaRPr b="0" i="0" sz="825" u="none" cap="none" strike="noStrike">
              <a:solidFill>
                <a:schemeClr val="dk1"/>
              </a:solidFill>
              <a:latin typeface="Calibri"/>
              <a:ea typeface="Calibri"/>
              <a:cs typeface="Calibri"/>
              <a:sym typeface="Calibri"/>
            </a:endParaRPr>
          </a:p>
        </p:txBody>
      </p:sp>
      <p:sp>
        <p:nvSpPr>
          <p:cNvPr id="468" name="Google Shape;468;p8"/>
          <p:cNvSpPr/>
          <p:nvPr/>
        </p:nvSpPr>
        <p:spPr>
          <a:xfrm>
            <a:off x="3048000" y="3050607"/>
            <a:ext cx="3943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
          <p:cNvSpPr/>
          <p:nvPr/>
        </p:nvSpPr>
        <p:spPr>
          <a:xfrm>
            <a:off x="3143250" y="2669607"/>
            <a:ext cx="387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Mailbox intake, attachment capture, submission registration, and AI interpretation of email commentary.</a:t>
            </a:r>
            <a:endParaRPr b="0" i="0" sz="825" u="none" cap="none" strike="noStrike">
              <a:solidFill>
                <a:schemeClr val="dk1"/>
              </a:solidFill>
              <a:latin typeface="Calibri"/>
              <a:ea typeface="Calibri"/>
              <a:cs typeface="Calibri"/>
              <a:sym typeface="Calibri"/>
            </a:endParaRPr>
          </a:p>
        </p:txBody>
      </p:sp>
      <p:sp>
        <p:nvSpPr>
          <p:cNvPr id="470" name="Google Shape;470;p8"/>
          <p:cNvSpPr/>
          <p:nvPr/>
        </p:nvSpPr>
        <p:spPr>
          <a:xfrm>
            <a:off x="571500" y="3507807"/>
            <a:ext cx="952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8"/>
          <p:cNvSpPr/>
          <p:nvPr/>
        </p:nvSpPr>
        <p:spPr>
          <a:xfrm>
            <a:off x="666750" y="3126807"/>
            <a:ext cx="838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Cycle 2</a:t>
            </a:r>
            <a:endParaRPr b="0" i="0" sz="825" u="none" cap="none" strike="noStrike">
              <a:solidFill>
                <a:schemeClr val="dk1"/>
              </a:solidFill>
              <a:latin typeface="Calibri"/>
              <a:ea typeface="Calibri"/>
              <a:cs typeface="Calibri"/>
              <a:sym typeface="Calibri"/>
            </a:endParaRPr>
          </a:p>
        </p:txBody>
      </p:sp>
      <p:sp>
        <p:nvSpPr>
          <p:cNvPr id="472" name="Google Shape;472;p8"/>
          <p:cNvSpPr/>
          <p:nvPr/>
        </p:nvSpPr>
        <p:spPr>
          <a:xfrm>
            <a:off x="1524000" y="3507807"/>
            <a:ext cx="1524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8"/>
          <p:cNvSpPr/>
          <p:nvPr/>
        </p:nvSpPr>
        <p:spPr>
          <a:xfrm>
            <a:off x="1619250" y="3126807"/>
            <a:ext cx="1409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End of Week 8</a:t>
            </a:r>
            <a:endParaRPr b="0" i="0" sz="825" u="none" cap="none" strike="noStrike">
              <a:solidFill>
                <a:schemeClr val="dk1"/>
              </a:solidFill>
              <a:latin typeface="Calibri"/>
              <a:ea typeface="Calibri"/>
              <a:cs typeface="Calibri"/>
              <a:sym typeface="Calibri"/>
            </a:endParaRPr>
          </a:p>
        </p:txBody>
      </p:sp>
      <p:sp>
        <p:nvSpPr>
          <p:cNvPr id="474" name="Google Shape;474;p8"/>
          <p:cNvSpPr/>
          <p:nvPr/>
        </p:nvSpPr>
        <p:spPr>
          <a:xfrm>
            <a:off x="3048000" y="3507807"/>
            <a:ext cx="3943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8"/>
          <p:cNvSpPr/>
          <p:nvPr/>
        </p:nvSpPr>
        <p:spPr>
          <a:xfrm>
            <a:off x="3143250" y="3126807"/>
            <a:ext cx="387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Validation rules, historical comparison, error reporting, and portal-facing validation response.</a:t>
            </a:r>
            <a:endParaRPr b="0" i="0" sz="825" u="none" cap="none" strike="noStrike">
              <a:solidFill>
                <a:schemeClr val="dk1"/>
              </a:solidFill>
              <a:latin typeface="Calibri"/>
              <a:ea typeface="Calibri"/>
              <a:cs typeface="Calibri"/>
              <a:sym typeface="Calibri"/>
            </a:endParaRPr>
          </a:p>
        </p:txBody>
      </p:sp>
      <p:sp>
        <p:nvSpPr>
          <p:cNvPr id="476" name="Google Shape;476;p8"/>
          <p:cNvSpPr/>
          <p:nvPr/>
        </p:nvSpPr>
        <p:spPr>
          <a:xfrm>
            <a:off x="666750" y="3584007"/>
            <a:ext cx="838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Cycle 3</a:t>
            </a:r>
            <a:endParaRPr b="0" i="0" sz="825" u="none" cap="none" strike="noStrike">
              <a:solidFill>
                <a:schemeClr val="dk1"/>
              </a:solidFill>
              <a:latin typeface="Calibri"/>
              <a:ea typeface="Calibri"/>
              <a:cs typeface="Calibri"/>
              <a:sym typeface="Calibri"/>
            </a:endParaRPr>
          </a:p>
        </p:txBody>
      </p:sp>
      <p:sp>
        <p:nvSpPr>
          <p:cNvPr id="477" name="Google Shape;477;p8"/>
          <p:cNvSpPr/>
          <p:nvPr/>
        </p:nvSpPr>
        <p:spPr>
          <a:xfrm>
            <a:off x="1619250" y="3584007"/>
            <a:ext cx="14097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Weeks 10 → 12</a:t>
            </a:r>
            <a:endParaRPr b="0" i="0" sz="825" u="none" cap="none" strike="noStrike">
              <a:solidFill>
                <a:schemeClr val="dk1"/>
              </a:solidFill>
              <a:latin typeface="Calibri"/>
              <a:ea typeface="Calibri"/>
              <a:cs typeface="Calibri"/>
              <a:sym typeface="Calibri"/>
            </a:endParaRPr>
          </a:p>
        </p:txBody>
      </p:sp>
      <p:sp>
        <p:nvSpPr>
          <p:cNvPr id="478" name="Google Shape;478;p8"/>
          <p:cNvSpPr/>
          <p:nvPr/>
        </p:nvSpPr>
        <p:spPr>
          <a:xfrm>
            <a:off x="3143250" y="3584007"/>
            <a:ext cx="3871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PAS posting, retry and status handling, audit trail, operational reports, and handover readiness.</a:t>
            </a:r>
            <a:endParaRPr b="0" i="0" sz="825" u="none" cap="none" strike="noStrike">
              <a:solidFill>
                <a:schemeClr val="dk1"/>
              </a:solidFill>
              <a:latin typeface="Calibri"/>
              <a:ea typeface="Calibri"/>
              <a:cs typeface="Calibri"/>
              <a:sym typeface="Calibri"/>
            </a:endParaRPr>
          </a:p>
        </p:txBody>
      </p:sp>
      <p:sp>
        <p:nvSpPr>
          <p:cNvPr id="479" name="Google Shape;479;p8"/>
          <p:cNvSpPr/>
          <p:nvPr/>
        </p:nvSpPr>
        <p:spPr>
          <a:xfrm>
            <a:off x="571500" y="4806757"/>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8"/>
          <p:cNvSpPr/>
          <p:nvPr/>
        </p:nvSpPr>
        <p:spPr>
          <a:xfrm>
            <a:off x="571500" y="4567739"/>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08</a:t>
            </a:r>
            <a:endParaRPr b="0" i="0" sz="825" u="none" cap="none" strike="noStrike">
              <a:solidFill>
                <a:schemeClr val="dk1"/>
              </a:solidFill>
              <a:latin typeface="Calibri"/>
              <a:ea typeface="Calibri"/>
              <a:cs typeface="Calibri"/>
              <a:sym typeface="Calibri"/>
            </a:endParaRPr>
          </a:p>
        </p:txBody>
      </p:sp>
      <p:sp>
        <p:nvSpPr>
          <p:cNvPr id="481" name="Google Shape;481;p8"/>
          <p:cNvSpPr/>
          <p:nvPr/>
        </p:nvSpPr>
        <p:spPr>
          <a:xfrm>
            <a:off x="916558" y="4439151"/>
            <a:ext cx="28530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Our Delivery Advantage</a:t>
            </a:r>
            <a:endParaRPr b="0" i="0" sz="1950" u="none" cap="none" strike="noStrike">
              <a:solidFill>
                <a:schemeClr val="dk1"/>
              </a:solidFill>
              <a:latin typeface="Calibri"/>
              <a:ea typeface="Calibri"/>
              <a:cs typeface="Calibri"/>
              <a:sym typeface="Calibri"/>
            </a:endParaRPr>
          </a:p>
        </p:txBody>
      </p:sp>
      <p:sp>
        <p:nvSpPr>
          <p:cNvPr id="482" name="Google Shape;482;p8"/>
          <p:cNvSpPr/>
          <p:nvPr/>
        </p:nvSpPr>
        <p:spPr>
          <a:xfrm>
            <a:off x="571500" y="5006782"/>
            <a:ext cx="6612300" cy="5637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Newtuple's advantage in this engagement is practical delivery discipline. The proposed design avoids over-engineering, keeps the client's existing portal intact, and puts the highest-risk logic in a service layer that can be tested, audited, and changed without rewriting process flows.</a:t>
            </a:r>
            <a:endParaRPr b="0" i="0" sz="863" u="none" cap="none" strike="noStrike">
              <a:solidFill>
                <a:schemeClr val="dk1"/>
              </a:solidFill>
              <a:latin typeface="Calibri"/>
              <a:ea typeface="Calibri"/>
              <a:cs typeface="Calibri"/>
              <a:sym typeface="Calibri"/>
            </a:endParaRPr>
          </a:p>
        </p:txBody>
      </p:sp>
      <p:sp>
        <p:nvSpPr>
          <p:cNvPr id="483" name="Google Shape;483;p8"/>
          <p:cNvSpPr/>
          <p:nvPr/>
        </p:nvSpPr>
        <p:spPr>
          <a:xfrm>
            <a:off x="469900" y="5761117"/>
            <a:ext cx="3321000" cy="11709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Clear separation between workflow orchestration and business validation logic.</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Agent-based interpretation only where it matters, employer comments and instructions in mailbox-led submissions.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 reusable validation API that serves both mailbox and portal flows.</a:t>
            </a:r>
            <a:endParaRPr b="0" i="0" sz="863" u="none" cap="none" strike="noStrike">
              <a:solidFill>
                <a:schemeClr val="dk1"/>
              </a:solidFill>
              <a:latin typeface="Calibri"/>
              <a:ea typeface="Calibri"/>
              <a:cs typeface="Calibri"/>
              <a:sym typeface="Calibri"/>
            </a:endParaRPr>
          </a:p>
        </p:txBody>
      </p:sp>
      <p:sp>
        <p:nvSpPr>
          <p:cNvPr id="484" name="Google Shape;484;p8"/>
          <p:cNvSpPr/>
          <p:nvPr/>
        </p:nvSpPr>
        <p:spPr>
          <a:xfrm>
            <a:off x="3746500" y="5761117"/>
            <a:ext cx="3321000" cy="13407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Audit-first processing so every file, decision, error, notification, and upload status can be traced.</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 delivery model sized for a budgetary decision now, with discovery used to confirm the final build path.</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A controlled MVP that can expand later into dashboards, employer analytics, exception recommendations, or richer self-service workflows.</a:t>
            </a:r>
            <a:endParaRPr b="0" i="0" sz="863" u="none" cap="none" strike="noStrike">
              <a:solidFill>
                <a:schemeClr val="dk1"/>
              </a:solidFill>
              <a:latin typeface="Calibri"/>
              <a:ea typeface="Calibri"/>
              <a:cs typeface="Calibri"/>
              <a:sym typeface="Calibri"/>
            </a:endParaRPr>
          </a:p>
        </p:txBody>
      </p:sp>
      <p:sp>
        <p:nvSpPr>
          <p:cNvPr id="485" name="Google Shape;485;p8"/>
          <p:cNvSpPr/>
          <p:nvPr/>
        </p:nvSpPr>
        <p:spPr>
          <a:xfrm>
            <a:off x="571500" y="7529222"/>
            <a:ext cx="2063700" cy="1127400"/>
          </a:xfrm>
          <a:prstGeom prst="roundRect">
            <a:avLst>
              <a:gd fmla="val 50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
          <p:cNvSpPr/>
          <p:nvPr/>
        </p:nvSpPr>
        <p:spPr>
          <a:xfrm>
            <a:off x="733425" y="767209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WHY NEWTUPLE</a:t>
            </a:r>
            <a:endParaRPr b="0" i="0" sz="750" u="none" cap="none" strike="noStrike">
              <a:solidFill>
                <a:schemeClr val="dk1"/>
              </a:solidFill>
              <a:latin typeface="Calibri"/>
              <a:ea typeface="Calibri"/>
              <a:cs typeface="Calibri"/>
              <a:sym typeface="Calibri"/>
            </a:endParaRPr>
          </a:p>
        </p:txBody>
      </p:sp>
      <p:sp>
        <p:nvSpPr>
          <p:cNvPr id="487" name="Google Shape;487;p8"/>
          <p:cNvSpPr/>
          <p:nvPr/>
        </p:nvSpPr>
        <p:spPr>
          <a:xfrm>
            <a:off x="733425" y="784354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Deep GenAI &amp; data engineering practice. Two dozen production-grade AI builds across finance, compliance, and enterprise automation.</a:t>
            </a:r>
            <a:endParaRPr b="0" i="0" sz="825" u="none" cap="none" strike="noStrike">
              <a:solidFill>
                <a:schemeClr val="dk1"/>
              </a:solidFill>
              <a:latin typeface="Calibri"/>
              <a:ea typeface="Calibri"/>
              <a:cs typeface="Calibri"/>
              <a:sym typeface="Calibri"/>
            </a:endParaRPr>
          </a:p>
        </p:txBody>
      </p:sp>
      <p:sp>
        <p:nvSpPr>
          <p:cNvPr id="488" name="Google Shape;488;p8"/>
          <p:cNvSpPr/>
          <p:nvPr/>
        </p:nvSpPr>
        <p:spPr>
          <a:xfrm>
            <a:off x="2749525" y="7529222"/>
            <a:ext cx="2063700" cy="1127400"/>
          </a:xfrm>
          <a:prstGeom prst="roundRect">
            <a:avLst>
              <a:gd fmla="val 50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8"/>
          <p:cNvSpPr/>
          <p:nvPr/>
        </p:nvSpPr>
        <p:spPr>
          <a:xfrm>
            <a:off x="2911450" y="767209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OPERATING STYLE</a:t>
            </a:r>
            <a:endParaRPr b="0" i="0" sz="750" u="none" cap="none" strike="noStrike">
              <a:solidFill>
                <a:schemeClr val="dk1"/>
              </a:solidFill>
              <a:latin typeface="Calibri"/>
              <a:ea typeface="Calibri"/>
              <a:cs typeface="Calibri"/>
              <a:sym typeface="Calibri"/>
            </a:endParaRPr>
          </a:p>
        </p:txBody>
      </p:sp>
      <p:sp>
        <p:nvSpPr>
          <p:cNvPr id="490" name="Google Shape;490;p8"/>
          <p:cNvSpPr/>
          <p:nvPr/>
        </p:nvSpPr>
        <p:spPr>
          <a:xfrm>
            <a:off x="2911450" y="784354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Senior practitioners on every engagement. Weekly demos, sprint discipline, and code in your environment from day one.</a:t>
            </a:r>
            <a:endParaRPr b="0" i="0" sz="825" u="none" cap="none" strike="noStrike">
              <a:solidFill>
                <a:schemeClr val="dk1"/>
              </a:solidFill>
              <a:latin typeface="Calibri"/>
              <a:ea typeface="Calibri"/>
              <a:cs typeface="Calibri"/>
              <a:sym typeface="Calibri"/>
            </a:endParaRPr>
          </a:p>
        </p:txBody>
      </p:sp>
      <p:sp>
        <p:nvSpPr>
          <p:cNvPr id="491" name="Google Shape;491;p8"/>
          <p:cNvSpPr/>
          <p:nvPr/>
        </p:nvSpPr>
        <p:spPr>
          <a:xfrm>
            <a:off x="4927550" y="7529222"/>
            <a:ext cx="2063700" cy="1127400"/>
          </a:xfrm>
          <a:prstGeom prst="roundRect">
            <a:avLst>
              <a:gd fmla="val 50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8"/>
          <p:cNvSpPr/>
          <p:nvPr/>
        </p:nvSpPr>
        <p:spPr>
          <a:xfrm>
            <a:off x="5089475" y="767209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AFTER GO-LIVE</a:t>
            </a:r>
            <a:endParaRPr b="0" i="0" sz="750" u="none" cap="none" strike="noStrike">
              <a:solidFill>
                <a:schemeClr val="dk1"/>
              </a:solidFill>
              <a:latin typeface="Calibri"/>
              <a:ea typeface="Calibri"/>
              <a:cs typeface="Calibri"/>
              <a:sym typeface="Calibri"/>
            </a:endParaRPr>
          </a:p>
        </p:txBody>
      </p:sp>
      <p:sp>
        <p:nvSpPr>
          <p:cNvPr id="493" name="Google Shape;493;p8"/>
          <p:cNvSpPr/>
          <p:nvPr/>
        </p:nvSpPr>
        <p:spPr>
          <a:xfrm>
            <a:off x="5089475" y="7843547"/>
            <a:ext cx="1740900" cy="5409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A clean handover, or a turnkey operate model under Option B, whichever suits your team's</a:t>
            </a:r>
            <a:r>
              <a:rPr lang="en-US" sz="825">
                <a:solidFill>
                  <a:srgbClr val="374151"/>
                </a:solidFill>
              </a:rPr>
              <a:t> </a:t>
            </a:r>
            <a:r>
              <a:rPr lang="en-US" sz="825">
                <a:solidFill>
                  <a:srgbClr val="374151"/>
                </a:solidFill>
              </a:rPr>
              <a:t>bandwidth</a:t>
            </a:r>
            <a:r>
              <a:rPr b="0" i="0" lang="en-US" sz="825" u="none" cap="none" strike="noStrike">
                <a:solidFill>
                  <a:srgbClr val="374151"/>
                </a:solidFill>
                <a:latin typeface="Arial"/>
                <a:ea typeface="Arial"/>
                <a:cs typeface="Arial"/>
                <a:sym typeface="Arial"/>
              </a:rPr>
              <a:t>.</a:t>
            </a:r>
            <a:endParaRPr b="0" i="0" sz="825" u="none" cap="none" strike="noStrike">
              <a:solidFill>
                <a:schemeClr val="dk1"/>
              </a:solidFill>
              <a:latin typeface="Calibri"/>
              <a:ea typeface="Calibri"/>
              <a:cs typeface="Calibri"/>
              <a:sym typeface="Calibri"/>
            </a:endParaRPr>
          </a:p>
        </p:txBody>
      </p:sp>
      <p:sp>
        <p:nvSpPr>
          <p:cNvPr id="494" name="Google Shape;494;p8"/>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8"/>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8"/>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0</a:t>
            </a:r>
            <a:r>
              <a:rPr b="1" lang="en-US" sz="713">
                <a:solidFill>
                  <a:srgbClr val="6B7686"/>
                </a:solidFill>
              </a:rPr>
              <a:t>9</a:t>
            </a:r>
            <a:r>
              <a:rPr b="1" i="0" lang="en-US" sz="713" u="none" cap="none" strike="noStrike">
                <a:solidFill>
                  <a:srgbClr val="6B7686"/>
                </a:solidFill>
                <a:latin typeface="Arial"/>
                <a:ea typeface="Arial"/>
                <a:cs typeface="Arial"/>
                <a:sym typeface="Arial"/>
              </a:rPr>
              <a:t>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497" name="Google Shape;497;p8"/>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9"/>
          <p:cNvSpPr/>
          <p:nvPr/>
        </p:nvSpPr>
        <p:spPr>
          <a:xfrm>
            <a:off x="0" y="-6350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p9"/>
          <p:cNvPicPr preferRelativeResize="0"/>
          <p:nvPr/>
        </p:nvPicPr>
        <p:blipFill rotWithShape="1">
          <a:blip r:embed="rId3">
            <a:alphaModFix/>
          </a:blip>
          <a:srcRect b="0" l="0" r="0" t="0"/>
          <a:stretch/>
        </p:blipFill>
        <p:spPr>
          <a:xfrm>
            <a:off x="571500" y="394239"/>
            <a:ext cx="815357" cy="152400"/>
          </a:xfrm>
          <a:prstGeom prst="rect">
            <a:avLst/>
          </a:prstGeom>
          <a:noFill/>
          <a:ln>
            <a:noFill/>
          </a:ln>
        </p:spPr>
      </p:pic>
      <p:sp>
        <p:nvSpPr>
          <p:cNvPr id="505" name="Google Shape;505;p9"/>
          <p:cNvSpPr/>
          <p:nvPr/>
        </p:nvSpPr>
        <p:spPr>
          <a:xfrm>
            <a:off x="3486522" y="413289"/>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506" name="Google Shape;506;p9"/>
          <p:cNvSpPr/>
          <p:nvPr/>
        </p:nvSpPr>
        <p:spPr>
          <a:xfrm>
            <a:off x="571500" y="1550322"/>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9"/>
          <p:cNvSpPr/>
          <p:nvPr/>
        </p:nvSpPr>
        <p:spPr>
          <a:xfrm>
            <a:off x="571500" y="1311305"/>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09</a:t>
            </a:r>
            <a:endParaRPr b="0" i="0" sz="825" u="none" cap="none" strike="noStrike">
              <a:solidFill>
                <a:schemeClr val="dk1"/>
              </a:solidFill>
              <a:latin typeface="Calibri"/>
              <a:ea typeface="Calibri"/>
              <a:cs typeface="Calibri"/>
              <a:sym typeface="Calibri"/>
            </a:endParaRPr>
          </a:p>
        </p:txBody>
      </p:sp>
      <p:sp>
        <p:nvSpPr>
          <p:cNvPr id="508" name="Google Shape;508;p9"/>
          <p:cNvSpPr/>
          <p:nvPr/>
        </p:nvSpPr>
        <p:spPr>
          <a:xfrm>
            <a:off x="916558" y="1182717"/>
            <a:ext cx="22551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Commercial Model</a:t>
            </a:r>
            <a:endParaRPr b="0" i="0" sz="1950" u="none" cap="none" strike="noStrike">
              <a:solidFill>
                <a:schemeClr val="dk1"/>
              </a:solidFill>
              <a:latin typeface="Calibri"/>
              <a:ea typeface="Calibri"/>
              <a:cs typeface="Calibri"/>
              <a:sym typeface="Calibri"/>
            </a:endParaRPr>
          </a:p>
        </p:txBody>
      </p:sp>
      <p:sp>
        <p:nvSpPr>
          <p:cNvPr id="509" name="Google Shape;509;p9"/>
          <p:cNvSpPr/>
          <p:nvPr/>
        </p:nvSpPr>
        <p:spPr>
          <a:xfrm>
            <a:off x="6181948" y="1316067"/>
            <a:ext cx="885600" cy="1482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6B7686"/>
              </a:buClr>
              <a:buSzPts val="788"/>
              <a:buFont typeface="Arial"/>
              <a:buNone/>
            </a:pPr>
            <a:r>
              <a:rPr b="0" i="0" lang="en-US" sz="788" u="none" cap="none" strike="noStrike">
                <a:solidFill>
                  <a:srgbClr val="6B7686"/>
                </a:solidFill>
                <a:latin typeface="Arial"/>
                <a:ea typeface="Arial"/>
                <a:cs typeface="Arial"/>
                <a:sym typeface="Arial"/>
              </a:rPr>
              <a:t>Indicative, ±30%</a:t>
            </a:r>
            <a:endParaRPr b="0" i="0" sz="788" u="none" cap="none" strike="noStrike">
              <a:solidFill>
                <a:schemeClr val="dk1"/>
              </a:solidFill>
              <a:latin typeface="Calibri"/>
              <a:ea typeface="Calibri"/>
              <a:cs typeface="Calibri"/>
              <a:sym typeface="Calibri"/>
            </a:endParaRPr>
          </a:p>
        </p:txBody>
      </p:sp>
      <p:sp>
        <p:nvSpPr>
          <p:cNvPr id="510" name="Google Shape;510;p9"/>
          <p:cNvSpPr/>
          <p:nvPr/>
        </p:nvSpPr>
        <p:spPr>
          <a:xfrm>
            <a:off x="571500" y="1709225"/>
            <a:ext cx="6612300" cy="4620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The figures below are budgetary estimates based on the current requirement notes and partner clarification. They should be treated as </a:t>
            </a:r>
            <a:r>
              <a:rPr b="1" i="0" lang="en-US" sz="863" u="none" cap="none" strike="noStrike">
                <a:solidFill>
                  <a:srgbClr val="0E1320"/>
                </a:solidFill>
                <a:latin typeface="Arial"/>
                <a:ea typeface="Arial"/>
                <a:cs typeface="Arial"/>
                <a:sym typeface="Arial"/>
              </a:rPr>
              <a:t>±30% </a:t>
            </a:r>
            <a:r>
              <a:rPr b="0" i="0" lang="en-US" sz="863" u="none" cap="none" strike="noStrike">
                <a:solidFill>
                  <a:srgbClr val="374151"/>
                </a:solidFill>
                <a:latin typeface="Arial"/>
                <a:ea typeface="Arial"/>
                <a:cs typeface="Arial"/>
                <a:sym typeface="Arial"/>
              </a:rPr>
              <a:t>until discovery confirms validation complexity, licensing, integration access, PAS API behaviour, and client-side dependencies.</a:t>
            </a:r>
            <a:endParaRPr b="0" i="0" sz="863" u="none" cap="none" strike="noStrike">
              <a:solidFill>
                <a:schemeClr val="dk1"/>
              </a:solidFill>
              <a:latin typeface="Calibri"/>
              <a:ea typeface="Calibri"/>
              <a:cs typeface="Calibri"/>
              <a:sym typeface="Calibri"/>
            </a:endParaRPr>
          </a:p>
        </p:txBody>
      </p:sp>
      <p:sp>
        <p:nvSpPr>
          <p:cNvPr id="511" name="Google Shape;511;p9"/>
          <p:cNvSpPr/>
          <p:nvPr/>
        </p:nvSpPr>
        <p:spPr>
          <a:xfrm>
            <a:off x="571500" y="2504683"/>
            <a:ext cx="3133800" cy="2534400"/>
          </a:xfrm>
          <a:prstGeom prst="roundRect">
            <a:avLst>
              <a:gd fmla="val 3006" name="adj"/>
            </a:avLst>
          </a:prstGeom>
          <a:solidFill>
            <a:srgbClr val="F4F8FE"/>
          </a:solidFill>
          <a:ln cap="flat" cmpd="sng" w="1427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9"/>
          <p:cNvSpPr/>
          <p:nvPr/>
        </p:nvSpPr>
        <p:spPr>
          <a:xfrm>
            <a:off x="776288" y="2423720"/>
            <a:ext cx="2628900" cy="171600"/>
          </a:xfrm>
          <a:prstGeom prst="roundRect">
            <a:avLst>
              <a:gd fmla="val 16667"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9"/>
          <p:cNvSpPr/>
          <p:nvPr/>
        </p:nvSpPr>
        <p:spPr>
          <a:xfrm>
            <a:off x="862013" y="2440416"/>
            <a:ext cx="2536200" cy="1335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638"/>
              <a:buFont typeface="Arial"/>
              <a:buNone/>
            </a:pPr>
            <a:r>
              <a:rPr b="1" i="0" lang="en-US" sz="638" u="none" cap="none" strike="noStrike">
                <a:solidFill>
                  <a:srgbClr val="FFFFFF"/>
                </a:solidFill>
                <a:latin typeface="Arial"/>
                <a:ea typeface="Arial"/>
                <a:cs typeface="Arial"/>
                <a:sym typeface="Arial"/>
              </a:rPr>
              <a:t>RECOMMENDED</a:t>
            </a:r>
            <a:endParaRPr b="0" i="0" sz="638" u="none" cap="none" strike="noStrike">
              <a:solidFill>
                <a:schemeClr val="dk1"/>
              </a:solidFill>
              <a:latin typeface="Calibri"/>
              <a:ea typeface="Calibri"/>
              <a:cs typeface="Calibri"/>
              <a:sym typeface="Calibri"/>
            </a:endParaRPr>
          </a:p>
        </p:txBody>
      </p:sp>
      <p:sp>
        <p:nvSpPr>
          <p:cNvPr id="514" name="Google Shape;514;p9"/>
          <p:cNvSpPr/>
          <p:nvPr/>
        </p:nvSpPr>
        <p:spPr>
          <a:xfrm>
            <a:off x="776288" y="2728520"/>
            <a:ext cx="28059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OPTION A</a:t>
            </a:r>
            <a:endParaRPr b="0" i="0" sz="750" u="none" cap="none" strike="noStrike">
              <a:solidFill>
                <a:schemeClr val="dk1"/>
              </a:solidFill>
              <a:latin typeface="Calibri"/>
              <a:ea typeface="Calibri"/>
              <a:cs typeface="Calibri"/>
              <a:sym typeface="Calibri"/>
            </a:endParaRPr>
          </a:p>
        </p:txBody>
      </p:sp>
      <p:sp>
        <p:nvSpPr>
          <p:cNvPr id="515" name="Google Shape;515;p9"/>
          <p:cNvSpPr/>
          <p:nvPr/>
        </p:nvSpPr>
        <p:spPr>
          <a:xfrm>
            <a:off x="776288" y="2938070"/>
            <a:ext cx="2805900" cy="24390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0E1320"/>
              </a:buClr>
              <a:buSzPts val="1350"/>
              <a:buFont typeface="Arial"/>
              <a:buNone/>
            </a:pPr>
            <a:r>
              <a:rPr b="0" i="0" lang="en-US" sz="1350" u="none" cap="none" strike="noStrike">
                <a:solidFill>
                  <a:srgbClr val="0E1320"/>
                </a:solidFill>
                <a:latin typeface="Arial"/>
                <a:ea typeface="Arial"/>
                <a:cs typeface="Arial"/>
                <a:sym typeface="Arial"/>
              </a:rPr>
              <a:t>3-month build engagement</a:t>
            </a:r>
            <a:endParaRPr b="0" i="0" sz="1350" u="none" cap="none" strike="noStrike">
              <a:solidFill>
                <a:schemeClr val="dk1"/>
              </a:solidFill>
              <a:latin typeface="Calibri"/>
              <a:ea typeface="Calibri"/>
              <a:cs typeface="Calibri"/>
              <a:sym typeface="Calibri"/>
            </a:endParaRPr>
          </a:p>
        </p:txBody>
      </p:sp>
      <p:sp>
        <p:nvSpPr>
          <p:cNvPr id="516" name="Google Shape;516;p9"/>
          <p:cNvSpPr/>
          <p:nvPr/>
        </p:nvSpPr>
        <p:spPr>
          <a:xfrm>
            <a:off x="776288" y="3258051"/>
            <a:ext cx="2805900" cy="3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0047AB"/>
              </a:buClr>
              <a:buSzPts val="2250"/>
              <a:buFont typeface="Arial"/>
              <a:buNone/>
            </a:pPr>
            <a:r>
              <a:rPr b="0" i="0" lang="en-US" sz="2250" u="none" cap="none" strike="noStrike">
                <a:solidFill>
                  <a:srgbClr val="0047AB"/>
                </a:solidFill>
                <a:latin typeface="Arial"/>
                <a:ea typeface="Arial"/>
                <a:cs typeface="Arial"/>
                <a:sym typeface="Arial"/>
              </a:rPr>
              <a:t>USD 36,000 </a:t>
            </a:r>
            <a:r>
              <a:rPr b="0" baseline="30000" i="0" lang="en-US" sz="900" u="none" cap="none" strike="noStrike">
                <a:solidFill>
                  <a:srgbClr val="6B7686"/>
                </a:solidFill>
                <a:latin typeface="Arial"/>
                <a:ea typeface="Arial"/>
                <a:cs typeface="Arial"/>
                <a:sym typeface="Arial"/>
              </a:rPr>
              <a:t>±30%</a:t>
            </a:r>
            <a:endParaRPr b="0" i="0" sz="2250" u="none" cap="none" strike="noStrike">
              <a:solidFill>
                <a:schemeClr val="dk1"/>
              </a:solidFill>
              <a:latin typeface="Calibri"/>
              <a:ea typeface="Calibri"/>
              <a:cs typeface="Calibri"/>
              <a:sym typeface="Calibri"/>
            </a:endParaRPr>
          </a:p>
        </p:txBody>
      </p:sp>
      <p:sp>
        <p:nvSpPr>
          <p:cNvPr id="517" name="Google Shape;517;p9"/>
          <p:cNvSpPr/>
          <p:nvPr/>
        </p:nvSpPr>
        <p:spPr>
          <a:xfrm>
            <a:off x="776288" y="3639051"/>
            <a:ext cx="2805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B5563"/>
              </a:buClr>
              <a:buSzPts val="788"/>
              <a:buFont typeface="Arial"/>
              <a:buNone/>
            </a:pPr>
            <a:r>
              <a:rPr b="0" i="0" lang="en-US" sz="788" u="none" cap="none" strike="noStrike">
                <a:solidFill>
                  <a:srgbClr val="4B5563"/>
                </a:solidFill>
                <a:latin typeface="Arial"/>
                <a:ea typeface="Arial"/>
                <a:cs typeface="Arial"/>
                <a:sym typeface="Arial"/>
              </a:rPr>
              <a:t>Best fit when the client wants a focused MVP build and handover.</a:t>
            </a:r>
            <a:endParaRPr b="0" i="0" sz="788" u="none" cap="none" strike="noStrike">
              <a:solidFill>
                <a:schemeClr val="dk1"/>
              </a:solidFill>
              <a:latin typeface="Calibri"/>
              <a:ea typeface="Calibri"/>
              <a:cs typeface="Calibri"/>
              <a:sym typeface="Calibri"/>
            </a:endParaRPr>
          </a:p>
        </p:txBody>
      </p:sp>
      <p:sp>
        <p:nvSpPr>
          <p:cNvPr id="518" name="Google Shape;518;p9"/>
          <p:cNvSpPr/>
          <p:nvPr/>
        </p:nvSpPr>
        <p:spPr>
          <a:xfrm>
            <a:off x="770699" y="4072450"/>
            <a:ext cx="2805900" cy="781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Duration · 3 months</a:t>
            </a:r>
            <a:endParaRPr b="0" i="0" sz="788"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Monthly fee · USD 12,000</a:t>
            </a:r>
            <a:endParaRPr b="0" i="0" sz="788"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Model · Build &amp; handover</a:t>
            </a:r>
            <a:endParaRPr b="0" i="0" sz="788"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Post-go-live bug-fix window · 2 weeks</a:t>
            </a:r>
            <a:endParaRPr b="0" i="0" sz="788" u="none" cap="none" strike="noStrike">
              <a:solidFill>
                <a:schemeClr val="dk1"/>
              </a:solidFill>
              <a:latin typeface="Calibri"/>
              <a:ea typeface="Calibri"/>
              <a:cs typeface="Calibri"/>
              <a:sym typeface="Calibri"/>
            </a:endParaRPr>
          </a:p>
        </p:txBody>
      </p:sp>
      <p:sp>
        <p:nvSpPr>
          <p:cNvPr id="519" name="Google Shape;519;p9"/>
          <p:cNvSpPr/>
          <p:nvPr/>
        </p:nvSpPr>
        <p:spPr>
          <a:xfrm>
            <a:off x="3857625" y="2504683"/>
            <a:ext cx="3133800" cy="2534400"/>
          </a:xfrm>
          <a:prstGeom prst="roundRect">
            <a:avLst>
              <a:gd fmla="val 3006" name="adj"/>
            </a:avLst>
          </a:prstGeom>
          <a:solidFill>
            <a:srgbClr val="FFFFFF"/>
          </a:solidFill>
          <a:ln cap="flat" cmpd="sng" w="1427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9"/>
          <p:cNvSpPr/>
          <p:nvPr/>
        </p:nvSpPr>
        <p:spPr>
          <a:xfrm>
            <a:off x="4062412" y="2728520"/>
            <a:ext cx="28059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OPTION B</a:t>
            </a:r>
            <a:endParaRPr b="0" i="0" sz="750" u="none" cap="none" strike="noStrike">
              <a:solidFill>
                <a:schemeClr val="dk1"/>
              </a:solidFill>
              <a:latin typeface="Calibri"/>
              <a:ea typeface="Calibri"/>
              <a:cs typeface="Calibri"/>
              <a:sym typeface="Calibri"/>
            </a:endParaRPr>
          </a:p>
        </p:txBody>
      </p:sp>
      <p:sp>
        <p:nvSpPr>
          <p:cNvPr id="521" name="Google Shape;521;p9"/>
          <p:cNvSpPr/>
          <p:nvPr/>
        </p:nvSpPr>
        <p:spPr>
          <a:xfrm>
            <a:off x="4062412" y="2938070"/>
            <a:ext cx="2805900" cy="24390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0E1320"/>
              </a:buClr>
              <a:buSzPts val="1350"/>
              <a:buFont typeface="Arial"/>
              <a:buNone/>
            </a:pPr>
            <a:r>
              <a:rPr b="0" i="0" lang="en-US" sz="1350" u="none" cap="none" strike="noStrike">
                <a:solidFill>
                  <a:srgbClr val="0E1320"/>
                </a:solidFill>
                <a:latin typeface="Arial"/>
                <a:ea typeface="Arial"/>
                <a:cs typeface="Arial"/>
                <a:sym typeface="Arial"/>
              </a:rPr>
              <a:t>6-month build, manage &amp; operate</a:t>
            </a:r>
            <a:endParaRPr b="0" i="0" sz="1350" u="none" cap="none" strike="noStrike">
              <a:solidFill>
                <a:schemeClr val="dk1"/>
              </a:solidFill>
              <a:latin typeface="Calibri"/>
              <a:ea typeface="Calibri"/>
              <a:cs typeface="Calibri"/>
              <a:sym typeface="Calibri"/>
            </a:endParaRPr>
          </a:p>
        </p:txBody>
      </p:sp>
      <p:sp>
        <p:nvSpPr>
          <p:cNvPr id="522" name="Google Shape;522;p9"/>
          <p:cNvSpPr/>
          <p:nvPr/>
        </p:nvSpPr>
        <p:spPr>
          <a:xfrm>
            <a:off x="4062412" y="3258051"/>
            <a:ext cx="2805900" cy="3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0047AB"/>
              </a:buClr>
              <a:buSzPts val="2250"/>
              <a:buFont typeface="Arial"/>
              <a:buNone/>
            </a:pPr>
            <a:r>
              <a:rPr b="0" i="0" lang="en-US" sz="2250" u="none" cap="none" strike="noStrike">
                <a:solidFill>
                  <a:srgbClr val="0047AB"/>
                </a:solidFill>
                <a:latin typeface="Arial"/>
                <a:ea typeface="Arial"/>
                <a:cs typeface="Arial"/>
                <a:sym typeface="Arial"/>
              </a:rPr>
              <a:t>USD 5,000 </a:t>
            </a:r>
            <a:r>
              <a:rPr b="0" baseline="30000" i="0" lang="en-US" sz="900" u="none" cap="none" strike="noStrike">
                <a:solidFill>
                  <a:srgbClr val="6B7686"/>
                </a:solidFill>
                <a:latin typeface="Arial"/>
                <a:ea typeface="Arial"/>
                <a:cs typeface="Arial"/>
                <a:sym typeface="Arial"/>
              </a:rPr>
              <a:t>/ month</a:t>
            </a:r>
            <a:endParaRPr b="0" i="0" sz="2250" u="none" cap="none" strike="noStrike">
              <a:solidFill>
                <a:schemeClr val="dk1"/>
              </a:solidFill>
              <a:latin typeface="Calibri"/>
              <a:ea typeface="Calibri"/>
              <a:cs typeface="Calibri"/>
              <a:sym typeface="Calibri"/>
            </a:endParaRPr>
          </a:p>
        </p:txBody>
      </p:sp>
      <p:sp>
        <p:nvSpPr>
          <p:cNvPr id="523" name="Google Shape;523;p9"/>
          <p:cNvSpPr/>
          <p:nvPr/>
        </p:nvSpPr>
        <p:spPr>
          <a:xfrm>
            <a:off x="4062412" y="3639051"/>
            <a:ext cx="2805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B5563"/>
              </a:buClr>
              <a:buSzPts val="788"/>
              <a:buFont typeface="Arial"/>
              <a:buNone/>
            </a:pPr>
            <a:r>
              <a:rPr b="0" i="0" lang="en-US" sz="788" u="none" cap="none" strike="noStrike">
                <a:solidFill>
                  <a:srgbClr val="4B5563"/>
                </a:solidFill>
                <a:latin typeface="Arial"/>
                <a:ea typeface="Arial"/>
                <a:cs typeface="Arial"/>
                <a:sym typeface="Arial"/>
              </a:rPr>
              <a:t>Best fit when the client wants a lower monthly run-rate and ongoing operational support within agreed monthly capacity.</a:t>
            </a:r>
            <a:endParaRPr b="0" i="0" sz="788" u="none" cap="none" strike="noStrike">
              <a:solidFill>
                <a:schemeClr val="dk1"/>
              </a:solidFill>
              <a:latin typeface="Calibri"/>
              <a:ea typeface="Calibri"/>
              <a:cs typeface="Calibri"/>
              <a:sym typeface="Calibri"/>
            </a:endParaRPr>
          </a:p>
        </p:txBody>
      </p:sp>
      <p:sp>
        <p:nvSpPr>
          <p:cNvPr id="524" name="Google Shape;524;p9"/>
          <p:cNvSpPr/>
          <p:nvPr/>
        </p:nvSpPr>
        <p:spPr>
          <a:xfrm>
            <a:off x="4056825" y="4072450"/>
            <a:ext cx="2805900" cy="781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Duration · 6 months</a:t>
            </a:r>
            <a:endParaRPr b="0" i="0" sz="788"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Monthly fee · USD 5,000, paid in advance</a:t>
            </a:r>
            <a:endParaRPr b="0" i="0" sz="788"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Model · Build, manage &amp; operate</a:t>
            </a:r>
            <a:endParaRPr b="0" i="0" sz="788"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374151"/>
              </a:buClr>
              <a:buSzPts val="788"/>
              <a:buFont typeface="Arial"/>
              <a:buNone/>
            </a:pPr>
            <a:r>
              <a:rPr b="0" i="0" lang="en-US" sz="788" u="none" cap="none" strike="noStrike">
                <a:solidFill>
                  <a:srgbClr val="374151"/>
                </a:solidFill>
                <a:latin typeface="Arial"/>
                <a:ea typeface="Arial"/>
                <a:cs typeface="Arial"/>
                <a:sym typeface="Arial"/>
              </a:rPr>
              <a:t>Support · Standard IST business hours</a:t>
            </a:r>
            <a:endParaRPr b="0" i="0" sz="788" u="none" cap="none" strike="noStrike">
              <a:solidFill>
                <a:schemeClr val="dk1"/>
              </a:solidFill>
              <a:latin typeface="Calibri"/>
              <a:ea typeface="Calibri"/>
              <a:cs typeface="Calibri"/>
              <a:sym typeface="Calibri"/>
            </a:endParaRPr>
          </a:p>
        </p:txBody>
      </p:sp>
      <p:sp>
        <p:nvSpPr>
          <p:cNvPr id="525" name="Google Shape;525;p9"/>
          <p:cNvSpPr/>
          <p:nvPr/>
        </p:nvSpPr>
        <p:spPr>
          <a:xfrm>
            <a:off x="571500" y="5567530"/>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Arial"/>
              <a:buNone/>
            </a:pPr>
            <a:r>
              <a:rPr b="1" i="0" lang="en-US" sz="1275" u="none" cap="none" strike="noStrike">
                <a:solidFill>
                  <a:srgbClr val="0E1320"/>
                </a:solidFill>
                <a:latin typeface="Arial"/>
                <a:ea typeface="Arial"/>
                <a:cs typeface="Arial"/>
                <a:sym typeface="Arial"/>
              </a:rPr>
              <a:t>What's included in both options</a:t>
            </a:r>
            <a:endParaRPr b="0" i="0" sz="1275" u="none" cap="none" strike="noStrike">
              <a:solidFill>
                <a:schemeClr val="dk1"/>
              </a:solidFill>
              <a:latin typeface="Calibri"/>
              <a:ea typeface="Calibri"/>
              <a:cs typeface="Calibri"/>
              <a:sym typeface="Calibri"/>
            </a:endParaRPr>
          </a:p>
        </p:txBody>
      </p:sp>
      <p:sp>
        <p:nvSpPr>
          <p:cNvPr id="526" name="Google Shape;526;p9"/>
          <p:cNvSpPr/>
          <p:nvPr/>
        </p:nvSpPr>
        <p:spPr>
          <a:xfrm>
            <a:off x="571500" y="5915192"/>
            <a:ext cx="2063700" cy="1127400"/>
          </a:xfrm>
          <a:prstGeom prst="roundRect">
            <a:avLst>
              <a:gd fmla="val 506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9"/>
          <p:cNvSpPr/>
          <p:nvPr/>
        </p:nvSpPr>
        <p:spPr>
          <a:xfrm>
            <a:off x="733425" y="605806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BUILD</a:t>
            </a:r>
            <a:endParaRPr b="0" i="0" sz="750" u="none" cap="none" strike="noStrike">
              <a:solidFill>
                <a:schemeClr val="dk1"/>
              </a:solidFill>
              <a:latin typeface="Calibri"/>
              <a:ea typeface="Calibri"/>
              <a:cs typeface="Calibri"/>
              <a:sym typeface="Calibri"/>
            </a:endParaRPr>
          </a:p>
        </p:txBody>
      </p:sp>
      <p:sp>
        <p:nvSpPr>
          <p:cNvPr id="528" name="Google Shape;528;p9"/>
          <p:cNvSpPr/>
          <p:nvPr/>
        </p:nvSpPr>
        <p:spPr>
          <a:xfrm>
            <a:off x="733425" y="622951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Senior delivery team, weekly demos, code in your environment from day one, and a working MVP across both flows.</a:t>
            </a:r>
            <a:endParaRPr b="0" i="0" sz="825" u="none" cap="none" strike="noStrike">
              <a:solidFill>
                <a:schemeClr val="dk1"/>
              </a:solidFill>
              <a:latin typeface="Calibri"/>
              <a:ea typeface="Calibri"/>
              <a:cs typeface="Calibri"/>
              <a:sym typeface="Calibri"/>
            </a:endParaRPr>
          </a:p>
        </p:txBody>
      </p:sp>
      <p:sp>
        <p:nvSpPr>
          <p:cNvPr id="529" name="Google Shape;529;p9"/>
          <p:cNvSpPr/>
          <p:nvPr/>
        </p:nvSpPr>
        <p:spPr>
          <a:xfrm>
            <a:off x="2749525" y="5915192"/>
            <a:ext cx="2063700" cy="1127400"/>
          </a:xfrm>
          <a:prstGeom prst="roundRect">
            <a:avLst>
              <a:gd fmla="val 506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9"/>
          <p:cNvSpPr/>
          <p:nvPr/>
        </p:nvSpPr>
        <p:spPr>
          <a:xfrm>
            <a:off x="2911450" y="605806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QUALITY &amp; UAT</a:t>
            </a:r>
            <a:endParaRPr b="0" i="0" sz="750" u="none" cap="none" strike="noStrike">
              <a:solidFill>
                <a:schemeClr val="dk1"/>
              </a:solidFill>
              <a:latin typeface="Calibri"/>
              <a:ea typeface="Calibri"/>
              <a:cs typeface="Calibri"/>
              <a:sym typeface="Calibri"/>
            </a:endParaRPr>
          </a:p>
        </p:txBody>
      </p:sp>
      <p:sp>
        <p:nvSpPr>
          <p:cNvPr id="531" name="Google Shape;531;p9"/>
          <p:cNvSpPr/>
          <p:nvPr/>
        </p:nvSpPr>
        <p:spPr>
          <a:xfrm>
            <a:off x="2911450" y="622951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Three rolling UAT cycles, defect triage, validated against representative employer files and the agreed rule catalogue.</a:t>
            </a:r>
            <a:endParaRPr b="0" i="0" sz="825" u="none" cap="none" strike="noStrike">
              <a:solidFill>
                <a:schemeClr val="dk1"/>
              </a:solidFill>
              <a:latin typeface="Calibri"/>
              <a:ea typeface="Calibri"/>
              <a:cs typeface="Calibri"/>
              <a:sym typeface="Calibri"/>
            </a:endParaRPr>
          </a:p>
        </p:txBody>
      </p:sp>
      <p:sp>
        <p:nvSpPr>
          <p:cNvPr id="532" name="Google Shape;532;p9"/>
          <p:cNvSpPr/>
          <p:nvPr/>
        </p:nvSpPr>
        <p:spPr>
          <a:xfrm>
            <a:off x="4927550" y="5915192"/>
            <a:ext cx="2063700" cy="1127400"/>
          </a:xfrm>
          <a:prstGeom prst="roundRect">
            <a:avLst>
              <a:gd fmla="val 506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9"/>
          <p:cNvSpPr/>
          <p:nvPr/>
        </p:nvSpPr>
        <p:spPr>
          <a:xfrm>
            <a:off x="5089475" y="605806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Arial"/>
              <a:buNone/>
            </a:pPr>
            <a:r>
              <a:rPr b="1" i="0" lang="en-US" sz="750" u="none" cap="none" strike="noStrike">
                <a:solidFill>
                  <a:srgbClr val="0047AB"/>
                </a:solidFill>
                <a:latin typeface="Arial"/>
                <a:ea typeface="Arial"/>
                <a:cs typeface="Arial"/>
                <a:sym typeface="Arial"/>
              </a:rPr>
              <a:t>HANDOVER</a:t>
            </a:r>
            <a:endParaRPr b="0" i="0" sz="750" u="none" cap="none" strike="noStrike">
              <a:solidFill>
                <a:schemeClr val="dk1"/>
              </a:solidFill>
              <a:latin typeface="Calibri"/>
              <a:ea typeface="Calibri"/>
              <a:cs typeface="Calibri"/>
              <a:sym typeface="Calibri"/>
            </a:endParaRPr>
          </a:p>
        </p:txBody>
      </p:sp>
      <p:sp>
        <p:nvSpPr>
          <p:cNvPr id="534" name="Google Shape;534;p9"/>
          <p:cNvSpPr/>
          <p:nvPr/>
        </p:nvSpPr>
        <p:spPr>
          <a:xfrm>
            <a:off x="5089475" y="622951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Architecture notes, runbook, rule configuration guide, and a walkthrough with the client operations team.</a:t>
            </a:r>
            <a:endParaRPr b="0" i="0" sz="825" u="none" cap="none" strike="noStrike">
              <a:solidFill>
                <a:schemeClr val="dk1"/>
              </a:solidFill>
              <a:latin typeface="Calibri"/>
              <a:ea typeface="Calibri"/>
              <a:cs typeface="Calibri"/>
              <a:sym typeface="Calibri"/>
            </a:endParaRPr>
          </a:p>
        </p:txBody>
      </p:sp>
      <p:sp>
        <p:nvSpPr>
          <p:cNvPr id="535" name="Google Shape;535;p9"/>
          <p:cNvSpPr/>
          <p:nvPr/>
        </p:nvSpPr>
        <p:spPr>
          <a:xfrm>
            <a:off x="571500" y="7328464"/>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Arial"/>
              <a:buNone/>
            </a:pPr>
            <a:r>
              <a:rPr b="1" i="0" lang="en-US" sz="1275" u="none" cap="none" strike="noStrike">
                <a:solidFill>
                  <a:srgbClr val="0E1320"/>
                </a:solidFill>
                <a:latin typeface="Arial"/>
                <a:ea typeface="Arial"/>
                <a:cs typeface="Arial"/>
                <a:sym typeface="Arial"/>
              </a:rPr>
              <a:t>Commercial Notes</a:t>
            </a:r>
            <a:endParaRPr b="0" i="0" sz="1275" u="none" cap="none" strike="noStrike">
              <a:solidFill>
                <a:schemeClr val="dk1"/>
              </a:solidFill>
              <a:latin typeface="Calibri"/>
              <a:ea typeface="Calibri"/>
              <a:cs typeface="Calibri"/>
              <a:sym typeface="Calibri"/>
            </a:endParaRPr>
          </a:p>
        </p:txBody>
      </p:sp>
      <p:sp>
        <p:nvSpPr>
          <p:cNvPr id="536" name="Google Shape;536;p9"/>
          <p:cNvSpPr/>
          <p:nvPr/>
        </p:nvSpPr>
        <p:spPr>
          <a:xfrm>
            <a:off x="469900" y="7676127"/>
            <a:ext cx="6597600" cy="10581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Power Automate Premium or Process licensing may be required even if the client has Microsoft E5.</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Cloud hosting, Microsoft licensing, PAS API charges, storage charges, and third-party service costs are not included unless explicitly agreed.</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Final commercials should be confirmed after discovery validates integration complexity and the final rule catalogue.</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Quote validity should be confirmed before client submission.</a:t>
            </a:r>
            <a:endParaRPr b="0" i="0" sz="863" u="none" cap="none" strike="noStrike">
              <a:solidFill>
                <a:schemeClr val="dk1"/>
              </a:solidFill>
              <a:latin typeface="Calibri"/>
              <a:ea typeface="Calibri"/>
              <a:cs typeface="Calibri"/>
              <a:sym typeface="Calibri"/>
            </a:endParaRPr>
          </a:p>
        </p:txBody>
      </p:sp>
      <p:sp>
        <p:nvSpPr>
          <p:cNvPr id="537" name="Google Shape;537;p9"/>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9"/>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9"/>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lang="en-US" sz="713">
                <a:solidFill>
                  <a:srgbClr val="6B7686"/>
                </a:solidFill>
              </a:rPr>
              <a:t>10</a:t>
            </a:r>
            <a:r>
              <a:rPr b="1" i="0" lang="en-US" sz="713" u="none" cap="none" strike="noStrike">
                <a:solidFill>
                  <a:srgbClr val="6B7686"/>
                </a:solidFill>
                <a:latin typeface="Arial"/>
                <a:ea typeface="Arial"/>
                <a:cs typeface="Arial"/>
                <a:sym typeface="Arial"/>
              </a:rPr>
              <a:t>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540" name="Google Shape;540;p9"/>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10"/>
          <p:cNvSpPr/>
          <p:nvPr/>
        </p:nvSpPr>
        <p:spPr>
          <a:xfrm>
            <a:off x="0" y="91816"/>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7" name="Google Shape;547;p10"/>
          <p:cNvPicPr preferRelativeResize="0"/>
          <p:nvPr/>
        </p:nvPicPr>
        <p:blipFill rotWithShape="1">
          <a:blip r:embed="rId3">
            <a:alphaModFix/>
          </a:blip>
          <a:srcRect b="0" l="0" r="0" t="0"/>
          <a:stretch/>
        </p:blipFill>
        <p:spPr>
          <a:xfrm>
            <a:off x="571500" y="348067"/>
            <a:ext cx="815357" cy="152400"/>
          </a:xfrm>
          <a:prstGeom prst="rect">
            <a:avLst/>
          </a:prstGeom>
          <a:noFill/>
          <a:ln>
            <a:noFill/>
          </a:ln>
        </p:spPr>
      </p:pic>
      <p:sp>
        <p:nvSpPr>
          <p:cNvPr id="548" name="Google Shape;548;p10"/>
          <p:cNvSpPr/>
          <p:nvPr/>
        </p:nvSpPr>
        <p:spPr>
          <a:xfrm>
            <a:off x="3486522" y="367117"/>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549" name="Google Shape;549;p10"/>
          <p:cNvSpPr/>
          <p:nvPr/>
        </p:nvSpPr>
        <p:spPr>
          <a:xfrm>
            <a:off x="571500" y="1365633"/>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0"/>
          <p:cNvSpPr/>
          <p:nvPr/>
        </p:nvSpPr>
        <p:spPr>
          <a:xfrm>
            <a:off x="571500" y="1126616"/>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10</a:t>
            </a:r>
            <a:endParaRPr b="0" i="0" sz="825" u="none" cap="none" strike="noStrike">
              <a:solidFill>
                <a:schemeClr val="dk1"/>
              </a:solidFill>
              <a:latin typeface="Calibri"/>
              <a:ea typeface="Calibri"/>
              <a:cs typeface="Calibri"/>
              <a:sym typeface="Calibri"/>
            </a:endParaRPr>
          </a:p>
        </p:txBody>
      </p:sp>
      <p:sp>
        <p:nvSpPr>
          <p:cNvPr id="551" name="Google Shape;551;p10"/>
          <p:cNvSpPr/>
          <p:nvPr/>
        </p:nvSpPr>
        <p:spPr>
          <a:xfrm>
            <a:off x="916558" y="998028"/>
            <a:ext cx="46395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Assumptions, Exclusions &amp; Open Items</a:t>
            </a:r>
            <a:endParaRPr b="0" i="0" sz="1950" u="none" cap="none" strike="noStrike">
              <a:solidFill>
                <a:schemeClr val="dk1"/>
              </a:solidFill>
              <a:latin typeface="Calibri"/>
              <a:ea typeface="Calibri"/>
              <a:cs typeface="Calibri"/>
              <a:sym typeface="Calibri"/>
            </a:endParaRPr>
          </a:p>
        </p:txBody>
      </p:sp>
      <p:sp>
        <p:nvSpPr>
          <p:cNvPr id="552" name="Google Shape;552;p10"/>
          <p:cNvSpPr/>
          <p:nvPr/>
        </p:nvSpPr>
        <p:spPr>
          <a:xfrm>
            <a:off x="571500" y="1565658"/>
            <a:ext cx="32376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Arial"/>
              <a:buNone/>
            </a:pPr>
            <a:r>
              <a:rPr b="1" i="0" lang="en-US" sz="975" u="none" cap="none" strike="noStrike">
                <a:solidFill>
                  <a:srgbClr val="0047AB"/>
                </a:solidFill>
                <a:latin typeface="Arial"/>
                <a:ea typeface="Arial"/>
                <a:cs typeface="Arial"/>
                <a:sym typeface="Arial"/>
              </a:rPr>
              <a:t>ASSUMPTIONS</a:t>
            </a:r>
            <a:endParaRPr b="0" i="0" sz="975" u="none" cap="none" strike="noStrike">
              <a:solidFill>
                <a:schemeClr val="dk1"/>
              </a:solidFill>
              <a:latin typeface="Calibri"/>
              <a:ea typeface="Calibri"/>
              <a:cs typeface="Calibri"/>
              <a:sym typeface="Calibri"/>
            </a:endParaRPr>
          </a:p>
        </p:txBody>
      </p:sp>
      <p:sp>
        <p:nvSpPr>
          <p:cNvPr id="553" name="Google Shape;553;p10"/>
          <p:cNvSpPr/>
          <p:nvPr/>
        </p:nvSpPr>
        <p:spPr>
          <a:xfrm>
            <a:off x="469900" y="1789496"/>
            <a:ext cx="3321000" cy="24732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The client will provide representative employer files, previous-month files, validation rules, and expected outputs during discovery.</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Required access to Microsoft 365, Power Automate, cloud storage, PAS API documentation, and test environments will be available on time.</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The existing portal team will expose the integration point or consume Newtuple's validation API as agreed.</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PAS API posting is subject to confirmed endpoint availability, authentication, payload schema, error handling, and rate limits.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The client will nominate business users for weekly review, UAT feedback, and rule confirmation.</a:t>
            </a:r>
            <a:endParaRPr b="0" i="0" sz="863" u="none" cap="none" strike="noStrike">
              <a:solidFill>
                <a:schemeClr val="dk1"/>
              </a:solidFill>
              <a:latin typeface="Calibri"/>
              <a:ea typeface="Calibri"/>
              <a:cs typeface="Calibri"/>
              <a:sym typeface="Calibri"/>
            </a:endParaRPr>
          </a:p>
        </p:txBody>
      </p:sp>
      <p:sp>
        <p:nvSpPr>
          <p:cNvPr id="554" name="Google Shape;554;p10"/>
          <p:cNvSpPr/>
          <p:nvPr/>
        </p:nvSpPr>
        <p:spPr>
          <a:xfrm>
            <a:off x="3848100" y="1565658"/>
            <a:ext cx="32376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Arial"/>
              <a:buNone/>
            </a:pPr>
            <a:r>
              <a:rPr b="1" i="0" lang="en-US" sz="975" u="none" cap="none" strike="noStrike">
                <a:solidFill>
                  <a:srgbClr val="0047AB"/>
                </a:solidFill>
                <a:latin typeface="Arial"/>
                <a:ea typeface="Arial"/>
                <a:cs typeface="Arial"/>
                <a:sym typeface="Arial"/>
              </a:rPr>
              <a:t>EXCLUSIONS</a:t>
            </a:r>
            <a:endParaRPr b="0" i="0" sz="975" u="none" cap="none" strike="noStrike">
              <a:solidFill>
                <a:schemeClr val="dk1"/>
              </a:solidFill>
              <a:latin typeface="Calibri"/>
              <a:ea typeface="Calibri"/>
              <a:cs typeface="Calibri"/>
              <a:sym typeface="Calibri"/>
            </a:endParaRPr>
          </a:p>
        </p:txBody>
      </p:sp>
      <p:sp>
        <p:nvSpPr>
          <p:cNvPr id="555" name="Google Shape;555;p10"/>
          <p:cNvSpPr/>
          <p:nvPr/>
        </p:nvSpPr>
        <p:spPr>
          <a:xfrm>
            <a:off x="3746500" y="1789496"/>
            <a:ext cx="3321000" cy="19641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Portal rebuild, new portal UX, or employer identity management changes.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Large-scale historical data migration or cleansing outside validation test needs.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Formal security certification, penetration testing, or regulatory attestation.</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Long-term managed service beyond the selected commercial option.</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Enhancements outside the agreed MVP backlog unless approved through change control.</a:t>
            </a:r>
            <a:endParaRPr b="0" i="0" sz="863" u="none" cap="none" strike="noStrike">
              <a:solidFill>
                <a:schemeClr val="dk1"/>
              </a:solidFill>
              <a:latin typeface="Calibri"/>
              <a:ea typeface="Calibri"/>
              <a:cs typeface="Calibri"/>
              <a:sym typeface="Calibri"/>
            </a:endParaRPr>
          </a:p>
        </p:txBody>
      </p:sp>
      <p:sp>
        <p:nvSpPr>
          <p:cNvPr id="556" name="Google Shape;556;p10"/>
          <p:cNvSpPr/>
          <p:nvPr/>
        </p:nvSpPr>
        <p:spPr>
          <a:xfrm>
            <a:off x="571500" y="4663473"/>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Arial"/>
              <a:buNone/>
            </a:pPr>
            <a:r>
              <a:rPr b="1" i="0" lang="en-US" sz="1275" u="none" cap="none" strike="noStrike">
                <a:solidFill>
                  <a:srgbClr val="0E1320"/>
                </a:solidFill>
                <a:latin typeface="Arial"/>
                <a:ea typeface="Arial"/>
                <a:cs typeface="Arial"/>
                <a:sym typeface="Arial"/>
              </a:rPr>
              <a:t>Open Items Before Final Submission</a:t>
            </a:r>
            <a:endParaRPr b="0" i="0" sz="1275" u="none" cap="none" strike="noStrike">
              <a:solidFill>
                <a:schemeClr val="dk1"/>
              </a:solidFill>
              <a:latin typeface="Calibri"/>
              <a:ea typeface="Calibri"/>
              <a:cs typeface="Calibri"/>
              <a:sym typeface="Calibri"/>
            </a:endParaRPr>
          </a:p>
        </p:txBody>
      </p:sp>
      <p:sp>
        <p:nvSpPr>
          <p:cNvPr id="557" name="Google Shape;557;p10"/>
          <p:cNvSpPr/>
          <p:nvPr/>
        </p:nvSpPr>
        <p:spPr>
          <a:xfrm>
            <a:off x="571500" y="5011136"/>
            <a:ext cx="23814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0"/>
          <p:cNvSpPr/>
          <p:nvPr/>
        </p:nvSpPr>
        <p:spPr>
          <a:xfrm>
            <a:off x="571500" y="5289742"/>
            <a:ext cx="23814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0"/>
          <p:cNvSpPr/>
          <p:nvPr/>
        </p:nvSpPr>
        <p:spPr>
          <a:xfrm>
            <a:off x="666750" y="5077811"/>
            <a:ext cx="22671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OPEN ITEM</a:t>
            </a:r>
            <a:endParaRPr b="0" i="0" sz="788" u="none" cap="none" strike="noStrike">
              <a:solidFill>
                <a:schemeClr val="dk1"/>
              </a:solidFill>
              <a:latin typeface="Calibri"/>
              <a:ea typeface="Calibri"/>
              <a:cs typeface="Calibri"/>
              <a:sym typeface="Calibri"/>
            </a:endParaRPr>
          </a:p>
        </p:txBody>
      </p:sp>
      <p:sp>
        <p:nvSpPr>
          <p:cNvPr id="560" name="Google Shape;560;p10"/>
          <p:cNvSpPr/>
          <p:nvPr/>
        </p:nvSpPr>
        <p:spPr>
          <a:xfrm>
            <a:off x="2952750" y="5011136"/>
            <a:ext cx="18096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0"/>
          <p:cNvSpPr/>
          <p:nvPr/>
        </p:nvSpPr>
        <p:spPr>
          <a:xfrm>
            <a:off x="2952750" y="5289742"/>
            <a:ext cx="18096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0"/>
          <p:cNvSpPr/>
          <p:nvPr/>
        </p:nvSpPr>
        <p:spPr>
          <a:xfrm>
            <a:off x="3048000" y="5077811"/>
            <a:ext cx="16956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OWNER GROUP</a:t>
            </a:r>
            <a:endParaRPr b="0" i="0" sz="788" u="none" cap="none" strike="noStrike">
              <a:solidFill>
                <a:schemeClr val="dk1"/>
              </a:solidFill>
              <a:latin typeface="Calibri"/>
              <a:ea typeface="Calibri"/>
              <a:cs typeface="Calibri"/>
              <a:sym typeface="Calibri"/>
            </a:endParaRPr>
          </a:p>
        </p:txBody>
      </p:sp>
      <p:sp>
        <p:nvSpPr>
          <p:cNvPr id="563" name="Google Shape;563;p10"/>
          <p:cNvSpPr/>
          <p:nvPr/>
        </p:nvSpPr>
        <p:spPr>
          <a:xfrm>
            <a:off x="4762500" y="5011136"/>
            <a:ext cx="22290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0"/>
          <p:cNvSpPr/>
          <p:nvPr/>
        </p:nvSpPr>
        <p:spPr>
          <a:xfrm>
            <a:off x="4762500" y="5289742"/>
            <a:ext cx="22290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0"/>
          <p:cNvSpPr/>
          <p:nvPr/>
        </p:nvSpPr>
        <p:spPr>
          <a:xfrm>
            <a:off x="4857750" y="5077811"/>
            <a:ext cx="21147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Arial"/>
              <a:buNone/>
            </a:pPr>
            <a:r>
              <a:rPr b="1" i="0" lang="en-US" sz="788" u="none" cap="none" strike="noStrike">
                <a:solidFill>
                  <a:srgbClr val="374151"/>
                </a:solidFill>
                <a:latin typeface="Arial"/>
                <a:ea typeface="Arial"/>
                <a:cs typeface="Arial"/>
                <a:sym typeface="Arial"/>
              </a:rPr>
              <a:t>WHY IT MATTERS</a:t>
            </a:r>
            <a:endParaRPr b="0" i="0" sz="788" u="none" cap="none" strike="noStrike">
              <a:solidFill>
                <a:schemeClr val="dk1"/>
              </a:solidFill>
              <a:latin typeface="Calibri"/>
              <a:ea typeface="Calibri"/>
              <a:cs typeface="Calibri"/>
              <a:sym typeface="Calibri"/>
            </a:endParaRPr>
          </a:p>
        </p:txBody>
      </p:sp>
      <p:sp>
        <p:nvSpPr>
          <p:cNvPr id="566" name="Google Shape;566;p10"/>
          <p:cNvSpPr/>
          <p:nvPr/>
        </p:nvSpPr>
        <p:spPr>
          <a:xfrm>
            <a:off x="571500" y="57469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0"/>
          <p:cNvSpPr/>
          <p:nvPr/>
        </p:nvSpPr>
        <p:spPr>
          <a:xfrm>
            <a:off x="666750" y="53659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Client name and signatory details</a:t>
            </a:r>
            <a:endParaRPr b="0" i="0" sz="825" u="none" cap="none" strike="noStrike">
              <a:solidFill>
                <a:schemeClr val="dk1"/>
              </a:solidFill>
              <a:latin typeface="Calibri"/>
              <a:ea typeface="Calibri"/>
              <a:cs typeface="Calibri"/>
              <a:sym typeface="Calibri"/>
            </a:endParaRPr>
          </a:p>
        </p:txBody>
      </p:sp>
      <p:sp>
        <p:nvSpPr>
          <p:cNvPr id="568" name="Google Shape;568;p10"/>
          <p:cNvSpPr/>
          <p:nvPr/>
        </p:nvSpPr>
        <p:spPr>
          <a:xfrm>
            <a:off x="2952750" y="57469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0"/>
          <p:cNvSpPr/>
          <p:nvPr/>
        </p:nvSpPr>
        <p:spPr>
          <a:xfrm>
            <a:off x="3048000" y="53659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Sales</a:t>
            </a:r>
            <a:endParaRPr b="0" i="0" sz="825" u="none" cap="none" strike="noStrike">
              <a:solidFill>
                <a:schemeClr val="dk1"/>
              </a:solidFill>
              <a:latin typeface="Calibri"/>
              <a:ea typeface="Calibri"/>
              <a:cs typeface="Calibri"/>
              <a:sym typeface="Calibri"/>
            </a:endParaRPr>
          </a:p>
        </p:txBody>
      </p:sp>
      <p:sp>
        <p:nvSpPr>
          <p:cNvPr id="570" name="Google Shape;570;p10"/>
          <p:cNvSpPr/>
          <p:nvPr/>
        </p:nvSpPr>
        <p:spPr>
          <a:xfrm>
            <a:off x="4762500" y="57469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0"/>
          <p:cNvSpPr/>
          <p:nvPr/>
        </p:nvSpPr>
        <p:spPr>
          <a:xfrm>
            <a:off x="4857750" y="53659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Needed for cover page, signature block, and final quote validity.</a:t>
            </a:r>
            <a:endParaRPr b="0" i="0" sz="825" u="none" cap="none" strike="noStrike">
              <a:solidFill>
                <a:schemeClr val="dk1"/>
              </a:solidFill>
              <a:latin typeface="Calibri"/>
              <a:ea typeface="Calibri"/>
              <a:cs typeface="Calibri"/>
              <a:sym typeface="Calibri"/>
            </a:endParaRPr>
          </a:p>
        </p:txBody>
      </p:sp>
      <p:sp>
        <p:nvSpPr>
          <p:cNvPr id="572" name="Google Shape;572;p10"/>
          <p:cNvSpPr/>
          <p:nvPr/>
        </p:nvSpPr>
        <p:spPr>
          <a:xfrm>
            <a:off x="571500" y="62041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0"/>
          <p:cNvSpPr/>
          <p:nvPr/>
        </p:nvSpPr>
        <p:spPr>
          <a:xfrm>
            <a:off x="666750" y="58231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PAS API contract and authentication model</a:t>
            </a:r>
            <a:endParaRPr b="0" i="0" sz="825" u="none" cap="none" strike="noStrike">
              <a:solidFill>
                <a:schemeClr val="dk1"/>
              </a:solidFill>
              <a:latin typeface="Calibri"/>
              <a:ea typeface="Calibri"/>
              <a:cs typeface="Calibri"/>
              <a:sym typeface="Calibri"/>
            </a:endParaRPr>
          </a:p>
        </p:txBody>
      </p:sp>
      <p:sp>
        <p:nvSpPr>
          <p:cNvPr id="574" name="Google Shape;574;p10"/>
          <p:cNvSpPr/>
          <p:nvPr/>
        </p:nvSpPr>
        <p:spPr>
          <a:xfrm>
            <a:off x="2952750" y="62041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0"/>
          <p:cNvSpPr/>
          <p:nvPr/>
        </p:nvSpPr>
        <p:spPr>
          <a:xfrm>
            <a:off x="3048000" y="58231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Product / client technical team</a:t>
            </a:r>
            <a:endParaRPr b="0" i="0" sz="825" u="none" cap="none" strike="noStrike">
              <a:solidFill>
                <a:schemeClr val="dk1"/>
              </a:solidFill>
              <a:latin typeface="Calibri"/>
              <a:ea typeface="Calibri"/>
              <a:cs typeface="Calibri"/>
              <a:sym typeface="Calibri"/>
            </a:endParaRPr>
          </a:p>
        </p:txBody>
      </p:sp>
      <p:sp>
        <p:nvSpPr>
          <p:cNvPr id="576" name="Google Shape;576;p10"/>
          <p:cNvSpPr/>
          <p:nvPr/>
        </p:nvSpPr>
        <p:spPr>
          <a:xfrm>
            <a:off x="4762500" y="62041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0"/>
          <p:cNvSpPr/>
          <p:nvPr/>
        </p:nvSpPr>
        <p:spPr>
          <a:xfrm>
            <a:off x="4857750" y="58231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Determines whether automated upload can be committed in the MVP.</a:t>
            </a:r>
            <a:endParaRPr b="0" i="0" sz="825" u="none" cap="none" strike="noStrike">
              <a:solidFill>
                <a:schemeClr val="dk1"/>
              </a:solidFill>
              <a:latin typeface="Calibri"/>
              <a:ea typeface="Calibri"/>
              <a:cs typeface="Calibri"/>
              <a:sym typeface="Calibri"/>
            </a:endParaRPr>
          </a:p>
        </p:txBody>
      </p:sp>
      <p:sp>
        <p:nvSpPr>
          <p:cNvPr id="578" name="Google Shape;578;p10"/>
          <p:cNvSpPr/>
          <p:nvPr/>
        </p:nvSpPr>
        <p:spPr>
          <a:xfrm>
            <a:off x="571500" y="66613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0"/>
          <p:cNvSpPr/>
          <p:nvPr/>
        </p:nvSpPr>
        <p:spPr>
          <a:xfrm>
            <a:off x="666750" y="62803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Power Automate licensing position</a:t>
            </a:r>
            <a:endParaRPr b="0" i="0" sz="825" u="none" cap="none" strike="noStrike">
              <a:solidFill>
                <a:schemeClr val="dk1"/>
              </a:solidFill>
              <a:latin typeface="Calibri"/>
              <a:ea typeface="Calibri"/>
              <a:cs typeface="Calibri"/>
              <a:sym typeface="Calibri"/>
            </a:endParaRPr>
          </a:p>
        </p:txBody>
      </p:sp>
      <p:sp>
        <p:nvSpPr>
          <p:cNvPr id="580" name="Google Shape;580;p10"/>
          <p:cNvSpPr/>
          <p:nvPr/>
        </p:nvSpPr>
        <p:spPr>
          <a:xfrm>
            <a:off x="2952750" y="66613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0"/>
          <p:cNvSpPr/>
          <p:nvPr/>
        </p:nvSpPr>
        <p:spPr>
          <a:xfrm>
            <a:off x="3048000" y="62803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Client IT / Microsoft admin</a:t>
            </a:r>
            <a:endParaRPr b="0" i="0" sz="825" u="none" cap="none" strike="noStrike">
              <a:solidFill>
                <a:schemeClr val="dk1"/>
              </a:solidFill>
              <a:latin typeface="Calibri"/>
              <a:ea typeface="Calibri"/>
              <a:cs typeface="Calibri"/>
              <a:sym typeface="Calibri"/>
            </a:endParaRPr>
          </a:p>
        </p:txBody>
      </p:sp>
      <p:sp>
        <p:nvSpPr>
          <p:cNvPr id="582" name="Google Shape;582;p10"/>
          <p:cNvSpPr/>
          <p:nvPr/>
        </p:nvSpPr>
        <p:spPr>
          <a:xfrm>
            <a:off x="4762500" y="66613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0"/>
          <p:cNvSpPr/>
          <p:nvPr/>
        </p:nvSpPr>
        <p:spPr>
          <a:xfrm>
            <a:off x="4857750" y="62803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May affect implementation cost and process design.</a:t>
            </a:r>
            <a:endParaRPr b="0" i="0" sz="825" u="none" cap="none" strike="noStrike">
              <a:solidFill>
                <a:schemeClr val="dk1"/>
              </a:solidFill>
              <a:latin typeface="Calibri"/>
              <a:ea typeface="Calibri"/>
              <a:cs typeface="Calibri"/>
              <a:sym typeface="Calibri"/>
            </a:endParaRPr>
          </a:p>
        </p:txBody>
      </p:sp>
      <p:sp>
        <p:nvSpPr>
          <p:cNvPr id="584" name="Google Shape;584;p10"/>
          <p:cNvSpPr/>
          <p:nvPr/>
        </p:nvSpPr>
        <p:spPr>
          <a:xfrm>
            <a:off x="571500" y="71185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0"/>
          <p:cNvSpPr/>
          <p:nvPr/>
        </p:nvSpPr>
        <p:spPr>
          <a:xfrm>
            <a:off x="666750" y="67375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Final validation rule catalogue</a:t>
            </a:r>
            <a:endParaRPr b="0" i="0" sz="825" u="none" cap="none" strike="noStrike">
              <a:solidFill>
                <a:schemeClr val="dk1"/>
              </a:solidFill>
              <a:latin typeface="Calibri"/>
              <a:ea typeface="Calibri"/>
              <a:cs typeface="Calibri"/>
              <a:sym typeface="Calibri"/>
            </a:endParaRPr>
          </a:p>
        </p:txBody>
      </p:sp>
      <p:sp>
        <p:nvSpPr>
          <p:cNvPr id="586" name="Google Shape;586;p10"/>
          <p:cNvSpPr/>
          <p:nvPr/>
        </p:nvSpPr>
        <p:spPr>
          <a:xfrm>
            <a:off x="2952750" y="71185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0"/>
          <p:cNvSpPr/>
          <p:nvPr/>
        </p:nvSpPr>
        <p:spPr>
          <a:xfrm>
            <a:off x="3048000" y="67375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Client operations / SME</a:t>
            </a:r>
            <a:endParaRPr b="0" i="0" sz="825" u="none" cap="none" strike="noStrike">
              <a:solidFill>
                <a:schemeClr val="dk1"/>
              </a:solidFill>
              <a:latin typeface="Calibri"/>
              <a:ea typeface="Calibri"/>
              <a:cs typeface="Calibri"/>
              <a:sym typeface="Calibri"/>
            </a:endParaRPr>
          </a:p>
        </p:txBody>
      </p:sp>
      <p:sp>
        <p:nvSpPr>
          <p:cNvPr id="588" name="Google Shape;588;p10"/>
          <p:cNvSpPr/>
          <p:nvPr/>
        </p:nvSpPr>
        <p:spPr>
          <a:xfrm>
            <a:off x="4762500" y="71185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0"/>
          <p:cNvSpPr/>
          <p:nvPr/>
        </p:nvSpPr>
        <p:spPr>
          <a:xfrm>
            <a:off x="4857750" y="67375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Controls scope, test cases, and estimate confidence.</a:t>
            </a:r>
            <a:endParaRPr b="0" i="0" sz="825" u="none" cap="none" strike="noStrike">
              <a:solidFill>
                <a:schemeClr val="dk1"/>
              </a:solidFill>
              <a:latin typeface="Calibri"/>
              <a:ea typeface="Calibri"/>
              <a:cs typeface="Calibri"/>
              <a:sym typeface="Calibri"/>
            </a:endParaRPr>
          </a:p>
        </p:txBody>
      </p:sp>
      <p:sp>
        <p:nvSpPr>
          <p:cNvPr id="590" name="Google Shape;590;p10"/>
          <p:cNvSpPr/>
          <p:nvPr/>
        </p:nvSpPr>
        <p:spPr>
          <a:xfrm>
            <a:off x="571500" y="75757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0"/>
          <p:cNvSpPr/>
          <p:nvPr/>
        </p:nvSpPr>
        <p:spPr>
          <a:xfrm>
            <a:off x="666750" y="71947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Historical storage location and access pattern</a:t>
            </a:r>
            <a:endParaRPr b="0" i="0" sz="825" u="none" cap="none" strike="noStrike">
              <a:solidFill>
                <a:schemeClr val="dk1"/>
              </a:solidFill>
              <a:latin typeface="Calibri"/>
              <a:ea typeface="Calibri"/>
              <a:cs typeface="Calibri"/>
              <a:sym typeface="Calibri"/>
            </a:endParaRPr>
          </a:p>
        </p:txBody>
      </p:sp>
      <p:sp>
        <p:nvSpPr>
          <p:cNvPr id="592" name="Google Shape;592;p10"/>
          <p:cNvSpPr/>
          <p:nvPr/>
        </p:nvSpPr>
        <p:spPr>
          <a:xfrm>
            <a:off x="2952750" y="75757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0"/>
          <p:cNvSpPr/>
          <p:nvPr/>
        </p:nvSpPr>
        <p:spPr>
          <a:xfrm>
            <a:off x="3048000" y="71947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Client IT</a:t>
            </a:r>
            <a:endParaRPr b="0" i="0" sz="825" u="none" cap="none" strike="noStrike">
              <a:solidFill>
                <a:schemeClr val="dk1"/>
              </a:solidFill>
              <a:latin typeface="Calibri"/>
              <a:ea typeface="Calibri"/>
              <a:cs typeface="Calibri"/>
              <a:sym typeface="Calibri"/>
            </a:endParaRPr>
          </a:p>
        </p:txBody>
      </p:sp>
      <p:sp>
        <p:nvSpPr>
          <p:cNvPr id="594" name="Google Shape;594;p10"/>
          <p:cNvSpPr/>
          <p:nvPr/>
        </p:nvSpPr>
        <p:spPr>
          <a:xfrm>
            <a:off x="4762500" y="75757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0"/>
          <p:cNvSpPr/>
          <p:nvPr/>
        </p:nvSpPr>
        <p:spPr>
          <a:xfrm>
            <a:off x="4857750" y="71947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Required for previous-month comparison and data retrieval timing.</a:t>
            </a:r>
            <a:endParaRPr b="0" i="0" sz="825" u="none" cap="none" strike="noStrike">
              <a:solidFill>
                <a:schemeClr val="dk1"/>
              </a:solidFill>
              <a:latin typeface="Calibri"/>
              <a:ea typeface="Calibri"/>
              <a:cs typeface="Calibri"/>
              <a:sym typeface="Calibri"/>
            </a:endParaRPr>
          </a:p>
        </p:txBody>
      </p:sp>
      <p:sp>
        <p:nvSpPr>
          <p:cNvPr id="596" name="Google Shape;596;p10"/>
          <p:cNvSpPr/>
          <p:nvPr/>
        </p:nvSpPr>
        <p:spPr>
          <a:xfrm>
            <a:off x="666750" y="7651942"/>
            <a:ext cx="22671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Arial"/>
              <a:buNone/>
            </a:pPr>
            <a:r>
              <a:rPr b="1" i="0" lang="en-US" sz="825" u="none" cap="none" strike="noStrike">
                <a:solidFill>
                  <a:srgbClr val="0E1320"/>
                </a:solidFill>
                <a:latin typeface="Arial"/>
                <a:ea typeface="Arial"/>
                <a:cs typeface="Arial"/>
                <a:sym typeface="Arial"/>
              </a:rPr>
              <a:t>Decision on Option A vs. Option B</a:t>
            </a:r>
            <a:endParaRPr b="0" i="0" sz="825" u="none" cap="none" strike="noStrike">
              <a:solidFill>
                <a:schemeClr val="dk1"/>
              </a:solidFill>
              <a:latin typeface="Calibri"/>
              <a:ea typeface="Calibri"/>
              <a:cs typeface="Calibri"/>
              <a:sym typeface="Calibri"/>
            </a:endParaRPr>
          </a:p>
        </p:txBody>
      </p:sp>
      <p:sp>
        <p:nvSpPr>
          <p:cNvPr id="597" name="Google Shape;597;p10"/>
          <p:cNvSpPr/>
          <p:nvPr/>
        </p:nvSpPr>
        <p:spPr>
          <a:xfrm>
            <a:off x="3048000" y="7651942"/>
            <a:ext cx="16956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Sales / commercial</a:t>
            </a:r>
            <a:endParaRPr b="0" i="0" sz="825" u="none" cap="none" strike="noStrike">
              <a:solidFill>
                <a:schemeClr val="dk1"/>
              </a:solidFill>
              <a:latin typeface="Calibri"/>
              <a:ea typeface="Calibri"/>
              <a:cs typeface="Calibri"/>
              <a:sym typeface="Calibri"/>
            </a:endParaRPr>
          </a:p>
        </p:txBody>
      </p:sp>
      <p:sp>
        <p:nvSpPr>
          <p:cNvPr id="598" name="Google Shape;598;p10"/>
          <p:cNvSpPr/>
          <p:nvPr/>
        </p:nvSpPr>
        <p:spPr>
          <a:xfrm>
            <a:off x="4857750" y="7651942"/>
            <a:ext cx="21147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Arial"/>
              <a:buNone/>
            </a:pPr>
            <a:r>
              <a:rPr b="0" i="0" lang="en-US" sz="825" u="none" cap="none" strike="noStrike">
                <a:solidFill>
                  <a:srgbClr val="374151"/>
                </a:solidFill>
                <a:latin typeface="Arial"/>
                <a:ea typeface="Arial"/>
                <a:cs typeface="Arial"/>
                <a:sym typeface="Arial"/>
              </a:rPr>
              <a:t>Needed before presenting a final commercial recommendation.</a:t>
            </a:r>
            <a:endParaRPr b="0" i="0" sz="825" u="none" cap="none" strike="noStrike">
              <a:solidFill>
                <a:schemeClr val="dk1"/>
              </a:solidFill>
              <a:latin typeface="Calibri"/>
              <a:ea typeface="Calibri"/>
              <a:cs typeface="Calibri"/>
              <a:sym typeface="Calibri"/>
            </a:endParaRPr>
          </a:p>
        </p:txBody>
      </p:sp>
      <p:sp>
        <p:nvSpPr>
          <p:cNvPr id="599" name="Google Shape;599;p10"/>
          <p:cNvSpPr/>
          <p:nvPr/>
        </p:nvSpPr>
        <p:spPr>
          <a:xfrm>
            <a:off x="571500" y="8258496"/>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Arial"/>
              <a:buNone/>
            </a:pPr>
            <a:r>
              <a:rPr b="1" i="0" lang="en-US" sz="1275" u="none" cap="none" strike="noStrike">
                <a:solidFill>
                  <a:srgbClr val="0E1320"/>
                </a:solidFill>
                <a:latin typeface="Arial"/>
                <a:ea typeface="Arial"/>
                <a:cs typeface="Arial"/>
                <a:sym typeface="Arial"/>
              </a:rPr>
              <a:t>Commercial Conditions</a:t>
            </a:r>
            <a:endParaRPr b="0" i="0" sz="1275" u="none" cap="none" strike="noStrike">
              <a:solidFill>
                <a:schemeClr val="dk1"/>
              </a:solidFill>
              <a:latin typeface="Calibri"/>
              <a:ea typeface="Calibri"/>
              <a:cs typeface="Calibri"/>
              <a:sym typeface="Calibri"/>
            </a:endParaRPr>
          </a:p>
        </p:txBody>
      </p:sp>
      <p:sp>
        <p:nvSpPr>
          <p:cNvPr id="600" name="Google Shape;600;p10"/>
          <p:cNvSpPr/>
          <p:nvPr/>
        </p:nvSpPr>
        <p:spPr>
          <a:xfrm>
            <a:off x="469900" y="8606159"/>
            <a:ext cx="3321000" cy="11709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Prices are in USD and exclusive of taxes, GST, duties, and statutory charges.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Invoices are payable within 15 days of invoice date.</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Infrastructure, Power Automate licensing, connector costs, API usage, and third-party software costs are borne by the client.</a:t>
            </a:r>
            <a:endParaRPr b="0" i="0" sz="863" u="none" cap="none" strike="noStrike">
              <a:solidFill>
                <a:schemeClr val="dk1"/>
              </a:solidFill>
              <a:latin typeface="Calibri"/>
              <a:ea typeface="Calibri"/>
              <a:cs typeface="Calibri"/>
              <a:sym typeface="Calibri"/>
            </a:endParaRPr>
          </a:p>
        </p:txBody>
      </p:sp>
      <p:sp>
        <p:nvSpPr>
          <p:cNvPr id="601" name="Google Shape;601;p10"/>
          <p:cNvSpPr/>
          <p:nvPr/>
        </p:nvSpPr>
        <p:spPr>
          <a:xfrm>
            <a:off x="3746500" y="8606159"/>
            <a:ext cx="3321000" cy="8313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Travel, if required, will be billed at actuals.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Work will be performed during standard IST business hours.</a:t>
            </a:r>
            <a:endParaRPr b="0" i="0" sz="863" u="none" cap="none" strike="noStrike">
              <a:solidFill>
                <a:schemeClr val="dk1"/>
              </a:solidFill>
              <a:latin typeface="Calibri"/>
              <a:ea typeface="Calibri"/>
              <a:cs typeface="Calibri"/>
              <a:sym typeface="Calibri"/>
            </a:endParaRPr>
          </a:p>
          <a:p>
            <a:pPr indent="-283401" lvl="0" marL="457200" marR="0" rtl="0" algn="l">
              <a:lnSpc>
                <a:spcPct val="155000"/>
              </a:lnSpc>
              <a:spcBef>
                <a:spcPts val="0"/>
              </a:spcBef>
              <a:spcAft>
                <a:spcPts val="0"/>
              </a:spcAft>
              <a:buClr>
                <a:srgbClr val="374151"/>
              </a:buClr>
              <a:buSzPts val="863"/>
              <a:buFont typeface="Arial"/>
              <a:buChar char="●"/>
            </a:pPr>
            <a:r>
              <a:rPr b="0" i="0" lang="en-US" sz="863" u="none" cap="none" strike="noStrike">
                <a:solidFill>
                  <a:srgbClr val="374151"/>
                </a:solidFill>
                <a:latin typeface="Arial"/>
                <a:ea typeface="Arial"/>
                <a:cs typeface="Arial"/>
                <a:sym typeface="Arial"/>
              </a:rPr>
              <a:t>Scope extensions will be handled through a mutually agreed change request.</a:t>
            </a:r>
            <a:endParaRPr b="0" i="0" sz="863" u="none" cap="none" strike="noStrike">
              <a:solidFill>
                <a:schemeClr val="dk1"/>
              </a:solidFill>
              <a:latin typeface="Calibri"/>
              <a:ea typeface="Calibri"/>
              <a:cs typeface="Calibri"/>
              <a:sym typeface="Calibri"/>
            </a:endParaRPr>
          </a:p>
        </p:txBody>
      </p:sp>
      <p:sp>
        <p:nvSpPr>
          <p:cNvPr id="602" name="Google Shape;602;p10"/>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0"/>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0"/>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1</a:t>
            </a:r>
            <a:r>
              <a:rPr b="1" lang="en-US" sz="713">
                <a:solidFill>
                  <a:srgbClr val="6B7686"/>
                </a:solidFill>
              </a:rPr>
              <a:t>1</a:t>
            </a:r>
            <a:r>
              <a:rPr b="1" i="0" lang="en-US" sz="713" u="none" cap="none" strike="noStrike">
                <a:solidFill>
                  <a:srgbClr val="6B7686"/>
                </a:solidFill>
                <a:latin typeface="Arial"/>
                <a:ea typeface="Arial"/>
                <a:cs typeface="Arial"/>
                <a:sym typeface="Arial"/>
              </a:rPr>
              <a:t>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605" name="Google Shape;605;p10"/>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11"/>
          <p:cNvSpPr/>
          <p:nvPr/>
        </p:nvSpPr>
        <p:spPr>
          <a:xfrm>
            <a:off x="0" y="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2" name="Google Shape;612;p11"/>
          <p:cNvPicPr preferRelativeResize="0"/>
          <p:nvPr/>
        </p:nvPicPr>
        <p:blipFill rotWithShape="1">
          <a:blip r:embed="rId3">
            <a:alphaModFix/>
          </a:blip>
          <a:srcRect b="0" l="0" r="0" t="0"/>
          <a:stretch/>
        </p:blipFill>
        <p:spPr>
          <a:xfrm>
            <a:off x="571500" y="378848"/>
            <a:ext cx="815357" cy="152400"/>
          </a:xfrm>
          <a:prstGeom prst="rect">
            <a:avLst/>
          </a:prstGeom>
          <a:noFill/>
          <a:ln>
            <a:noFill/>
          </a:ln>
        </p:spPr>
      </p:pic>
      <p:sp>
        <p:nvSpPr>
          <p:cNvPr id="613" name="Google Shape;613;p11"/>
          <p:cNvSpPr/>
          <p:nvPr/>
        </p:nvSpPr>
        <p:spPr>
          <a:xfrm>
            <a:off x="3486522" y="397898"/>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Arial"/>
              <a:buNone/>
            </a:pPr>
            <a:r>
              <a:rPr b="1" i="0" lang="en-US" sz="750" u="none" cap="none" strike="noStrike">
                <a:solidFill>
                  <a:srgbClr val="6B7686"/>
                </a:solidFill>
                <a:latin typeface="Arial"/>
                <a:ea typeface="Arial"/>
                <a:cs typeface="Arial"/>
                <a:sym typeface="Arial"/>
              </a:rPr>
              <a:t>PENSION CONTRIBUTION PROCESSING AUTOMATION</a:t>
            </a:r>
            <a:endParaRPr b="0" i="0" sz="750" u="none" cap="none" strike="noStrike">
              <a:solidFill>
                <a:schemeClr val="dk1"/>
              </a:solidFill>
              <a:latin typeface="Calibri"/>
              <a:ea typeface="Calibri"/>
              <a:cs typeface="Calibri"/>
              <a:sym typeface="Calibri"/>
            </a:endParaRPr>
          </a:p>
        </p:txBody>
      </p:sp>
      <p:sp>
        <p:nvSpPr>
          <p:cNvPr id="614" name="Google Shape;614;p11"/>
          <p:cNvSpPr/>
          <p:nvPr/>
        </p:nvSpPr>
        <p:spPr>
          <a:xfrm>
            <a:off x="571500" y="1719620"/>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571500" y="1480603"/>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Arial"/>
              <a:buNone/>
            </a:pPr>
            <a:r>
              <a:rPr b="1" i="0" lang="en-US" sz="825" u="none" cap="none" strike="noStrike">
                <a:solidFill>
                  <a:srgbClr val="0047AB"/>
                </a:solidFill>
                <a:latin typeface="Arial"/>
                <a:ea typeface="Arial"/>
                <a:cs typeface="Arial"/>
                <a:sym typeface="Arial"/>
              </a:rPr>
              <a:t>11</a:t>
            </a:r>
            <a:endParaRPr b="0" i="0" sz="825" u="none" cap="none" strike="noStrike">
              <a:solidFill>
                <a:schemeClr val="dk1"/>
              </a:solidFill>
              <a:latin typeface="Calibri"/>
              <a:ea typeface="Calibri"/>
              <a:cs typeface="Calibri"/>
              <a:sym typeface="Calibri"/>
            </a:endParaRPr>
          </a:p>
        </p:txBody>
      </p:sp>
      <p:sp>
        <p:nvSpPr>
          <p:cNvPr id="616" name="Google Shape;616;p11"/>
          <p:cNvSpPr/>
          <p:nvPr/>
        </p:nvSpPr>
        <p:spPr>
          <a:xfrm>
            <a:off x="916558" y="1352015"/>
            <a:ext cx="25962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Arial"/>
              <a:buNone/>
            </a:pPr>
            <a:r>
              <a:rPr b="0" i="0" lang="en-US" sz="1950" u="none" cap="none" strike="noStrike">
                <a:solidFill>
                  <a:srgbClr val="0E1320"/>
                </a:solidFill>
                <a:latin typeface="Arial"/>
                <a:ea typeface="Arial"/>
                <a:cs typeface="Arial"/>
                <a:sym typeface="Arial"/>
              </a:rPr>
              <a:t>Signature of Approval</a:t>
            </a:r>
            <a:endParaRPr b="0" i="0" sz="1950" u="none" cap="none" strike="noStrike">
              <a:solidFill>
                <a:schemeClr val="dk1"/>
              </a:solidFill>
              <a:latin typeface="Calibri"/>
              <a:ea typeface="Calibri"/>
              <a:cs typeface="Calibri"/>
              <a:sym typeface="Calibri"/>
            </a:endParaRPr>
          </a:p>
        </p:txBody>
      </p:sp>
      <p:sp>
        <p:nvSpPr>
          <p:cNvPr id="617" name="Google Shape;617;p11"/>
          <p:cNvSpPr/>
          <p:nvPr/>
        </p:nvSpPr>
        <p:spPr>
          <a:xfrm>
            <a:off x="571500" y="1919645"/>
            <a:ext cx="6612300" cy="3885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Arial"/>
              <a:buNone/>
            </a:pPr>
            <a:r>
              <a:rPr b="0" i="0" lang="en-US" sz="863" u="none" cap="none" strike="noStrike">
                <a:solidFill>
                  <a:srgbClr val="374151"/>
                </a:solidFill>
                <a:latin typeface="Arial"/>
                <a:ea typeface="Arial"/>
                <a:cs typeface="Arial"/>
                <a:sym typeface="Arial"/>
              </a:rPr>
              <a:t>This section will be finalized once the client legal name, authorized signatory, selected commercial option, and quote validity are confirmed.</a:t>
            </a:r>
            <a:endParaRPr b="0" i="0" sz="863" u="none" cap="none" strike="noStrike">
              <a:solidFill>
                <a:schemeClr val="dk1"/>
              </a:solidFill>
              <a:latin typeface="Calibri"/>
              <a:ea typeface="Calibri"/>
              <a:cs typeface="Calibri"/>
              <a:sym typeface="Calibri"/>
            </a:endParaRPr>
          </a:p>
        </p:txBody>
      </p:sp>
      <p:sp>
        <p:nvSpPr>
          <p:cNvPr id="618" name="Google Shape;618;p11"/>
          <p:cNvSpPr/>
          <p:nvPr/>
        </p:nvSpPr>
        <p:spPr>
          <a:xfrm>
            <a:off x="571500" y="2670186"/>
            <a:ext cx="6419700" cy="2314500"/>
          </a:xfrm>
          <a:prstGeom prst="roundRect">
            <a:avLst>
              <a:gd fmla="val 2469"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809625" y="2908311"/>
            <a:ext cx="28845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FOR </a:t>
            </a:r>
            <a:r>
              <a:rPr b="1" i="0" lang="en-US" sz="713" u="none" cap="none" strike="noStrike">
                <a:solidFill>
                  <a:srgbClr val="0047AB"/>
                </a:solidFill>
                <a:highlight>
                  <a:schemeClr val="lt1"/>
                </a:highlight>
                <a:latin typeface="Arial"/>
                <a:ea typeface="Arial"/>
                <a:cs typeface="Arial"/>
                <a:sym typeface="Arial"/>
              </a:rPr>
              <a:t>CLIENT</a:t>
            </a:r>
            <a:endParaRPr b="0" i="0" sz="713" u="none" cap="none" strike="noStrike">
              <a:solidFill>
                <a:schemeClr val="dk1"/>
              </a:solidFill>
              <a:highlight>
                <a:schemeClr val="lt1"/>
              </a:highlight>
              <a:latin typeface="Calibri"/>
              <a:ea typeface="Calibri"/>
              <a:cs typeface="Calibri"/>
              <a:sym typeface="Calibri"/>
            </a:endParaRPr>
          </a:p>
        </p:txBody>
      </p:sp>
      <p:sp>
        <p:nvSpPr>
          <p:cNvPr id="620" name="Google Shape;620;p11"/>
          <p:cNvSpPr/>
          <p:nvPr/>
        </p:nvSpPr>
        <p:spPr>
          <a:xfrm>
            <a:off x="809625" y="3532198"/>
            <a:ext cx="2800500" cy="960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1"/>
          <p:cNvSpPr/>
          <p:nvPr/>
        </p:nvSpPr>
        <p:spPr>
          <a:xfrm>
            <a:off x="809625" y="389414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p:nvPr/>
        </p:nvSpPr>
        <p:spPr>
          <a:xfrm>
            <a:off x="809625" y="3713173"/>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Name</a:t>
            </a:r>
            <a:endParaRPr b="0" i="0" sz="825" u="none" cap="none" strike="noStrike">
              <a:solidFill>
                <a:schemeClr val="dk1"/>
              </a:solidFill>
              <a:latin typeface="Calibri"/>
              <a:ea typeface="Calibri"/>
              <a:cs typeface="Calibri"/>
              <a:sym typeface="Calibri"/>
            </a:endParaRPr>
          </a:p>
        </p:txBody>
      </p:sp>
      <p:sp>
        <p:nvSpPr>
          <p:cNvPr id="623" name="Google Shape;623;p11"/>
          <p:cNvSpPr/>
          <p:nvPr/>
        </p:nvSpPr>
        <p:spPr>
          <a:xfrm>
            <a:off x="809625" y="414179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1"/>
          <p:cNvSpPr/>
          <p:nvPr/>
        </p:nvSpPr>
        <p:spPr>
          <a:xfrm>
            <a:off x="809625" y="3960823"/>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Title</a:t>
            </a:r>
            <a:endParaRPr b="0" i="0" sz="825" u="none" cap="none" strike="noStrike">
              <a:solidFill>
                <a:schemeClr val="dk1"/>
              </a:solidFill>
              <a:latin typeface="Calibri"/>
              <a:ea typeface="Calibri"/>
              <a:cs typeface="Calibri"/>
              <a:sym typeface="Calibri"/>
            </a:endParaRPr>
          </a:p>
        </p:txBody>
      </p:sp>
      <p:sp>
        <p:nvSpPr>
          <p:cNvPr id="625" name="Google Shape;625;p11"/>
          <p:cNvSpPr/>
          <p:nvPr/>
        </p:nvSpPr>
        <p:spPr>
          <a:xfrm>
            <a:off x="809625" y="438944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1"/>
          <p:cNvSpPr/>
          <p:nvPr/>
        </p:nvSpPr>
        <p:spPr>
          <a:xfrm>
            <a:off x="809625" y="4208473"/>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Date</a:t>
            </a:r>
            <a:endParaRPr b="0" i="0" sz="825" u="none" cap="none" strike="noStrike">
              <a:solidFill>
                <a:schemeClr val="dk1"/>
              </a:solidFill>
              <a:latin typeface="Calibri"/>
              <a:ea typeface="Calibri"/>
              <a:cs typeface="Calibri"/>
              <a:sym typeface="Calibri"/>
            </a:endParaRPr>
          </a:p>
        </p:txBody>
      </p:sp>
      <p:sp>
        <p:nvSpPr>
          <p:cNvPr id="627" name="Google Shape;627;p11"/>
          <p:cNvSpPr/>
          <p:nvPr/>
        </p:nvSpPr>
        <p:spPr>
          <a:xfrm>
            <a:off x="3952875" y="2908311"/>
            <a:ext cx="2884500" cy="257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Arial"/>
              <a:buNone/>
            </a:pPr>
            <a:r>
              <a:rPr b="1" i="0" lang="en-US" sz="713" u="none" cap="none" strike="noStrike">
                <a:solidFill>
                  <a:srgbClr val="0047AB"/>
                </a:solidFill>
                <a:latin typeface="Arial"/>
                <a:ea typeface="Arial"/>
                <a:cs typeface="Arial"/>
                <a:sym typeface="Arial"/>
              </a:rPr>
              <a:t>FOR NEWTUPLE TECHNOLOGIES PRIVATE LIMITED</a:t>
            </a:r>
            <a:endParaRPr b="0" i="0" sz="713" u="none" cap="none" strike="noStrike">
              <a:solidFill>
                <a:schemeClr val="dk1"/>
              </a:solidFill>
              <a:latin typeface="Calibri"/>
              <a:ea typeface="Calibri"/>
              <a:cs typeface="Calibri"/>
              <a:sym typeface="Calibri"/>
            </a:endParaRPr>
          </a:p>
        </p:txBody>
      </p:sp>
      <p:sp>
        <p:nvSpPr>
          <p:cNvPr id="628" name="Google Shape;628;p11"/>
          <p:cNvSpPr/>
          <p:nvPr/>
        </p:nvSpPr>
        <p:spPr>
          <a:xfrm>
            <a:off x="3952875" y="3534714"/>
            <a:ext cx="2800500" cy="960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3952875" y="3893643"/>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p:nvPr/>
        </p:nvSpPr>
        <p:spPr>
          <a:xfrm>
            <a:off x="3952875" y="3697305"/>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Name</a:t>
            </a:r>
            <a:endParaRPr b="0" i="0" sz="825" u="none" cap="none" strike="noStrike">
              <a:solidFill>
                <a:schemeClr val="dk1"/>
              </a:solidFill>
              <a:latin typeface="Calibri"/>
              <a:ea typeface="Calibri"/>
              <a:cs typeface="Calibri"/>
              <a:sym typeface="Calibri"/>
            </a:endParaRPr>
          </a:p>
        </p:txBody>
      </p:sp>
      <p:sp>
        <p:nvSpPr>
          <p:cNvPr id="631" name="Google Shape;631;p11"/>
          <p:cNvSpPr/>
          <p:nvPr/>
        </p:nvSpPr>
        <p:spPr>
          <a:xfrm>
            <a:off x="4600575" y="3699790"/>
            <a:ext cx="2229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825"/>
              <a:buFont typeface="Arial"/>
              <a:buNone/>
            </a:pPr>
            <a:r>
              <a:rPr lang="en-US" sz="825">
                <a:solidFill>
                  <a:srgbClr val="0E1320"/>
                </a:solidFill>
              </a:rPr>
              <a:t>Dhiraj Nambiar</a:t>
            </a:r>
            <a:endParaRPr b="0" i="0" sz="825" u="none" cap="none" strike="noStrike">
              <a:solidFill>
                <a:schemeClr val="dk1"/>
              </a:solidFill>
              <a:latin typeface="Calibri"/>
              <a:ea typeface="Calibri"/>
              <a:cs typeface="Calibri"/>
              <a:sym typeface="Calibri"/>
            </a:endParaRPr>
          </a:p>
        </p:txBody>
      </p:sp>
      <p:sp>
        <p:nvSpPr>
          <p:cNvPr id="632" name="Google Shape;632;p11"/>
          <p:cNvSpPr/>
          <p:nvPr/>
        </p:nvSpPr>
        <p:spPr>
          <a:xfrm>
            <a:off x="3952875" y="415147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1"/>
          <p:cNvSpPr/>
          <p:nvPr/>
        </p:nvSpPr>
        <p:spPr>
          <a:xfrm>
            <a:off x="3952875" y="3955140"/>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Title</a:t>
            </a:r>
            <a:endParaRPr b="0" i="0" sz="825" u="none" cap="none" strike="noStrike">
              <a:solidFill>
                <a:schemeClr val="dk1"/>
              </a:solidFill>
              <a:latin typeface="Calibri"/>
              <a:ea typeface="Calibri"/>
              <a:cs typeface="Calibri"/>
              <a:sym typeface="Calibri"/>
            </a:endParaRPr>
          </a:p>
        </p:txBody>
      </p:sp>
      <p:sp>
        <p:nvSpPr>
          <p:cNvPr id="634" name="Google Shape;634;p11"/>
          <p:cNvSpPr/>
          <p:nvPr/>
        </p:nvSpPr>
        <p:spPr>
          <a:xfrm>
            <a:off x="4600575" y="3955140"/>
            <a:ext cx="2229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825"/>
              <a:buFont typeface="Arial"/>
              <a:buNone/>
            </a:pPr>
            <a:r>
              <a:rPr lang="en-US" sz="825">
                <a:solidFill>
                  <a:schemeClr val="dk1"/>
                </a:solidFill>
                <a:latin typeface="Calibri"/>
                <a:ea typeface="Calibri"/>
                <a:cs typeface="Calibri"/>
                <a:sym typeface="Calibri"/>
              </a:rPr>
              <a:t>Founder</a:t>
            </a:r>
            <a:endParaRPr b="0" i="0" sz="825" u="none" cap="none" strike="noStrike">
              <a:solidFill>
                <a:schemeClr val="dk1"/>
              </a:solidFill>
              <a:latin typeface="Calibri"/>
              <a:ea typeface="Calibri"/>
              <a:cs typeface="Calibri"/>
              <a:sym typeface="Calibri"/>
            </a:endParaRPr>
          </a:p>
        </p:txBody>
      </p:sp>
      <p:sp>
        <p:nvSpPr>
          <p:cNvPr id="635" name="Google Shape;635;p11"/>
          <p:cNvSpPr/>
          <p:nvPr/>
        </p:nvSpPr>
        <p:spPr>
          <a:xfrm>
            <a:off x="3952875" y="439912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1"/>
          <p:cNvSpPr/>
          <p:nvPr/>
        </p:nvSpPr>
        <p:spPr>
          <a:xfrm>
            <a:off x="3952875" y="4202790"/>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Arial"/>
              <a:buNone/>
            </a:pPr>
            <a:r>
              <a:rPr b="1" i="0" lang="en-US" sz="825" u="none" cap="none" strike="noStrike">
                <a:solidFill>
                  <a:srgbClr val="6B7686"/>
                </a:solidFill>
                <a:latin typeface="Arial"/>
                <a:ea typeface="Arial"/>
                <a:cs typeface="Arial"/>
                <a:sym typeface="Arial"/>
              </a:rPr>
              <a:t>Date</a:t>
            </a:r>
            <a:endParaRPr b="0" i="0" sz="825" u="none" cap="none" strike="noStrike">
              <a:solidFill>
                <a:schemeClr val="dk1"/>
              </a:solidFill>
              <a:latin typeface="Calibri"/>
              <a:ea typeface="Calibri"/>
              <a:cs typeface="Calibri"/>
              <a:sym typeface="Calibri"/>
            </a:endParaRPr>
          </a:p>
        </p:txBody>
      </p:sp>
      <p:sp>
        <p:nvSpPr>
          <p:cNvPr id="637" name="Google Shape;637;p11"/>
          <p:cNvSpPr/>
          <p:nvPr/>
        </p:nvSpPr>
        <p:spPr>
          <a:xfrm>
            <a:off x="571500" y="5308611"/>
            <a:ext cx="6419700" cy="6018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1"/>
          <p:cNvSpPr/>
          <p:nvPr/>
        </p:nvSpPr>
        <p:spPr>
          <a:xfrm>
            <a:off x="571500" y="5308611"/>
            <a:ext cx="28500" cy="6018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1"/>
          <p:cNvSpPr/>
          <p:nvPr/>
        </p:nvSpPr>
        <p:spPr>
          <a:xfrm>
            <a:off x="771525" y="5441961"/>
            <a:ext cx="6229800" cy="3732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Arial"/>
              <a:buNone/>
            </a:pPr>
            <a:r>
              <a:rPr b="0" i="0" lang="en-US" sz="850" u="none" cap="none" strike="noStrike">
                <a:solidFill>
                  <a:srgbClr val="374151"/>
                </a:solidFill>
                <a:latin typeface="Arial"/>
                <a:ea typeface="Arial"/>
                <a:cs typeface="Arial"/>
                <a:sym typeface="Arial"/>
              </a:rPr>
              <a:t>On signature, Newtuple will schedule a discovery kickoff within 5 business days, share the proposed delivery team and weekly cadence, and confirm access requirements across Microsoft 365, Power Automate, cloud storage, and PAS API documentation.</a:t>
            </a:r>
            <a:endParaRPr b="0" i="0" sz="850" u="none" cap="none" strike="noStrike">
              <a:solidFill>
                <a:schemeClr val="dk1"/>
              </a:solidFill>
              <a:latin typeface="Calibri"/>
              <a:ea typeface="Calibri"/>
              <a:cs typeface="Calibri"/>
              <a:sym typeface="Calibri"/>
            </a:endParaRPr>
          </a:p>
        </p:txBody>
      </p:sp>
      <p:sp>
        <p:nvSpPr>
          <p:cNvPr id="640" name="Google Shape;640;p11"/>
          <p:cNvSpPr/>
          <p:nvPr/>
        </p:nvSpPr>
        <p:spPr>
          <a:xfrm>
            <a:off x="571500" y="9383167"/>
            <a:ext cx="6419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1"/>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1"/>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1"/>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Arial"/>
              <a:buNone/>
            </a:pPr>
            <a:r>
              <a:rPr b="1" i="0" lang="en-US" sz="713" u="none" cap="none" strike="noStrike">
                <a:solidFill>
                  <a:srgbClr val="6B7686"/>
                </a:solidFill>
                <a:latin typeface="Arial"/>
                <a:ea typeface="Arial"/>
                <a:cs typeface="Arial"/>
                <a:sym typeface="Arial"/>
              </a:rPr>
              <a:t>1</a:t>
            </a:r>
            <a:r>
              <a:rPr b="1" lang="en-US" sz="713">
                <a:solidFill>
                  <a:srgbClr val="6B7686"/>
                </a:solidFill>
              </a:rPr>
              <a:t>2</a:t>
            </a:r>
            <a:r>
              <a:rPr b="1" i="0" lang="en-US" sz="713" u="none" cap="none" strike="noStrike">
                <a:solidFill>
                  <a:srgbClr val="6B7686"/>
                </a:solidFill>
                <a:latin typeface="Arial"/>
                <a:ea typeface="Arial"/>
                <a:cs typeface="Arial"/>
                <a:sym typeface="Arial"/>
              </a:rPr>
              <a:t> / 1</a:t>
            </a:r>
            <a:r>
              <a:rPr b="1" lang="en-US" sz="713">
                <a:solidFill>
                  <a:srgbClr val="6B7686"/>
                </a:solidFill>
              </a:rPr>
              <a:t>2</a:t>
            </a:r>
            <a:endParaRPr b="0" i="0" sz="713" u="none" cap="none" strike="noStrike">
              <a:solidFill>
                <a:srgbClr val="6B7686"/>
              </a:solidFill>
              <a:latin typeface="Calibri"/>
              <a:ea typeface="Calibri"/>
              <a:cs typeface="Calibri"/>
              <a:sym typeface="Calibri"/>
            </a:endParaRPr>
          </a:p>
        </p:txBody>
      </p:sp>
      <p:sp>
        <p:nvSpPr>
          <p:cNvPr id="644" name="Google Shape;644;p11"/>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Arial"/>
              <a:buNone/>
            </a:pPr>
            <a:r>
              <a:rPr b="0" i="0" lang="en-US" sz="713" u="none" cap="none" strike="noStrike">
                <a:solidFill>
                  <a:srgbClr val="6B7686"/>
                </a:solidFill>
                <a:latin typeface="Arial"/>
                <a:ea typeface="Arial"/>
                <a:cs typeface="Arial"/>
                <a:sym typeface="Arial"/>
              </a:rPr>
              <a:t>NEWTUPLE TECHNOLOGIES · 		  		     </a:t>
            </a:r>
            <a:r>
              <a:rPr lang="en-US" sz="713">
                <a:solidFill>
                  <a:srgbClr val="6B7686"/>
                </a:solidFill>
              </a:rPr>
              <a:t>    </a:t>
            </a:r>
            <a:r>
              <a:rPr b="0" i="0" lang="en-US" sz="713" u="none" cap="none" strike="noStrike">
                <a:solidFill>
                  <a:srgbClr val="6B7686"/>
                </a:solidFill>
                <a:latin typeface="Arial"/>
                <a:ea typeface="Arial"/>
                <a:cs typeface="Arial"/>
                <a:sym typeface="Arial"/>
              </a:rPr>
              <a:t>CONFIDENTIAL</a:t>
            </a:r>
            <a:endParaRPr b="0" i="0" sz="713"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2026-06-05T09:23:29Z</dcterms:created>
  <dc:creator>PptxGenJS</dc:creator>
</cp:coreProperties>
</file>