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9144000"/>
  <p:notesSz cx="9144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f2fXTPKeIOzPArdOjoK0l2Jd76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hiraj Nambia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0T04:26:10.793">
    <p:pos x="6000" y="0"/>
    <p:text>use the official chart and put the citation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7tpZlb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eadbd533b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eeadbd533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eeadbd533b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adbd533b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adbd533b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eadbd533b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eadbd533b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eadbd533b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eadbd533b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eadbd533b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eadbd533b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eadbd533b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eadbd533b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eadbd533b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eadbd533b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7A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371600" y="6217920"/>
            <a:ext cx="11887200" cy="5029200"/>
          </a:xfrm>
          <a:prstGeom prst="ellipse">
            <a:avLst/>
          </a:prstGeom>
          <a:solidFill>
            <a:srgbClr val="1A5BC4">
              <a:alpha val="34901"/>
            </a:srgbClr>
          </a:solidFill>
          <a:ln cap="flat" cmpd="sng" w="12700">
            <a:solidFill>
              <a:srgbClr val="1A5BC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7132320"/>
            <a:ext cx="10972800" cy="4572000"/>
          </a:xfrm>
          <a:prstGeom prst="ellipse">
            <a:avLst/>
          </a:prstGeom>
          <a:solidFill>
            <a:srgbClr val="0A3D8A">
              <a:alpha val="45098"/>
            </a:srgbClr>
          </a:solidFill>
          <a:ln cap="flat" cmpd="sng" w="12700">
            <a:solidFill>
              <a:srgbClr val="0A3D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256032"/>
            <a:ext cx="2037283" cy="402336"/>
          </a:xfrm>
          <a:prstGeom prst="roundRect">
            <a:avLst>
              <a:gd fmla="val 50000" name="adj"/>
            </a:avLst>
          </a:prstGeom>
          <a:solidFill>
            <a:srgbClr val="1A5BC4"/>
          </a:solidFill>
          <a:ln cap="flat" cmpd="sng" w="12700">
            <a:solidFill>
              <a:srgbClr val="1A5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256032"/>
            <a:ext cx="2037283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CHANGED IN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Fable 5 dropped.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7889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Here is what actually changed.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457200" y="3977640"/>
            <a:ext cx="5029200" cy="0"/>
          </a:xfrm>
          <a:prstGeom prst="straightConnector1">
            <a:avLst/>
          </a:prstGeom>
          <a:noFill/>
          <a:ln cap="flat" cmpd="sng" w="1015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457200" y="4251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5D8F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5D8F0"/>
                </a:solidFill>
                <a:latin typeface="Arial"/>
                <a:ea typeface="Arial"/>
                <a:cs typeface="Arial"/>
                <a:sym typeface="Arial"/>
              </a:rPr>
              <a:t>Anthropic's first Mythos-class model for general use. The capabilities, the safeguards, and the memory result </a:t>
            </a:r>
            <a:r>
              <a:rPr lang="en-US" sz="1450">
                <a:solidFill>
                  <a:srgbClr val="C5D8F0"/>
                </a:solidFill>
              </a:rPr>
              <a:t>- </a:t>
            </a:r>
            <a:r>
              <a:rPr b="0" i="0" lang="en-US" sz="1450" u="none" cap="none" strike="noStrike">
                <a:solidFill>
                  <a:srgbClr val="C5D8F0"/>
                </a:solidFill>
                <a:latin typeface="Arial"/>
                <a:ea typeface="Arial"/>
                <a:cs typeface="Arial"/>
                <a:sym typeface="Arial"/>
              </a:rPr>
              <a:t>explained.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01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title="Logo_dark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g3eeadbd533b_0_10" title="Screenshot 2026-06-10 at 9.43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25125" y="-15787"/>
            <a:ext cx="11576074" cy="91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eeadbd533b_0_10" title="Logo_dark_backgrou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075" y="9675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-1828800" y="6583680"/>
            <a:ext cx="12801600" cy="5486400"/>
          </a:xfrm>
          <a:prstGeom prst="ellipse">
            <a:avLst/>
          </a:prstGeom>
          <a:solidFill>
            <a:srgbClr val="0D1A2E">
              <a:alpha val="65098"/>
            </a:srgbClr>
          </a:solidFill>
          <a:ln cap="flat" cmpd="sng" w="12700">
            <a:solidFill>
              <a:srgbClr val="0D1A2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60" y="256032"/>
            <a:ext cx="1422806" cy="402336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256032"/>
            <a:ext cx="142280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new model tier above Opus.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It shipped yesterday.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BB5CC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BB5CC"/>
                </a:solidFill>
                <a:latin typeface="Arial"/>
                <a:ea typeface="Arial"/>
                <a:cs typeface="Arial"/>
                <a:sym typeface="Arial"/>
              </a:rPr>
              <a:t>Anthropic has publicly named a model class above Opus for the first time. Fable 5 is a Mythos-class model made safe for general use </a:t>
            </a:r>
            <a:r>
              <a:rPr lang="en-US" sz="1450">
                <a:solidFill>
                  <a:srgbClr val="9BB5CC"/>
                </a:solidFill>
              </a:rPr>
              <a:t>- </a:t>
            </a:r>
            <a:r>
              <a:rPr b="0" i="0" lang="en-US" sz="1450" u="none" cap="none" strike="noStrike">
                <a:solidFill>
                  <a:srgbClr val="9BB5CC"/>
                </a:solidFill>
                <a:latin typeface="Arial"/>
                <a:ea typeface="Arial"/>
                <a:cs typeface="Arial"/>
                <a:sym typeface="Arial"/>
              </a:rPr>
              <a:t> the same class as Mythos Preview (April 2026), which was restricted to cyber defenders only.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572000"/>
            <a:ext cx="3931920" cy="2194560"/>
          </a:xfrm>
          <a:prstGeom prst="roundRect">
            <a:avLst>
              <a:gd fmla="val 5833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85800" y="475488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MYTHOS-CLASS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800" y="51663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new tier above Opus. First public use: Mythos Preview (April 2026, restricted).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0" y="4572000"/>
            <a:ext cx="3931920" cy="2194560"/>
          </a:xfrm>
          <a:prstGeom prst="roundRect">
            <a:avLst>
              <a:gd fmla="val 5833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83480" y="475488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BC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5BC4"/>
                </a:solidFill>
                <a:latin typeface="Arial"/>
                <a:ea typeface="Arial"/>
                <a:cs typeface="Arial"/>
                <a:sym typeface="Arial"/>
              </a:rPr>
              <a:t>FABLE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83480" y="51663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Mythos-class model, with safety classifiers for general use. Available to everyone from 9 June.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02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" title="Logo_dark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365760" y="256032"/>
            <a:ext cx="2212848" cy="402336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5760" y="256032"/>
            <a:ext cx="22128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Stripe migrated 50 million lines of Ruby.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256032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In one day. A task that would have taken a full team over two months.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3246120"/>
            <a:ext cx="2633472" cy="30175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3246120"/>
            <a:ext cx="2633472" cy="64008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58368" y="342900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2 months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658368" y="4480560"/>
            <a:ext cx="22402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658368" y="4663440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What it would have taken the engineering team by hand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73552" y="3246120"/>
            <a:ext cx="2633472" cy="30175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273552" y="3246120"/>
            <a:ext cx="2633472" cy="64008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474720" y="342900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1 day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3474720" y="4480560"/>
            <a:ext cx="22402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3474720" y="4663440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What Fable 5 took to complete the same migration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089904" y="3246120"/>
            <a:ext cx="2633472" cy="301752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089904" y="3246120"/>
            <a:ext cx="2633472" cy="64008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291072" y="342900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#1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6291072" y="4480560"/>
            <a:ext cx="22402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6291072" y="4663440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FrontierCode score — hardest long-horizon production coding 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6492240"/>
            <a:ext cx="8229600" cy="10515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85800" y="658368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Fable 5 also scores highest on FrontierCode at medium effort </a:t>
            </a:r>
            <a:r>
              <a:rPr lang="en-US" sz="1250">
                <a:solidFill>
                  <a:srgbClr val="1E40AF"/>
                </a:solidFill>
              </a:rPr>
              <a:t>- </a:t>
            </a:r>
            <a:r>
              <a:rPr b="0" i="0" lang="en-US" sz="125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meaning fewer tokens, not just better output. Token efficiency matters for agentic cost models.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03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3" title="Logo_light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425" y="-1775"/>
            <a:ext cx="1667876" cy="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-1828800" y="6583680"/>
            <a:ext cx="12801600" cy="5486400"/>
          </a:xfrm>
          <a:prstGeom prst="ellipse">
            <a:avLst/>
          </a:prstGeom>
          <a:solidFill>
            <a:srgbClr val="0D1A2E">
              <a:alpha val="65098"/>
            </a:srgbClr>
          </a:solidFill>
          <a:ln cap="flat" cmpd="sng" w="12700">
            <a:solidFill>
              <a:srgbClr val="0D1A2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5760" y="256032"/>
            <a:ext cx="2037283" cy="402336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65760" y="256032"/>
            <a:ext cx="2037283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LONG-HORIZON TASKS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longer the task,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the larger the gap.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BB5CC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BB5CC"/>
                </a:solidFill>
                <a:latin typeface="Arial"/>
                <a:ea typeface="Arial"/>
                <a:cs typeface="Arial"/>
                <a:sym typeface="Arial"/>
              </a:rPr>
              <a:t>When given access to persistent file-based memory in a long-running task, Fable 5 improved three times more than Opus 4.8 under the same condition. This is the result most relevant to enterprise agentic deployments.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4663440"/>
            <a:ext cx="8229600" cy="2560320"/>
          </a:xfrm>
          <a:prstGeom prst="roundRect">
            <a:avLst>
              <a:gd fmla="val 5000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85800" y="4800600"/>
            <a:ext cx="22860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3×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4"/>
          <p:cNvCxnSpPr/>
          <p:nvPr/>
        </p:nvCxnSpPr>
        <p:spPr>
          <a:xfrm>
            <a:off x="2743200" y="4937760"/>
            <a:ext cx="0" cy="2194560"/>
          </a:xfrm>
          <a:prstGeom prst="straightConnector1">
            <a:avLst/>
          </a:prstGeom>
          <a:noFill/>
          <a:ln cap="flat" cmpd="sng" w="15225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4"/>
          <p:cNvSpPr/>
          <p:nvPr/>
        </p:nvSpPr>
        <p:spPr>
          <a:xfrm>
            <a:off x="3063240" y="484632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BC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5BC4"/>
                </a:solidFill>
                <a:latin typeface="Arial"/>
                <a:ea typeface="Arial"/>
                <a:cs typeface="Arial"/>
                <a:sym typeface="Arial"/>
              </a:rPr>
              <a:t>MEMORY IMPROVEMENT MULTIPLIER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063240" y="5285232"/>
            <a:ext cx="5394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5D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5D8F0"/>
                </a:solidFill>
                <a:latin typeface="Arial"/>
                <a:ea typeface="Arial"/>
                <a:cs typeface="Arial"/>
                <a:sym typeface="Arial"/>
              </a:rPr>
              <a:t>Fable 5 vs Opus 4.8 under identical persistent memory conditions, in Anthropic's Slay the Spire long-horizon evaluation. Fable also reached the final act 3× more often.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04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4" title="Logo_dark_backgrou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eeadbd533b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50" y="0"/>
            <a:ext cx="8282274" cy="9015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eeadbd533b_0_65"/>
          <p:cNvSpPr/>
          <p:nvPr/>
        </p:nvSpPr>
        <p:spPr>
          <a:xfrm>
            <a:off x="365679" y="8888108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Source: Anthropic, 'Claude Fable 5 and Mythos 5,' June 9, 2026. anthropic.com/news/claude-fable-5-mythos-5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365760" y="256032"/>
            <a:ext cx="2476195" cy="402336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65760" y="256032"/>
            <a:ext cx="247619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KNOWLEDGE WORK &amp; VISION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111827"/>
                </a:solidFill>
              </a:rPr>
              <a:t>Be</a:t>
            </a:r>
            <a:r>
              <a:rPr b="0" i="0" lang="en-US" sz="3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nchmarks worth flagging.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Finance, document reasoning, and vision</a:t>
            </a:r>
            <a:r>
              <a:rPr b="1" lang="en-US" sz="1450">
                <a:solidFill>
                  <a:srgbClr val="0047AB"/>
                </a:solidFill>
              </a:rPr>
              <a:t>,</a:t>
            </a:r>
            <a:r>
              <a:rPr b="1" i="0" lang="en-US" sz="14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 all state-of-the-art.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2514600"/>
            <a:ext cx="3931920" cy="5029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57200" y="2514600"/>
            <a:ext cx="3931920" cy="64008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58368" y="269748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KNOWLEDGE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58368" y="315468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#1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8368" y="420624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Hebbia Finance Benchmark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658368" y="4663440"/>
            <a:ext cx="352044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658368" y="4800600"/>
            <a:ext cx="3520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Highest score among all models tested on senior-level analytical reasoning, document-based reasoning, and chart interpretation.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754880" y="2514600"/>
            <a:ext cx="3931920" cy="5029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754880" y="2514600"/>
            <a:ext cx="3931920" cy="64008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956048" y="269748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956048" y="3154680"/>
            <a:ext cx="3520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Vision-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956048" y="4206240"/>
            <a:ext cx="3520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Pokémon FireRed, no aids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4956048" y="4663440"/>
            <a:ext cx="352044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4956048" y="4800600"/>
            <a:ext cx="3520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Completed the game with a minimal, vision-only harness — no maps, navigation aids, or game-state info. Previous models needed a complex helper harness to manage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05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5" title="Logo_light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425" y="-1775"/>
            <a:ext cx="1667876" cy="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adbd533b_0_75"/>
          <p:cNvSpPr/>
          <p:nvPr/>
        </p:nvSpPr>
        <p:spPr>
          <a:xfrm>
            <a:off x="365760" y="256032"/>
            <a:ext cx="1335000" cy="402300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eadbd533b_0_75"/>
          <p:cNvSpPr/>
          <p:nvPr/>
        </p:nvSpPr>
        <p:spPr>
          <a:xfrm>
            <a:off x="365760" y="256032"/>
            <a:ext cx="1335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BENCHMARKS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eadbd533b_0_75"/>
          <p:cNvSpPr/>
          <p:nvPr/>
        </p:nvSpPr>
        <p:spPr>
          <a:xfrm>
            <a:off x="6766560" y="292608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NEWTUPLE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eadbd533b_0_75"/>
          <p:cNvSpPr/>
          <p:nvPr/>
        </p:nvSpPr>
        <p:spPr>
          <a:xfrm>
            <a:off x="457200" y="96012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Agentic coding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eadbd533b_0_75"/>
          <p:cNvSpPr/>
          <p:nvPr/>
        </p:nvSpPr>
        <p:spPr>
          <a:xfrm>
            <a:off x="3657600" y="1709928"/>
            <a:ext cx="183000" cy="1830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eadbd533b_0_75"/>
          <p:cNvSpPr/>
          <p:nvPr/>
        </p:nvSpPr>
        <p:spPr>
          <a:xfrm>
            <a:off x="3931920" y="1664208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 Fable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eadbd533b_0_75"/>
          <p:cNvSpPr/>
          <p:nvPr/>
        </p:nvSpPr>
        <p:spPr>
          <a:xfrm>
            <a:off x="5394960" y="1709928"/>
            <a:ext cx="183000" cy="18300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eadbd533b_0_75"/>
          <p:cNvSpPr/>
          <p:nvPr/>
        </p:nvSpPr>
        <p:spPr>
          <a:xfrm>
            <a:off x="5669280" y="1664208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 Opus 4.8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eadbd533b_0_75"/>
          <p:cNvSpPr/>
          <p:nvPr/>
        </p:nvSpPr>
        <p:spPr>
          <a:xfrm>
            <a:off x="7132320" y="1709928"/>
            <a:ext cx="183000" cy="183000"/>
          </a:xfrm>
          <a:prstGeom prst="ellipse">
            <a:avLst/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eadbd533b_0_75"/>
          <p:cNvSpPr/>
          <p:nvPr/>
        </p:nvSpPr>
        <p:spPr>
          <a:xfrm>
            <a:off x="7406640" y="1664208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GPT-5.5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eadbd533b_0_75"/>
          <p:cNvSpPr/>
          <p:nvPr/>
        </p:nvSpPr>
        <p:spPr>
          <a:xfrm>
            <a:off x="411480" y="1938528"/>
            <a:ext cx="3931800" cy="6400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eadbd533b_0_75"/>
          <p:cNvSpPr/>
          <p:nvPr/>
        </p:nvSpPr>
        <p:spPr>
          <a:xfrm>
            <a:off x="4800600" y="1938528"/>
            <a:ext cx="3931800" cy="6400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g3eeadbd533b_0_75"/>
          <p:cNvCxnSpPr/>
          <p:nvPr/>
        </p:nvCxnSpPr>
        <p:spPr>
          <a:xfrm>
            <a:off x="1481328" y="7644384"/>
            <a:ext cx="2578500" cy="0"/>
          </a:xfrm>
          <a:prstGeom prst="straightConnector1">
            <a:avLst/>
          </a:prstGeom>
          <a:noFill/>
          <a:ln cap="flat" cmpd="sng" w="152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g3eeadbd533b_0_75"/>
          <p:cNvSpPr/>
          <p:nvPr/>
        </p:nvSpPr>
        <p:spPr>
          <a:xfrm>
            <a:off x="978408" y="749808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eeadbd533b_0_75"/>
          <p:cNvCxnSpPr/>
          <p:nvPr/>
        </p:nvCxnSpPr>
        <p:spPr>
          <a:xfrm>
            <a:off x="1481328" y="6583680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eeadbd533b_0_75"/>
          <p:cNvSpPr/>
          <p:nvPr/>
        </p:nvSpPr>
        <p:spPr>
          <a:xfrm>
            <a:off x="978408" y="6437376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eeadbd533b_0_75"/>
          <p:cNvCxnSpPr/>
          <p:nvPr/>
        </p:nvCxnSpPr>
        <p:spPr>
          <a:xfrm>
            <a:off x="1481328" y="5522976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eeadbd533b_0_75"/>
          <p:cNvSpPr/>
          <p:nvPr/>
        </p:nvSpPr>
        <p:spPr>
          <a:xfrm>
            <a:off x="978408" y="5376672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g3eeadbd533b_0_75"/>
          <p:cNvCxnSpPr/>
          <p:nvPr/>
        </p:nvCxnSpPr>
        <p:spPr>
          <a:xfrm>
            <a:off x="1481328" y="4462272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g3eeadbd533b_0_75"/>
          <p:cNvSpPr/>
          <p:nvPr/>
        </p:nvSpPr>
        <p:spPr>
          <a:xfrm>
            <a:off x="978408" y="4315968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eeadbd533b_0_75"/>
          <p:cNvCxnSpPr/>
          <p:nvPr/>
        </p:nvCxnSpPr>
        <p:spPr>
          <a:xfrm>
            <a:off x="1481328" y="3401568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g3eeadbd533b_0_75"/>
          <p:cNvSpPr/>
          <p:nvPr/>
        </p:nvSpPr>
        <p:spPr>
          <a:xfrm>
            <a:off x="978408" y="3255264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eeadbd533b_0_75"/>
          <p:cNvCxnSpPr/>
          <p:nvPr/>
        </p:nvCxnSpPr>
        <p:spPr>
          <a:xfrm>
            <a:off x="1481328" y="2340864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g3eeadbd533b_0_75"/>
          <p:cNvSpPr/>
          <p:nvPr/>
        </p:nvSpPr>
        <p:spPr>
          <a:xfrm>
            <a:off x="978408" y="219456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eadbd533b_0_75"/>
          <p:cNvSpPr/>
          <p:nvPr/>
        </p:nvSpPr>
        <p:spPr>
          <a:xfrm rot="-5400000">
            <a:off x="429708" y="4352544"/>
            <a:ext cx="1005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Success rate (%)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eadbd533b_0_75"/>
          <p:cNvSpPr/>
          <p:nvPr/>
        </p:nvSpPr>
        <p:spPr>
          <a:xfrm>
            <a:off x="1563624" y="3385657"/>
            <a:ext cx="658500" cy="42588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eadbd533b_0_75"/>
          <p:cNvSpPr/>
          <p:nvPr/>
        </p:nvSpPr>
        <p:spPr>
          <a:xfrm>
            <a:off x="1508760" y="3093049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80.3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eadbd533b_0_75"/>
          <p:cNvSpPr/>
          <p:nvPr/>
        </p:nvSpPr>
        <p:spPr>
          <a:xfrm>
            <a:off x="2441448" y="3974348"/>
            <a:ext cx="658500" cy="36699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eadbd533b_0_75"/>
          <p:cNvSpPr/>
          <p:nvPr/>
        </p:nvSpPr>
        <p:spPr>
          <a:xfrm>
            <a:off x="2386584" y="3681740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69.2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eadbd533b_0_75"/>
          <p:cNvSpPr/>
          <p:nvPr/>
        </p:nvSpPr>
        <p:spPr>
          <a:xfrm>
            <a:off x="3319272" y="4536521"/>
            <a:ext cx="658500" cy="3108000"/>
          </a:xfrm>
          <a:prstGeom prst="rect">
            <a:avLst/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eadbd533b_0_75"/>
          <p:cNvSpPr/>
          <p:nvPr/>
        </p:nvSpPr>
        <p:spPr>
          <a:xfrm>
            <a:off x="3264408" y="4243913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58.6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eadbd533b_0_75"/>
          <p:cNvSpPr/>
          <p:nvPr/>
        </p:nvSpPr>
        <p:spPr>
          <a:xfrm>
            <a:off x="1481328" y="7827264"/>
            <a:ext cx="257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SWE-Bench Pro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eeadbd533b_0_75"/>
          <p:cNvCxnSpPr/>
          <p:nvPr/>
        </p:nvCxnSpPr>
        <p:spPr>
          <a:xfrm>
            <a:off x="5870448" y="7644384"/>
            <a:ext cx="2578500" cy="0"/>
          </a:xfrm>
          <a:prstGeom prst="straightConnector1">
            <a:avLst/>
          </a:prstGeom>
          <a:noFill/>
          <a:ln cap="flat" cmpd="sng" w="152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g3eeadbd533b_0_75"/>
          <p:cNvSpPr/>
          <p:nvPr/>
        </p:nvSpPr>
        <p:spPr>
          <a:xfrm>
            <a:off x="5367528" y="749808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g3eeadbd533b_0_75"/>
          <p:cNvCxnSpPr/>
          <p:nvPr/>
        </p:nvCxnSpPr>
        <p:spPr>
          <a:xfrm>
            <a:off x="5870448" y="6886738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g3eeadbd533b_0_75"/>
          <p:cNvSpPr/>
          <p:nvPr/>
        </p:nvSpPr>
        <p:spPr>
          <a:xfrm>
            <a:off x="5367528" y="6740434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eeadbd533b_0_75"/>
          <p:cNvCxnSpPr/>
          <p:nvPr/>
        </p:nvCxnSpPr>
        <p:spPr>
          <a:xfrm>
            <a:off x="5870448" y="6129093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g3eeadbd533b_0_75"/>
          <p:cNvSpPr/>
          <p:nvPr/>
        </p:nvSpPr>
        <p:spPr>
          <a:xfrm>
            <a:off x="5367528" y="5982789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g3eeadbd533b_0_75"/>
          <p:cNvCxnSpPr/>
          <p:nvPr/>
        </p:nvCxnSpPr>
        <p:spPr>
          <a:xfrm>
            <a:off x="5870448" y="5371447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g3eeadbd533b_0_75"/>
          <p:cNvSpPr/>
          <p:nvPr/>
        </p:nvSpPr>
        <p:spPr>
          <a:xfrm>
            <a:off x="5367528" y="5225143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g3eeadbd533b_0_75"/>
          <p:cNvCxnSpPr/>
          <p:nvPr/>
        </p:nvCxnSpPr>
        <p:spPr>
          <a:xfrm>
            <a:off x="5870448" y="4613801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g3eeadbd533b_0_75"/>
          <p:cNvSpPr/>
          <p:nvPr/>
        </p:nvSpPr>
        <p:spPr>
          <a:xfrm>
            <a:off x="5367528" y="4467497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eeadbd533b_0_75"/>
          <p:cNvCxnSpPr/>
          <p:nvPr/>
        </p:nvCxnSpPr>
        <p:spPr>
          <a:xfrm>
            <a:off x="5870448" y="3856155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eeadbd533b_0_75"/>
          <p:cNvSpPr/>
          <p:nvPr/>
        </p:nvSpPr>
        <p:spPr>
          <a:xfrm>
            <a:off x="5367528" y="3709851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g3eeadbd533b_0_75"/>
          <p:cNvCxnSpPr/>
          <p:nvPr/>
        </p:nvCxnSpPr>
        <p:spPr>
          <a:xfrm>
            <a:off x="5870448" y="3098510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g3eeadbd533b_0_75"/>
          <p:cNvSpPr/>
          <p:nvPr/>
        </p:nvSpPr>
        <p:spPr>
          <a:xfrm>
            <a:off x="5367528" y="2952206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eeadbd533b_0_75"/>
          <p:cNvCxnSpPr/>
          <p:nvPr/>
        </p:nvCxnSpPr>
        <p:spPr>
          <a:xfrm>
            <a:off x="5870448" y="2340864"/>
            <a:ext cx="25785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eeadbd533b_0_75"/>
          <p:cNvSpPr/>
          <p:nvPr/>
        </p:nvSpPr>
        <p:spPr>
          <a:xfrm>
            <a:off x="5367528" y="219456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eadbd533b_0_75"/>
          <p:cNvSpPr/>
          <p:nvPr/>
        </p:nvSpPr>
        <p:spPr>
          <a:xfrm rot="-5400000">
            <a:off x="4818828" y="4352544"/>
            <a:ext cx="1005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Success rate (%)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eadbd533b_0_75"/>
          <p:cNvSpPr/>
          <p:nvPr/>
        </p:nvSpPr>
        <p:spPr>
          <a:xfrm>
            <a:off x="5952744" y="3204580"/>
            <a:ext cx="658500" cy="44397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eadbd533b_0_75"/>
          <p:cNvSpPr/>
          <p:nvPr/>
        </p:nvSpPr>
        <p:spPr>
          <a:xfrm>
            <a:off x="5897880" y="2911972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29.3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eadbd533b_0_75"/>
          <p:cNvSpPr/>
          <p:nvPr/>
        </p:nvSpPr>
        <p:spPr>
          <a:xfrm>
            <a:off x="6830568" y="5613893"/>
            <a:ext cx="658500" cy="20304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eadbd533b_0_75"/>
          <p:cNvSpPr/>
          <p:nvPr/>
        </p:nvSpPr>
        <p:spPr>
          <a:xfrm>
            <a:off x="6775704" y="5321285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13.4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eadbd533b_0_75"/>
          <p:cNvSpPr/>
          <p:nvPr/>
        </p:nvSpPr>
        <p:spPr>
          <a:xfrm>
            <a:off x="7708392" y="6780668"/>
            <a:ext cx="658500" cy="863700"/>
          </a:xfrm>
          <a:prstGeom prst="rect">
            <a:avLst/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eadbd533b_0_75"/>
          <p:cNvSpPr/>
          <p:nvPr/>
        </p:nvSpPr>
        <p:spPr>
          <a:xfrm>
            <a:off x="7653528" y="6488060"/>
            <a:ext cx="76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5.7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eadbd533b_0_75"/>
          <p:cNvSpPr/>
          <p:nvPr/>
        </p:nvSpPr>
        <p:spPr>
          <a:xfrm>
            <a:off x="5870448" y="7827264"/>
            <a:ext cx="257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FrontierCode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eadbd533b_0_75"/>
          <p:cNvSpPr/>
          <p:nvPr/>
        </p:nvSpPr>
        <p:spPr>
          <a:xfrm>
            <a:off x="365760" y="875995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Source: Anthropic, 'Claude Fable 5 and Mythos 5,' June 9, 2026. anthropic.com/news/claude-fable-5-mythos-5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eeadbd533b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23223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eeadbd533b_0_138"/>
          <p:cNvSpPr/>
          <p:nvPr/>
        </p:nvSpPr>
        <p:spPr>
          <a:xfrm>
            <a:off x="365760" y="875995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Source: Anthropic, 'Claude Fable 5 and Mythos 5,' June 9, 2026. anthropic.com/news/claude-fable-5-mythos-5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-1828800" y="6583680"/>
            <a:ext cx="12801600" cy="5486400"/>
          </a:xfrm>
          <a:prstGeom prst="ellipse">
            <a:avLst/>
          </a:prstGeom>
          <a:solidFill>
            <a:srgbClr val="0D1A2E">
              <a:alpha val="65098"/>
            </a:srgbClr>
          </a:solidFill>
          <a:ln cap="flat" cmpd="sng" w="12700">
            <a:solidFill>
              <a:srgbClr val="0D1A2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65760" y="256032"/>
            <a:ext cx="1686154" cy="402336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65760" y="256032"/>
            <a:ext cx="168615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SAFEGUARDS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Anthropic shipped it safely.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97316"/>
                </a:solidFill>
              </a:rPr>
              <a:t>Classifiers are now part of the model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BB5CC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BB5CC"/>
                </a:solidFill>
                <a:latin typeface="Arial"/>
                <a:ea typeface="Arial"/>
                <a:cs typeface="Arial"/>
                <a:sym typeface="Arial"/>
              </a:rPr>
              <a:t>When a flagged query is detected, Fable routes silently to Opus 4.8 and notifies the user. This happens in fewer than 5% of sessions. The classifiers cover three domains: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7200" y="4297680"/>
            <a:ext cx="8229600" cy="1170432"/>
          </a:xfrm>
          <a:prstGeom prst="roundRect">
            <a:avLst>
              <a:gd fmla="val 10938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6"/>
          <p:cNvCxnSpPr/>
          <p:nvPr/>
        </p:nvCxnSpPr>
        <p:spPr>
          <a:xfrm>
            <a:off x="1261872" y="4370832"/>
            <a:ext cx="0" cy="1024128"/>
          </a:xfrm>
          <a:prstGeom prst="straightConnector1">
            <a:avLst/>
          </a:prstGeom>
          <a:noFill/>
          <a:ln cap="flat" cmpd="sng" w="254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6"/>
          <p:cNvSpPr/>
          <p:nvPr/>
        </p:nvSpPr>
        <p:spPr>
          <a:xfrm>
            <a:off x="621792" y="4645152"/>
            <a:ext cx="502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481328" y="4434840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Cybersecurity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481328" y="484632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Offensive cyber tasks, exploit development, agentic hacking. Myhos 5 (restricted) has these lifted for Project Glasswing partners.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7200" y="5687568"/>
            <a:ext cx="8229600" cy="1170432"/>
          </a:xfrm>
          <a:prstGeom prst="roundRect">
            <a:avLst>
              <a:gd fmla="val 10938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6"/>
          <p:cNvCxnSpPr/>
          <p:nvPr/>
        </p:nvCxnSpPr>
        <p:spPr>
          <a:xfrm>
            <a:off x="1261872" y="5760720"/>
            <a:ext cx="0" cy="1024128"/>
          </a:xfrm>
          <a:prstGeom prst="straightConnector1">
            <a:avLst/>
          </a:prstGeom>
          <a:noFill/>
          <a:ln cap="flat" cmpd="sng" w="254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6"/>
          <p:cNvSpPr/>
          <p:nvPr/>
        </p:nvSpPr>
        <p:spPr>
          <a:xfrm>
            <a:off x="621792" y="6035040"/>
            <a:ext cx="502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481328" y="5824728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Biology &amp; Chemistry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481328" y="6236208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Broad coverage while safeguards are refined. Will narrow over time as a trusted access programme for biomedical research is introduced.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57200" y="7077456"/>
            <a:ext cx="8229600" cy="1170432"/>
          </a:xfrm>
          <a:prstGeom prst="roundRect">
            <a:avLst>
              <a:gd fmla="val 10938" name="adj"/>
            </a:avLst>
          </a:prstGeom>
          <a:solidFill>
            <a:srgbClr val="0D1A2E"/>
          </a:solidFill>
          <a:ln cap="flat" cmpd="sng" w="12700">
            <a:solidFill>
              <a:srgbClr val="1A30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p6"/>
          <p:cNvCxnSpPr/>
          <p:nvPr/>
        </p:nvCxnSpPr>
        <p:spPr>
          <a:xfrm>
            <a:off x="1261872" y="7150608"/>
            <a:ext cx="0" cy="1024128"/>
          </a:xfrm>
          <a:prstGeom prst="straightConnector1">
            <a:avLst/>
          </a:prstGeom>
          <a:noFill/>
          <a:ln cap="flat" cmpd="sng" w="254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6"/>
          <p:cNvSpPr/>
          <p:nvPr/>
        </p:nvSpPr>
        <p:spPr>
          <a:xfrm>
            <a:off x="621792" y="7424928"/>
            <a:ext cx="502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1481328" y="7214616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1481328" y="7626096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Queries flagged as attempts to extract Fable's capabilities for training competing models, particularly from authoritarian-country actors.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06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6" title="Logo_dark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7A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-1371600" y="6217920"/>
            <a:ext cx="11887200" cy="5029200"/>
          </a:xfrm>
          <a:prstGeom prst="ellipse">
            <a:avLst/>
          </a:prstGeom>
          <a:solidFill>
            <a:srgbClr val="1A5BC4">
              <a:alpha val="34901"/>
            </a:srgbClr>
          </a:solidFill>
          <a:ln cap="flat" cmpd="sng" w="12700">
            <a:solidFill>
              <a:srgbClr val="1A5BC4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57200" y="7132320"/>
            <a:ext cx="10972800" cy="4572000"/>
          </a:xfrm>
          <a:prstGeom prst="ellipse">
            <a:avLst/>
          </a:prstGeom>
          <a:solidFill>
            <a:srgbClr val="0A3D8A">
              <a:alpha val="45098"/>
            </a:srgbClr>
          </a:solidFill>
          <a:ln cap="flat" cmpd="sng" w="12700">
            <a:solidFill>
              <a:srgbClr val="0A3D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65760" y="256032"/>
            <a:ext cx="2300630" cy="402336"/>
          </a:xfrm>
          <a:prstGeom prst="roundRect">
            <a:avLst>
              <a:gd fmla="val 50000" name="adj"/>
            </a:avLst>
          </a:prstGeom>
          <a:solidFill>
            <a:srgbClr val="1A5BC4"/>
          </a:solidFill>
          <a:ln cap="flat" cmpd="sng" w="12700">
            <a:solidFill>
              <a:srgbClr val="1A5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65760" y="256032"/>
            <a:ext cx="230063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ENTERPRISE SIGNAL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this means for your team's workflows.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7"/>
          <p:cNvCxnSpPr/>
          <p:nvPr/>
        </p:nvCxnSpPr>
        <p:spPr>
          <a:xfrm>
            <a:off x="457200" y="35204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7"/>
          <p:cNvSpPr/>
          <p:nvPr/>
        </p:nvSpPr>
        <p:spPr>
          <a:xfrm>
            <a:off x="457200" y="3794760"/>
            <a:ext cx="8229600" cy="1298448"/>
          </a:xfrm>
          <a:prstGeom prst="roundRect">
            <a:avLst>
              <a:gd fmla="val 7042" name="adj"/>
            </a:avLst>
          </a:prstGeom>
          <a:solidFill>
            <a:srgbClr val="1A5BC4">
              <a:alpha val="54901"/>
            </a:srgbClr>
          </a:solidFill>
          <a:ln cap="flat" cmpd="sng" w="12700">
            <a:solidFill>
              <a:srgbClr val="2060CC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713232" y="419709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325880" y="3995928"/>
            <a:ext cx="7132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you've been designing around Opus 4.8's limits, some of those constraints have moved </a:t>
            </a:r>
            <a:r>
              <a:rPr lang="en-US" sz="1300">
                <a:solidFill>
                  <a:srgbClr val="FFFFFF"/>
                </a:solidFill>
              </a:rPr>
              <a:t>-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the longer the task, the bigger the gap.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57200" y="5303520"/>
            <a:ext cx="8229600" cy="1298448"/>
          </a:xfrm>
          <a:prstGeom prst="roundRect">
            <a:avLst>
              <a:gd fmla="val 7042" name="adj"/>
            </a:avLst>
          </a:prstGeom>
          <a:solidFill>
            <a:srgbClr val="1A5BC4">
              <a:alpha val="54901"/>
            </a:srgbClr>
          </a:solidFill>
          <a:ln cap="flat" cmpd="sng" w="12700">
            <a:solidFill>
              <a:srgbClr val="2060CC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713232" y="570585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325880" y="5504688"/>
            <a:ext cx="7132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memory result is the most underreported detail. Extended autonomous workflows that run across sessions now perform materially differently.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6812280"/>
            <a:ext cx="8229600" cy="1298448"/>
          </a:xfrm>
          <a:prstGeom prst="roundRect">
            <a:avLst>
              <a:gd fmla="val 7042" name="adj"/>
            </a:avLst>
          </a:prstGeom>
          <a:solidFill>
            <a:srgbClr val="1A5BC4">
              <a:alpha val="54901"/>
            </a:srgbClr>
          </a:solidFill>
          <a:ln cap="flat" cmpd="sng" w="12700">
            <a:solidFill>
              <a:srgbClr val="2060CC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713232" y="721461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1325880" y="7013448"/>
            <a:ext cx="7132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at $10/$50 per million tokens is less than half of Mythos Preview. The cost model for Mythos-class capability has changed significantly.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07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955280" y="8732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› › 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7" title="Logo_dark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eadbd533b_0_144"/>
          <p:cNvSpPr/>
          <p:nvPr/>
        </p:nvSpPr>
        <p:spPr>
          <a:xfrm>
            <a:off x="365760" y="256032"/>
            <a:ext cx="2388300" cy="402300"/>
          </a:xfrm>
          <a:prstGeom prst="roundRect">
            <a:avLst>
              <a:gd fmla="val 50000" name="adj"/>
            </a:avLst>
          </a:prstGeom>
          <a:solidFill>
            <a:srgbClr val="F3F4F6"/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eadbd533b_0_144"/>
          <p:cNvSpPr/>
          <p:nvPr/>
        </p:nvSpPr>
        <p:spPr>
          <a:xfrm>
            <a:off x="365760" y="256032"/>
            <a:ext cx="238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FRONTIER MODEL PRICING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eadbd533b_0_144"/>
          <p:cNvSpPr/>
          <p:nvPr/>
        </p:nvSpPr>
        <p:spPr>
          <a:xfrm>
            <a:off x="6766560" y="292608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NEWTUPLE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eadbd533b_0_144"/>
          <p:cNvSpPr/>
          <p:nvPr/>
        </p:nvSpPr>
        <p:spPr>
          <a:xfrm>
            <a:off x="457200" y="100584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frontier capability costs.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eadbd533b_0_144"/>
          <p:cNvSpPr/>
          <p:nvPr/>
        </p:nvSpPr>
        <p:spPr>
          <a:xfrm>
            <a:off x="457200" y="181051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API pricing per million tokens</a:t>
            </a:r>
            <a:r>
              <a:rPr b="1" lang="en-US" sz="1300">
                <a:solidFill>
                  <a:srgbClr val="0047AB"/>
                </a:solidFill>
              </a:rPr>
              <a:t> </a:t>
            </a:r>
            <a:r>
              <a:rPr b="1" i="0" lang="en-US" sz="13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 as of June 2026. Standard tier, no caching.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eadbd533b_0_144"/>
          <p:cNvSpPr/>
          <p:nvPr/>
        </p:nvSpPr>
        <p:spPr>
          <a:xfrm>
            <a:off x="457200" y="2359152"/>
            <a:ext cx="8229600" cy="475500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eadbd533b_0_144"/>
          <p:cNvSpPr/>
          <p:nvPr/>
        </p:nvSpPr>
        <p:spPr>
          <a:xfrm>
            <a:off x="594360" y="2359152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eadbd533b_0_144"/>
          <p:cNvSpPr/>
          <p:nvPr/>
        </p:nvSpPr>
        <p:spPr>
          <a:xfrm>
            <a:off x="3246120" y="2359152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eadbd533b_0_144"/>
          <p:cNvSpPr/>
          <p:nvPr/>
        </p:nvSpPr>
        <p:spPr>
          <a:xfrm>
            <a:off x="5166360" y="2359152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 ($/1M)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eadbd533b_0_144"/>
          <p:cNvSpPr/>
          <p:nvPr/>
        </p:nvSpPr>
        <p:spPr>
          <a:xfrm>
            <a:off x="6766560" y="2359152"/>
            <a:ext cx="178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  ($/1M)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eadbd533b_0_144"/>
          <p:cNvSpPr/>
          <p:nvPr/>
        </p:nvSpPr>
        <p:spPr>
          <a:xfrm>
            <a:off x="457200" y="2834640"/>
            <a:ext cx="8229600" cy="12069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eadbd533b_0_144"/>
          <p:cNvSpPr/>
          <p:nvPr/>
        </p:nvSpPr>
        <p:spPr>
          <a:xfrm>
            <a:off x="457200" y="2834640"/>
            <a:ext cx="91500" cy="1206900"/>
          </a:xfrm>
          <a:prstGeom prst="rect">
            <a:avLst/>
          </a:prstGeom>
          <a:solidFill>
            <a:srgbClr val="0047AB"/>
          </a:solidFill>
          <a:ln cap="flat" cmpd="sng" w="12700">
            <a:solidFill>
              <a:srgbClr val="0047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eadbd533b_0_144"/>
          <p:cNvSpPr/>
          <p:nvPr/>
        </p:nvSpPr>
        <p:spPr>
          <a:xfrm>
            <a:off x="685800" y="3218688"/>
            <a:ext cx="2423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Claude Fable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eadbd533b_0_144"/>
          <p:cNvSpPr/>
          <p:nvPr/>
        </p:nvSpPr>
        <p:spPr>
          <a:xfrm>
            <a:off x="3246120" y="3218688"/>
            <a:ext cx="1737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Anthropic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eadbd533b_0_144"/>
          <p:cNvSpPr/>
          <p:nvPr/>
        </p:nvSpPr>
        <p:spPr>
          <a:xfrm>
            <a:off x="5166360" y="3218688"/>
            <a:ext cx="141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$10.00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eadbd533b_0_144"/>
          <p:cNvSpPr/>
          <p:nvPr/>
        </p:nvSpPr>
        <p:spPr>
          <a:xfrm>
            <a:off x="6766560" y="3218688"/>
            <a:ext cx="1691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$50.00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eeadbd533b_0_144"/>
          <p:cNvSpPr/>
          <p:nvPr/>
        </p:nvSpPr>
        <p:spPr>
          <a:xfrm>
            <a:off x="457200" y="4251960"/>
            <a:ext cx="8229600" cy="12069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eadbd533b_0_144"/>
          <p:cNvSpPr/>
          <p:nvPr/>
        </p:nvSpPr>
        <p:spPr>
          <a:xfrm>
            <a:off x="457200" y="4251960"/>
            <a:ext cx="63900" cy="12069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eadbd533b_0_144"/>
          <p:cNvSpPr/>
          <p:nvPr/>
        </p:nvSpPr>
        <p:spPr>
          <a:xfrm>
            <a:off x="685800" y="4636008"/>
            <a:ext cx="2423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GPT-5.5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eadbd533b_0_144"/>
          <p:cNvSpPr/>
          <p:nvPr/>
        </p:nvSpPr>
        <p:spPr>
          <a:xfrm>
            <a:off x="3246120" y="4636008"/>
            <a:ext cx="1737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eadbd533b_0_144"/>
          <p:cNvSpPr/>
          <p:nvPr/>
        </p:nvSpPr>
        <p:spPr>
          <a:xfrm>
            <a:off x="5166360" y="4636008"/>
            <a:ext cx="141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$5.00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eadbd533b_0_144"/>
          <p:cNvSpPr/>
          <p:nvPr/>
        </p:nvSpPr>
        <p:spPr>
          <a:xfrm>
            <a:off x="6766560" y="4636008"/>
            <a:ext cx="1691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$30.00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eadbd533b_0_144"/>
          <p:cNvSpPr/>
          <p:nvPr/>
        </p:nvSpPr>
        <p:spPr>
          <a:xfrm>
            <a:off x="457200" y="5669280"/>
            <a:ext cx="8229600" cy="1206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eadbd533b_0_144"/>
          <p:cNvSpPr/>
          <p:nvPr/>
        </p:nvSpPr>
        <p:spPr>
          <a:xfrm>
            <a:off x="457200" y="5669280"/>
            <a:ext cx="63900" cy="120690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eadbd533b_0_144"/>
          <p:cNvSpPr/>
          <p:nvPr/>
        </p:nvSpPr>
        <p:spPr>
          <a:xfrm>
            <a:off x="685800" y="6053328"/>
            <a:ext cx="2423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3.1 Pro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eadbd533b_0_144"/>
          <p:cNvSpPr/>
          <p:nvPr/>
        </p:nvSpPr>
        <p:spPr>
          <a:xfrm>
            <a:off x="3246120" y="6053328"/>
            <a:ext cx="1737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eadbd533b_0_144"/>
          <p:cNvSpPr/>
          <p:nvPr/>
        </p:nvSpPr>
        <p:spPr>
          <a:xfrm>
            <a:off x="5166360" y="6053328"/>
            <a:ext cx="141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$2.00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eadbd533b_0_144"/>
          <p:cNvSpPr/>
          <p:nvPr/>
        </p:nvSpPr>
        <p:spPr>
          <a:xfrm>
            <a:off x="6766560" y="6053328"/>
            <a:ext cx="1691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$12.00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eadbd533b_0_144"/>
          <p:cNvSpPr/>
          <p:nvPr/>
        </p:nvSpPr>
        <p:spPr>
          <a:xfrm>
            <a:off x="457200" y="7223760"/>
            <a:ext cx="8229600" cy="11886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eadbd533b_0_144"/>
          <p:cNvSpPr/>
          <p:nvPr/>
        </p:nvSpPr>
        <p:spPr>
          <a:xfrm>
            <a:off x="658368" y="7333488"/>
            <a:ext cx="7863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All three models are from the same generation used in Anthropic's official June 2026 benchmark comparison. Fable 5 and Mythos 5 are priced identically. Gemini 3.1 Pro pricing shown for standard prompts under 200k tokens. Cached input pricing available at reduced rates for all three providers.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eadbd533b_0_144"/>
          <p:cNvSpPr/>
          <p:nvPr/>
        </p:nvSpPr>
        <p:spPr>
          <a:xfrm>
            <a:off x="365760" y="875995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Sources: Anthropic (anthropic.com/news/claude-fable-5-mythos-5), OpenAI (openai.com/api/pricing), Google (ai.google.dev/gemini-api/docs/pricing). June 2026.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4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>
            <a:off x="-1828800" y="6583680"/>
            <a:ext cx="12801600" cy="5486400"/>
          </a:xfrm>
          <a:prstGeom prst="ellipse">
            <a:avLst/>
          </a:prstGeom>
          <a:solidFill>
            <a:srgbClr val="0D1A2E">
              <a:alpha val="65098"/>
            </a:srgbClr>
          </a:solidFill>
          <a:ln cap="flat" cmpd="sng" w="12700">
            <a:solidFill>
              <a:srgbClr val="0D1A2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457200" y="18288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THE CONSTRAINTS HAVE MOVED.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ones matter for the work your team is actually doing?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8"/>
          <p:cNvCxnSpPr/>
          <p:nvPr/>
        </p:nvCxnSpPr>
        <p:spPr>
          <a:xfrm>
            <a:off x="457200" y="4983480"/>
            <a:ext cx="5486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8"/>
          <p:cNvSpPr/>
          <p:nvPr/>
        </p:nvSpPr>
        <p:spPr>
          <a:xfrm>
            <a:off x="457200" y="530352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We help enterprise teams map where capability improvements change the architecture decisions they have already made.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7200" y="6492240"/>
            <a:ext cx="2286000" cy="62179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457200" y="649224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7A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newtuple.com  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944368" y="6592824"/>
            <a:ext cx="2743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B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A90B0"/>
                </a:solidFill>
                <a:latin typeface="Arial"/>
                <a:ea typeface="Arial"/>
                <a:cs typeface="Arial"/>
                <a:sym typeface="Arial"/>
              </a:rPr>
              <a:t>or DM us directly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65760" y="8732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AAC8"/>
                </a:solidFill>
                <a:latin typeface="Arial"/>
                <a:ea typeface="Arial"/>
                <a:cs typeface="Arial"/>
                <a:sym typeface="Arial"/>
              </a:rPr>
              <a:t>08 / 08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8" title="Logo_dark_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700" y="-62000"/>
            <a:ext cx="2037300" cy="1038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2026-06-10T04:00:05Z</dcterms:created>
  <dc:creator>Newtuple</dc:creator>
</cp:coreProperties>
</file>